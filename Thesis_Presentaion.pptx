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ptos Bold" charset="1" panose="020B0004020202020204"/>
      <p:regular r:id="rId23"/>
    </p:embeddedFont>
    <p:embeddedFont>
      <p:font typeface="Aptos" charset="1" panose="020B0004020202020204"/>
      <p:regular r:id="rId24"/>
    </p:embeddedFont>
    <p:embeddedFont>
      <p:font typeface="Inter" charset="1" panose="02000503000000020004"/>
      <p:regular r:id="rId26"/>
    </p:embeddedFont>
    <p:embeddedFont>
      <p:font typeface="Inter Bold" charset="1" panose="02000503000000020004"/>
      <p:regular r:id="rId27"/>
    </p:embeddedFont>
    <p:embeddedFont>
      <p:font typeface="Aptos Italics" charset="1" panose="020B0004020202090204"/>
      <p:regular r:id="rId31"/>
    </p:embeddedFont>
    <p:embeddedFont>
      <p:font typeface="Cambria Bold" charset="1" panose="02040803050406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6100">
            <a:off x="661273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100">
            <a:off x="736711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6100">
            <a:off x="812149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6100">
            <a:off x="887587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96100">
            <a:off x="963025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96100">
            <a:off x="1038463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6100">
            <a:off x="11139011" y="4898708"/>
            <a:ext cx="926878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400">
            <a:off x="11104721" y="74961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400">
            <a:off x="11104721" y="164115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400">
            <a:off x="11104721" y="253269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400">
            <a:off x="11104721" y="342423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400">
            <a:off x="11104721" y="431577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400">
            <a:off x="11104721" y="520731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400">
            <a:off x="11104721" y="609885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400">
            <a:off x="11104721" y="6990397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400">
            <a:off x="11104721" y="7881938"/>
            <a:ext cx="6662747" cy="0"/>
          </a:xfrm>
          <a:prstGeom prst="line">
            <a:avLst/>
          </a:prstGeom>
          <a:ln cap="rnd" w="9525">
            <a:solidFill>
              <a:srgbClr val="263D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694760">
            <a:off x="12718323" y="6690741"/>
            <a:ext cx="1446705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516678" y="7744778"/>
            <a:ext cx="146685" cy="146685"/>
            <a:chOff x="0" y="0"/>
            <a:chExt cx="195580" cy="1955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751118" y="6304597"/>
            <a:ext cx="146685" cy="146685"/>
            <a:chOff x="0" y="0"/>
            <a:chExt cx="195580" cy="195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985557" y="6949250"/>
            <a:ext cx="146685" cy="146685"/>
            <a:chOff x="0" y="0"/>
            <a:chExt cx="195580" cy="1955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5151418" y="4932997"/>
            <a:ext cx="146685" cy="146685"/>
            <a:chOff x="0" y="0"/>
            <a:chExt cx="195580" cy="1955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6591598" y="3835717"/>
            <a:ext cx="146685" cy="146685"/>
            <a:chOff x="0" y="0"/>
            <a:chExt cx="195580" cy="195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7030510" y="2148650"/>
            <a:ext cx="228981" cy="228981"/>
            <a:chOff x="0" y="0"/>
            <a:chExt cx="305308" cy="3053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5308" cy="305308"/>
            </a:xfrm>
            <a:custGeom>
              <a:avLst/>
              <a:gdLst/>
              <a:ahLst/>
              <a:cxnLst/>
              <a:rect r="r" b="b" t="t" l="l"/>
              <a:pathLst>
                <a:path h="305308" w="305308">
                  <a:moveTo>
                    <a:pt x="0" y="152654"/>
                  </a:moveTo>
                  <a:cubicBezTo>
                    <a:pt x="0" y="68326"/>
                    <a:pt x="68326" y="0"/>
                    <a:pt x="152654" y="0"/>
                  </a:cubicBezTo>
                  <a:cubicBezTo>
                    <a:pt x="236982" y="0"/>
                    <a:pt x="305308" y="68326"/>
                    <a:pt x="305308" y="152654"/>
                  </a:cubicBezTo>
                  <a:cubicBezTo>
                    <a:pt x="305308" y="236982"/>
                    <a:pt x="236982" y="305308"/>
                    <a:pt x="152654" y="305308"/>
                  </a:cubicBezTo>
                  <a:cubicBezTo>
                    <a:pt x="68326" y="305308"/>
                    <a:pt x="0" y="236982"/>
                    <a:pt x="0" y="152654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sp>
        <p:nvSpPr>
          <p:cNvPr name="AutoShape 31" id="31"/>
          <p:cNvSpPr/>
          <p:nvPr/>
        </p:nvSpPr>
        <p:spPr>
          <a:xfrm rot="1830780">
            <a:off x="13826280" y="7013067"/>
            <a:ext cx="465239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992415" y="6956107"/>
            <a:ext cx="132969" cy="132969"/>
            <a:chOff x="0" y="0"/>
            <a:chExt cx="177292" cy="1772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7292" cy="177292"/>
            </a:xfrm>
            <a:custGeom>
              <a:avLst/>
              <a:gdLst/>
              <a:ahLst/>
              <a:cxnLst/>
              <a:rect r="r" b="b" t="t" l="l"/>
              <a:pathLst>
                <a:path h="177292" w="177292">
                  <a:moveTo>
                    <a:pt x="0" y="88646"/>
                  </a:moveTo>
                  <a:cubicBezTo>
                    <a:pt x="0" y="39751"/>
                    <a:pt x="39751" y="0"/>
                    <a:pt x="88646" y="0"/>
                  </a:cubicBezTo>
                  <a:cubicBezTo>
                    <a:pt x="137541" y="0"/>
                    <a:pt x="177292" y="39751"/>
                    <a:pt x="177292" y="88646"/>
                  </a:cubicBezTo>
                  <a:cubicBezTo>
                    <a:pt x="177292" y="137541"/>
                    <a:pt x="137541" y="177292"/>
                    <a:pt x="88646" y="177292"/>
                  </a:cubicBezTo>
                  <a:cubicBezTo>
                    <a:pt x="39751" y="177292"/>
                    <a:pt x="0" y="137541"/>
                    <a:pt x="0" y="88646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771245" y="6827520"/>
            <a:ext cx="122682" cy="122682"/>
            <a:chOff x="0" y="0"/>
            <a:chExt cx="163576" cy="1635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223873" y="6827520"/>
            <a:ext cx="122682" cy="122682"/>
            <a:chOff x="0" y="0"/>
            <a:chExt cx="163576" cy="1635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771245" y="7094982"/>
            <a:ext cx="122682" cy="122682"/>
            <a:chOff x="0" y="0"/>
            <a:chExt cx="163576" cy="1635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223873" y="7094982"/>
            <a:ext cx="122682" cy="122682"/>
            <a:chOff x="0" y="0"/>
            <a:chExt cx="163576" cy="1635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3576" cy="163576"/>
            </a:xfrm>
            <a:custGeom>
              <a:avLst/>
              <a:gdLst/>
              <a:ahLst/>
              <a:cxnLst/>
              <a:rect r="r" b="b" t="t" l="l"/>
              <a:pathLst>
                <a:path h="163576" w="163576">
                  <a:moveTo>
                    <a:pt x="0" y="81788"/>
                  </a:moveTo>
                  <a:cubicBezTo>
                    <a:pt x="0" y="36576"/>
                    <a:pt x="36576" y="0"/>
                    <a:pt x="81788" y="0"/>
                  </a:cubicBezTo>
                  <a:cubicBezTo>
                    <a:pt x="127000" y="0"/>
                    <a:pt x="163576" y="36576"/>
                    <a:pt x="163576" y="81788"/>
                  </a:cubicBezTo>
                  <a:cubicBezTo>
                    <a:pt x="163576" y="127000"/>
                    <a:pt x="127000" y="163576"/>
                    <a:pt x="81788" y="163576"/>
                  </a:cubicBezTo>
                  <a:cubicBezTo>
                    <a:pt x="36576" y="163576"/>
                    <a:pt x="0" y="127000"/>
                    <a:pt x="0" y="81788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87755" y="1019175"/>
            <a:ext cx="3338322" cy="430530"/>
            <a:chOff x="0" y="0"/>
            <a:chExt cx="4451096" cy="574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51096" cy="574040"/>
            </a:xfrm>
            <a:custGeom>
              <a:avLst/>
              <a:gdLst/>
              <a:ahLst/>
              <a:cxnLst/>
              <a:rect r="r" b="b" t="t" l="l"/>
              <a:pathLst>
                <a:path h="574040" w="4451096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298061" y="0"/>
                  </a:lnTo>
                  <a:cubicBezTo>
                    <a:pt x="4382643" y="0"/>
                    <a:pt x="4451096" y="68580"/>
                    <a:pt x="4451096" y="153035"/>
                  </a:cubicBezTo>
                  <a:lnTo>
                    <a:pt x="4451096" y="421005"/>
                  </a:lnTo>
                  <a:cubicBezTo>
                    <a:pt x="4451096" y="505587"/>
                    <a:pt x="4382516" y="574040"/>
                    <a:pt x="4298061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17284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7008" y="1049274"/>
            <a:ext cx="3099816" cy="342900"/>
            <a:chOff x="0" y="0"/>
            <a:chExt cx="4133088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33088" cy="457200"/>
            </a:xfrm>
            <a:custGeom>
              <a:avLst/>
              <a:gdLst/>
              <a:ahLst/>
              <a:cxnLst/>
              <a:rect r="r" b="b" t="t" l="l"/>
              <a:pathLst>
                <a:path h="457200" w="4133088">
                  <a:moveTo>
                    <a:pt x="0" y="0"/>
                  </a:moveTo>
                  <a:lnTo>
                    <a:pt x="4133088" y="0"/>
                  </a:lnTo>
                  <a:lnTo>
                    <a:pt x="413308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144" r="0" b="-12614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133088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A9C7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YEAR PROJECT DEFENSE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2029968"/>
            <a:ext cx="8366760" cy="1303020"/>
            <a:chOff x="0" y="0"/>
            <a:chExt cx="11155680" cy="1737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1556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114" r="0" b="-7511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115568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97280" y="3319272"/>
            <a:ext cx="918972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Lightweight Absolute-Scale</a:t>
            </a:r>
          </a:p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Relay Selection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4712" y="5239512"/>
            <a:ext cx="8641080" cy="72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B9C7D9"/>
                </a:solidFill>
                <a:latin typeface="Aptos"/>
                <a:ea typeface="Aptos"/>
                <a:cs typeface="Aptos"/>
                <a:sym typeface="Aptos"/>
              </a:rPr>
              <a:t>A multi-attribute policy for multi-UAV surveillance coverage</a:t>
            </a:r>
          </a:p>
        </p:txBody>
      </p:sp>
      <p:sp>
        <p:nvSpPr>
          <p:cNvPr name="AutoShape 52" id="52"/>
          <p:cNvSpPr/>
          <p:nvPr/>
        </p:nvSpPr>
        <p:spPr>
          <a:xfrm rot="9720">
            <a:off x="1113263" y="6332030"/>
            <a:ext cx="8087897" cy="0"/>
          </a:xfrm>
          <a:prstGeom prst="line">
            <a:avLst/>
          </a:prstGeom>
          <a:ln cap="rnd" w="9525">
            <a:solidFill>
              <a:srgbClr val="34486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124712" y="6720840"/>
            <a:ext cx="3291840" cy="301752"/>
            <a:chOff x="0" y="0"/>
            <a:chExt cx="4389120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402336"/>
            </a:xfrm>
            <a:custGeom>
              <a:avLst/>
              <a:gdLst/>
              <a:ahLst/>
              <a:cxnLst/>
              <a:rect r="r" b="b" t="t" l="l"/>
              <a:pathLst>
                <a:path h="40233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564" r="0" b="-16256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38912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35B9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PRESENTED BY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124712" y="7159752"/>
            <a:ext cx="6583680" cy="98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Mahmudul Hasan Khan  •  2223081070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Arif Khan  •  2223081071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063740" y="6720840"/>
            <a:ext cx="3017520" cy="301752"/>
            <a:chOff x="0" y="0"/>
            <a:chExt cx="402336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35B9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SUPERVISED BY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7063740" y="7159752"/>
            <a:ext cx="4114800" cy="98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Shebika Rani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Lecturer, Department of CSE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24712" y="9354312"/>
            <a:ext cx="10698480" cy="274320"/>
            <a:chOff x="0" y="0"/>
            <a:chExt cx="14264640" cy="365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264639" cy="365760"/>
            </a:xfrm>
            <a:custGeom>
              <a:avLst/>
              <a:gdLst/>
              <a:ahLst/>
              <a:cxnLst/>
              <a:rect r="r" b="b" t="t" l="l"/>
              <a:pathLst>
                <a:path h="36576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9916" r="0" b="-70991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26464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DB0C8"/>
                  </a:solidFill>
                  <a:latin typeface="Aptos"/>
                  <a:ea typeface="Aptos"/>
                  <a:cs typeface="Aptos"/>
                  <a:sym typeface="Aptos"/>
                </a:rPr>
                <a:t>Department of Computer Science &amp; Engineering  •  Uttara University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1028700"/>
            <a:ext cx="16527780" cy="658368"/>
            <a:chOff x="0" y="0"/>
            <a:chExt cx="22037040" cy="877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selection is a small decision with mission-wide consequences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When a patrol UAV approaches its battery threshold, another UAV must take over its zone.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0786" y="7508323"/>
            <a:ext cx="8915400" cy="520264"/>
            <a:chOff x="0" y="0"/>
            <a:chExt cx="11887200" cy="6936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87200" cy="693686"/>
            </a:xfrm>
            <a:custGeom>
              <a:avLst/>
              <a:gdLst/>
              <a:ahLst/>
              <a:cxnLst/>
              <a:rect r="r" b="b" t="t" l="l"/>
              <a:pathLst>
                <a:path h="69368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93686"/>
                  </a:lnTo>
                  <a:lnTo>
                    <a:pt x="0" y="6936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355" r="0" b="-2734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887200" cy="69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selection must balance three competing costs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455915"/>
            <a:ext cx="311277" cy="311277"/>
            <a:chOff x="0" y="0"/>
            <a:chExt cx="415036" cy="4150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5036" cy="415036"/>
            </a:xfrm>
            <a:custGeom>
              <a:avLst/>
              <a:gdLst/>
              <a:ahLst/>
              <a:cxnLst/>
              <a:rect r="r" b="b" t="t" l="l"/>
              <a:pathLst>
                <a:path h="415036" w="415036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cubicBezTo>
                    <a:pt x="322072" y="0"/>
                    <a:pt x="415036" y="92964"/>
                    <a:pt x="415036" y="207518"/>
                  </a:cubicBezTo>
                  <a:cubicBezTo>
                    <a:pt x="415036" y="322072"/>
                    <a:pt x="322072" y="415036"/>
                    <a:pt x="207518" y="415036"/>
                  </a:cubicBezTo>
                  <a:cubicBezTo>
                    <a:pt x="92964" y="415036"/>
                    <a:pt x="0" y="322072"/>
                    <a:pt x="0" y="20751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99806" y="8378381"/>
            <a:ext cx="4114800" cy="384048"/>
            <a:chOff x="0" y="0"/>
            <a:chExt cx="5486400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Travel energy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99806" y="8858441"/>
            <a:ext cx="44577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Energy spent reaching the handoff point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52260" y="8455915"/>
            <a:ext cx="311277" cy="311277"/>
            <a:chOff x="0" y="0"/>
            <a:chExt cx="415036" cy="4150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5036" cy="415036"/>
            </a:xfrm>
            <a:custGeom>
              <a:avLst/>
              <a:gdLst/>
              <a:ahLst/>
              <a:cxnLst/>
              <a:rect r="r" b="b" t="t" l="l"/>
              <a:pathLst>
                <a:path h="415036" w="415036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cubicBezTo>
                    <a:pt x="322072" y="0"/>
                    <a:pt x="415036" y="92964"/>
                    <a:pt x="415036" y="207518"/>
                  </a:cubicBezTo>
                  <a:cubicBezTo>
                    <a:pt x="415036" y="322072"/>
                    <a:pt x="322072" y="415036"/>
                    <a:pt x="207518" y="415036"/>
                  </a:cubicBezTo>
                  <a:cubicBezTo>
                    <a:pt x="92964" y="415036"/>
                    <a:pt x="0" y="322072"/>
                    <a:pt x="0" y="207518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123366" y="8378381"/>
            <a:ext cx="4114800" cy="384048"/>
            <a:chOff x="0" y="0"/>
            <a:chExt cx="5486400" cy="512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delay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123366" y="8858441"/>
            <a:ext cx="44577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Time the zone remains unattended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75820" y="8455915"/>
            <a:ext cx="311277" cy="311277"/>
            <a:chOff x="0" y="0"/>
            <a:chExt cx="415036" cy="4150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5036" cy="415036"/>
            </a:xfrm>
            <a:custGeom>
              <a:avLst/>
              <a:gdLst/>
              <a:ahLst/>
              <a:cxnLst/>
              <a:rect r="r" b="b" t="t" l="l"/>
              <a:pathLst>
                <a:path h="415036" w="415036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cubicBezTo>
                    <a:pt x="322072" y="0"/>
                    <a:pt x="415036" y="92964"/>
                    <a:pt x="415036" y="207518"/>
                  </a:cubicBezTo>
                  <a:cubicBezTo>
                    <a:pt x="415036" y="322072"/>
                    <a:pt x="322072" y="415036"/>
                    <a:pt x="207518" y="415036"/>
                  </a:cubicBezTo>
                  <a:cubicBezTo>
                    <a:pt x="92964" y="415036"/>
                    <a:pt x="0" y="322072"/>
                    <a:pt x="0" y="207518"/>
                  </a:cubicBezTo>
                  <a:close/>
                </a:path>
              </a:pathLst>
            </a:custGeom>
            <a:solidFill>
              <a:srgbClr val="218C85"/>
            </a:solidFill>
            <a:ln w="9525" cap="sq">
              <a:solidFill>
                <a:srgbClr val="218C8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746926" y="8378381"/>
            <a:ext cx="4114800" cy="384048"/>
            <a:chOff x="0" y="0"/>
            <a:chExt cx="548640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486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loss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746926" y="8858441"/>
            <a:ext cx="445770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Impact of removing a UAV from its current patrol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8972" y="382340"/>
            <a:ext cx="10972800" cy="720655"/>
            <a:chOff x="0" y="0"/>
            <a:chExt cx="14630400" cy="9608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0" cy="960873"/>
            </a:xfrm>
            <a:custGeom>
              <a:avLst/>
              <a:gdLst/>
              <a:ahLst/>
              <a:cxnLst/>
              <a:rect r="r" b="b" t="t" l="l"/>
              <a:pathLst>
                <a:path h="960873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60873"/>
                  </a:lnTo>
                  <a:lnTo>
                    <a:pt x="0" y="960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746" r="0" b="-21761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4630400" cy="960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Introduction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381702" y="1023261"/>
            <a:ext cx="7483380" cy="5028919"/>
            <a:chOff x="0" y="0"/>
            <a:chExt cx="10772133" cy="7239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10772133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772133">
                  <a:moveTo>
                    <a:pt x="0" y="0"/>
                  </a:moveTo>
                  <a:lnTo>
                    <a:pt x="10772133" y="0"/>
                  </a:lnTo>
                  <a:lnTo>
                    <a:pt x="10772133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" t="0" r="-533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394773" y="1036495"/>
            <a:ext cx="7457237" cy="5002451"/>
            <a:chOff x="0" y="0"/>
            <a:chExt cx="10734501" cy="72009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10734501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734501">
                  <a:moveTo>
                    <a:pt x="0" y="0"/>
                  </a:moveTo>
                  <a:lnTo>
                    <a:pt x="10734501" y="0"/>
                  </a:lnTo>
                  <a:lnTo>
                    <a:pt x="10734501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43" t="0" r="-443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453595" y="6154743"/>
            <a:ext cx="13921048" cy="20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354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https://static.tildacdn.one/tild6665-6132-4164-b839-363933336639/MA_border5_1.jpg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53595" y="6432657"/>
            <a:ext cx="13921048" cy="24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67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667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microavia.com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18464" y="2659765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Critical Defense Requirement: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Border surveillance is essential for national security, preventing illegal crossings, smuggling, and hostile incursions across vast, harsh terrains.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18464" y="3635420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Traditional Systems: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Foot patrols and static CCTV towers are expensive, slow, geographically restricted, and highly prone to human fatigue or blind spots.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18464" y="4611076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The UAV Solution: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Unmanned Aerial Vehicles (UAVs) provide rapid mobility and aerial coverage, but encounter severe battery constraints and predictable flight paths.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18464" y="5586732"/>
            <a:ext cx="7344489" cy="84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549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Our Proposal:</a:t>
            </a:r>
            <a:r>
              <a:rPr lang="en-US" sz="1549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Autonomous System combining physics-based energy optimization (OWT-A*), Game-Theoretic security (SSE), and a Smart Multi Relay System (SMRS) for continuous coverage.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40786" y="2731935"/>
            <a:ext cx="215816" cy="196358"/>
            <a:chOff x="0" y="0"/>
            <a:chExt cx="335003" cy="3048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40786" y="3707590"/>
            <a:ext cx="215816" cy="196358"/>
            <a:chOff x="0" y="0"/>
            <a:chExt cx="335003" cy="3048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40786" y="4683246"/>
            <a:ext cx="215816" cy="196358"/>
            <a:chOff x="0" y="0"/>
            <a:chExt cx="335003" cy="3048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40786" y="5658902"/>
            <a:ext cx="215816" cy="196358"/>
            <a:chOff x="0" y="0"/>
            <a:chExt cx="335003" cy="3048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35003" cy="304800"/>
            </a:xfrm>
            <a:custGeom>
              <a:avLst/>
              <a:gdLst/>
              <a:ahLst/>
              <a:cxnLst/>
              <a:rect r="r" b="b" t="t" l="l"/>
              <a:pathLst>
                <a:path h="304800" w="335003">
                  <a:moveTo>
                    <a:pt x="0" y="0"/>
                  </a:moveTo>
                  <a:lnTo>
                    <a:pt x="335003" y="0"/>
                  </a:lnTo>
                  <a:lnTo>
                    <a:pt x="335003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954" r="0" b="-495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0867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RESEARCH GAP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Pool-relative normalization can exaggerate tiny differences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 issue is the scale assigned to coverage loss—not that all multi-attribute methods are inherently flawed.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2032" y="2626804"/>
            <a:ext cx="7625715" cy="5225415"/>
            <a:chOff x="0" y="0"/>
            <a:chExt cx="10167620" cy="69672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7620" cy="6967220"/>
            </a:xfrm>
            <a:custGeom>
              <a:avLst/>
              <a:gdLst/>
              <a:ahLst/>
              <a:cxnLst/>
              <a:rect r="r" b="b" t="t" l="l"/>
              <a:pathLst>
                <a:path h="6967220" w="101676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020935" y="0"/>
                  </a:lnTo>
                  <a:cubicBezTo>
                    <a:pt x="10101961" y="0"/>
                    <a:pt x="10167620" y="65659"/>
                    <a:pt x="10167620" y="146685"/>
                  </a:cubicBezTo>
                  <a:lnTo>
                    <a:pt x="10167620" y="6820535"/>
                  </a:lnTo>
                  <a:cubicBezTo>
                    <a:pt x="10167620" y="6901561"/>
                    <a:pt x="10101961" y="6967220"/>
                    <a:pt x="10020935" y="6967220"/>
                  </a:cubicBezTo>
                  <a:lnTo>
                    <a:pt x="146685" y="6967220"/>
                  </a:lnTo>
                  <a:cubicBezTo>
                    <a:pt x="65659" y="6967220"/>
                    <a:pt x="0" y="6901561"/>
                    <a:pt x="0" y="6820535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19175" y="2623947"/>
            <a:ext cx="101346" cy="5231130"/>
            <a:chOff x="0" y="0"/>
            <a:chExt cx="135128" cy="697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6974840"/>
            </a:xfrm>
            <a:custGeom>
              <a:avLst/>
              <a:gdLst/>
              <a:ahLst/>
              <a:cxnLst/>
              <a:rect r="r" b="b" t="t" l="l"/>
              <a:pathLst>
                <a:path h="697484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974840"/>
                  </a:lnTo>
                  <a:lnTo>
                    <a:pt x="0" y="697484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89507" y="2980563"/>
            <a:ext cx="3475482" cy="430530"/>
            <a:chOff x="0" y="0"/>
            <a:chExt cx="4633976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33976" cy="574040"/>
            </a:xfrm>
            <a:custGeom>
              <a:avLst/>
              <a:gdLst/>
              <a:ahLst/>
              <a:cxnLst/>
              <a:rect r="r" b="b" t="t" l="l"/>
              <a:pathLst>
                <a:path h="574040" w="4633976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480941" y="0"/>
                  </a:lnTo>
                  <a:cubicBezTo>
                    <a:pt x="4565523" y="0"/>
                    <a:pt x="4633976" y="68580"/>
                    <a:pt x="4633976" y="153035"/>
                  </a:cubicBezTo>
                  <a:lnTo>
                    <a:pt x="4633976" y="421005"/>
                  </a:lnTo>
                  <a:cubicBezTo>
                    <a:pt x="4633976" y="505587"/>
                    <a:pt x="4565396" y="574040"/>
                    <a:pt x="4480941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08760" y="3010662"/>
            <a:ext cx="3236976" cy="342900"/>
            <a:chOff x="0" y="0"/>
            <a:chExt cx="4315968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15968" cy="457200"/>
            </a:xfrm>
            <a:custGeom>
              <a:avLst/>
              <a:gdLst/>
              <a:ahLst/>
              <a:cxnLst/>
              <a:rect r="r" b="b" t="t" l="l"/>
              <a:pathLst>
                <a:path h="4572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938" r="0" b="-1339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315968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CURRENT BASELINE: RELAYSCORE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99032" y="3634740"/>
            <a:ext cx="644652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2238"/>
                </a:solidFill>
                <a:latin typeface="Aptos Bold"/>
                <a:ea typeface="Aptos Bold"/>
                <a:cs typeface="Aptos Bold"/>
                <a:sym typeface="Aptos Bold"/>
              </a:rPr>
              <a:t>Min–max scale depends on the current candidate pool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9032" y="4690872"/>
            <a:ext cx="6473952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Any non-zero raw spread is mapped across the full [0, 1] range—even when candidate coverage-loss values are nearly equal.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99032" y="6240780"/>
            <a:ext cx="2057400" cy="315468"/>
            <a:chOff x="0" y="0"/>
            <a:chExt cx="2743200" cy="4206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420624"/>
            </a:xfrm>
            <a:custGeom>
              <a:avLst/>
              <a:gdLst/>
              <a:ahLst/>
              <a:cxnLst/>
              <a:rect r="r" b="b" t="t" l="l"/>
              <a:pathLst>
                <a:path h="42062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4320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difference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88055" y="6272403"/>
            <a:ext cx="403098" cy="197358"/>
            <a:chOff x="0" y="0"/>
            <a:chExt cx="537464" cy="263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7464" cy="263144"/>
            </a:xfrm>
            <a:custGeom>
              <a:avLst/>
              <a:gdLst/>
              <a:ahLst/>
              <a:cxnLst/>
              <a:rect r="r" b="b" t="t" l="l"/>
              <a:pathLst>
                <a:path h="263144" w="537464">
                  <a:moveTo>
                    <a:pt x="0" y="0"/>
                  </a:moveTo>
                  <a:lnTo>
                    <a:pt x="537464" y="0"/>
                  </a:lnTo>
                  <a:lnTo>
                    <a:pt x="5374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046220" y="6185916"/>
            <a:ext cx="932688" cy="342900"/>
            <a:chOff x="0" y="0"/>
            <a:chExt cx="1243584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3584" cy="457200"/>
            </a:xfrm>
            <a:custGeom>
              <a:avLst/>
              <a:gdLst/>
              <a:ahLst/>
              <a:cxnLst/>
              <a:rect r="r" b="b" t="t" l="l"/>
              <a:pathLst>
                <a:path h="457200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9" r="0" b="-299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24358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0.005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99032" y="6858000"/>
            <a:ext cx="2057400" cy="315468"/>
            <a:chOff x="0" y="0"/>
            <a:chExt cx="2743200" cy="4206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3200" cy="420624"/>
            </a:xfrm>
            <a:custGeom>
              <a:avLst/>
              <a:gdLst/>
              <a:ahLst/>
              <a:cxnLst/>
              <a:rect r="r" b="b" t="t" l="l"/>
              <a:pathLst>
                <a:path h="42062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76" r="0" b="-7707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74320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Normalized range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88055" y="6875907"/>
            <a:ext cx="2830830" cy="197358"/>
            <a:chOff x="0" y="0"/>
            <a:chExt cx="3774440" cy="2631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74440" cy="263144"/>
            </a:xfrm>
            <a:custGeom>
              <a:avLst/>
              <a:gdLst/>
              <a:ahLst/>
              <a:cxnLst/>
              <a:rect r="r" b="b" t="t" l="l"/>
              <a:pathLst>
                <a:path h="263144" w="3774440">
                  <a:moveTo>
                    <a:pt x="0" y="0"/>
                  </a:moveTo>
                  <a:lnTo>
                    <a:pt x="3774440" y="0"/>
                  </a:lnTo>
                  <a:lnTo>
                    <a:pt x="3774440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501384" y="6803136"/>
            <a:ext cx="960120" cy="342900"/>
            <a:chOff x="0" y="0"/>
            <a:chExt cx="1280160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0160" cy="457200"/>
            </a:xfrm>
            <a:custGeom>
              <a:avLst/>
              <a:gdLst/>
              <a:ahLst/>
              <a:cxnLst/>
              <a:rect r="r" b="b" t="t" l="l"/>
              <a:pathLst>
                <a:path h="4572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2801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 →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51632" y="2626804"/>
            <a:ext cx="7968615" cy="5225415"/>
            <a:chOff x="0" y="0"/>
            <a:chExt cx="10624820" cy="69672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24820" cy="6967220"/>
            </a:xfrm>
            <a:custGeom>
              <a:avLst/>
              <a:gdLst/>
              <a:ahLst/>
              <a:cxnLst/>
              <a:rect r="r" b="b" t="t" l="l"/>
              <a:pathLst>
                <a:path h="6967220" w="106248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478135" y="0"/>
                  </a:lnTo>
                  <a:cubicBezTo>
                    <a:pt x="10559161" y="0"/>
                    <a:pt x="10624820" y="65659"/>
                    <a:pt x="10624820" y="146685"/>
                  </a:cubicBezTo>
                  <a:lnTo>
                    <a:pt x="10624820" y="6820535"/>
                  </a:lnTo>
                  <a:cubicBezTo>
                    <a:pt x="10624820" y="6901561"/>
                    <a:pt x="10559161" y="6967220"/>
                    <a:pt x="10478135" y="6967220"/>
                  </a:cubicBezTo>
                  <a:lnTo>
                    <a:pt x="146685" y="6967220"/>
                  </a:lnTo>
                  <a:cubicBezTo>
                    <a:pt x="65659" y="6967220"/>
                    <a:pt x="0" y="6901561"/>
                    <a:pt x="0" y="6820535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248775" y="2623947"/>
            <a:ext cx="101346" cy="5231130"/>
            <a:chOff x="0" y="0"/>
            <a:chExt cx="135128" cy="6974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5128" cy="6974840"/>
            </a:xfrm>
            <a:custGeom>
              <a:avLst/>
              <a:gdLst/>
              <a:ahLst/>
              <a:cxnLst/>
              <a:rect r="r" b="b" t="t" l="l"/>
              <a:pathLst>
                <a:path h="697484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974840"/>
                  </a:lnTo>
                  <a:lnTo>
                    <a:pt x="0" y="6974840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19107" y="2980563"/>
            <a:ext cx="2213610" cy="430530"/>
            <a:chOff x="0" y="0"/>
            <a:chExt cx="2951480" cy="574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51480" cy="574040"/>
            </a:xfrm>
            <a:custGeom>
              <a:avLst/>
              <a:gdLst/>
              <a:ahLst/>
              <a:cxnLst/>
              <a:rect r="r" b="b" t="t" l="l"/>
              <a:pathLst>
                <a:path h="574040" w="295148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798445" y="0"/>
                  </a:lnTo>
                  <a:cubicBezTo>
                    <a:pt x="2882900" y="0"/>
                    <a:pt x="2951480" y="68580"/>
                    <a:pt x="2951480" y="153035"/>
                  </a:cubicBezTo>
                  <a:lnTo>
                    <a:pt x="2951480" y="421005"/>
                  </a:lnTo>
                  <a:cubicBezTo>
                    <a:pt x="2951480" y="505587"/>
                    <a:pt x="2882900" y="574040"/>
                    <a:pt x="279844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38360" y="3010662"/>
            <a:ext cx="1975104" cy="342900"/>
            <a:chOff x="0" y="0"/>
            <a:chExt cx="2633472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33472" cy="457200"/>
            </a:xfrm>
            <a:custGeom>
              <a:avLst/>
              <a:gdLst/>
              <a:ahLst/>
              <a:cxnLst/>
              <a:rect r="r" b="b" t="t" l="l"/>
              <a:pathLst>
                <a:path h="45720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33" r="0" b="-6223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263347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GAP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628632" y="3634740"/>
            <a:ext cx="672084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42238"/>
                </a:solidFill>
                <a:latin typeface="Aptos Bold"/>
                <a:ea typeface="Aptos Bold"/>
                <a:cs typeface="Aptos Bold"/>
                <a:sym typeface="Aptos Bold"/>
              </a:rPr>
              <a:t>Preserve the magnitude of coverage loss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628632" y="4690872"/>
            <a:ext cx="6720840" cy="112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Can one physically anchored scale improve the relay trade-off while leaving the attributes, default weights, and rest of the policy unchanged?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619107" y="6327267"/>
            <a:ext cx="6739890" cy="910590"/>
            <a:chOff x="0" y="0"/>
            <a:chExt cx="8986520" cy="1214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86520" cy="1214120"/>
            </a:xfrm>
            <a:custGeom>
              <a:avLst/>
              <a:gdLst/>
              <a:ahLst/>
              <a:cxnLst/>
              <a:rect r="r" b="b" t="t" l="l"/>
              <a:pathLst>
                <a:path h="1214120" w="8986520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8837041" y="0"/>
                  </a:lnTo>
                  <a:cubicBezTo>
                    <a:pt x="8919591" y="0"/>
                    <a:pt x="8986520" y="66929"/>
                    <a:pt x="8986520" y="149479"/>
                  </a:cubicBezTo>
                  <a:lnTo>
                    <a:pt x="8986520" y="1064641"/>
                  </a:lnTo>
                  <a:cubicBezTo>
                    <a:pt x="8986520" y="1147191"/>
                    <a:pt x="8919591" y="1214120"/>
                    <a:pt x="8837041" y="1214120"/>
                  </a:cubicBezTo>
                  <a:lnTo>
                    <a:pt x="149479" y="1214120"/>
                  </a:lnTo>
                  <a:cubicBezTo>
                    <a:pt x="66929" y="1214120"/>
                    <a:pt x="0" y="1147191"/>
                    <a:pt x="0" y="1064641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875520" y="6473952"/>
            <a:ext cx="6240780" cy="603504"/>
            <a:chOff x="0" y="0"/>
            <a:chExt cx="8321040" cy="8046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321040" cy="804672"/>
            </a:xfrm>
            <a:custGeom>
              <a:avLst/>
              <a:gdLst/>
              <a:ahLst/>
              <a:cxnLst/>
              <a:rect r="r" b="b" t="t" l="l"/>
              <a:pathLst>
                <a:path h="804672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493" r="0" b="-15149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321040" cy="804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264D9D"/>
                  </a:solidFill>
                  <a:latin typeface="Aptos"/>
                  <a:ea typeface="Aptos"/>
                  <a:cs typeface="Aptos"/>
                  <a:sym typeface="Aptos"/>
                </a:rPr>
                <a:t>Scope note: this study measures normalization disagreement; it does not claim that every such change is a classical rank reversal.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97280" y="8394192"/>
            <a:ext cx="16184880" cy="493776"/>
            <a:chOff x="0" y="0"/>
            <a:chExt cx="21579840" cy="6583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579839" cy="658368"/>
            </a:xfrm>
            <a:custGeom>
              <a:avLst/>
              <a:gdLst/>
              <a:ahLst/>
              <a:cxnLst/>
              <a:rect r="r" b="b" t="t" l="l"/>
              <a:pathLst>
                <a:path h="658368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676" r="0" b="-58867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15798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focus: a single, lightweight change to coverage-loss normalization.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541920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OBJECTIVES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one-change policy, evaluated with decision-level evidence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 contribution is a focused policy adjustment plus a transparent evaluation of where it does—and does not—help.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612" y="2736533"/>
            <a:ext cx="7831455" cy="2043303"/>
            <a:chOff x="0" y="0"/>
            <a:chExt cx="10441940" cy="27244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7755" y="2733675"/>
            <a:ext cx="101346" cy="2049018"/>
            <a:chOff x="0" y="0"/>
            <a:chExt cx="135128" cy="2732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07986" y="3012758"/>
            <a:ext cx="695325" cy="695325"/>
            <a:chOff x="0" y="0"/>
            <a:chExt cx="927100" cy="927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DCE8FF"/>
            </a:solidFill>
            <a:ln w="9525" cap="sq">
              <a:solidFill>
                <a:srgbClr val="DCE8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12748" y="3182112"/>
            <a:ext cx="685800" cy="329184"/>
            <a:chOff x="0" y="0"/>
            <a:chExt cx="91440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59152" y="3044952"/>
            <a:ext cx="5829300" cy="384048"/>
            <a:chOff x="0" y="0"/>
            <a:chExt cx="777240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Diagnose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359152" y="3597783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Instrument thousands of relay decisions and quantify how normalization changes candidate selection.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88793" y="2736533"/>
            <a:ext cx="7831455" cy="2043303"/>
            <a:chOff x="0" y="0"/>
            <a:chExt cx="10441940" cy="27244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385935" y="2733675"/>
            <a:ext cx="101346" cy="2049018"/>
            <a:chOff x="0" y="0"/>
            <a:chExt cx="135128" cy="27320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06166" y="3012758"/>
            <a:ext cx="695325" cy="695325"/>
            <a:chOff x="0" y="0"/>
            <a:chExt cx="927100" cy="927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DDF3EF"/>
            </a:solidFill>
            <a:ln w="9525" cap="sq">
              <a:solidFill>
                <a:srgbClr val="DDF3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710928" y="3182112"/>
            <a:ext cx="685800" cy="329184"/>
            <a:chOff x="0" y="0"/>
            <a:chExt cx="914400" cy="43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57332" y="3044952"/>
            <a:ext cx="5829300" cy="384048"/>
            <a:chOff x="0" y="0"/>
            <a:chExt cx="777240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Design LARS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657332" y="3597783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Replace only the coverage-loss normalization with an absolute, physically anchored scale.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90612" y="5232844"/>
            <a:ext cx="7831455" cy="2043303"/>
            <a:chOff x="0" y="0"/>
            <a:chExt cx="10441940" cy="27244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87755" y="5229987"/>
            <a:ext cx="101346" cy="2049018"/>
            <a:chOff x="0" y="0"/>
            <a:chExt cx="135128" cy="27320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07986" y="5509070"/>
            <a:ext cx="695325" cy="695325"/>
            <a:chOff x="0" y="0"/>
            <a:chExt cx="927100" cy="927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FF2D9"/>
            </a:solidFill>
            <a:ln w="9525" cap="sq">
              <a:solidFill>
                <a:srgbClr val="FFF2D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12748" y="5678424"/>
            <a:ext cx="685800" cy="329184"/>
            <a:chOff x="0" y="0"/>
            <a:chExt cx="914400" cy="438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59152" y="5541264"/>
            <a:ext cx="5829300" cy="384048"/>
            <a:chOff x="0" y="0"/>
            <a:chExt cx="7772400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Benchmark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359152" y="6094095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Compare with RelayScore, FIS, TOPSIS, VIKOR, auction, and simple heuristics.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388793" y="5232844"/>
            <a:ext cx="7831455" cy="2043303"/>
            <a:chOff x="0" y="0"/>
            <a:chExt cx="10441940" cy="27244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41940" cy="2724404"/>
            </a:xfrm>
            <a:custGeom>
              <a:avLst/>
              <a:gdLst/>
              <a:ahLst/>
              <a:cxnLst/>
              <a:rect r="r" b="b" t="t" l="l"/>
              <a:pathLst>
                <a:path h="2724404" w="1044194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294747" y="0"/>
                  </a:lnTo>
                  <a:cubicBezTo>
                    <a:pt x="10376027" y="0"/>
                    <a:pt x="10441940" y="65913"/>
                    <a:pt x="10441940" y="147193"/>
                  </a:cubicBezTo>
                  <a:lnTo>
                    <a:pt x="10441940" y="2577211"/>
                  </a:lnTo>
                  <a:cubicBezTo>
                    <a:pt x="10441940" y="2658491"/>
                    <a:pt x="10376027" y="2724404"/>
                    <a:pt x="1029474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385935" y="5229987"/>
            <a:ext cx="101346" cy="2049018"/>
            <a:chOff x="0" y="0"/>
            <a:chExt cx="135128" cy="27320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06166" y="5509070"/>
            <a:ext cx="695325" cy="695325"/>
            <a:chOff x="0" y="0"/>
            <a:chExt cx="927100" cy="9271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7100" cy="927100"/>
            </a:xfrm>
            <a:custGeom>
              <a:avLst/>
              <a:gdLst/>
              <a:ahLst/>
              <a:cxnLst/>
              <a:rect r="r" b="b" t="t" l="l"/>
              <a:pathLst>
                <a:path h="927100" w="927100">
                  <a:moveTo>
                    <a:pt x="0" y="463550"/>
                  </a:moveTo>
                  <a:cubicBezTo>
                    <a:pt x="0" y="207518"/>
                    <a:pt x="207518" y="0"/>
                    <a:pt x="463550" y="0"/>
                  </a:cubicBezTo>
                  <a:cubicBezTo>
                    <a:pt x="719582" y="0"/>
                    <a:pt x="927100" y="207518"/>
                    <a:pt x="927100" y="463550"/>
                  </a:cubicBezTo>
                  <a:cubicBezTo>
                    <a:pt x="927100" y="719582"/>
                    <a:pt x="719582" y="927100"/>
                    <a:pt x="463550" y="927100"/>
                  </a:cubicBezTo>
                  <a:cubicBezTo>
                    <a:pt x="207518" y="927100"/>
                    <a:pt x="0" y="719582"/>
                    <a:pt x="0" y="463550"/>
                  </a:cubicBezTo>
                  <a:close/>
                </a:path>
              </a:pathLst>
            </a:custGeom>
            <a:solidFill>
              <a:srgbClr val="FCE7E7"/>
            </a:solidFill>
            <a:ln w="9525" cap="sq">
              <a:solidFill>
                <a:srgbClr val="FCE7E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710928" y="5678424"/>
            <a:ext cx="685800" cy="329184"/>
            <a:chOff x="0" y="0"/>
            <a:chExt cx="91440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438912"/>
            </a:xfrm>
            <a:custGeom>
              <a:avLst/>
              <a:gdLst/>
              <a:ahLst/>
              <a:cxnLst/>
              <a:rect r="r" b="b" t="t" l="l"/>
              <a:pathLst>
                <a:path h="43891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91440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657332" y="5541264"/>
            <a:ext cx="5829300" cy="384048"/>
            <a:chOff x="0" y="0"/>
            <a:chExt cx="777240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772400" cy="512064"/>
            </a:xfrm>
            <a:custGeom>
              <a:avLst/>
              <a:gdLst/>
              <a:ahLst/>
              <a:cxnLst/>
              <a:rect r="r" b="b" t="t" l="l"/>
              <a:pathLst>
                <a:path h="512064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755" r="0" b="-24575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77724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Test limits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657332" y="6094095"/>
            <a:ext cx="596646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69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Use independent seed blocks, statistical tests, terrain and fleet sweeps; report trade-offs.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15187" y="8055483"/>
            <a:ext cx="16066770" cy="800862"/>
            <a:chOff x="0" y="0"/>
            <a:chExt cx="21422360" cy="10678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422361" cy="1067816"/>
            </a:xfrm>
            <a:custGeom>
              <a:avLst/>
              <a:gdLst/>
              <a:ahLst/>
              <a:cxnLst/>
              <a:rect r="r" b="b" t="t" l="l"/>
              <a:pathLst>
                <a:path h="1067816" w="21422361">
                  <a:moveTo>
                    <a:pt x="0" y="149860"/>
                  </a:moveTo>
                  <a:cubicBezTo>
                    <a:pt x="0" y="67056"/>
                    <a:pt x="67056" y="0"/>
                    <a:pt x="149860" y="0"/>
                  </a:cubicBezTo>
                  <a:lnTo>
                    <a:pt x="21272500" y="0"/>
                  </a:lnTo>
                  <a:cubicBezTo>
                    <a:pt x="21355304" y="0"/>
                    <a:pt x="21422361" y="67056"/>
                    <a:pt x="21422361" y="149860"/>
                  </a:cubicBezTo>
                  <a:lnTo>
                    <a:pt x="21422361" y="917956"/>
                  </a:lnTo>
                  <a:cubicBezTo>
                    <a:pt x="21422361" y="1000760"/>
                    <a:pt x="21355304" y="1067816"/>
                    <a:pt x="21272500" y="1067816"/>
                  </a:cubicBezTo>
                  <a:lnTo>
                    <a:pt x="149860" y="1067816"/>
                  </a:lnTo>
                  <a:cubicBezTo>
                    <a:pt x="67056" y="1067816"/>
                    <a:pt x="0" y="1000760"/>
                    <a:pt x="0" y="917956"/>
                  </a:cubicBez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81328" y="8243316"/>
            <a:ext cx="15361920" cy="384048"/>
            <a:chOff x="0" y="0"/>
            <a:chExt cx="20482560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82561" cy="512064"/>
            </a:xfrm>
            <a:custGeom>
              <a:avLst/>
              <a:gdLst/>
              <a:ahLst/>
              <a:cxnLst/>
              <a:rect r="r" b="b" t="t" l="l"/>
              <a:pathLst>
                <a:path h="512064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04825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claim: LARS is a lean operating point—not a universally dominant policy.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511381"/>
            <a:chOff x="0" y="0"/>
            <a:chExt cx="14630400" cy="681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81842"/>
            </a:xfrm>
            <a:custGeom>
              <a:avLst/>
              <a:gdLst/>
              <a:ahLst/>
              <a:cxnLst/>
              <a:rect r="r" b="b" t="t" l="l"/>
              <a:pathLst>
                <a:path h="68184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1842"/>
                  </a:lnTo>
                  <a:lnTo>
                    <a:pt x="0" y="681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590" r="0" b="-3475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8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b="true" sz="2749" spc="458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SYSTEM MODEL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relay request flows through a shared candidate-scoring pipeline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All policies use the same feasible candidate pool; they differ in how they rank the candidates.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3180" y="2873692"/>
            <a:ext cx="3168015" cy="1631823"/>
            <a:chOff x="0" y="0"/>
            <a:chExt cx="4224020" cy="21757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24020" cy="2175764"/>
            </a:xfrm>
            <a:custGeom>
              <a:avLst/>
              <a:gdLst/>
              <a:ahLst/>
              <a:cxnLst/>
              <a:rect r="r" b="b" t="t" l="l"/>
              <a:pathLst>
                <a:path h="2175764" w="422402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076446" y="0"/>
                  </a:lnTo>
                  <a:cubicBezTo>
                    <a:pt x="4157980" y="0"/>
                    <a:pt x="4224020" y="66040"/>
                    <a:pt x="4224020" y="147574"/>
                  </a:cubicBezTo>
                  <a:lnTo>
                    <a:pt x="4224020" y="2028190"/>
                  </a:lnTo>
                  <a:cubicBezTo>
                    <a:pt x="4224020" y="2109724"/>
                    <a:pt x="4157980" y="2175764"/>
                    <a:pt x="407644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60323" y="2870835"/>
            <a:ext cx="101346" cy="1637538"/>
            <a:chOff x="0" y="0"/>
            <a:chExt cx="135128" cy="21833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4168" y="3127248"/>
            <a:ext cx="2606040" cy="411480"/>
            <a:chOff x="0" y="0"/>
            <a:chExt cx="347472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4747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Patrolling UAV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16736" y="3662172"/>
            <a:ext cx="266090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Battery below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safety threshold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862512" y="2873692"/>
            <a:ext cx="3236595" cy="1631823"/>
            <a:chOff x="0" y="0"/>
            <a:chExt cx="4315460" cy="21757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15460" cy="2175764"/>
            </a:xfrm>
            <a:custGeom>
              <a:avLst/>
              <a:gdLst/>
              <a:ahLst/>
              <a:cxnLst/>
              <a:rect r="r" b="b" t="t" l="l"/>
              <a:pathLst>
                <a:path h="2175764" w="43154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67886" y="0"/>
                  </a:lnTo>
                  <a:cubicBezTo>
                    <a:pt x="4249420" y="0"/>
                    <a:pt x="4315460" y="66040"/>
                    <a:pt x="4315460" y="147574"/>
                  </a:cubicBezTo>
                  <a:lnTo>
                    <a:pt x="4315460" y="2028190"/>
                  </a:lnTo>
                  <a:cubicBezTo>
                    <a:pt x="4315460" y="2109724"/>
                    <a:pt x="4249420" y="2175764"/>
                    <a:pt x="416788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859655" y="2870835"/>
            <a:ext cx="101346" cy="1637538"/>
            <a:chOff x="0" y="0"/>
            <a:chExt cx="135128" cy="21833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143500" y="3127248"/>
            <a:ext cx="2674620" cy="411480"/>
            <a:chOff x="0" y="0"/>
            <a:chExt cx="356616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66160" cy="548640"/>
            </a:xfrm>
            <a:custGeom>
              <a:avLst/>
              <a:gdLst/>
              <a:ahLst/>
              <a:cxnLst/>
              <a:rect r="r" b="b" t="t" l="l"/>
              <a:pathLst>
                <a:path h="5486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5661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Candidate pool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116068" y="3662172"/>
            <a:ext cx="27294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Idle reserves + feasible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patrolling UAVs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744140" y="2873692"/>
            <a:ext cx="3236595" cy="1631823"/>
            <a:chOff x="0" y="0"/>
            <a:chExt cx="4315460" cy="21757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15460" cy="2175764"/>
            </a:xfrm>
            <a:custGeom>
              <a:avLst/>
              <a:gdLst/>
              <a:ahLst/>
              <a:cxnLst/>
              <a:rect r="r" b="b" t="t" l="l"/>
              <a:pathLst>
                <a:path h="2175764" w="431546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4167886" y="0"/>
                  </a:lnTo>
                  <a:cubicBezTo>
                    <a:pt x="4249420" y="0"/>
                    <a:pt x="4315460" y="66040"/>
                    <a:pt x="4315460" y="147574"/>
                  </a:cubicBezTo>
                  <a:lnTo>
                    <a:pt x="4315460" y="2028190"/>
                  </a:lnTo>
                  <a:cubicBezTo>
                    <a:pt x="4315460" y="2109724"/>
                    <a:pt x="4249420" y="2175764"/>
                    <a:pt x="416788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741283" y="2870835"/>
            <a:ext cx="101346" cy="1637538"/>
            <a:chOff x="0" y="0"/>
            <a:chExt cx="135128" cy="21833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025128" y="3127248"/>
            <a:ext cx="2674620" cy="411480"/>
            <a:chOff x="0" y="0"/>
            <a:chExt cx="356616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66160" cy="548640"/>
            </a:xfrm>
            <a:custGeom>
              <a:avLst/>
              <a:gdLst/>
              <a:ahLst/>
              <a:cxnLst/>
              <a:rect r="r" b="b" t="t" l="l"/>
              <a:pathLst>
                <a:path h="54864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5661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scoring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997696" y="3662172"/>
            <a:ext cx="272948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Energy • delay •</a:t>
            </a:r>
          </a:p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coverage loss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639484" y="2873692"/>
            <a:ext cx="4128135" cy="1631823"/>
            <a:chOff x="0" y="0"/>
            <a:chExt cx="5504180" cy="21757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04180" cy="2175764"/>
            </a:xfrm>
            <a:custGeom>
              <a:avLst/>
              <a:gdLst/>
              <a:ahLst/>
              <a:cxnLst/>
              <a:rect r="r" b="b" t="t" l="l"/>
              <a:pathLst>
                <a:path h="2175764" w="550418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5356606" y="0"/>
                  </a:lnTo>
                  <a:cubicBezTo>
                    <a:pt x="5438140" y="0"/>
                    <a:pt x="5504180" y="66040"/>
                    <a:pt x="5504180" y="147574"/>
                  </a:cubicBezTo>
                  <a:lnTo>
                    <a:pt x="5504180" y="2028190"/>
                  </a:lnTo>
                  <a:cubicBezTo>
                    <a:pt x="5504180" y="2109724"/>
                    <a:pt x="5438140" y="2175764"/>
                    <a:pt x="5356606" y="2175764"/>
                  </a:cubicBezTo>
                  <a:lnTo>
                    <a:pt x="147574" y="2175764"/>
                  </a:lnTo>
                  <a:cubicBezTo>
                    <a:pt x="66040" y="2175764"/>
                    <a:pt x="0" y="2109724"/>
                    <a:pt x="0" y="2028190"/>
                  </a:cubicBezTo>
                  <a:close/>
                </a:path>
              </a:pathLst>
            </a:custGeom>
            <a:solidFill>
              <a:srgbClr val="DDF6F7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636627" y="2870835"/>
            <a:ext cx="101346" cy="1637538"/>
            <a:chOff x="0" y="0"/>
            <a:chExt cx="135128" cy="21833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5128" cy="2183384"/>
            </a:xfrm>
            <a:custGeom>
              <a:avLst/>
              <a:gdLst/>
              <a:ahLst/>
              <a:cxnLst/>
              <a:rect r="r" b="b" t="t" l="l"/>
              <a:pathLst>
                <a:path h="218338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920472" y="3127248"/>
            <a:ext cx="3566160" cy="411480"/>
            <a:chOff x="0" y="0"/>
            <a:chExt cx="475488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7548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Selected replacement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893040" y="3662172"/>
            <a:ext cx="3621024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Take over the patrol zone</a:t>
            </a:r>
          </a:p>
        </p:txBody>
      </p:sp>
      <p:sp>
        <p:nvSpPr>
          <p:cNvPr name="AutoShape 47" id="47"/>
          <p:cNvSpPr/>
          <p:nvPr/>
        </p:nvSpPr>
        <p:spPr>
          <a:xfrm>
            <a:off x="4264131" y="3538728"/>
            <a:ext cx="595524" cy="0"/>
          </a:xfrm>
          <a:prstGeom prst="line">
            <a:avLst/>
          </a:prstGeom>
          <a:ln cap="rnd" w="19050">
            <a:solidFill>
              <a:srgbClr val="8EA0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8099107" y="3538728"/>
            <a:ext cx="642176" cy="0"/>
          </a:xfrm>
          <a:prstGeom prst="line">
            <a:avLst/>
          </a:prstGeom>
          <a:ln cap="rnd" w="19050">
            <a:solidFill>
              <a:srgbClr val="8EA0B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11980736" y="3538728"/>
            <a:ext cx="655891" cy="22775"/>
          </a:xfrm>
          <a:prstGeom prst="line">
            <a:avLst/>
          </a:prstGeom>
          <a:ln cap="rnd" w="19050">
            <a:solidFill>
              <a:srgbClr val="8EA0B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1165860" y="5554980"/>
            <a:ext cx="7543800" cy="411480"/>
            <a:chOff x="0" y="0"/>
            <a:chExt cx="10058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0058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Candidate attributes used in the model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9192" y="6234112"/>
            <a:ext cx="4745355" cy="1453515"/>
            <a:chOff x="0" y="0"/>
            <a:chExt cx="6327140" cy="19380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27140" cy="1938020"/>
            </a:xfrm>
            <a:custGeom>
              <a:avLst/>
              <a:gdLst/>
              <a:ahLst/>
              <a:cxnLst/>
              <a:rect r="r" b="b" t="t" l="l"/>
              <a:pathLst>
                <a:path h="1938020" w="632714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179439" y="0"/>
                  </a:lnTo>
                  <a:cubicBezTo>
                    <a:pt x="6260973" y="0"/>
                    <a:pt x="6327140" y="66167"/>
                    <a:pt x="6327140" y="147701"/>
                  </a:cubicBezTo>
                  <a:lnTo>
                    <a:pt x="6327140" y="1790319"/>
                  </a:lnTo>
                  <a:cubicBezTo>
                    <a:pt x="6327140" y="1871853"/>
                    <a:pt x="6260973" y="1938020"/>
                    <a:pt x="6179439" y="1938020"/>
                  </a:cubicBezTo>
                  <a:lnTo>
                    <a:pt x="147701" y="1938020"/>
                  </a:lnTo>
                  <a:cubicBezTo>
                    <a:pt x="66167" y="1938020"/>
                    <a:pt x="0" y="1871853"/>
                    <a:pt x="0" y="1790319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55992" y="6572060"/>
            <a:ext cx="187833" cy="187833"/>
            <a:chOff x="0" y="0"/>
            <a:chExt cx="250444" cy="2504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0444" cy="250444"/>
            </a:xfrm>
            <a:custGeom>
              <a:avLst/>
              <a:gdLst/>
              <a:ahLst/>
              <a:cxnLst/>
              <a:rect r="r" b="b" t="t" l="l"/>
              <a:pathLst>
                <a:path h="250444" w="250444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cubicBezTo>
                    <a:pt x="194437" y="0"/>
                    <a:pt x="250444" y="56007"/>
                    <a:pt x="250444" y="125222"/>
                  </a:cubicBezTo>
                  <a:cubicBezTo>
                    <a:pt x="250444" y="194437"/>
                    <a:pt x="194437" y="250444"/>
                    <a:pt x="125222" y="250444"/>
                  </a:cubicBezTo>
                  <a:cubicBezTo>
                    <a:pt x="56007" y="250444"/>
                    <a:pt x="0" y="194437"/>
                    <a:pt x="0" y="125222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824228" y="6446520"/>
            <a:ext cx="3771900" cy="384048"/>
            <a:chOff x="0" y="0"/>
            <a:chExt cx="5029200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2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029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Travel energy  eᵢ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440180" y="7022592"/>
            <a:ext cx="41833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Cost to reach the handoff point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6645593" y="6234112"/>
            <a:ext cx="4745355" cy="1453515"/>
            <a:chOff x="0" y="0"/>
            <a:chExt cx="6327140" cy="19380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327140" cy="1938020"/>
            </a:xfrm>
            <a:custGeom>
              <a:avLst/>
              <a:gdLst/>
              <a:ahLst/>
              <a:cxnLst/>
              <a:rect r="r" b="b" t="t" l="l"/>
              <a:pathLst>
                <a:path h="1938020" w="632714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179439" y="0"/>
                  </a:lnTo>
                  <a:cubicBezTo>
                    <a:pt x="6260973" y="0"/>
                    <a:pt x="6327140" y="66167"/>
                    <a:pt x="6327140" y="147701"/>
                  </a:cubicBezTo>
                  <a:lnTo>
                    <a:pt x="6327140" y="1790319"/>
                  </a:lnTo>
                  <a:cubicBezTo>
                    <a:pt x="6327140" y="1871853"/>
                    <a:pt x="6260973" y="1938020"/>
                    <a:pt x="6179439" y="1938020"/>
                  </a:cubicBezTo>
                  <a:lnTo>
                    <a:pt x="147701" y="1938020"/>
                  </a:lnTo>
                  <a:cubicBezTo>
                    <a:pt x="66167" y="1938020"/>
                    <a:pt x="0" y="1871853"/>
                    <a:pt x="0" y="1790319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6942392" y="6572060"/>
            <a:ext cx="187833" cy="187833"/>
            <a:chOff x="0" y="0"/>
            <a:chExt cx="250444" cy="2504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0444" cy="250444"/>
            </a:xfrm>
            <a:custGeom>
              <a:avLst/>
              <a:gdLst/>
              <a:ahLst/>
              <a:cxnLst/>
              <a:rect r="r" b="b" t="t" l="l"/>
              <a:pathLst>
                <a:path h="250444" w="250444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cubicBezTo>
                    <a:pt x="194437" y="0"/>
                    <a:pt x="250444" y="56007"/>
                    <a:pt x="250444" y="125222"/>
                  </a:cubicBezTo>
                  <a:cubicBezTo>
                    <a:pt x="250444" y="194437"/>
                    <a:pt x="194437" y="250444"/>
                    <a:pt x="125222" y="250444"/>
                  </a:cubicBezTo>
                  <a:cubicBezTo>
                    <a:pt x="56007" y="250444"/>
                    <a:pt x="0" y="194437"/>
                    <a:pt x="0" y="125222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7310628" y="6446520"/>
            <a:ext cx="3771900" cy="384048"/>
            <a:chOff x="0" y="0"/>
            <a:chExt cx="5029200" cy="5120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02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029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delay  lᵢ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926580" y="7022592"/>
            <a:ext cx="41833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Grid steps while the zone is unattended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131993" y="6234112"/>
            <a:ext cx="4745355" cy="1453515"/>
            <a:chOff x="0" y="0"/>
            <a:chExt cx="6327140" cy="19380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327140" cy="1938020"/>
            </a:xfrm>
            <a:custGeom>
              <a:avLst/>
              <a:gdLst/>
              <a:ahLst/>
              <a:cxnLst/>
              <a:rect r="r" b="b" t="t" l="l"/>
              <a:pathLst>
                <a:path h="1938020" w="632714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179439" y="0"/>
                  </a:lnTo>
                  <a:cubicBezTo>
                    <a:pt x="6260973" y="0"/>
                    <a:pt x="6327140" y="66167"/>
                    <a:pt x="6327140" y="147701"/>
                  </a:cubicBezTo>
                  <a:lnTo>
                    <a:pt x="6327140" y="1790319"/>
                  </a:lnTo>
                  <a:cubicBezTo>
                    <a:pt x="6327140" y="1871853"/>
                    <a:pt x="6260973" y="1938020"/>
                    <a:pt x="6179439" y="1938020"/>
                  </a:cubicBezTo>
                  <a:lnTo>
                    <a:pt x="147701" y="1938020"/>
                  </a:lnTo>
                  <a:cubicBezTo>
                    <a:pt x="66167" y="1938020"/>
                    <a:pt x="0" y="1871853"/>
                    <a:pt x="0" y="1790319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428792" y="6572060"/>
            <a:ext cx="187833" cy="187833"/>
            <a:chOff x="0" y="0"/>
            <a:chExt cx="250444" cy="2504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0444" cy="250444"/>
            </a:xfrm>
            <a:custGeom>
              <a:avLst/>
              <a:gdLst/>
              <a:ahLst/>
              <a:cxnLst/>
              <a:rect r="r" b="b" t="t" l="l"/>
              <a:pathLst>
                <a:path h="250444" w="250444">
                  <a:moveTo>
                    <a:pt x="0" y="125222"/>
                  </a:moveTo>
                  <a:cubicBezTo>
                    <a:pt x="0" y="56007"/>
                    <a:pt x="56007" y="0"/>
                    <a:pt x="125222" y="0"/>
                  </a:cubicBezTo>
                  <a:cubicBezTo>
                    <a:pt x="194437" y="0"/>
                    <a:pt x="250444" y="56007"/>
                    <a:pt x="250444" y="125222"/>
                  </a:cubicBezTo>
                  <a:cubicBezTo>
                    <a:pt x="250444" y="194437"/>
                    <a:pt x="194437" y="250444"/>
                    <a:pt x="125222" y="250444"/>
                  </a:cubicBezTo>
                  <a:cubicBezTo>
                    <a:pt x="56007" y="250444"/>
                    <a:pt x="0" y="194437"/>
                    <a:pt x="0" y="125222"/>
                  </a:cubicBezTo>
                  <a:close/>
                </a:path>
              </a:pathLst>
            </a:custGeom>
            <a:solidFill>
              <a:srgbClr val="218C85"/>
            </a:solidFill>
            <a:ln w="9525" cap="sq">
              <a:solidFill>
                <a:srgbClr val="218C85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797028" y="6446520"/>
            <a:ext cx="3771900" cy="384048"/>
            <a:chOff x="0" y="0"/>
            <a:chExt cx="5029200" cy="5120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02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0" r="0" b="-14137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5029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loss  cᵢ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2412980" y="7022592"/>
            <a:ext cx="41833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Marginal patrol-coverage cost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79576" y="8298180"/>
            <a:ext cx="15910560" cy="480060"/>
            <a:chOff x="0" y="0"/>
            <a:chExt cx="2121408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21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89" r="0" b="-59578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212140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4"/>
                </a:lnSpc>
              </a:pPr>
              <a:r>
                <a:rPr lang="en-US" sz="1695" i="true">
                  <a:solidFill>
                    <a:srgbClr val="5F708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Battery margin is enforced through feasibility/safety conditions; it is not a fourth ranked LARS attribute.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DECISION-LEVEL DIAGNOSIS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5830" y="1111377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logged decisions show where the two normalizations disagree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Confirmatory seeds 401–600; decisions with at least two feasible candidates, observed along LARS trajectories.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612" y="2667952"/>
            <a:ext cx="4882515" cy="1727835"/>
            <a:chOff x="0" y="0"/>
            <a:chExt cx="6510020" cy="23037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10020" cy="2303780"/>
            </a:xfrm>
            <a:custGeom>
              <a:avLst/>
              <a:gdLst/>
              <a:ahLst/>
              <a:cxnLst/>
              <a:rect r="r" b="b" t="t" l="l"/>
              <a:pathLst>
                <a:path h="2303780" w="65100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362573" y="0"/>
                  </a:lnTo>
                  <a:cubicBezTo>
                    <a:pt x="6443980" y="0"/>
                    <a:pt x="6510020" y="66040"/>
                    <a:pt x="6510020" y="147447"/>
                  </a:cubicBezTo>
                  <a:lnTo>
                    <a:pt x="6510020" y="2156333"/>
                  </a:lnTo>
                  <a:cubicBezTo>
                    <a:pt x="6510020" y="2237740"/>
                    <a:pt x="6443980" y="2303780"/>
                    <a:pt x="6362573" y="2303780"/>
                  </a:cubicBezTo>
                  <a:lnTo>
                    <a:pt x="147447" y="2303780"/>
                  </a:lnTo>
                  <a:cubicBezTo>
                    <a:pt x="66040" y="2303780"/>
                    <a:pt x="0" y="2237740"/>
                    <a:pt x="0" y="2156333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7755" y="2665095"/>
            <a:ext cx="101346" cy="1733550"/>
            <a:chOff x="0" y="0"/>
            <a:chExt cx="135128" cy="2311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2894076"/>
            <a:ext cx="4389120" cy="589788"/>
            <a:chOff x="0" y="0"/>
            <a:chExt cx="5852160" cy="7863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786384"/>
            </a:xfrm>
            <a:custGeom>
              <a:avLst/>
              <a:gdLst/>
              <a:ahLst/>
              <a:cxnLst/>
              <a:rect r="r" b="b" t="t" l="l"/>
              <a:pathLst>
                <a:path h="7863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04" r="0" b="-9500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8521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3,426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3525012"/>
            <a:ext cx="4389120" cy="315468"/>
            <a:chOff x="0" y="0"/>
            <a:chExt cx="5852160" cy="4206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420624"/>
            </a:xfrm>
            <a:custGeom>
              <a:avLst/>
              <a:gdLst/>
              <a:ahLst/>
              <a:cxnLst/>
              <a:rect r="r" b="b" t="t" l="l"/>
              <a:pathLst>
                <a:path h="42062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096" r="0" b="-2210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8521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decisions logged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" y="3895344"/>
            <a:ext cx="4389120" cy="301752"/>
            <a:chOff x="0" y="0"/>
            <a:chExt cx="5852160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N₍c₎ ≥ 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14172" y="2667952"/>
            <a:ext cx="4882515" cy="1727835"/>
            <a:chOff x="0" y="0"/>
            <a:chExt cx="6510020" cy="2303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10020" cy="2303780"/>
            </a:xfrm>
            <a:custGeom>
              <a:avLst/>
              <a:gdLst/>
              <a:ahLst/>
              <a:cxnLst/>
              <a:rect r="r" b="b" t="t" l="l"/>
              <a:pathLst>
                <a:path h="2303780" w="65100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362573" y="0"/>
                  </a:lnTo>
                  <a:cubicBezTo>
                    <a:pt x="6443980" y="0"/>
                    <a:pt x="6510020" y="66040"/>
                    <a:pt x="6510020" y="147447"/>
                  </a:cubicBezTo>
                  <a:lnTo>
                    <a:pt x="6510020" y="2156333"/>
                  </a:lnTo>
                  <a:cubicBezTo>
                    <a:pt x="6510020" y="2237740"/>
                    <a:pt x="6443980" y="2303780"/>
                    <a:pt x="6362573" y="2303780"/>
                  </a:cubicBezTo>
                  <a:lnTo>
                    <a:pt x="147447" y="2303780"/>
                  </a:lnTo>
                  <a:cubicBezTo>
                    <a:pt x="66040" y="2303780"/>
                    <a:pt x="0" y="2237740"/>
                    <a:pt x="0" y="2156333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11315" y="2665095"/>
            <a:ext cx="101346" cy="1733550"/>
            <a:chOff x="0" y="0"/>
            <a:chExt cx="135128" cy="2311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995160" y="2894076"/>
            <a:ext cx="4389120" cy="589788"/>
            <a:chOff x="0" y="0"/>
            <a:chExt cx="5852160" cy="7863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786384"/>
            </a:xfrm>
            <a:custGeom>
              <a:avLst/>
              <a:gdLst/>
              <a:ahLst/>
              <a:cxnLst/>
              <a:rect r="r" b="b" t="t" l="l"/>
              <a:pathLst>
                <a:path h="7863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04" r="0" b="-9500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8521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0.0019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95160" y="3525012"/>
            <a:ext cx="4389120" cy="315468"/>
            <a:chOff x="0" y="0"/>
            <a:chExt cx="5852160" cy="4206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420624"/>
            </a:xfrm>
            <a:custGeom>
              <a:avLst/>
              <a:gdLst/>
              <a:ahLst/>
              <a:cxnLst/>
              <a:rect r="r" b="b" t="t" l="l"/>
              <a:pathLst>
                <a:path h="42062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096" r="0" b="-2210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8521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median raw spread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95160" y="3895344"/>
            <a:ext cx="4389120" cy="301752"/>
            <a:chOff x="0" y="0"/>
            <a:chExt cx="585216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Coverage-loss units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37732" y="2667952"/>
            <a:ext cx="4882515" cy="1727835"/>
            <a:chOff x="0" y="0"/>
            <a:chExt cx="6510020" cy="23037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10020" cy="2303780"/>
            </a:xfrm>
            <a:custGeom>
              <a:avLst/>
              <a:gdLst/>
              <a:ahLst/>
              <a:cxnLst/>
              <a:rect r="r" b="b" t="t" l="l"/>
              <a:pathLst>
                <a:path h="2303780" w="65100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362573" y="0"/>
                  </a:lnTo>
                  <a:cubicBezTo>
                    <a:pt x="6443980" y="0"/>
                    <a:pt x="6510020" y="66040"/>
                    <a:pt x="6510020" y="147447"/>
                  </a:cubicBezTo>
                  <a:lnTo>
                    <a:pt x="6510020" y="2156333"/>
                  </a:lnTo>
                  <a:cubicBezTo>
                    <a:pt x="6510020" y="2237740"/>
                    <a:pt x="6443980" y="2303780"/>
                    <a:pt x="6362573" y="2303780"/>
                  </a:cubicBezTo>
                  <a:lnTo>
                    <a:pt x="147447" y="2303780"/>
                  </a:lnTo>
                  <a:cubicBezTo>
                    <a:pt x="66040" y="2303780"/>
                    <a:pt x="0" y="2237740"/>
                    <a:pt x="0" y="2156333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334875" y="2665095"/>
            <a:ext cx="101346" cy="1733550"/>
            <a:chOff x="0" y="0"/>
            <a:chExt cx="135128" cy="2311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5128" cy="2311400"/>
            </a:xfrm>
            <a:custGeom>
              <a:avLst/>
              <a:gdLst/>
              <a:ahLst/>
              <a:cxnLst/>
              <a:rect r="r" b="b" t="t" l="l"/>
              <a:pathLst>
                <a:path h="2311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618720" y="2894076"/>
            <a:ext cx="4389120" cy="589788"/>
            <a:chOff x="0" y="0"/>
            <a:chExt cx="5852160" cy="7863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86384"/>
            </a:xfrm>
            <a:custGeom>
              <a:avLst/>
              <a:gdLst/>
              <a:ahLst/>
              <a:cxnLst/>
              <a:rect r="r" b="b" t="t" l="l"/>
              <a:pathLst>
                <a:path h="7863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04" r="0" b="-950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852160" cy="7863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320×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618720" y="3525012"/>
            <a:ext cx="4389120" cy="315468"/>
            <a:chOff x="0" y="0"/>
            <a:chExt cx="5852160" cy="420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2160" cy="420624"/>
            </a:xfrm>
            <a:custGeom>
              <a:avLst/>
              <a:gdLst/>
              <a:ahLst/>
              <a:cxnLst/>
              <a:rect r="r" b="b" t="t" l="l"/>
              <a:pathLst>
                <a:path h="42062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096" r="0" b="-22109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8521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median inflation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618720" y="3895344"/>
            <a:ext cx="4389120" cy="301752"/>
            <a:chOff x="0" y="0"/>
            <a:chExt cx="5852160" cy="402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402336"/>
            </a:xfrm>
            <a:custGeom>
              <a:avLst/>
              <a:gdLst/>
              <a:ahLst/>
              <a:cxnLst/>
              <a:rect r="r" b="b" t="t" l="l"/>
              <a:pathLst>
                <a:path h="40233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18" r="0" b="-23341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8521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Among non-zero spreads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90612" y="4862512"/>
            <a:ext cx="9888855" cy="3236595"/>
            <a:chOff x="0" y="0"/>
            <a:chExt cx="13185140" cy="43154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185139" cy="4315460"/>
            </a:xfrm>
            <a:custGeom>
              <a:avLst/>
              <a:gdLst/>
              <a:ahLst/>
              <a:cxnLst/>
              <a:rect r="r" b="b" t="t" l="l"/>
              <a:pathLst>
                <a:path h="4315460" w="13185139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3038201" y="0"/>
                  </a:lnTo>
                  <a:cubicBezTo>
                    <a:pt x="13119354" y="0"/>
                    <a:pt x="13185139" y="65786"/>
                    <a:pt x="13185139" y="146939"/>
                  </a:cubicBezTo>
                  <a:lnTo>
                    <a:pt x="13185139" y="4168521"/>
                  </a:lnTo>
                  <a:cubicBezTo>
                    <a:pt x="13185139" y="4249674"/>
                    <a:pt x="13119354" y="4315460"/>
                    <a:pt x="13038201" y="4315460"/>
                  </a:cubicBezTo>
                  <a:lnTo>
                    <a:pt x="146939" y="4315460"/>
                  </a:lnTo>
                  <a:cubicBezTo>
                    <a:pt x="65786" y="4315460"/>
                    <a:pt x="0" y="4249674"/>
                    <a:pt x="0" y="416852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81328" y="5239512"/>
            <a:ext cx="8915400" cy="438912"/>
            <a:chOff x="0" y="0"/>
            <a:chExt cx="1188720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887200" cy="585216"/>
            </a:xfrm>
            <a:custGeom>
              <a:avLst/>
              <a:gdLst/>
              <a:ahLst/>
              <a:cxnLst/>
              <a:rect r="r" b="b" t="t" l="l"/>
              <a:pathLst>
                <a:path h="585216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789" r="0" b="-34578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18872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Different winner on the same candidate pool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08760" y="5952744"/>
            <a:ext cx="3977640" cy="754380"/>
            <a:chOff x="0" y="0"/>
            <a:chExt cx="530352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03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39" r="0" b="-5273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3035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723 / 3,426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815584" y="5993892"/>
            <a:ext cx="2743200" cy="754380"/>
            <a:chOff x="0" y="0"/>
            <a:chExt cx="365760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657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21.1%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08760" y="6995160"/>
            <a:ext cx="8092440" cy="356616"/>
            <a:chOff x="0" y="0"/>
            <a:chExt cx="10789920" cy="475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89920" cy="475488"/>
            </a:xfrm>
            <a:custGeom>
              <a:avLst/>
              <a:gdLst/>
              <a:ahLst/>
              <a:cxnLst/>
              <a:rect r="r" b="b" t="t" l="l"/>
              <a:pathLst>
                <a:path h="47548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160" r="0" b="-39216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1078992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Cluster-bootstrap 95% interval: 19.8–22.5%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446193" y="4862512"/>
            <a:ext cx="5774055" cy="3236595"/>
            <a:chOff x="0" y="0"/>
            <a:chExt cx="7698740" cy="43154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98740" cy="4315460"/>
            </a:xfrm>
            <a:custGeom>
              <a:avLst/>
              <a:gdLst/>
              <a:ahLst/>
              <a:cxnLst/>
              <a:rect r="r" b="b" t="t" l="l"/>
              <a:pathLst>
                <a:path h="4315460" w="769874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7551801" y="0"/>
                  </a:lnTo>
                  <a:cubicBezTo>
                    <a:pt x="7632954" y="0"/>
                    <a:pt x="7698740" y="65786"/>
                    <a:pt x="7698740" y="146939"/>
                  </a:cubicBezTo>
                  <a:lnTo>
                    <a:pt x="7698740" y="4168521"/>
                  </a:lnTo>
                  <a:cubicBezTo>
                    <a:pt x="7698740" y="4249674"/>
                    <a:pt x="7632954" y="4315460"/>
                    <a:pt x="7551801" y="4315460"/>
                  </a:cubicBezTo>
                  <a:lnTo>
                    <a:pt x="146939" y="4315460"/>
                  </a:lnTo>
                  <a:cubicBezTo>
                    <a:pt x="65786" y="4315460"/>
                    <a:pt x="0" y="4249674"/>
                    <a:pt x="0" y="4168521"/>
                  </a:cubicBezTo>
                  <a:close/>
                </a:path>
              </a:pathLst>
            </a:custGeom>
            <a:solidFill>
              <a:srgbClr val="FFF2D9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891772" y="5294376"/>
            <a:ext cx="4800600" cy="438912"/>
            <a:chOff x="0" y="0"/>
            <a:chExt cx="6400800" cy="585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400800" cy="585216"/>
            </a:xfrm>
            <a:custGeom>
              <a:avLst/>
              <a:gdLst/>
              <a:ahLst/>
              <a:cxnLst/>
              <a:rect r="r" b="b" t="t" l="l"/>
              <a:pathLst>
                <a:path h="58521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7" r="0" b="-16311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64008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885A0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Interpret carefully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1891772" y="5956935"/>
            <a:ext cx="4690872" cy="144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704C17"/>
                </a:solidFill>
                <a:latin typeface="Aptos"/>
                <a:ea typeface="Aptos"/>
                <a:cs typeface="Aptos"/>
                <a:sym typeface="Aptos"/>
              </a:rPr>
              <a:t>These are counterfactual choices on LARS’s logged pools. They show disagreement and immediate trade-offs, not a causal estimate of whole-mission improvement.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124712" y="8545068"/>
            <a:ext cx="16047720" cy="438912"/>
            <a:chOff x="0" y="0"/>
            <a:chExt cx="2139696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396961" cy="585216"/>
            </a:xfrm>
            <a:custGeom>
              <a:avLst/>
              <a:gdLst/>
              <a:ahLst/>
              <a:cxnLst/>
              <a:rect r="r" b="b" t="t" l="l"/>
              <a:pathLst>
                <a:path h="585216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421" r="0" b="-66242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13969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5F708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The mechanism is supported by decision-level patterns, but downstream mission trajectories diverge after a different choice.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PROPOSED POLICY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1082802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changes one term and keeps the default weighted-sum policy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No learned weights or extra ranked attributes are added.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67952"/>
            <a:ext cx="7831455" cy="5156835"/>
            <a:chOff x="0" y="0"/>
            <a:chExt cx="10441940" cy="68757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1939" cy="6875780"/>
            </a:xfrm>
            <a:custGeom>
              <a:avLst/>
              <a:gdLst/>
              <a:ahLst/>
              <a:cxnLst/>
              <a:rect r="r" b="b" t="t" l="l"/>
              <a:pathLst>
                <a:path h="6875780" w="1044193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95255" y="0"/>
                  </a:lnTo>
                  <a:cubicBezTo>
                    <a:pt x="10376281" y="0"/>
                    <a:pt x="10441939" y="65659"/>
                    <a:pt x="10441939" y="146685"/>
                  </a:cubicBezTo>
                  <a:lnTo>
                    <a:pt x="10441939" y="6729095"/>
                  </a:lnTo>
                  <a:cubicBezTo>
                    <a:pt x="10441939" y="6810121"/>
                    <a:pt x="10376281" y="6875780"/>
                    <a:pt x="10295255" y="6875780"/>
                  </a:cubicBezTo>
                  <a:lnTo>
                    <a:pt x="146685" y="6875780"/>
                  </a:lnTo>
                  <a:cubicBezTo>
                    <a:pt x="65659" y="6875780"/>
                    <a:pt x="0" y="6810121"/>
                    <a:pt x="0" y="67290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65095"/>
            <a:ext cx="101346" cy="5162550"/>
            <a:chOff x="0" y="0"/>
            <a:chExt cx="135128" cy="688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6883400"/>
            </a:xfrm>
            <a:custGeom>
              <a:avLst/>
              <a:gdLst/>
              <a:ahLst/>
              <a:cxnLst/>
              <a:rect r="r" b="b" t="t" l="l"/>
              <a:pathLst>
                <a:path h="6883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883400"/>
                  </a:lnTo>
                  <a:lnTo>
                    <a:pt x="0" y="688340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26667" y="3035427"/>
            <a:ext cx="1911858" cy="430530"/>
            <a:chOff x="0" y="0"/>
            <a:chExt cx="2549144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9144" cy="574040"/>
            </a:xfrm>
            <a:custGeom>
              <a:avLst/>
              <a:gdLst/>
              <a:ahLst/>
              <a:cxnLst/>
              <a:rect r="r" b="b" t="t" l="l"/>
              <a:pathLst>
                <a:path h="574040" w="2549144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396109" y="0"/>
                  </a:lnTo>
                  <a:cubicBezTo>
                    <a:pt x="2480691" y="0"/>
                    <a:pt x="2549144" y="68580"/>
                    <a:pt x="2549144" y="153035"/>
                  </a:cubicBezTo>
                  <a:lnTo>
                    <a:pt x="2549144" y="421005"/>
                  </a:lnTo>
                  <a:cubicBezTo>
                    <a:pt x="2549144" y="505587"/>
                    <a:pt x="2480564" y="574040"/>
                    <a:pt x="2396109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CE7E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3065526"/>
            <a:ext cx="1673352" cy="342900"/>
            <a:chOff x="0" y="0"/>
            <a:chExt cx="2231136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31136" cy="457200"/>
            </a:xfrm>
            <a:custGeom>
              <a:avLst/>
              <a:gdLst/>
              <a:ahLst/>
              <a:cxnLst/>
              <a:rect r="r" b="b" t="t" l="l"/>
              <a:pathLst>
                <a:path h="457200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086" r="0" b="-4508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31136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RELAYSCORE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36192" y="3771900"/>
            <a:ext cx="6720840" cy="658368"/>
            <a:chOff x="0" y="0"/>
            <a:chExt cx="8961120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877824"/>
            </a:xfrm>
            <a:custGeom>
              <a:avLst/>
              <a:gdLst/>
              <a:ahLst/>
              <a:cxnLst/>
              <a:rect r="r" b="b" t="t" l="l"/>
              <a:pathLst>
                <a:path h="87782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9611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Pool-relative coverage-loss normalization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26667" y="4736211"/>
            <a:ext cx="6739890" cy="1116330"/>
            <a:chOff x="0" y="0"/>
            <a:chExt cx="8986520" cy="1488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86520" cy="1488440"/>
            </a:xfrm>
            <a:custGeom>
              <a:avLst/>
              <a:gdLst/>
              <a:ahLst/>
              <a:cxnLst/>
              <a:rect r="r" b="b" t="t" l="l"/>
              <a:pathLst>
                <a:path h="1488440" w="898652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8837676" y="0"/>
                  </a:lnTo>
                  <a:cubicBezTo>
                    <a:pt x="8919845" y="0"/>
                    <a:pt x="8986520" y="66675"/>
                    <a:pt x="8986520" y="148844"/>
                  </a:cubicBezTo>
                  <a:lnTo>
                    <a:pt x="8986520" y="1339596"/>
                  </a:lnTo>
                  <a:cubicBezTo>
                    <a:pt x="8986520" y="1421765"/>
                    <a:pt x="8919845" y="1488440"/>
                    <a:pt x="883767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EAF0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83080" y="5033772"/>
            <a:ext cx="6240780" cy="452628"/>
            <a:chOff x="0" y="0"/>
            <a:chExt cx="8321040" cy="603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21040" cy="603504"/>
            </a:xfrm>
            <a:custGeom>
              <a:avLst/>
              <a:gdLst/>
              <a:ahLst/>
              <a:cxnLst/>
              <a:rect r="r" b="b" t="t" l="l"/>
              <a:pathLst>
                <a:path h="603504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657" r="0" b="-2186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832104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4223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μc(cᵢ) = (max c − cᵢ) / (max c − min c)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536192" y="6377940"/>
            <a:ext cx="665226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The meaning of a coverage-loss difference changes with the candidates in the current pool.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20212" y="2667952"/>
            <a:ext cx="7831455" cy="5156835"/>
            <a:chOff x="0" y="0"/>
            <a:chExt cx="10441940" cy="68757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41939" cy="6875780"/>
            </a:xfrm>
            <a:custGeom>
              <a:avLst/>
              <a:gdLst/>
              <a:ahLst/>
              <a:cxnLst/>
              <a:rect r="r" b="b" t="t" l="l"/>
              <a:pathLst>
                <a:path h="6875780" w="1044193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95255" y="0"/>
                  </a:lnTo>
                  <a:cubicBezTo>
                    <a:pt x="10376281" y="0"/>
                    <a:pt x="10441939" y="65659"/>
                    <a:pt x="10441939" y="146685"/>
                  </a:cubicBezTo>
                  <a:lnTo>
                    <a:pt x="10441939" y="6729095"/>
                  </a:lnTo>
                  <a:cubicBezTo>
                    <a:pt x="10441939" y="6810121"/>
                    <a:pt x="10376281" y="6875780"/>
                    <a:pt x="10295255" y="6875780"/>
                  </a:cubicBezTo>
                  <a:lnTo>
                    <a:pt x="146685" y="6875780"/>
                  </a:lnTo>
                  <a:cubicBezTo>
                    <a:pt x="65659" y="6875780"/>
                    <a:pt x="0" y="6810121"/>
                    <a:pt x="0" y="67290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317355" y="2665095"/>
            <a:ext cx="101346" cy="5162550"/>
            <a:chOff x="0" y="0"/>
            <a:chExt cx="135128" cy="6883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5128" cy="6883400"/>
            </a:xfrm>
            <a:custGeom>
              <a:avLst/>
              <a:gdLst/>
              <a:ahLst/>
              <a:cxnLst/>
              <a:rect r="r" b="b" t="t" l="l"/>
              <a:pathLst>
                <a:path h="688340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883400"/>
                  </a:lnTo>
                  <a:lnTo>
                    <a:pt x="0" y="6883400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28835" y="3035427"/>
            <a:ext cx="2419350" cy="430530"/>
            <a:chOff x="0" y="0"/>
            <a:chExt cx="3225800" cy="574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25800" cy="574040"/>
            </a:xfrm>
            <a:custGeom>
              <a:avLst/>
              <a:gdLst/>
              <a:ahLst/>
              <a:cxnLst/>
              <a:rect r="r" b="b" t="t" l="l"/>
              <a:pathLst>
                <a:path h="574040" w="322580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3072765" y="0"/>
                  </a:lnTo>
                  <a:cubicBezTo>
                    <a:pt x="3157220" y="0"/>
                    <a:pt x="3225800" y="68580"/>
                    <a:pt x="3225800" y="153035"/>
                  </a:cubicBezTo>
                  <a:lnTo>
                    <a:pt x="3225800" y="421005"/>
                  </a:lnTo>
                  <a:cubicBezTo>
                    <a:pt x="3225800" y="505587"/>
                    <a:pt x="3157220" y="574040"/>
                    <a:pt x="307276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48088" y="3065526"/>
            <a:ext cx="2180844" cy="342900"/>
            <a:chOff x="0" y="0"/>
            <a:chExt cx="2907792" cy="457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907792" cy="457200"/>
            </a:xfrm>
            <a:custGeom>
              <a:avLst/>
              <a:gdLst/>
              <a:ahLst/>
              <a:cxnLst/>
              <a:rect r="r" b="b" t="t" l="l"/>
              <a:pathLst>
                <a:path h="457200" w="2907792">
                  <a:moveTo>
                    <a:pt x="0" y="0"/>
                  </a:moveTo>
                  <a:lnTo>
                    <a:pt x="2907792" y="0"/>
                  </a:lnTo>
                  <a:lnTo>
                    <a:pt x="290779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24" r="0" b="-739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90779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/ PROPOSED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38360" y="3771900"/>
            <a:ext cx="6720840" cy="658368"/>
            <a:chOff x="0" y="0"/>
            <a:chExt cx="896112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61120" cy="877824"/>
            </a:xfrm>
            <a:custGeom>
              <a:avLst/>
              <a:gdLst/>
              <a:ahLst/>
              <a:cxnLst/>
              <a:rect r="r" b="b" t="t" l="l"/>
              <a:pathLst>
                <a:path h="87782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909" r="0" b="-14890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89611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Absolute-scale anchor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28835" y="4736211"/>
            <a:ext cx="6739890" cy="1116330"/>
            <a:chOff x="0" y="0"/>
            <a:chExt cx="8986520" cy="1488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986520" cy="1488440"/>
            </a:xfrm>
            <a:custGeom>
              <a:avLst/>
              <a:gdLst/>
              <a:ahLst/>
              <a:cxnLst/>
              <a:rect r="r" b="b" t="t" l="l"/>
              <a:pathLst>
                <a:path h="1488440" w="898652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8837676" y="0"/>
                  </a:lnTo>
                  <a:cubicBezTo>
                    <a:pt x="8919845" y="0"/>
                    <a:pt x="8986520" y="66675"/>
                    <a:pt x="8986520" y="148844"/>
                  </a:cubicBezTo>
                  <a:lnTo>
                    <a:pt x="8986520" y="1339596"/>
                  </a:lnTo>
                  <a:cubicBezTo>
                    <a:pt x="8986520" y="1421765"/>
                    <a:pt x="8919845" y="1488440"/>
                    <a:pt x="8837676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957816" y="5033772"/>
            <a:ext cx="6309360" cy="452628"/>
            <a:chOff x="0" y="0"/>
            <a:chExt cx="8412480" cy="60350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603504"/>
            </a:xfrm>
            <a:custGeom>
              <a:avLst/>
              <a:gdLst/>
              <a:ahLst/>
              <a:cxnLst/>
              <a:rect r="r" b="b" t="t" l="l"/>
              <a:pathLst>
                <a:path h="603504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609" r="0" b="-22160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412480" cy="613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76E6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γc(cᵢ) = min(1, cᵢ / Cmax)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738360" y="6377940"/>
            <a:ext cx="6652260" cy="85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Cmax = 0.60; anchored to the FIS coverage-loss scale. The term preserves magnitude up to saturation.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636395" y="8247507"/>
            <a:ext cx="15038070" cy="773430"/>
            <a:chOff x="0" y="0"/>
            <a:chExt cx="20050760" cy="10312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050761" cy="1031240"/>
            </a:xfrm>
            <a:custGeom>
              <a:avLst/>
              <a:gdLst/>
              <a:ahLst/>
              <a:cxnLst/>
              <a:rect r="r" b="b" t="t" l="l"/>
              <a:pathLst>
                <a:path h="1031240" w="20050761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19900773" y="0"/>
                  </a:lnTo>
                  <a:cubicBezTo>
                    <a:pt x="19983577" y="0"/>
                    <a:pt x="20050761" y="67183"/>
                    <a:pt x="20050761" y="149987"/>
                  </a:cubicBezTo>
                  <a:lnTo>
                    <a:pt x="20050761" y="881253"/>
                  </a:lnTo>
                  <a:cubicBezTo>
                    <a:pt x="20050761" y="964057"/>
                    <a:pt x="19983577" y="1031240"/>
                    <a:pt x="19900773" y="1031240"/>
                  </a:cubicBezTo>
                  <a:lnTo>
                    <a:pt x="149987" y="1031240"/>
                  </a:lnTo>
                  <a:cubicBezTo>
                    <a:pt x="67183" y="1031240"/>
                    <a:pt x="0" y="964057"/>
                    <a:pt x="0" y="881253"/>
                  </a:cubicBez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20240" y="8435340"/>
            <a:ext cx="14470380" cy="342900"/>
            <a:chOff x="0" y="0"/>
            <a:chExt cx="19293840" cy="457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293839" cy="457200"/>
            </a:xfrm>
            <a:custGeom>
              <a:avLst/>
              <a:gdLst/>
              <a:ahLst/>
              <a:cxnLst/>
              <a:rect r="r" b="b" t="t" l="l"/>
              <a:pathLst>
                <a:path h="457200" w="19293839">
                  <a:moveTo>
                    <a:pt x="0" y="0"/>
                  </a:moveTo>
                  <a:lnTo>
                    <a:pt x="19293839" y="0"/>
                  </a:lnTo>
                  <a:lnTo>
                    <a:pt x="1929383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268" r="0" b="-7722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9293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Same attributes • Same default weights (0.35, 0.40, 0.25) • Only coverage-loss scaling changes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510297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EXPERIMENTAL DESIGN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168527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confirmatory block plus broader generalization sweeps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Headline comparison: the same flat-terrain scenario, paired seeds, and shared feasibility rules across policies.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0612" y="2667952"/>
            <a:ext cx="5225415" cy="2043303"/>
            <a:chOff x="0" y="0"/>
            <a:chExt cx="6967220" cy="27244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67220" cy="2724404"/>
            </a:xfrm>
            <a:custGeom>
              <a:avLst/>
              <a:gdLst/>
              <a:ahLst/>
              <a:cxnLst/>
              <a:rect r="r" b="b" t="t" l="l"/>
              <a:pathLst>
                <a:path h="2724404" w="69672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0027" y="0"/>
                  </a:lnTo>
                  <a:cubicBezTo>
                    <a:pt x="6901307" y="0"/>
                    <a:pt x="6967220" y="65913"/>
                    <a:pt x="6967220" y="147193"/>
                  </a:cubicBezTo>
                  <a:lnTo>
                    <a:pt x="6967220" y="2577211"/>
                  </a:lnTo>
                  <a:cubicBezTo>
                    <a:pt x="6967220" y="2658491"/>
                    <a:pt x="6901307" y="2724404"/>
                    <a:pt x="682002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7755" y="2665095"/>
            <a:ext cx="101346" cy="2049018"/>
            <a:chOff x="0" y="0"/>
            <a:chExt cx="135128" cy="2732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99032" y="2921508"/>
            <a:ext cx="4608576" cy="301752"/>
            <a:chOff x="0" y="0"/>
            <a:chExt cx="6144768" cy="402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44768" cy="402336"/>
            </a:xfrm>
            <a:custGeom>
              <a:avLst/>
              <a:gdLst/>
              <a:ahLst/>
              <a:cxnLst/>
              <a:rect r="r" b="b" t="t" l="l"/>
              <a:pathLst>
                <a:path h="402336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144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PRIMARY SCENARIO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99032" y="3378327"/>
            <a:ext cx="4608576" cy="106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Benapole Delta SRTM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Static wind • 8 UAVs (4 patrol + 4 reserve)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500 simulation steps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49580" y="2667952"/>
            <a:ext cx="5225415" cy="2043303"/>
            <a:chOff x="0" y="0"/>
            <a:chExt cx="6967220" cy="27244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67220" cy="2724404"/>
            </a:xfrm>
            <a:custGeom>
              <a:avLst/>
              <a:gdLst/>
              <a:ahLst/>
              <a:cxnLst/>
              <a:rect r="r" b="b" t="t" l="l"/>
              <a:pathLst>
                <a:path h="2724404" w="69672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0027" y="0"/>
                  </a:lnTo>
                  <a:cubicBezTo>
                    <a:pt x="6901307" y="0"/>
                    <a:pt x="6967220" y="65913"/>
                    <a:pt x="6967220" y="147193"/>
                  </a:cubicBezTo>
                  <a:lnTo>
                    <a:pt x="6967220" y="2577211"/>
                  </a:lnTo>
                  <a:cubicBezTo>
                    <a:pt x="6967220" y="2658491"/>
                    <a:pt x="6901307" y="2724404"/>
                    <a:pt x="682002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46723" y="2665095"/>
            <a:ext cx="101346" cy="2049018"/>
            <a:chOff x="0" y="0"/>
            <a:chExt cx="135128" cy="27320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58000" y="2921508"/>
            <a:ext cx="4608576" cy="301752"/>
            <a:chOff x="0" y="0"/>
            <a:chExt cx="6144768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44768" cy="402336"/>
            </a:xfrm>
            <a:custGeom>
              <a:avLst/>
              <a:gdLst/>
              <a:ahLst/>
              <a:cxnLst/>
              <a:rect r="r" b="b" t="t" l="l"/>
              <a:pathLst>
                <a:path h="402336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144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SEED BLOCKS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858000" y="3378327"/>
            <a:ext cx="4608576" cy="106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Fresh: 201–400 (n = 200)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Confirmatory: 401–600 (n = 200)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Confirmatory plan set before its run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08548" y="2667952"/>
            <a:ext cx="5225415" cy="2043303"/>
            <a:chOff x="0" y="0"/>
            <a:chExt cx="6967220" cy="27244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67220" cy="2724404"/>
            </a:xfrm>
            <a:custGeom>
              <a:avLst/>
              <a:gdLst/>
              <a:ahLst/>
              <a:cxnLst/>
              <a:rect r="r" b="b" t="t" l="l"/>
              <a:pathLst>
                <a:path h="2724404" w="69672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0027" y="0"/>
                  </a:lnTo>
                  <a:cubicBezTo>
                    <a:pt x="6901307" y="0"/>
                    <a:pt x="6967220" y="65913"/>
                    <a:pt x="6967220" y="147193"/>
                  </a:cubicBezTo>
                  <a:lnTo>
                    <a:pt x="6967220" y="2577211"/>
                  </a:lnTo>
                  <a:cubicBezTo>
                    <a:pt x="6967220" y="2658491"/>
                    <a:pt x="6901307" y="2724404"/>
                    <a:pt x="6820027" y="2724404"/>
                  </a:cubicBezTo>
                  <a:lnTo>
                    <a:pt x="147193" y="2724404"/>
                  </a:lnTo>
                  <a:cubicBezTo>
                    <a:pt x="65913" y="2724404"/>
                    <a:pt x="0" y="2658491"/>
                    <a:pt x="0" y="2577211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005691" y="2665095"/>
            <a:ext cx="101346" cy="2049018"/>
            <a:chOff x="0" y="0"/>
            <a:chExt cx="135128" cy="27320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5128" cy="2732024"/>
            </a:xfrm>
            <a:custGeom>
              <a:avLst/>
              <a:gdLst/>
              <a:ahLst/>
              <a:cxnLst/>
              <a:rect r="r" b="b" t="t" l="l"/>
              <a:pathLst>
                <a:path h="2732024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732024"/>
                  </a:lnTo>
                  <a:lnTo>
                    <a:pt x="0" y="2732024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316968" y="2921508"/>
            <a:ext cx="4608576" cy="301752"/>
            <a:chOff x="0" y="0"/>
            <a:chExt cx="6144768" cy="402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44768" cy="402336"/>
            </a:xfrm>
            <a:custGeom>
              <a:avLst/>
              <a:gdLst/>
              <a:ahLst/>
              <a:cxnLst/>
              <a:rect r="r" b="b" t="t" l="l"/>
              <a:pathLst>
                <a:path h="402336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144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49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POLICIES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316968" y="3378327"/>
            <a:ext cx="4608576" cy="106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RelayScore • FIS • TOPSIS • VIKOR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Auction • nearest-feasible • other heuristics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All implemented in the same simulator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24712" y="5280660"/>
            <a:ext cx="6172200" cy="438912"/>
            <a:chOff x="0" y="0"/>
            <a:chExt cx="8229600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29600" cy="585216"/>
            </a:xfrm>
            <a:custGeom>
              <a:avLst/>
              <a:gdLst/>
              <a:ahLst/>
              <a:cxnLst/>
              <a:rect r="r" b="b" t="t" l="l"/>
              <a:pathLst>
                <a:path h="585216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08" r="0" b="-22400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8229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Primary evaluation metrics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59192" y="5973508"/>
            <a:ext cx="3236595" cy="1316355"/>
            <a:chOff x="0" y="0"/>
            <a:chExt cx="4315460" cy="17551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94270" y="6304597"/>
            <a:ext cx="174117" cy="174117"/>
            <a:chOff x="0" y="0"/>
            <a:chExt cx="232156" cy="2321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714500" y="6185916"/>
            <a:ext cx="2400300" cy="342900"/>
            <a:chOff x="0" y="0"/>
            <a:chExt cx="320040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(%)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14500" y="6652260"/>
            <a:ext cx="2400300" cy="301752"/>
            <a:chOff x="0" y="0"/>
            <a:chExt cx="3200400" cy="4023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Primary outcome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479732" y="5973508"/>
            <a:ext cx="3236595" cy="1316355"/>
            <a:chOff x="0" y="0"/>
            <a:chExt cx="4315460" cy="1755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714810" y="6304597"/>
            <a:ext cx="174117" cy="174117"/>
            <a:chOff x="0" y="0"/>
            <a:chExt cx="232156" cy="2321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035040" y="6185916"/>
            <a:ext cx="2400300" cy="342900"/>
            <a:chOff x="0" y="0"/>
            <a:chExt cx="3200400" cy="457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delay (steps)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035040" y="6652260"/>
            <a:ext cx="2400300" cy="301752"/>
            <a:chOff x="0" y="0"/>
            <a:chExt cx="3200400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Unattended time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00272" y="5973508"/>
            <a:ext cx="3236595" cy="1316355"/>
            <a:chOff x="0" y="0"/>
            <a:chExt cx="4315460" cy="17551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035350" y="6304597"/>
            <a:ext cx="174117" cy="174117"/>
            <a:chOff x="0" y="0"/>
            <a:chExt cx="232156" cy="2321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218C85"/>
            </a:solidFill>
            <a:ln w="9525" cap="sq">
              <a:solidFill>
                <a:srgbClr val="218C8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355580" y="6185916"/>
            <a:ext cx="2400300" cy="342900"/>
            <a:chOff x="0" y="0"/>
            <a:chExt cx="3200400" cy="457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Relay energy (%)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355580" y="6652260"/>
            <a:ext cx="2400300" cy="301752"/>
            <a:chOff x="0" y="0"/>
            <a:chExt cx="3200400" cy="4023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Energy for transfer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120812" y="5973508"/>
            <a:ext cx="3236595" cy="1316355"/>
            <a:chOff x="0" y="0"/>
            <a:chExt cx="4315460" cy="17551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15460" cy="1755140"/>
            </a:xfrm>
            <a:custGeom>
              <a:avLst/>
              <a:gdLst/>
              <a:ahLst/>
              <a:cxnLst/>
              <a:rect r="r" b="b" t="t" l="l"/>
              <a:pathLst>
                <a:path h="1755140" w="431546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167632" y="0"/>
                  </a:lnTo>
                  <a:cubicBezTo>
                    <a:pt x="4249293" y="0"/>
                    <a:pt x="4315460" y="66167"/>
                    <a:pt x="4315460" y="147828"/>
                  </a:cubicBezTo>
                  <a:lnTo>
                    <a:pt x="4315460" y="1607312"/>
                  </a:lnTo>
                  <a:cubicBezTo>
                    <a:pt x="4315460" y="1688973"/>
                    <a:pt x="4249293" y="1755140"/>
                    <a:pt x="4167632" y="1755140"/>
                  </a:cubicBezTo>
                  <a:lnTo>
                    <a:pt x="147828" y="1755140"/>
                  </a:lnTo>
                  <a:cubicBezTo>
                    <a:pt x="66167" y="1755140"/>
                    <a:pt x="0" y="1688973"/>
                    <a:pt x="0" y="1607312"/>
                  </a:cubicBezTo>
                  <a:close/>
                </a:path>
              </a:pathLst>
            </a:custGeom>
            <a:solidFill>
              <a:srgbClr val="DDF3E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4355890" y="6304597"/>
            <a:ext cx="174117" cy="174117"/>
            <a:chOff x="0" y="0"/>
            <a:chExt cx="232156" cy="2321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D95C5C"/>
            </a:solidFill>
            <a:ln w="9525" cap="sq">
              <a:solidFill>
                <a:srgbClr val="D95C5C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676120" y="6185916"/>
            <a:ext cx="2400300" cy="342900"/>
            <a:chOff x="0" y="0"/>
            <a:chExt cx="3200400" cy="4572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Safety &amp; reliability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676120" y="6652260"/>
            <a:ext cx="2400300" cy="301752"/>
            <a:chOff x="0" y="0"/>
            <a:chExt cx="3200400" cy="4023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200400" cy="402336"/>
            </a:xfrm>
            <a:custGeom>
              <a:avLst/>
              <a:gdLst/>
              <a:ahLst/>
              <a:cxnLst/>
              <a:rect r="r" b="b" t="t" l="l"/>
              <a:pathLst>
                <a:path h="40233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2004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4"/>
                </a:lnSpc>
              </a:pPr>
              <a:r>
                <a:rPr lang="en-US" sz="139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Additional outcomes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42619" y="7945755"/>
            <a:ext cx="16066770" cy="883158"/>
            <a:chOff x="0" y="0"/>
            <a:chExt cx="21422360" cy="11775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422361" cy="1177544"/>
            </a:xfrm>
            <a:custGeom>
              <a:avLst/>
              <a:gdLst/>
              <a:ahLst/>
              <a:cxnLst/>
              <a:rect r="r" b="b" t="t" l="l"/>
              <a:pathLst>
                <a:path h="1177544" w="21422361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21272881" y="0"/>
                  </a:lnTo>
                  <a:cubicBezTo>
                    <a:pt x="21355431" y="0"/>
                    <a:pt x="21422361" y="66929"/>
                    <a:pt x="21422361" y="149479"/>
                  </a:cubicBezTo>
                  <a:lnTo>
                    <a:pt x="21422361" y="1028065"/>
                  </a:lnTo>
                  <a:cubicBezTo>
                    <a:pt x="21422361" y="1110615"/>
                    <a:pt x="21355431" y="1177544"/>
                    <a:pt x="21272881" y="1177544"/>
                  </a:cubicBezTo>
                  <a:lnTo>
                    <a:pt x="149479" y="1177544"/>
                  </a:lnTo>
                  <a:cubicBezTo>
                    <a:pt x="66929" y="1177544"/>
                    <a:pt x="0" y="1110615"/>
                    <a:pt x="0" y="1028065"/>
                  </a:cubicBezTo>
                  <a:close/>
                </a:path>
              </a:pathLst>
            </a:custGeom>
            <a:solidFill>
              <a:srgbClr val="EAF0F6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40180" y="8174736"/>
            <a:ext cx="15430500" cy="370332"/>
            <a:chOff x="0" y="0"/>
            <a:chExt cx="20574000" cy="49377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574000" cy="493776"/>
            </a:xfrm>
            <a:custGeom>
              <a:avLst/>
              <a:gdLst/>
              <a:ahLst/>
              <a:cxnLst/>
              <a:rect r="r" b="b" t="t" l="l"/>
              <a:pathLst>
                <a:path h="493776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1876" r="0" b="-76187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20574000" cy="493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Generalization sweep: 4 SRTM terrains × 3 wind modes × fleets of 4–16 UAVs (100 seeds per cell).</a:t>
              </a:r>
            </a:p>
          </p:txBody>
        </p:sp>
      </p:grpSp>
      <p:sp>
        <p:nvSpPr>
          <p:cNvPr name="TextBox 87" id="87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249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MAIN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061085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preserves coverage while lowering relay delay and energy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Confirmatory block: seeds 401–600, n = 200. Coverage equivalence uses a ±2 percentage-point TOST margin.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0323" y="2500503"/>
            <a:ext cx="4977384" cy="629412"/>
            <a:chOff x="0" y="0"/>
            <a:chExt cx="6636512" cy="839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9304" y="2564892"/>
            <a:ext cx="4594860" cy="507492"/>
            <a:chOff x="0" y="0"/>
            <a:chExt cx="6126480" cy="6766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66663" y="2500503"/>
            <a:ext cx="3331464" cy="629412"/>
            <a:chOff x="0" y="0"/>
            <a:chExt cx="4441952" cy="839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131052" y="2564892"/>
            <a:ext cx="3195828" cy="507492"/>
            <a:chOff x="0" y="0"/>
            <a:chExt cx="4261104" cy="6766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 (%)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7083" y="2500503"/>
            <a:ext cx="3331464" cy="629412"/>
            <a:chOff x="0" y="0"/>
            <a:chExt cx="4441952" cy="839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491472" y="2564892"/>
            <a:ext cx="3195828" cy="507492"/>
            <a:chOff x="0" y="0"/>
            <a:chExt cx="4261104" cy="6766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Delay (steps)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87503" y="2500503"/>
            <a:ext cx="3331464" cy="629412"/>
            <a:chOff x="0" y="0"/>
            <a:chExt cx="4441952" cy="839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51892" y="2564892"/>
            <a:ext cx="3195828" cy="507492"/>
            <a:chOff x="0" y="0"/>
            <a:chExt cx="4261104" cy="6766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Energy (%)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0323" y="3145155"/>
            <a:ext cx="4977384" cy="629412"/>
            <a:chOff x="0" y="0"/>
            <a:chExt cx="6636512" cy="839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9304" y="3209544"/>
            <a:ext cx="4594860" cy="507492"/>
            <a:chOff x="0" y="0"/>
            <a:chExt cx="6126480" cy="676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 (proposed)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066663" y="3145155"/>
            <a:ext cx="3331464" cy="629412"/>
            <a:chOff x="0" y="0"/>
            <a:chExt cx="4441952" cy="839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131052" y="3209544"/>
            <a:ext cx="3195828" cy="507492"/>
            <a:chOff x="0" y="0"/>
            <a:chExt cx="4261104" cy="6766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90.17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27083" y="3145155"/>
            <a:ext cx="3331464" cy="629412"/>
            <a:chOff x="0" y="0"/>
            <a:chExt cx="4441952" cy="839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91472" y="3209544"/>
            <a:ext cx="3195828" cy="507492"/>
            <a:chOff x="0" y="0"/>
            <a:chExt cx="4261104" cy="6766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12.77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787503" y="3145155"/>
            <a:ext cx="3331464" cy="629412"/>
            <a:chOff x="0" y="0"/>
            <a:chExt cx="4441952" cy="839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851892" y="3209544"/>
            <a:ext cx="3195828" cy="507492"/>
            <a:chOff x="0" y="0"/>
            <a:chExt cx="4261104" cy="6766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8.76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60323" y="3789807"/>
            <a:ext cx="4977384" cy="629412"/>
            <a:chOff x="0" y="0"/>
            <a:chExt cx="6636512" cy="839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89304" y="3854196"/>
            <a:ext cx="4594860" cy="507492"/>
            <a:chOff x="0" y="0"/>
            <a:chExt cx="6126480" cy="6766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RelayScore (C)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066663" y="3789807"/>
            <a:ext cx="3331464" cy="629412"/>
            <a:chOff x="0" y="0"/>
            <a:chExt cx="4441952" cy="839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131052" y="3854196"/>
            <a:ext cx="3195828" cy="507492"/>
            <a:chOff x="0" y="0"/>
            <a:chExt cx="4261104" cy="6766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90.29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27083" y="3789807"/>
            <a:ext cx="3331464" cy="629412"/>
            <a:chOff x="0" y="0"/>
            <a:chExt cx="4441952" cy="839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491472" y="3854196"/>
            <a:ext cx="3195828" cy="507492"/>
            <a:chOff x="0" y="0"/>
            <a:chExt cx="4261104" cy="6766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14.53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787503" y="3789807"/>
            <a:ext cx="3331464" cy="629412"/>
            <a:chOff x="0" y="0"/>
            <a:chExt cx="4441952" cy="8392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851892" y="3854196"/>
            <a:ext cx="3195828" cy="507492"/>
            <a:chOff x="0" y="0"/>
            <a:chExt cx="4261104" cy="6766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10.79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60323" y="4434459"/>
            <a:ext cx="4977384" cy="629412"/>
            <a:chOff x="0" y="0"/>
            <a:chExt cx="6636512" cy="839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9304" y="4498848"/>
            <a:ext cx="4594860" cy="507492"/>
            <a:chOff x="0" y="0"/>
            <a:chExt cx="6126480" cy="6766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True FIS (D)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066663" y="4434459"/>
            <a:ext cx="3331464" cy="629412"/>
            <a:chOff x="0" y="0"/>
            <a:chExt cx="4441952" cy="839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131052" y="4498848"/>
            <a:ext cx="3195828" cy="507492"/>
            <a:chOff x="0" y="0"/>
            <a:chExt cx="4261104" cy="6766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89.83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427083" y="4434459"/>
            <a:ext cx="3331464" cy="629412"/>
            <a:chOff x="0" y="0"/>
            <a:chExt cx="4441952" cy="839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491472" y="4498848"/>
            <a:ext cx="3195828" cy="507492"/>
            <a:chOff x="0" y="0"/>
            <a:chExt cx="4261104" cy="6766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15.12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787503" y="4434459"/>
            <a:ext cx="3331464" cy="629412"/>
            <a:chOff x="0" y="0"/>
            <a:chExt cx="4441952" cy="83921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851892" y="4498848"/>
            <a:ext cx="3195828" cy="507492"/>
            <a:chOff x="0" y="0"/>
            <a:chExt cx="4261104" cy="6766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12.53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60323" y="5079111"/>
            <a:ext cx="4977384" cy="629412"/>
            <a:chOff x="0" y="0"/>
            <a:chExt cx="6636512" cy="839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89304" y="5143500"/>
            <a:ext cx="4594860" cy="507492"/>
            <a:chOff x="0" y="0"/>
            <a:chExt cx="6126480" cy="6766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TOPSIS (T)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066663" y="5079111"/>
            <a:ext cx="3331464" cy="629412"/>
            <a:chOff x="0" y="0"/>
            <a:chExt cx="4441952" cy="8392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131052" y="5143500"/>
            <a:ext cx="3195828" cy="507492"/>
            <a:chOff x="0" y="0"/>
            <a:chExt cx="4261104" cy="6766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90.53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427083" y="5079111"/>
            <a:ext cx="3331464" cy="629412"/>
            <a:chOff x="0" y="0"/>
            <a:chExt cx="4441952" cy="839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91472" y="5143500"/>
            <a:ext cx="3195828" cy="507492"/>
            <a:chOff x="0" y="0"/>
            <a:chExt cx="4261104" cy="6766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15.39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787503" y="5079111"/>
            <a:ext cx="3331464" cy="629412"/>
            <a:chOff x="0" y="0"/>
            <a:chExt cx="4441952" cy="83921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851892" y="5143500"/>
            <a:ext cx="3195828" cy="507492"/>
            <a:chOff x="0" y="0"/>
            <a:chExt cx="4261104" cy="676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12.21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60323" y="5723763"/>
            <a:ext cx="4977384" cy="629412"/>
            <a:chOff x="0" y="0"/>
            <a:chExt cx="6636512" cy="83921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89304" y="5788152"/>
            <a:ext cx="4594860" cy="507492"/>
            <a:chOff x="0" y="0"/>
            <a:chExt cx="6126480" cy="6766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VIKOR (V)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6066663" y="5723763"/>
            <a:ext cx="3331464" cy="629412"/>
            <a:chOff x="0" y="0"/>
            <a:chExt cx="4441952" cy="8392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131052" y="5788152"/>
            <a:ext cx="3195828" cy="507492"/>
            <a:chOff x="0" y="0"/>
            <a:chExt cx="4261104" cy="67665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90.35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427083" y="5723763"/>
            <a:ext cx="3331464" cy="629412"/>
            <a:chOff x="0" y="0"/>
            <a:chExt cx="4441952" cy="83921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491472" y="5788152"/>
            <a:ext cx="3195828" cy="507492"/>
            <a:chOff x="0" y="0"/>
            <a:chExt cx="4261104" cy="676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16.24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787503" y="5723763"/>
            <a:ext cx="3331464" cy="629412"/>
            <a:chOff x="0" y="0"/>
            <a:chExt cx="4441952" cy="83921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2851892" y="5788152"/>
            <a:ext cx="3195828" cy="507492"/>
            <a:chOff x="0" y="0"/>
            <a:chExt cx="4261104" cy="67665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13.03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060323" y="6368415"/>
            <a:ext cx="4977384" cy="629412"/>
            <a:chOff x="0" y="0"/>
            <a:chExt cx="6636512" cy="83921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89304" y="6432804"/>
            <a:ext cx="4594860" cy="507492"/>
            <a:chOff x="0" y="0"/>
            <a:chExt cx="6126480" cy="6766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Auction (AUC)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066663" y="6368415"/>
            <a:ext cx="3331464" cy="629412"/>
            <a:chOff x="0" y="0"/>
            <a:chExt cx="4441952" cy="83921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6131052" y="6432804"/>
            <a:ext cx="3195828" cy="507492"/>
            <a:chOff x="0" y="0"/>
            <a:chExt cx="4261104" cy="676656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89.84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427083" y="6368415"/>
            <a:ext cx="3331464" cy="629412"/>
            <a:chOff x="0" y="0"/>
            <a:chExt cx="4441952" cy="83921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491472" y="6432804"/>
            <a:ext cx="3195828" cy="507492"/>
            <a:chOff x="0" y="0"/>
            <a:chExt cx="4261104" cy="676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16.71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2787503" y="6368415"/>
            <a:ext cx="3331464" cy="629412"/>
            <a:chOff x="0" y="0"/>
            <a:chExt cx="4441952" cy="83921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851892" y="6432804"/>
            <a:ext cx="3195828" cy="507492"/>
            <a:chOff x="0" y="0"/>
            <a:chExt cx="4261104" cy="67665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11.78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60323" y="7013067"/>
            <a:ext cx="4977384" cy="629412"/>
            <a:chOff x="0" y="0"/>
            <a:chExt cx="6636512" cy="83921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6636512" cy="839216"/>
            </a:xfrm>
            <a:custGeom>
              <a:avLst/>
              <a:gdLst/>
              <a:ahLst/>
              <a:cxnLst/>
              <a:rect r="r" b="b" t="t" l="l"/>
              <a:pathLst>
                <a:path h="839216" w="6636512">
                  <a:moveTo>
                    <a:pt x="0" y="0"/>
                  </a:moveTo>
                  <a:lnTo>
                    <a:pt x="6636512" y="0"/>
                  </a:lnTo>
                  <a:lnTo>
                    <a:pt x="663651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289304" y="7077456"/>
            <a:ext cx="4594860" cy="507492"/>
            <a:chOff x="0" y="0"/>
            <a:chExt cx="6126480" cy="67665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126480" cy="676656"/>
            </a:xfrm>
            <a:custGeom>
              <a:avLst/>
              <a:gdLst/>
              <a:ahLst/>
              <a:cxnLst/>
              <a:rect r="r" b="b" t="t" l="l"/>
              <a:pathLst>
                <a:path h="67665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418" r="0" b="-126418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0"/>
              <a:ext cx="6126480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Nearest-feasible (B)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6066663" y="7013067"/>
            <a:ext cx="3331464" cy="629412"/>
            <a:chOff x="0" y="0"/>
            <a:chExt cx="4441952" cy="839216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6131052" y="7077456"/>
            <a:ext cx="3195828" cy="507492"/>
            <a:chOff x="0" y="0"/>
            <a:chExt cx="4261104" cy="676656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89.69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9427083" y="7013067"/>
            <a:ext cx="3331464" cy="629412"/>
            <a:chOff x="0" y="0"/>
            <a:chExt cx="4441952" cy="83921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491472" y="7077456"/>
            <a:ext cx="3195828" cy="507492"/>
            <a:chOff x="0" y="0"/>
            <a:chExt cx="4261104" cy="676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11.30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2787503" y="7013067"/>
            <a:ext cx="3331464" cy="629412"/>
            <a:chOff x="0" y="0"/>
            <a:chExt cx="4441952" cy="83921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4441952" cy="839216"/>
            </a:xfrm>
            <a:custGeom>
              <a:avLst/>
              <a:gdLst/>
              <a:ahLst/>
              <a:cxnLst/>
              <a:rect r="r" b="b" t="t" l="l"/>
              <a:pathLst>
                <a:path h="839216" w="4441952">
                  <a:moveTo>
                    <a:pt x="0" y="0"/>
                  </a:moveTo>
                  <a:lnTo>
                    <a:pt x="4441952" y="0"/>
                  </a:lnTo>
                  <a:lnTo>
                    <a:pt x="4441952" y="839216"/>
                  </a:lnTo>
                  <a:lnTo>
                    <a:pt x="0" y="839216"/>
                  </a:lnTo>
                  <a:close/>
                </a:path>
              </a:pathLst>
            </a:custGeom>
            <a:solidFill>
              <a:srgbClr val="F0F4F9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2851892" y="7077456"/>
            <a:ext cx="3195828" cy="507492"/>
            <a:chOff x="0" y="0"/>
            <a:chExt cx="4261104" cy="676656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4261104" cy="676656"/>
            </a:xfrm>
            <a:custGeom>
              <a:avLst/>
              <a:gdLst/>
              <a:ahLst/>
              <a:cxnLst/>
              <a:rect r="r" b="b" t="t" l="l"/>
              <a:pathLst>
                <a:path h="676656" w="4261104">
                  <a:moveTo>
                    <a:pt x="0" y="0"/>
                  </a:moveTo>
                  <a:lnTo>
                    <a:pt x="4261104" y="0"/>
                  </a:lnTo>
                  <a:lnTo>
                    <a:pt x="42611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03" r="0" b="-72703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0"/>
              <a:ext cx="42611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9.67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115187" y="7918323"/>
            <a:ext cx="15998190" cy="1047750"/>
            <a:chOff x="0" y="0"/>
            <a:chExt cx="21330920" cy="13970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2133092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1330920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1181949" y="0"/>
                  </a:lnTo>
                  <a:cubicBezTo>
                    <a:pt x="21264245" y="0"/>
                    <a:pt x="21330920" y="66675"/>
                    <a:pt x="21330920" y="148971"/>
                  </a:cubicBezTo>
                  <a:lnTo>
                    <a:pt x="21330920" y="1248029"/>
                  </a:lnTo>
                  <a:cubicBezTo>
                    <a:pt x="21330920" y="1330325"/>
                    <a:pt x="21264245" y="1397000"/>
                    <a:pt x="21181949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101B2D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440180" y="8092440"/>
            <a:ext cx="15293340" cy="301752"/>
            <a:chOff x="0" y="0"/>
            <a:chExt cx="20391120" cy="40233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039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20391120">
                  <a:moveTo>
                    <a:pt x="0" y="0"/>
                  </a:moveTo>
                  <a:lnTo>
                    <a:pt x="20391120" y="0"/>
                  </a:lnTo>
                  <a:lnTo>
                    <a:pt x="2039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537" r="0" b="-937537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0"/>
              <a:ext cx="2039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Coverage: equivalent within ±2 points to C, D, D2, T, V, AUC, B and J.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440180" y="8476488"/>
            <a:ext cx="15293340" cy="301752"/>
            <a:chOff x="0" y="0"/>
            <a:chExt cx="20391120" cy="402336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2039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20391120">
                  <a:moveTo>
                    <a:pt x="0" y="0"/>
                  </a:moveTo>
                  <a:lnTo>
                    <a:pt x="20391120" y="0"/>
                  </a:lnTo>
                  <a:lnTo>
                    <a:pt x="2039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7537" r="0" b="-937537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203911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BCD0E7"/>
                  </a:solidFill>
                  <a:latin typeface="Aptos"/>
                  <a:ea typeface="Aptos"/>
                  <a:cs typeface="Aptos"/>
                  <a:sym typeface="Aptos"/>
                </a:rPr>
                <a:t>Versus C / D / D2 / T / V / AUC: delay lower by 1.76–3.93 steps; relay energy lower by 2.03–4.27 points.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165860" y="9121140"/>
            <a:ext cx="15910560" cy="301752"/>
            <a:chOff x="0" y="0"/>
            <a:chExt cx="21214080" cy="402336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1214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392" r="0" b="-977392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0"/>
              <a:ext cx="212140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i="true">
                  <a:solidFill>
                    <a:srgbClr val="5F708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Lower is better for delay and energy. Nearest-feasible is faster than LARS, but uses 0.91 percentage points more relay energy.</a:t>
              </a:r>
            </a:p>
          </p:txBody>
        </p:sp>
      </p:grpSp>
      <p:sp>
        <p:nvSpPr>
          <p:cNvPr name="TextBox 186" id="186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66344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TRADE-OFFS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5830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comparison depends on how each policy is tuned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Higher coverage can come with substantially higher transfer delay and relay energy.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26804"/>
            <a:ext cx="7762875" cy="5390007"/>
            <a:chOff x="0" y="0"/>
            <a:chExt cx="10350500" cy="71866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50500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3505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03815" y="0"/>
                  </a:lnTo>
                  <a:cubicBezTo>
                    <a:pt x="10284841" y="0"/>
                    <a:pt x="10350500" y="65659"/>
                    <a:pt x="10350500" y="146685"/>
                  </a:cubicBezTo>
                  <a:lnTo>
                    <a:pt x="10350500" y="7039991"/>
                  </a:lnTo>
                  <a:cubicBezTo>
                    <a:pt x="10350500" y="7121017"/>
                    <a:pt x="10284841" y="7186676"/>
                    <a:pt x="10203815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23947"/>
            <a:ext cx="101346" cy="5395722"/>
            <a:chOff x="0" y="0"/>
            <a:chExt cx="135128" cy="7194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99235" y="2980563"/>
            <a:ext cx="2899410" cy="430530"/>
            <a:chOff x="0" y="0"/>
            <a:chExt cx="3865880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65880" cy="574040"/>
            </a:xfrm>
            <a:custGeom>
              <a:avLst/>
              <a:gdLst/>
              <a:ahLst/>
              <a:cxnLst/>
              <a:rect r="r" b="b" t="t" l="l"/>
              <a:pathLst>
                <a:path h="574040" w="386588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3712845" y="0"/>
                  </a:lnTo>
                  <a:cubicBezTo>
                    <a:pt x="3797300" y="0"/>
                    <a:pt x="3865880" y="68580"/>
                    <a:pt x="3865880" y="153035"/>
                  </a:cubicBezTo>
                  <a:lnTo>
                    <a:pt x="3865880" y="421005"/>
                  </a:lnTo>
                  <a:cubicBezTo>
                    <a:pt x="3865880" y="505587"/>
                    <a:pt x="3797300" y="574040"/>
                    <a:pt x="371284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FF2D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18488" y="3010662"/>
            <a:ext cx="2660904" cy="342900"/>
            <a:chOff x="0" y="0"/>
            <a:chExt cx="3547872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47872" cy="457200"/>
            </a:xfrm>
            <a:custGeom>
              <a:avLst/>
              <a:gdLst/>
              <a:ahLst/>
              <a:cxnLst/>
              <a:rect r="r" b="b" t="t" l="l"/>
              <a:pathLst>
                <a:path h="457200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203" r="0" b="-1012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54787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8A5A0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COVERAGE-ONLY TUNING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" y="3648456"/>
            <a:ext cx="6720840" cy="493776"/>
            <a:chOff x="0" y="0"/>
            <a:chExt cx="8961120" cy="658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658368"/>
            </a:xfrm>
            <a:custGeom>
              <a:avLst/>
              <a:gdLst/>
              <a:ahLst/>
              <a:cxnLst/>
              <a:rect r="r" b="b" t="t" l="l"/>
              <a:pathLst>
                <a:path h="65836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213" r="0" b="-2152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9611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Tuned TOPSIS &amp; VIKOR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36192" y="4430268"/>
            <a:ext cx="2194560" cy="301752"/>
            <a:chOff x="0" y="0"/>
            <a:chExt cx="2926080" cy="402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0" cy="402336"/>
            </a:xfrm>
            <a:custGeom>
              <a:avLst/>
              <a:gdLst/>
              <a:ahLst/>
              <a:cxnLst/>
              <a:rect r="r" b="b" t="t" l="l"/>
              <a:pathLst>
                <a:path h="40233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9260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20540" y="4430268"/>
            <a:ext cx="1097280" cy="301752"/>
            <a:chOff x="0" y="0"/>
            <a:chExt cx="1463040" cy="402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54980" y="4430268"/>
            <a:ext cx="1097280" cy="301752"/>
            <a:chOff x="0" y="0"/>
            <a:chExt cx="1463040" cy="4023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Delay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26580" y="4430268"/>
            <a:ext cx="1097280" cy="301752"/>
            <a:chOff x="0" y="0"/>
            <a:chExt cx="1463040" cy="4023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402336"/>
            </a:xfrm>
            <a:custGeom>
              <a:avLst/>
              <a:gdLst/>
              <a:ahLst/>
              <a:cxnLst/>
              <a:rect r="r" b="b" t="t" l="l"/>
              <a:pathLst>
                <a:path h="40233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4630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Energy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58087" y="4859655"/>
            <a:ext cx="6849618" cy="595122"/>
            <a:chOff x="0" y="0"/>
            <a:chExt cx="9132824" cy="7934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32824" cy="793496"/>
            </a:xfrm>
            <a:custGeom>
              <a:avLst/>
              <a:gdLst/>
              <a:ahLst/>
              <a:cxnLst/>
              <a:rect r="r" b="b" t="t" l="l"/>
              <a:pathLst>
                <a:path h="793496" w="9132824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8981694" y="0"/>
                  </a:lnTo>
                  <a:cubicBezTo>
                    <a:pt x="9065133" y="0"/>
                    <a:pt x="9132824" y="67691"/>
                    <a:pt x="9132824" y="151130"/>
                  </a:cubicBezTo>
                  <a:lnTo>
                    <a:pt x="9132824" y="642366"/>
                  </a:lnTo>
                  <a:cubicBezTo>
                    <a:pt x="9132824" y="725805"/>
                    <a:pt x="9065133" y="793496"/>
                    <a:pt x="8981694" y="793496"/>
                  </a:cubicBezTo>
                  <a:lnTo>
                    <a:pt x="151130" y="793496"/>
                  </a:lnTo>
                  <a:cubicBezTo>
                    <a:pt x="67691" y="793496"/>
                    <a:pt x="0" y="725805"/>
                    <a:pt x="0" y="642366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91056" y="4910328"/>
            <a:ext cx="2194560" cy="315468"/>
            <a:chOff x="0" y="0"/>
            <a:chExt cx="2926080" cy="4206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420624"/>
            </a:xfrm>
            <a:custGeom>
              <a:avLst/>
              <a:gdLst/>
              <a:ahLst/>
              <a:cxnLst/>
              <a:rect r="r" b="b" t="t" l="l"/>
              <a:pathLst>
                <a:path h="4206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48" r="0" b="-855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92608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320540" y="4910328"/>
            <a:ext cx="1097280" cy="315468"/>
            <a:chOff x="0" y="0"/>
            <a:chExt cx="1463040" cy="4206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90.17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554980" y="4910328"/>
            <a:ext cx="1097280" cy="315468"/>
            <a:chOff x="0" y="0"/>
            <a:chExt cx="1463040" cy="4206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12.77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26580" y="4910328"/>
            <a:ext cx="1097280" cy="315468"/>
            <a:chOff x="0" y="0"/>
            <a:chExt cx="1463040" cy="4206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8.76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91056" y="5582412"/>
            <a:ext cx="2194560" cy="315468"/>
            <a:chOff x="0" y="0"/>
            <a:chExt cx="2926080" cy="4206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0" cy="420624"/>
            </a:xfrm>
            <a:custGeom>
              <a:avLst/>
              <a:gdLst/>
              <a:ahLst/>
              <a:cxnLst/>
              <a:rect r="r" b="b" t="t" l="l"/>
              <a:pathLst>
                <a:path h="4206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48" r="0" b="-8554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92608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T-tuned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320540" y="5582412"/>
            <a:ext cx="1097280" cy="315468"/>
            <a:chOff x="0" y="0"/>
            <a:chExt cx="1463040" cy="4206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92.39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554980" y="5582412"/>
            <a:ext cx="1097280" cy="315468"/>
            <a:chOff x="0" y="0"/>
            <a:chExt cx="1463040" cy="4206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17.37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26580" y="5582412"/>
            <a:ext cx="1097280" cy="315468"/>
            <a:chOff x="0" y="0"/>
            <a:chExt cx="1463040" cy="4206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13.73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91056" y="6254496"/>
            <a:ext cx="2194560" cy="315468"/>
            <a:chOff x="0" y="0"/>
            <a:chExt cx="2926080" cy="4206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26080" cy="420624"/>
            </a:xfrm>
            <a:custGeom>
              <a:avLst/>
              <a:gdLst/>
              <a:ahLst/>
              <a:cxnLst/>
              <a:rect r="r" b="b" t="t" l="l"/>
              <a:pathLst>
                <a:path h="42062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48" r="0" b="-8554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92608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V-tuned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320540" y="6254496"/>
            <a:ext cx="1097280" cy="315468"/>
            <a:chOff x="0" y="0"/>
            <a:chExt cx="1463040" cy="4206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92.96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554980" y="6254496"/>
            <a:ext cx="1097280" cy="315468"/>
            <a:chOff x="0" y="0"/>
            <a:chExt cx="1463040" cy="4206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18.49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26580" y="6254496"/>
            <a:ext cx="1097280" cy="315468"/>
            <a:chOff x="0" y="0"/>
            <a:chExt cx="1463040" cy="4206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74" r="0" b="-1777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46304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14.55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536192" y="7200900"/>
            <a:ext cx="678942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T/V gain 2.22–2.79 coverage points, but add 4.60–5.71 delay steps and 4.97–5.79 energy points.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320212" y="2626804"/>
            <a:ext cx="7858887" cy="5390007"/>
            <a:chOff x="0" y="0"/>
            <a:chExt cx="10478516" cy="71866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478516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478516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331831" y="0"/>
                  </a:lnTo>
                  <a:cubicBezTo>
                    <a:pt x="10412857" y="0"/>
                    <a:pt x="10478516" y="65659"/>
                    <a:pt x="10478516" y="146685"/>
                  </a:cubicBezTo>
                  <a:lnTo>
                    <a:pt x="10478516" y="7039991"/>
                  </a:lnTo>
                  <a:cubicBezTo>
                    <a:pt x="10478516" y="7121017"/>
                    <a:pt x="10412857" y="7186676"/>
                    <a:pt x="10331831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317355" y="2623947"/>
            <a:ext cx="101346" cy="5395722"/>
            <a:chOff x="0" y="0"/>
            <a:chExt cx="135128" cy="71942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3878F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701403" y="2980563"/>
            <a:ext cx="3516630" cy="430530"/>
            <a:chOff x="0" y="0"/>
            <a:chExt cx="4688840" cy="574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688840" cy="574040"/>
            </a:xfrm>
            <a:custGeom>
              <a:avLst/>
              <a:gdLst/>
              <a:ahLst/>
              <a:cxnLst/>
              <a:rect r="r" b="b" t="t" l="l"/>
              <a:pathLst>
                <a:path h="574040" w="468884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535805" y="0"/>
                  </a:lnTo>
                  <a:cubicBezTo>
                    <a:pt x="4620387" y="0"/>
                    <a:pt x="4688840" y="68580"/>
                    <a:pt x="4688840" y="153035"/>
                  </a:cubicBezTo>
                  <a:lnTo>
                    <a:pt x="4688840" y="421005"/>
                  </a:lnTo>
                  <a:cubicBezTo>
                    <a:pt x="4688840" y="505587"/>
                    <a:pt x="4620260" y="574040"/>
                    <a:pt x="453580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20656" y="3010662"/>
            <a:ext cx="3278124" cy="342900"/>
            <a:chOff x="0" y="0"/>
            <a:chExt cx="4370832" cy="457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370832" cy="457200"/>
            </a:xfrm>
            <a:custGeom>
              <a:avLst/>
              <a:gdLst/>
              <a:ahLst/>
              <a:cxnLst/>
              <a:rect r="r" b="b" t="t" l="l"/>
              <a:pathLst>
                <a:path h="45720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276" r="0" b="-13627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37083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COMMON MULTI-OBJECTIVE COST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710928" y="3648456"/>
            <a:ext cx="6720840" cy="493776"/>
            <a:chOff x="0" y="0"/>
            <a:chExt cx="8961120" cy="6583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961120" cy="658368"/>
            </a:xfrm>
            <a:custGeom>
              <a:avLst/>
              <a:gdLst/>
              <a:ahLst/>
              <a:cxnLst/>
              <a:rect r="r" b="b" t="t" l="l"/>
              <a:pathLst>
                <a:path h="65836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213" r="0" b="-21521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89611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delay gap mostly disappears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820656" y="4416552"/>
            <a:ext cx="2125980" cy="301752"/>
            <a:chOff x="0" y="0"/>
            <a:chExt cx="2834640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834640" cy="402336"/>
            </a:xfrm>
            <a:custGeom>
              <a:avLst/>
              <a:gdLst/>
              <a:ahLst/>
              <a:cxnLst/>
              <a:rect r="r" b="b" t="t" l="l"/>
              <a:pathLst>
                <a:path h="402336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80" r="0" b="-8728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83464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Policy (MO block)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960352" y="4416552"/>
            <a:ext cx="1207008" cy="301752"/>
            <a:chOff x="0" y="0"/>
            <a:chExt cx="1609344" cy="4023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09344" cy="402336"/>
            </a:xfrm>
            <a:custGeom>
              <a:avLst/>
              <a:gdLst/>
              <a:ahLst/>
              <a:cxnLst/>
              <a:rect r="r" b="b" t="t" l="l"/>
              <a:pathLst>
                <a:path h="402336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160934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Coverage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304520" y="4416552"/>
            <a:ext cx="1179576" cy="301752"/>
            <a:chOff x="0" y="0"/>
            <a:chExt cx="1572768" cy="40233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72768" cy="402336"/>
            </a:xfrm>
            <a:custGeom>
              <a:avLst/>
              <a:gdLst/>
              <a:ahLst/>
              <a:cxnLst/>
              <a:rect r="r" b="b" t="t" l="l"/>
              <a:pathLst>
                <a:path h="402336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1572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Delay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648688" y="4416552"/>
            <a:ext cx="1179576" cy="301752"/>
            <a:chOff x="0" y="0"/>
            <a:chExt cx="1572768" cy="40233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72768" cy="402336"/>
            </a:xfrm>
            <a:custGeom>
              <a:avLst/>
              <a:gdLst/>
              <a:ahLst/>
              <a:cxnLst/>
              <a:rect r="r" b="b" t="t" l="l"/>
              <a:pathLst>
                <a:path h="402336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572768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F708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Energy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660255" y="4859655"/>
            <a:ext cx="6945630" cy="595122"/>
            <a:chOff x="0" y="0"/>
            <a:chExt cx="9260840" cy="79349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260840" cy="793496"/>
            </a:xfrm>
            <a:custGeom>
              <a:avLst/>
              <a:gdLst/>
              <a:ahLst/>
              <a:cxnLst/>
              <a:rect r="r" b="b" t="t" l="l"/>
              <a:pathLst>
                <a:path h="793496" w="9260840">
                  <a:moveTo>
                    <a:pt x="0" y="151130"/>
                  </a:moveTo>
                  <a:cubicBezTo>
                    <a:pt x="0" y="67691"/>
                    <a:pt x="67691" y="0"/>
                    <a:pt x="151130" y="0"/>
                  </a:cubicBezTo>
                  <a:lnTo>
                    <a:pt x="9109710" y="0"/>
                  </a:lnTo>
                  <a:cubicBezTo>
                    <a:pt x="9193149" y="0"/>
                    <a:pt x="9260840" y="67691"/>
                    <a:pt x="9260840" y="151130"/>
                  </a:cubicBezTo>
                  <a:lnTo>
                    <a:pt x="9260840" y="642366"/>
                  </a:lnTo>
                  <a:cubicBezTo>
                    <a:pt x="9260840" y="725805"/>
                    <a:pt x="9193149" y="793496"/>
                    <a:pt x="9109710" y="793496"/>
                  </a:cubicBezTo>
                  <a:lnTo>
                    <a:pt x="151130" y="793496"/>
                  </a:lnTo>
                  <a:cubicBezTo>
                    <a:pt x="67691" y="793496"/>
                    <a:pt x="0" y="725805"/>
                    <a:pt x="0" y="642366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820656" y="4910328"/>
            <a:ext cx="2125980" cy="315468"/>
            <a:chOff x="0" y="0"/>
            <a:chExt cx="2834640" cy="4206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834640" cy="420624"/>
            </a:xfrm>
            <a:custGeom>
              <a:avLst/>
              <a:gdLst/>
              <a:ahLst/>
              <a:cxnLst/>
              <a:rect r="r" b="b" t="t" l="l"/>
              <a:pathLst>
                <a:path h="42062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12" r="0" b="-8131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28346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LARS-MO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960352" y="4910328"/>
            <a:ext cx="1207008" cy="315468"/>
            <a:chOff x="0" y="0"/>
            <a:chExt cx="1609344" cy="42062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609344" cy="420624"/>
            </a:xfrm>
            <a:custGeom>
              <a:avLst/>
              <a:gdLst/>
              <a:ahLst/>
              <a:cxnLst/>
              <a:rect r="r" b="b" t="t" l="l"/>
              <a:pathLst>
                <a:path h="42062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" r="0" b="-2455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160934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89.80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304520" y="4910328"/>
            <a:ext cx="1179576" cy="315468"/>
            <a:chOff x="0" y="0"/>
            <a:chExt cx="1572768" cy="42062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11.75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4648688" y="4910328"/>
            <a:ext cx="1179576" cy="315468"/>
            <a:chOff x="0" y="0"/>
            <a:chExt cx="1572768" cy="4206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9.19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820656" y="5582412"/>
            <a:ext cx="2125980" cy="315468"/>
            <a:chOff x="0" y="0"/>
            <a:chExt cx="2834640" cy="4206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834640" cy="420624"/>
            </a:xfrm>
            <a:custGeom>
              <a:avLst/>
              <a:gdLst/>
              <a:ahLst/>
              <a:cxnLst/>
              <a:rect r="r" b="b" t="t" l="l"/>
              <a:pathLst>
                <a:path h="42062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12" r="0" b="-8131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28346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T-MO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960352" y="5582412"/>
            <a:ext cx="1207008" cy="315468"/>
            <a:chOff x="0" y="0"/>
            <a:chExt cx="1609344" cy="42062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609344" cy="420624"/>
            </a:xfrm>
            <a:custGeom>
              <a:avLst/>
              <a:gdLst/>
              <a:ahLst/>
              <a:cxnLst/>
              <a:rect r="r" b="b" t="t" l="l"/>
              <a:pathLst>
                <a:path h="42062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" r="0" b="-2455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160934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90.85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304520" y="5582412"/>
            <a:ext cx="1179576" cy="315468"/>
            <a:chOff x="0" y="0"/>
            <a:chExt cx="1572768" cy="4206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11.93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4648688" y="5582412"/>
            <a:ext cx="1179576" cy="315468"/>
            <a:chOff x="0" y="0"/>
            <a:chExt cx="1572768" cy="42062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10.03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820656" y="6254496"/>
            <a:ext cx="2125980" cy="315468"/>
            <a:chOff x="0" y="0"/>
            <a:chExt cx="2834640" cy="42062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834640" cy="420624"/>
            </a:xfrm>
            <a:custGeom>
              <a:avLst/>
              <a:gdLst/>
              <a:ahLst/>
              <a:cxnLst/>
              <a:rect r="r" b="b" t="t" l="l"/>
              <a:pathLst>
                <a:path h="42062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312" r="0" b="-8131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283464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V-MO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960352" y="6254496"/>
            <a:ext cx="1207008" cy="315468"/>
            <a:chOff x="0" y="0"/>
            <a:chExt cx="1609344" cy="4206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609344" cy="420624"/>
            </a:xfrm>
            <a:custGeom>
              <a:avLst/>
              <a:gdLst/>
              <a:ahLst/>
              <a:cxnLst/>
              <a:rect r="r" b="b" t="t" l="l"/>
              <a:pathLst>
                <a:path h="42062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" r="0" b="-2455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1609344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90.92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304520" y="6254496"/>
            <a:ext cx="1179576" cy="315468"/>
            <a:chOff x="0" y="0"/>
            <a:chExt cx="1572768" cy="42062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12.66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4648688" y="6254496"/>
            <a:ext cx="1179576" cy="315468"/>
            <a:chOff x="0" y="0"/>
            <a:chExt cx="1572768" cy="42062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572768" cy="420624"/>
            </a:xfrm>
            <a:custGeom>
              <a:avLst/>
              <a:gdLst/>
              <a:ahLst/>
              <a:cxnLst/>
              <a:rect r="r" b="b" t="t" l="l"/>
              <a:pathLst>
                <a:path h="420624" w="1572768">
                  <a:moveTo>
                    <a:pt x="0" y="0"/>
                  </a:moveTo>
                  <a:lnTo>
                    <a:pt x="1572768" y="0"/>
                  </a:lnTo>
                  <a:lnTo>
                    <a:pt x="1572768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57" r="0" b="-22857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1572768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5"/>
                </a:lnSpc>
              </a:pPr>
              <a:r>
                <a:rPr lang="en-US" sz="1679">
                  <a:solidFill>
                    <a:srgbClr val="142238"/>
                  </a:solidFill>
                  <a:latin typeface="Aptos"/>
                  <a:ea typeface="Aptos"/>
                  <a:cs typeface="Aptos"/>
                  <a:sym typeface="Aptos"/>
                </a:rPr>
                <a:t>10.53</a:t>
              </a:r>
            </a:p>
          </p:txBody>
        </p:sp>
      </p:grpSp>
      <p:sp>
        <p:nvSpPr>
          <p:cNvPr name="TextBox 140" id="140"/>
          <p:cNvSpPr txBox="true"/>
          <p:nvPr/>
        </p:nvSpPr>
        <p:spPr>
          <a:xfrm rot="0">
            <a:off x="9738360" y="7200900"/>
            <a:ext cx="6858000" cy="5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LARS-MO is not significantly faster than T-MO; its relay energy is lower than all four common-cost comparators.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1540" y="402812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GENERALIZATION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987552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gains are strongest on flat terrain—not universal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 terrain and wind sweep used new seeds and a broader set of environmental conditions.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67952"/>
            <a:ext cx="7831455" cy="5390007"/>
            <a:chOff x="0" y="0"/>
            <a:chExt cx="10441940" cy="71866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1939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44193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295255" y="0"/>
                  </a:lnTo>
                  <a:cubicBezTo>
                    <a:pt x="10376281" y="0"/>
                    <a:pt x="10441939" y="65659"/>
                    <a:pt x="10441939" y="146685"/>
                  </a:cubicBezTo>
                  <a:lnTo>
                    <a:pt x="10441939" y="7039991"/>
                  </a:lnTo>
                  <a:cubicBezTo>
                    <a:pt x="10441939" y="7121017"/>
                    <a:pt x="10376281" y="7186676"/>
                    <a:pt x="10295255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65095"/>
            <a:ext cx="101346" cy="5395722"/>
            <a:chOff x="0" y="0"/>
            <a:chExt cx="135128" cy="71942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26667" y="3035427"/>
            <a:ext cx="3379470" cy="430530"/>
            <a:chOff x="0" y="0"/>
            <a:chExt cx="4505960" cy="574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05960" cy="574040"/>
            </a:xfrm>
            <a:custGeom>
              <a:avLst/>
              <a:gdLst/>
              <a:ahLst/>
              <a:cxnLst/>
              <a:rect r="r" b="b" t="t" l="l"/>
              <a:pathLst>
                <a:path h="574040" w="45059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4352925" y="0"/>
                  </a:lnTo>
                  <a:cubicBezTo>
                    <a:pt x="4437507" y="0"/>
                    <a:pt x="4505960" y="68580"/>
                    <a:pt x="4505960" y="153035"/>
                  </a:cubicBezTo>
                  <a:lnTo>
                    <a:pt x="4505960" y="421005"/>
                  </a:lnTo>
                  <a:cubicBezTo>
                    <a:pt x="4505960" y="505587"/>
                    <a:pt x="4437380" y="574040"/>
                    <a:pt x="43529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DF3E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3065526"/>
            <a:ext cx="3140964" cy="342900"/>
            <a:chOff x="0" y="0"/>
            <a:chExt cx="4187952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87952" cy="457200"/>
            </a:xfrm>
            <a:custGeom>
              <a:avLst/>
              <a:gdLst/>
              <a:ahLst/>
              <a:cxnLst/>
              <a:rect r="r" b="b" t="t" l="l"/>
              <a:pathLst>
                <a:path h="457200" w="4187952">
                  <a:moveTo>
                    <a:pt x="0" y="0"/>
                  </a:moveTo>
                  <a:lnTo>
                    <a:pt x="4187952" y="0"/>
                  </a:lnTo>
                  <a:lnTo>
                    <a:pt x="41879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482" r="0" b="-1284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1879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 THE ADVANTAGE HOLDS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36192" y="3771900"/>
            <a:ext cx="6446520" cy="576072"/>
            <a:chOff x="0" y="0"/>
            <a:chExt cx="859536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95360" cy="768096"/>
            </a:xfrm>
            <a:custGeom>
              <a:avLst/>
              <a:gdLst/>
              <a:ahLst/>
              <a:cxnLst/>
              <a:rect r="r" b="b" t="t" l="l"/>
              <a:pathLst>
                <a:path h="76809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46" r="0" b="-1680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5953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Flat Benapole Delta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36192" y="4636008"/>
            <a:ext cx="651510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The delay and relay-energy advantage over key comparators held across the three simulated wind modes and grew with fleet size in the sweep.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526667" y="6409563"/>
            <a:ext cx="2007870" cy="430530"/>
            <a:chOff x="0" y="0"/>
            <a:chExt cx="2677160" cy="574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77160" cy="574040"/>
            </a:xfrm>
            <a:custGeom>
              <a:avLst/>
              <a:gdLst/>
              <a:ahLst/>
              <a:cxnLst/>
              <a:rect r="r" b="b" t="t" l="l"/>
              <a:pathLst>
                <a:path h="574040" w="26771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524125" y="0"/>
                  </a:lnTo>
                  <a:cubicBezTo>
                    <a:pt x="2608707" y="0"/>
                    <a:pt x="2677160" y="68580"/>
                    <a:pt x="2677160" y="153035"/>
                  </a:cubicBezTo>
                  <a:lnTo>
                    <a:pt x="2677160" y="421005"/>
                  </a:lnTo>
                  <a:cubicBezTo>
                    <a:pt x="2677160" y="505587"/>
                    <a:pt x="2608580" y="574040"/>
                    <a:pt x="25241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CE8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5920" y="6439662"/>
            <a:ext cx="1769364" cy="342900"/>
            <a:chOff x="0" y="0"/>
            <a:chExt cx="2359152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59152" cy="457200"/>
            </a:xfrm>
            <a:custGeom>
              <a:avLst/>
              <a:gdLst/>
              <a:ahLst/>
              <a:cxnLst/>
              <a:rect r="r" b="b" t="t" l="l"/>
              <a:pathLst>
                <a:path h="457200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42" r="0" b="-505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3591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Static wind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652647" y="6409563"/>
            <a:ext cx="2007870" cy="430530"/>
            <a:chOff x="0" y="0"/>
            <a:chExt cx="2677160" cy="574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77160" cy="574040"/>
            </a:xfrm>
            <a:custGeom>
              <a:avLst/>
              <a:gdLst/>
              <a:ahLst/>
              <a:cxnLst/>
              <a:rect r="r" b="b" t="t" l="l"/>
              <a:pathLst>
                <a:path h="574040" w="26771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524125" y="0"/>
                  </a:lnTo>
                  <a:cubicBezTo>
                    <a:pt x="2608707" y="0"/>
                    <a:pt x="2677160" y="68580"/>
                    <a:pt x="2677160" y="153035"/>
                  </a:cubicBezTo>
                  <a:lnTo>
                    <a:pt x="2677160" y="421005"/>
                  </a:lnTo>
                  <a:cubicBezTo>
                    <a:pt x="2677160" y="505587"/>
                    <a:pt x="2608580" y="574040"/>
                    <a:pt x="25241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DDF6F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771900" y="6439662"/>
            <a:ext cx="1769364" cy="342900"/>
            <a:chOff x="0" y="0"/>
            <a:chExt cx="2359152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59152" cy="457200"/>
            </a:xfrm>
            <a:custGeom>
              <a:avLst/>
              <a:gdLst/>
              <a:ahLst/>
              <a:cxnLst/>
              <a:rect r="r" b="b" t="t" l="l"/>
              <a:pathLst>
                <a:path h="457200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42" r="0" b="-5054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3591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Dynamic wind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778627" y="6409563"/>
            <a:ext cx="2007870" cy="430530"/>
            <a:chOff x="0" y="0"/>
            <a:chExt cx="267716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77160" cy="574040"/>
            </a:xfrm>
            <a:custGeom>
              <a:avLst/>
              <a:gdLst/>
              <a:ahLst/>
              <a:cxnLst/>
              <a:rect r="r" b="b" t="t" l="l"/>
              <a:pathLst>
                <a:path h="574040" w="2677160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2524125" y="0"/>
                  </a:lnTo>
                  <a:cubicBezTo>
                    <a:pt x="2608707" y="0"/>
                    <a:pt x="2677160" y="68580"/>
                    <a:pt x="2677160" y="153035"/>
                  </a:cubicBezTo>
                  <a:lnTo>
                    <a:pt x="2677160" y="421005"/>
                  </a:lnTo>
                  <a:cubicBezTo>
                    <a:pt x="2677160" y="505587"/>
                    <a:pt x="2608580" y="574040"/>
                    <a:pt x="2524125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FF2D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897880" y="6439662"/>
            <a:ext cx="1769364" cy="342900"/>
            <a:chOff x="0" y="0"/>
            <a:chExt cx="2359152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59152" cy="457200"/>
            </a:xfrm>
            <a:custGeom>
              <a:avLst/>
              <a:gdLst/>
              <a:ahLst/>
              <a:cxnLst/>
              <a:rect r="r" b="b" t="t" l="l"/>
              <a:pathLst>
                <a:path h="457200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42" r="0" b="-5054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359152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8A5A0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Stochastic wind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36192" y="7200900"/>
            <a:ext cx="6446520" cy="384048"/>
            <a:chOff x="0" y="0"/>
            <a:chExt cx="859536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8595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Fleet sweep: 4–16 UAVs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0212" y="2667952"/>
            <a:ext cx="7858887" cy="5390007"/>
            <a:chOff x="0" y="0"/>
            <a:chExt cx="10478516" cy="71866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78516" cy="7186676"/>
            </a:xfrm>
            <a:custGeom>
              <a:avLst/>
              <a:gdLst/>
              <a:ahLst/>
              <a:cxnLst/>
              <a:rect r="r" b="b" t="t" l="l"/>
              <a:pathLst>
                <a:path h="7186676" w="10478516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331831" y="0"/>
                  </a:lnTo>
                  <a:cubicBezTo>
                    <a:pt x="10412857" y="0"/>
                    <a:pt x="10478516" y="65659"/>
                    <a:pt x="10478516" y="146685"/>
                  </a:cubicBezTo>
                  <a:lnTo>
                    <a:pt x="10478516" y="7039991"/>
                  </a:lnTo>
                  <a:cubicBezTo>
                    <a:pt x="10478516" y="7121017"/>
                    <a:pt x="10412857" y="7186676"/>
                    <a:pt x="10331831" y="7186676"/>
                  </a:cubicBezTo>
                  <a:lnTo>
                    <a:pt x="146685" y="7186676"/>
                  </a:lnTo>
                  <a:cubicBezTo>
                    <a:pt x="65659" y="7186676"/>
                    <a:pt x="0" y="7121017"/>
                    <a:pt x="0" y="7039991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317355" y="2665095"/>
            <a:ext cx="101346" cy="5395722"/>
            <a:chOff x="0" y="0"/>
            <a:chExt cx="135128" cy="71942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5128" cy="7194296"/>
            </a:xfrm>
            <a:custGeom>
              <a:avLst/>
              <a:gdLst/>
              <a:ahLst/>
              <a:cxnLst/>
              <a:rect r="r" b="b" t="t" l="l"/>
              <a:pathLst>
                <a:path h="7194296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7194296"/>
                  </a:lnTo>
                  <a:lnTo>
                    <a:pt x="0" y="7194296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28835" y="3035427"/>
            <a:ext cx="2515362" cy="430530"/>
            <a:chOff x="0" y="0"/>
            <a:chExt cx="3353816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53816" cy="574040"/>
            </a:xfrm>
            <a:custGeom>
              <a:avLst/>
              <a:gdLst/>
              <a:ahLst/>
              <a:cxnLst/>
              <a:rect r="r" b="b" t="t" l="l"/>
              <a:pathLst>
                <a:path h="574040" w="3353816">
                  <a:moveTo>
                    <a:pt x="0" y="153035"/>
                  </a:moveTo>
                  <a:cubicBezTo>
                    <a:pt x="0" y="68580"/>
                    <a:pt x="68580" y="0"/>
                    <a:pt x="153035" y="0"/>
                  </a:cubicBezTo>
                  <a:lnTo>
                    <a:pt x="3200781" y="0"/>
                  </a:lnTo>
                  <a:cubicBezTo>
                    <a:pt x="3285363" y="0"/>
                    <a:pt x="3353816" y="68580"/>
                    <a:pt x="3353816" y="153035"/>
                  </a:cubicBezTo>
                  <a:lnTo>
                    <a:pt x="3353816" y="421005"/>
                  </a:lnTo>
                  <a:cubicBezTo>
                    <a:pt x="3353816" y="505587"/>
                    <a:pt x="3285236" y="574040"/>
                    <a:pt x="3200781" y="574040"/>
                  </a:cubicBezTo>
                  <a:lnTo>
                    <a:pt x="153035" y="574040"/>
                  </a:lnTo>
                  <a:cubicBezTo>
                    <a:pt x="68580" y="574040"/>
                    <a:pt x="0" y="505460"/>
                    <a:pt x="0" y="421005"/>
                  </a:cubicBezTo>
                  <a:close/>
                </a:path>
              </a:pathLst>
            </a:custGeom>
            <a:solidFill>
              <a:srgbClr val="FCE7E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848088" y="3065526"/>
            <a:ext cx="2276856" cy="342900"/>
            <a:chOff x="0" y="0"/>
            <a:chExt cx="3035808" cy="457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35808" cy="457200"/>
            </a:xfrm>
            <a:custGeom>
              <a:avLst/>
              <a:gdLst/>
              <a:ahLst/>
              <a:cxnLst/>
              <a:rect r="r" b="b" t="t" l="l"/>
              <a:pathLst>
                <a:path h="457200" w="3035808">
                  <a:moveTo>
                    <a:pt x="0" y="0"/>
                  </a:moveTo>
                  <a:lnTo>
                    <a:pt x="3035808" y="0"/>
                  </a:lnTo>
                  <a:lnTo>
                    <a:pt x="30358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380" r="0" b="-7938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035808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 IT DOES NOT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38360" y="3771900"/>
            <a:ext cx="6446520" cy="576072"/>
            <a:chOff x="0" y="0"/>
            <a:chExt cx="8595360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95360" cy="768096"/>
            </a:xfrm>
            <a:custGeom>
              <a:avLst/>
              <a:gdLst/>
              <a:ahLst/>
              <a:cxnLst/>
              <a:rect r="r" b="b" t="t" l="l"/>
              <a:pathLst>
                <a:path h="76809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46" r="0" b="-16804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5953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Three hilly terrains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738360" y="4636008"/>
            <a:ext cx="65151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889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The advantage largely disappears. In logged hilly-terrain pools, 71–85% contain idle reserves only—consistent with a reserve-dominated explanation, but not proof of causality.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728835" y="6546723"/>
            <a:ext cx="6671310" cy="938022"/>
            <a:chOff x="0" y="0"/>
            <a:chExt cx="8895080" cy="12506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895080" cy="1250696"/>
            </a:xfrm>
            <a:custGeom>
              <a:avLst/>
              <a:gdLst/>
              <a:ahLst/>
              <a:cxnLst/>
              <a:rect r="r" b="b" t="t" l="l"/>
              <a:pathLst>
                <a:path h="1250696" w="889508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8745728" y="0"/>
                  </a:lnTo>
                  <a:cubicBezTo>
                    <a:pt x="8828151" y="0"/>
                    <a:pt x="8895080" y="66802"/>
                    <a:pt x="8895080" y="149352"/>
                  </a:cubicBezTo>
                  <a:lnTo>
                    <a:pt x="8895080" y="1101344"/>
                  </a:lnTo>
                  <a:cubicBezTo>
                    <a:pt x="8895080" y="1183767"/>
                    <a:pt x="8828278" y="1250696"/>
                    <a:pt x="8745728" y="1250696"/>
                  </a:cubicBezTo>
                  <a:lnTo>
                    <a:pt x="149352" y="1250696"/>
                  </a:lnTo>
                  <a:cubicBezTo>
                    <a:pt x="66802" y="1250696"/>
                    <a:pt x="0" y="1183894"/>
                    <a:pt x="0" y="1101344"/>
                  </a:cubicBezTo>
                  <a:close/>
                </a:path>
              </a:pathLst>
            </a:custGeom>
            <a:solidFill>
              <a:srgbClr val="FCE7E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12680" y="6748272"/>
            <a:ext cx="6103620" cy="438912"/>
            <a:chOff x="0" y="0"/>
            <a:chExt cx="813816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38160" cy="585216"/>
            </a:xfrm>
            <a:custGeom>
              <a:avLst/>
              <a:gdLst/>
              <a:ahLst/>
              <a:cxnLst/>
              <a:rect r="r" b="b" t="t" l="l"/>
              <a:pathLst>
                <a:path h="585216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63" r="0" b="-22096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81381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SRTM terrain is not physical UAV-flight validation.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61872" y="8435340"/>
            <a:ext cx="15773400" cy="493776"/>
            <a:chOff x="0" y="0"/>
            <a:chExt cx="21031200" cy="6583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03120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438" r="0" b="-57243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10312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Grid-cell size varies by region (about 500 m to 3.5 km), so physical-scale assumptions also need careful interpretation.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8972" y="408570"/>
            <a:ext cx="10972800" cy="486780"/>
            <a:chOff x="0" y="0"/>
            <a:chExt cx="14630400" cy="6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LIMITATIONS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972" y="1028700"/>
            <a:ext cx="16527780" cy="658368"/>
            <a:chOff x="0" y="0"/>
            <a:chExt cx="22037040" cy="877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39" cy="877824"/>
            </a:xfrm>
            <a:custGeom>
              <a:avLst/>
              <a:gdLst/>
              <a:ahLst/>
              <a:cxnLst/>
              <a:rect r="r" b="b" t="t" l="l"/>
              <a:pathLst>
                <a:path h="877824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155" r="0" b="-4391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037040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results are promising, but the claims should stay bounded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8972" y="1645920"/>
            <a:ext cx="16459200" cy="438912"/>
            <a:chOff x="0" y="0"/>
            <a:chExt cx="2194560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585216"/>
            </a:xfrm>
            <a:custGeom>
              <a:avLst/>
              <a:gdLst/>
              <a:ahLst/>
              <a:cxnLst/>
              <a:rect r="r" b="b" t="t" l="l"/>
              <a:pathLst>
                <a:path h="5852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688" r="0" b="-680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F7087"/>
                  </a:solidFill>
                  <a:latin typeface="Aptos"/>
                  <a:ea typeface="Aptos"/>
                  <a:cs typeface="Aptos"/>
                  <a:sym typeface="Aptos"/>
                </a:rPr>
                <a:t>These limitations are important context—not a reason to hide the observed trade-offs.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8044" y="2667952"/>
            <a:ext cx="7804023" cy="1659255"/>
            <a:chOff x="0" y="0"/>
            <a:chExt cx="10405364" cy="22123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05364" cy="2212340"/>
            </a:xfrm>
            <a:custGeom>
              <a:avLst/>
              <a:gdLst/>
              <a:ahLst/>
              <a:cxnLst/>
              <a:rect r="r" b="b" t="t" l="l"/>
              <a:pathLst>
                <a:path h="2212340" w="10405364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257917" y="0"/>
                  </a:lnTo>
                  <a:cubicBezTo>
                    <a:pt x="10339324" y="0"/>
                    <a:pt x="10405364" y="66040"/>
                    <a:pt x="10405364" y="147447"/>
                  </a:cubicBezTo>
                  <a:lnTo>
                    <a:pt x="10405364" y="2064893"/>
                  </a:lnTo>
                  <a:cubicBezTo>
                    <a:pt x="10405364" y="2146300"/>
                    <a:pt x="10339324" y="2212340"/>
                    <a:pt x="10257917" y="2212340"/>
                  </a:cubicBezTo>
                  <a:lnTo>
                    <a:pt x="147447" y="2212340"/>
                  </a:lnTo>
                  <a:cubicBezTo>
                    <a:pt x="66040" y="2212340"/>
                    <a:pt x="0" y="2146300"/>
                    <a:pt x="0" y="206489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15187" y="2665095"/>
            <a:ext cx="101346" cy="1664970"/>
            <a:chOff x="0" y="0"/>
            <a:chExt cx="135128" cy="2219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5128" cy="2219960"/>
            </a:xfrm>
            <a:custGeom>
              <a:avLst/>
              <a:gdLst/>
              <a:ahLst/>
              <a:cxnLst/>
              <a:rect r="r" b="b" t="t" l="l"/>
              <a:pathLst>
                <a:path h="22199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D95C5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99032" y="2948940"/>
            <a:ext cx="630936" cy="342900"/>
            <a:chOff x="0" y="0"/>
            <a:chExt cx="841248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1248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4124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D95C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221992" y="2894076"/>
            <a:ext cx="6172200" cy="384048"/>
            <a:chOff x="0" y="0"/>
            <a:chExt cx="822960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2296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Single simulator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221992" y="3429000"/>
            <a:ext cx="6172200" cy="5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No hardware-in-the-loop or real UAV flight validation yet.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47644" y="2667953"/>
            <a:ext cx="7804023" cy="2723960"/>
            <a:chOff x="0" y="0"/>
            <a:chExt cx="10405364" cy="363194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05364" cy="3631946"/>
            </a:xfrm>
            <a:custGeom>
              <a:avLst/>
              <a:gdLst/>
              <a:ahLst/>
              <a:cxnLst/>
              <a:rect r="r" b="b" t="t" l="l"/>
              <a:pathLst>
                <a:path h="3631946" w="10405364">
                  <a:moveTo>
                    <a:pt x="0" y="242060"/>
                  </a:moveTo>
                  <a:cubicBezTo>
                    <a:pt x="0" y="108416"/>
                    <a:pt x="66040" y="0"/>
                    <a:pt x="147447" y="0"/>
                  </a:cubicBezTo>
                  <a:lnTo>
                    <a:pt x="10257917" y="0"/>
                  </a:lnTo>
                  <a:cubicBezTo>
                    <a:pt x="10339324" y="0"/>
                    <a:pt x="10405364" y="108416"/>
                    <a:pt x="10405364" y="242060"/>
                  </a:cubicBezTo>
                  <a:lnTo>
                    <a:pt x="10405364" y="3389886"/>
                  </a:lnTo>
                  <a:cubicBezTo>
                    <a:pt x="10405364" y="3523530"/>
                    <a:pt x="10339324" y="3631946"/>
                    <a:pt x="10257917" y="3631946"/>
                  </a:cubicBezTo>
                  <a:lnTo>
                    <a:pt x="147447" y="3631946"/>
                  </a:lnTo>
                  <a:cubicBezTo>
                    <a:pt x="66040" y="3631946"/>
                    <a:pt x="0" y="3523530"/>
                    <a:pt x="0" y="3389886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295274" y="2665095"/>
            <a:ext cx="150859" cy="2478405"/>
            <a:chOff x="0" y="0"/>
            <a:chExt cx="135128" cy="2219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5128" cy="2219960"/>
            </a:xfrm>
            <a:custGeom>
              <a:avLst/>
              <a:gdLst/>
              <a:ahLst/>
              <a:cxnLst/>
              <a:rect r="r" b="b" t="t" l="l"/>
              <a:pathLst>
                <a:path h="22199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E8A53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28632" y="2948940"/>
            <a:ext cx="630936" cy="342900"/>
            <a:chOff x="0" y="0"/>
            <a:chExt cx="841248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4124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8A5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51592" y="2894076"/>
            <a:ext cx="6172200" cy="384048"/>
            <a:chOff x="0" y="0"/>
            <a:chExt cx="822960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2296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Self-implemented comparators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341483" y="3429000"/>
            <a:ext cx="6172200" cy="5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No external published task-allocation system reproduced faithfully.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68717" y="4822888"/>
            <a:ext cx="7804023" cy="1659255"/>
            <a:chOff x="0" y="0"/>
            <a:chExt cx="10405364" cy="2212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05364" cy="2212340"/>
            </a:xfrm>
            <a:custGeom>
              <a:avLst/>
              <a:gdLst/>
              <a:ahLst/>
              <a:cxnLst/>
              <a:rect r="r" b="b" t="t" l="l"/>
              <a:pathLst>
                <a:path h="2212340" w="10405364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257917" y="0"/>
                  </a:lnTo>
                  <a:cubicBezTo>
                    <a:pt x="10339324" y="0"/>
                    <a:pt x="10405364" y="66040"/>
                    <a:pt x="10405364" y="147447"/>
                  </a:cubicBezTo>
                  <a:lnTo>
                    <a:pt x="10405364" y="2064893"/>
                  </a:lnTo>
                  <a:cubicBezTo>
                    <a:pt x="10405364" y="2146300"/>
                    <a:pt x="10339324" y="2212340"/>
                    <a:pt x="10257917" y="2212340"/>
                  </a:cubicBezTo>
                  <a:lnTo>
                    <a:pt x="147447" y="2212340"/>
                  </a:lnTo>
                  <a:cubicBezTo>
                    <a:pt x="66040" y="2212340"/>
                    <a:pt x="0" y="2146300"/>
                    <a:pt x="0" y="2064893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65860" y="4820031"/>
            <a:ext cx="101346" cy="1664970"/>
            <a:chOff x="0" y="0"/>
            <a:chExt cx="135128" cy="2219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5128" cy="2219960"/>
            </a:xfrm>
            <a:custGeom>
              <a:avLst/>
              <a:gdLst/>
              <a:ahLst/>
              <a:cxnLst/>
              <a:rect r="r" b="b" t="t" l="l"/>
              <a:pathLst>
                <a:path h="22199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219960"/>
                  </a:lnTo>
                  <a:lnTo>
                    <a:pt x="0" y="2219960"/>
                  </a:lnTo>
                  <a:close/>
                </a:path>
              </a:pathLst>
            </a:custGeom>
            <a:solidFill>
              <a:srgbClr val="218C8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99032" y="5049012"/>
            <a:ext cx="630936" cy="342900"/>
            <a:chOff x="0" y="0"/>
            <a:chExt cx="841248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248" cy="457200"/>
            </a:xfrm>
            <a:custGeom>
              <a:avLst/>
              <a:gdLst/>
              <a:ahLst/>
              <a:cxnLst/>
              <a:rect r="r" b="b" t="t" l="l"/>
              <a:pathLst>
                <a:path h="457200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30" t="0" r="-1973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41248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272665" y="5049012"/>
            <a:ext cx="6172200" cy="384048"/>
            <a:chOff x="0" y="0"/>
            <a:chExt cx="8229600" cy="5120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29600" cy="512064"/>
            </a:xfrm>
            <a:custGeom>
              <a:avLst/>
              <a:gdLst/>
              <a:ahLst/>
              <a:cxnLst/>
              <a:rect r="r" b="b" t="t" l="l"/>
              <a:pathLst>
                <a:path h="51206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822960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Objective sensitivity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272665" y="5583936"/>
            <a:ext cx="6172200" cy="58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Coverage-only tuning changes the apparent delay/energy trade-off; common-cost results are more balanced.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34440" y="7200900"/>
            <a:ext cx="2743200" cy="411480"/>
            <a:chOff x="0" y="0"/>
            <a:chExt cx="36576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6576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 steps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1974" y="8032814"/>
            <a:ext cx="174117" cy="174117"/>
            <a:chOff x="0" y="0"/>
            <a:chExt cx="232156" cy="2321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645920" y="7941564"/>
            <a:ext cx="4732020" cy="493776"/>
            <a:chOff x="0" y="0"/>
            <a:chExt cx="6309360" cy="6583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09360" cy="658368"/>
            </a:xfrm>
            <a:custGeom>
              <a:avLst/>
              <a:gdLst/>
              <a:ahLst/>
              <a:cxnLst/>
              <a:rect r="r" b="b" t="t" l="l"/>
              <a:pathLst>
                <a:path h="65836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30936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External baseline reproduction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729794" y="8032814"/>
            <a:ext cx="174117" cy="174117"/>
            <a:chOff x="0" y="0"/>
            <a:chExt cx="232156" cy="2321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063740" y="7941564"/>
            <a:ext cx="4732020" cy="493776"/>
            <a:chOff x="0" y="0"/>
            <a:chExt cx="6309360" cy="6583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09360" cy="658368"/>
            </a:xfrm>
            <a:custGeom>
              <a:avLst/>
              <a:gdLst/>
              <a:ahLst/>
              <a:cxnLst/>
              <a:rect r="r" b="b" t="t" l="l"/>
              <a:pathLst>
                <a:path h="65836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30936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Hardware-in-the-loop validation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147613" y="8032814"/>
            <a:ext cx="174117" cy="174117"/>
            <a:chOff x="0" y="0"/>
            <a:chExt cx="232156" cy="2321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3878F6"/>
            </a:solidFill>
            <a:ln w="9525" cap="sq">
              <a:solidFill>
                <a:srgbClr val="3878F6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481560" y="7941564"/>
            <a:ext cx="4732020" cy="493776"/>
            <a:chOff x="0" y="0"/>
            <a:chExt cx="6309360" cy="6583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309360" cy="658368"/>
            </a:xfrm>
            <a:custGeom>
              <a:avLst/>
              <a:gdLst/>
              <a:ahLst/>
              <a:cxnLst/>
              <a:rect r="r" b="b" t="t" l="l"/>
              <a:pathLst>
                <a:path h="65836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630936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14223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Sensitivity / Pareto-front analysis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341483" y="3952875"/>
            <a:ext cx="61722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Our simulati</a:t>
            </a:r>
            <a:r>
              <a:rPr lang="en-US" sz="1604">
                <a:solidFill>
                  <a:srgbClr val="5F7087"/>
                </a:solidFill>
                <a:latin typeface="Aptos"/>
                <a:ea typeface="Aptos"/>
                <a:cs typeface="Aptos"/>
                <a:sym typeface="Aptos"/>
              </a:rPr>
              <a:t>on environment for drone-based border surveillance—which accounts for factors such as real-time coverage loss, battery constraints, and the impact of wind—is quite unique. It was not possible to directly 'plug-and-play' external code from any other research paper into this setup.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120">
            <a:off x="746760" y="9706166"/>
            <a:ext cx="16789918" cy="0"/>
          </a:xfrm>
          <a:prstGeom prst="line">
            <a:avLst/>
          </a:prstGeom>
          <a:ln cap="rnd" w="9525">
            <a:solidFill>
              <a:srgbClr val="DCE4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109960" y="9806940"/>
            <a:ext cx="6446520" cy="246888"/>
            <a:chOff x="0" y="0"/>
            <a:chExt cx="8595360" cy="329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5360" cy="329184"/>
            </a:xfrm>
            <a:custGeom>
              <a:avLst/>
              <a:gdLst/>
              <a:ahLst/>
              <a:cxnLst/>
              <a:rect r="r" b="b" t="t" l="l"/>
              <a:pathLst>
                <a:path h="32918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775" r="0" b="-4587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8595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3738A"/>
                  </a:solidFill>
                  <a:latin typeface="Aptos"/>
                  <a:ea typeface="Aptos"/>
                  <a:cs typeface="Aptos"/>
                  <a:sym typeface="Aptos"/>
                </a:rPr>
                <a:t>DEPARTMENT OF CSE  •  UTTARA UNIVERSITY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070080" y="7434072"/>
            <a:ext cx="4389120" cy="438912"/>
            <a:chOff x="0" y="0"/>
            <a:chExt cx="5852160" cy="585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message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442180" y="9838944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3738A"/>
                </a:solidFill>
                <a:latin typeface="Aptos"/>
                <a:ea typeface="Aptos"/>
                <a:cs typeface="Aptos"/>
                <a:sym typeface="Aptos"/>
              </a:rPr>
              <a:t>13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5528" y="372600"/>
            <a:ext cx="10972800" cy="486780"/>
            <a:chOff x="0" y="0"/>
            <a:chExt cx="14630400" cy="649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649040"/>
            </a:xfrm>
            <a:custGeom>
              <a:avLst/>
              <a:gdLst/>
              <a:ahLst/>
              <a:cxnLst/>
              <a:rect r="r" b="b" t="t" l="l"/>
              <a:pathLst>
                <a:path h="649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9040"/>
                  </a:lnTo>
                  <a:lnTo>
                    <a:pt x="0" y="649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229" r="0" b="-3702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630400" cy="649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433">
                  <a:solidFill>
                    <a:srgbClr val="3878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1066" y="1217228"/>
            <a:ext cx="15285631" cy="776276"/>
            <a:chOff x="0" y="0"/>
            <a:chExt cx="21342096" cy="1083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1066" y="2208560"/>
            <a:ext cx="15285631" cy="776276"/>
            <a:chOff x="0" y="0"/>
            <a:chExt cx="21342096" cy="10838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09369" y="2360202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S. Opricovic and G.-H. Tz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eng, “Compromise solution by MCDM methods: A comparative analysis of VIKOR and TOPSIS,” European Journal of Operational Research, vol. 156, no. 2, pp. 445–455, Jul. 2004.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1066" y="3199891"/>
            <a:ext cx="15285631" cy="776276"/>
            <a:chOff x="0" y="0"/>
            <a:chExt cx="21342096" cy="10838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09369" y="3351534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 N. Mathew, S. L. Smith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, and S. L. Waslander, “Multirobot rendezvous planning for recharging in persistent tasks,” IEEE Transactions on Robotics, vol. 31, no. 1, pp. 128–142, Feb. 2015.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1066" y="4191223"/>
            <a:ext cx="15285631" cy="776276"/>
            <a:chOff x="0" y="0"/>
            <a:chExt cx="21342096" cy="10838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09369" y="4342865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W.-C. Yang, J.-B. Ri, J.-Y. Y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ang, and J.-S. Kim, “Materials selection method using improved TOPSIS without rank reversal based on linear max-min normalization with absolute maximum and minimum values,” Materials Research Express, vol. 9, no. 6, art. no. 065503, Jun. 2022.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31066" y="5182555"/>
            <a:ext cx="15285631" cy="776276"/>
            <a:chOff x="0" y="0"/>
            <a:chExt cx="21342096" cy="10838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09369" y="5334197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H.-J. Shyu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 and H.-S. Shih, “Resolving rank reversal in TOPSIS: A comprehensive analysis of distance metrics and normalization methods,” Informatica, vol. 35, no. 4, pp. 837–858, Nov. 2024. 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1066" y="6173886"/>
            <a:ext cx="15285631" cy="776276"/>
            <a:chOff x="0" y="0"/>
            <a:chExt cx="21342096" cy="10838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09369" y="1368870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J. Guo, “A M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amdani-type fuzzy inference framework for UAV threat detection and countermeasure deployment in FANETs,” Informatica, vol. 49, no. 15, pp. 289–302, 2025.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31066" y="7165218"/>
            <a:ext cx="15285631" cy="776276"/>
            <a:chOff x="0" y="0"/>
            <a:chExt cx="21342096" cy="10838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09369" y="7316860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R. Sto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rn and K. Price, “Differential evolution – a simple and efficient heuristic for global optimization over continuous spaces,” Journal of Global Optimization, vol. 11, no. 4, pp. 341–359, 1997. 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31066" y="8156550"/>
            <a:ext cx="15285631" cy="776276"/>
            <a:chOff x="0" y="0"/>
            <a:chExt cx="21342096" cy="10838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028700" y="8426440"/>
            <a:ext cx="14396497" cy="236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T. G. Farr 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et al., “The Shuttle Radar Topography Mission,” Reviews of Geophysics, vol. 45, no. 2, RG2004, 2007. 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31066" y="9147881"/>
            <a:ext cx="15285631" cy="776276"/>
            <a:chOff x="0" y="0"/>
            <a:chExt cx="21342096" cy="10838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342096" cy="1083852"/>
            </a:xfrm>
            <a:custGeom>
              <a:avLst/>
              <a:gdLst/>
              <a:ahLst/>
              <a:cxnLst/>
              <a:rect r="r" b="b" t="t" l="l"/>
              <a:pathLst>
                <a:path h="1083852" w="21342096">
                  <a:moveTo>
                    <a:pt x="0" y="58558"/>
                  </a:moveTo>
                  <a:cubicBezTo>
                    <a:pt x="0" y="26222"/>
                    <a:pt x="201906" y="0"/>
                    <a:pt x="450884" y="0"/>
                  </a:cubicBezTo>
                  <a:lnTo>
                    <a:pt x="20891213" y="0"/>
                  </a:lnTo>
                  <a:cubicBezTo>
                    <a:pt x="21140192" y="0"/>
                    <a:pt x="21342096" y="26222"/>
                    <a:pt x="21342096" y="58558"/>
                  </a:cubicBezTo>
                  <a:lnTo>
                    <a:pt x="21342096" y="1025294"/>
                  </a:lnTo>
                  <a:cubicBezTo>
                    <a:pt x="21342096" y="1057630"/>
                    <a:pt x="21140192" y="1083852"/>
                    <a:pt x="20891213" y="1083852"/>
                  </a:cubicBezTo>
                  <a:lnTo>
                    <a:pt x="450884" y="1083852"/>
                  </a:lnTo>
                  <a:cubicBezTo>
                    <a:pt x="201906" y="1083852"/>
                    <a:pt x="0" y="1057630"/>
                    <a:pt x="0" y="1025294"/>
                  </a:cubicBezTo>
                  <a:close/>
                </a:path>
              </a:pathLst>
            </a:custGeom>
            <a:solidFill>
              <a:srgbClr val="DDF3EF"/>
            </a:solidFill>
            <a:ln w="57150" cap="sq">
              <a:solidFill>
                <a:srgbClr val="DCE4EF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09369" y="9299524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B. P. G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erkey and M. J. Matarić, “Sold!: Auction methods for multirobot coordination,” IEEE Transactions on Robotics and Automation, vol. 18, no. 5, pp. 758–768, Oct. 2002.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9369" y="6320781"/>
            <a:ext cx="14396497" cy="47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D. B. Kingston, R. W. </a:t>
            </a:r>
            <a:r>
              <a:rPr lang="en-US" sz="1604">
                <a:solidFill>
                  <a:srgbClr val="142238"/>
                </a:solidFill>
                <a:latin typeface="Aptos"/>
                <a:ea typeface="Aptos"/>
                <a:cs typeface="Aptos"/>
                <a:sym typeface="Aptos"/>
              </a:rPr>
              <a:t>Beard, and R. S. Holt, “Decentralized perimeter surveillance using a team of UAVs,” IEEE Transactions on Robotics, vol. 24, no. 6, pp. 1394–1404, Dec. 2008, doi: 10.1109/TRO.2008.2006540. 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31295" y="1433916"/>
            <a:ext cx="315468" cy="342900"/>
            <a:chOff x="0" y="0"/>
            <a:chExt cx="420624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31295" y="2425248"/>
            <a:ext cx="315468" cy="342900"/>
            <a:chOff x="0" y="0"/>
            <a:chExt cx="420624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31295" y="3416579"/>
            <a:ext cx="315468" cy="342900"/>
            <a:chOff x="0" y="0"/>
            <a:chExt cx="420624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31295" y="4407911"/>
            <a:ext cx="315468" cy="342900"/>
            <a:chOff x="0" y="0"/>
            <a:chExt cx="420624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31295" y="5399243"/>
            <a:ext cx="315468" cy="342900"/>
            <a:chOff x="0" y="0"/>
            <a:chExt cx="420624" cy="457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31295" y="6390574"/>
            <a:ext cx="315468" cy="342900"/>
            <a:chOff x="0" y="0"/>
            <a:chExt cx="420624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31295" y="7381906"/>
            <a:ext cx="315468" cy="342900"/>
            <a:chOff x="0" y="0"/>
            <a:chExt cx="420624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31295" y="8373238"/>
            <a:ext cx="315468" cy="342900"/>
            <a:chOff x="0" y="0"/>
            <a:chExt cx="420624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31295" y="9364569"/>
            <a:ext cx="315468" cy="342900"/>
            <a:chOff x="0" y="0"/>
            <a:chExt cx="420624" cy="457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0624" cy="457200"/>
            </a:xfrm>
            <a:custGeom>
              <a:avLst/>
              <a:gdLst/>
              <a:ahLst/>
              <a:cxnLst/>
              <a:rect r="r" b="b" t="t" l="l"/>
              <a:pathLst>
                <a:path h="457200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60" t="0" r="-13946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20624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18C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96040">
            <a:off x="-3571399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040">
            <a:off x="-1171099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96040">
            <a:off x="12292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6040">
            <a:off x="36295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96040">
            <a:off x="60298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96040">
            <a:off x="84301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96040">
            <a:off x="108304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96040">
            <a:off x="13230701" y="5070158"/>
            <a:ext cx="9063047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160">
            <a:off x="817721" y="74961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2160">
            <a:off x="817721" y="1915477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2160">
            <a:off x="817721" y="308133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2160">
            <a:off x="817721" y="4247197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2160">
            <a:off x="817721" y="541305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2160">
            <a:off x="817721" y="657891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2160">
            <a:off x="817721" y="774477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2160">
            <a:off x="817721" y="8910638"/>
            <a:ext cx="16675418" cy="0"/>
          </a:xfrm>
          <a:prstGeom prst="line">
            <a:avLst/>
          </a:prstGeom>
          <a:ln cap="rnd" w="9525">
            <a:solidFill>
              <a:srgbClr val="24375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064820">
            <a:off x="4396149" y="6711315"/>
            <a:ext cx="1906172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104060">
            <a:off x="7680741" y="5305425"/>
            <a:ext cx="2057848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018740">
            <a:off x="11192685" y="3933825"/>
            <a:ext cx="1754800" cy="0"/>
          </a:xfrm>
          <a:prstGeom prst="line">
            <a:avLst/>
          </a:prstGeom>
          <a:ln cap="rnd" w="19050">
            <a:solidFill>
              <a:srgbClr val="35B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2669858" y="7744778"/>
            <a:ext cx="146685" cy="146685"/>
            <a:chOff x="0" y="0"/>
            <a:chExt cx="195580" cy="195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4384358" y="6373178"/>
            <a:ext cx="146685" cy="146685"/>
            <a:chOff x="0" y="0"/>
            <a:chExt cx="195580" cy="1955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167438" y="6921818"/>
            <a:ext cx="146685" cy="146685"/>
            <a:chOff x="0" y="0"/>
            <a:chExt cx="195580" cy="1955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676197" y="4932997"/>
            <a:ext cx="146685" cy="146685"/>
            <a:chOff x="0" y="0"/>
            <a:chExt cx="195580" cy="195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96438" y="5550218"/>
            <a:ext cx="146685" cy="146685"/>
            <a:chOff x="0" y="0"/>
            <a:chExt cx="195580" cy="1955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173778" y="3629978"/>
            <a:ext cx="146685" cy="146685"/>
            <a:chOff x="0" y="0"/>
            <a:chExt cx="195580" cy="1955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819698" y="4110038"/>
            <a:ext cx="146685" cy="146685"/>
            <a:chOff x="0" y="0"/>
            <a:chExt cx="195580" cy="1955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35B9C8"/>
            </a:solidFill>
            <a:ln w="9525" cap="sq">
              <a:solidFill>
                <a:srgbClr val="35B9C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534198" y="2326958"/>
            <a:ext cx="146685" cy="146685"/>
            <a:chOff x="0" y="0"/>
            <a:chExt cx="195580" cy="1955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5580" cy="195580"/>
            </a:xfrm>
            <a:custGeom>
              <a:avLst/>
              <a:gdLst/>
              <a:ahLst/>
              <a:cxnLst/>
              <a:rect r="r" b="b" t="t" l="l"/>
              <a:pathLst>
                <a:path h="195580" w="195580">
                  <a:moveTo>
                    <a:pt x="0" y="97790"/>
                  </a:moveTo>
                  <a:cubicBezTo>
                    <a:pt x="0" y="43815"/>
                    <a:pt x="43815" y="0"/>
                    <a:pt x="97790" y="0"/>
                  </a:cubicBezTo>
                  <a:cubicBezTo>
                    <a:pt x="151765" y="0"/>
                    <a:pt x="195580" y="43815"/>
                    <a:pt x="195580" y="97790"/>
                  </a:cubicBezTo>
                  <a:cubicBezTo>
                    <a:pt x="195580" y="151765"/>
                    <a:pt x="151765" y="195580"/>
                    <a:pt x="97790" y="195580"/>
                  </a:cubicBezTo>
                  <a:cubicBezTo>
                    <a:pt x="43815" y="195580"/>
                    <a:pt x="0" y="151765"/>
                    <a:pt x="0" y="97790"/>
                  </a:cubicBezTo>
                  <a:close/>
                </a:path>
              </a:pathLst>
            </a:custGeom>
            <a:solidFill>
              <a:srgbClr val="E8A538"/>
            </a:solidFill>
            <a:ln w="9525" cap="sq">
              <a:solidFill>
                <a:srgbClr val="E8A53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" y="1714500"/>
            <a:ext cx="15773400" cy="1014984"/>
            <a:chOff x="0" y="0"/>
            <a:chExt cx="21031200" cy="13533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031200" cy="1353312"/>
            </a:xfrm>
            <a:custGeom>
              <a:avLst/>
              <a:gdLst/>
              <a:ahLst/>
              <a:cxnLst/>
              <a:rect r="r" b="b" t="t" l="l"/>
              <a:pathLst>
                <a:path h="135331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808" r="0" b="-2528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1031200" cy="1353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559"/>
                </a:lnSpc>
              </a:pPr>
              <a:r>
                <a:rPr lang="en-US" sz="63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4440" y="2880360"/>
            <a:ext cx="15773400" cy="576072"/>
            <a:chOff x="0" y="0"/>
            <a:chExt cx="21031200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31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18" r="0" b="-4835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0312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B9C7D9"/>
                  </a:solidFill>
                  <a:latin typeface="Aptos"/>
                  <a:ea typeface="Aptos"/>
                  <a:cs typeface="Aptos"/>
                  <a:sym typeface="Aptos"/>
                </a:rPr>
                <a:t>Questions &amp; Discussion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11520">
            <a:off x="5749271" y="3904297"/>
            <a:ext cx="6812318" cy="0"/>
          </a:xfrm>
          <a:prstGeom prst="line">
            <a:avLst/>
          </a:prstGeom>
          <a:ln cap="rnd" w="9525">
            <a:solidFill>
              <a:srgbClr val="4158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371600" y="4457700"/>
            <a:ext cx="15499080" cy="521208"/>
            <a:chOff x="0" y="0"/>
            <a:chExt cx="20665440" cy="6949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665439" cy="694944"/>
            </a:xfrm>
            <a:custGeom>
              <a:avLst/>
              <a:gdLst/>
              <a:ahLst/>
              <a:cxnLst/>
              <a:rect r="r" b="b" t="t" l="l"/>
              <a:pathLst>
                <a:path h="694944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3" r="0" b="-5294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66544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5B9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LARS: Lightweight Absolute-Scale Relay Selection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1600" y="8709660"/>
            <a:ext cx="15499080" cy="384048"/>
            <a:chOff x="0" y="0"/>
            <a:chExt cx="20665440" cy="512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65439" cy="512064"/>
            </a:xfrm>
            <a:custGeom>
              <a:avLst/>
              <a:gdLst/>
              <a:ahLst/>
              <a:cxnLst/>
              <a:rect r="r" b="b" t="t" l="l"/>
              <a:pathLst>
                <a:path h="512064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360" r="0" b="-7363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06654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9DB0C8"/>
                  </a:solidFill>
                  <a:latin typeface="Aptos"/>
                  <a:ea typeface="Aptos"/>
                  <a:cs typeface="Aptos"/>
                  <a:sym typeface="Aptos"/>
                </a:rPr>
                <a:t>Presented by Mahmudul Hasan Khan and Arif Khan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" y="9217152"/>
            <a:ext cx="15499080" cy="342900"/>
            <a:chOff x="0" y="0"/>
            <a:chExt cx="2066544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665439" cy="457200"/>
            </a:xfrm>
            <a:custGeom>
              <a:avLst/>
              <a:gdLst/>
              <a:ahLst/>
              <a:cxnLst/>
              <a:rect r="r" b="b" t="t" l="l"/>
              <a:pathLst>
                <a:path h="4572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723" r="0" b="-8307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06654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DB0C8"/>
                  </a:solidFill>
                  <a:latin typeface="Aptos"/>
                  <a:ea typeface="Aptos"/>
                  <a:cs typeface="Aptos"/>
                  <a:sym typeface="Aptos"/>
                </a:rPr>
                <a:t>Supervisor: Shebika Rani  •  Department of CSE, Uttara University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DAHYu4OSAYQ</dc:identifier>
  <dcterms:modified xsi:type="dcterms:W3CDTF">2011-08-01T06:04:30Z</dcterms:modified>
  <cp:revision>1</cp:revision>
  <dc:title>LARS_Professional_Final_Defense.pptx</dc:title>
</cp:coreProperties>
</file>