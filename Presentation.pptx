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Gotham Bold" charset="1" panose="00000000000000000000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  <p:embeddedFont>
      <p:font typeface="Arimo" charset="1" panose="020B0604020202020204"/>
      <p:regular r:id="rId23"/>
    </p:embeddedFont>
    <p:embeddedFont>
      <p:font typeface="Open Sans 1" charset="1" panose="020B0606030504020204"/>
      <p:regular r:id="rId24"/>
    </p:embeddedFont>
    <p:embeddedFont>
      <p:font typeface="Ekush" charset="1" panose="02000500000000000000"/>
      <p:regular r:id="rId25"/>
    </p:embeddedFont>
    <p:embeddedFont>
      <p:font typeface="Nunito" charset="1" panose="00000000000000000000"/>
      <p:regular r:id="rId26"/>
    </p:embeddedFont>
    <p:embeddedFont>
      <p:font typeface="Gotham" charset="1" panose="00000000000000000000"/>
      <p:regular r:id="rId27"/>
    </p:embeddedFont>
    <p:embeddedFont>
      <p:font typeface="Open Sans 2" charset="1" panose="00000000000000000000"/>
      <p:regular r:id="rId28"/>
    </p:embeddedFont>
    <p:embeddedFont>
      <p:font typeface="Montserrat Ultra-Bold" charset="1" panose="00000900000000000000"/>
      <p:regular r:id="rId29"/>
    </p:embeddedFont>
    <p:embeddedFont>
      <p:font typeface="Montserrat Bold" charset="1" panose="00000800000000000000"/>
      <p:regular r:id="rId30"/>
    </p:embeddedFont>
    <p:embeddedFont>
      <p:font typeface="Open Sans 2 Bold" charset="1" panose="00000000000000000000"/>
      <p:regular r:id="rId31"/>
    </p:embeddedFont>
    <p:embeddedFont>
      <p:font typeface="Montserrat" charset="1" panose="00000500000000000000"/>
      <p:regular r:id="rId32"/>
    </p:embeddedFont>
    <p:embeddedFont>
      <p:font typeface="Telegraf Bold" charset="1" panose="00000800000000000000"/>
      <p:regular r:id="rId33"/>
    </p:embeddedFont>
    <p:embeddedFont>
      <p:font typeface="TT Hoves" charset="1" panose="02000003020000060003"/>
      <p:regular r:id="rId34"/>
    </p:embeddedFont>
    <p:embeddedFont>
      <p:font typeface="TT Hoves Bold" charset="1" panose="02000003020000060003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17" Target="../media/image2.png" Type="http://schemas.openxmlformats.org/officeDocument/2006/relationships/image"/><Relationship Id="rId18" Target="../media/image3.svg" Type="http://schemas.openxmlformats.org/officeDocument/2006/relationships/image"/><Relationship Id="rId19" Target="../media/image1.png" Type="http://schemas.openxmlformats.org/officeDocument/2006/relationships/image"/><Relationship Id="rId2" Target="../media/image17.png" Type="http://schemas.openxmlformats.org/officeDocument/2006/relationships/image"/><Relationship Id="rId20" Target="../media/image32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2.png" Type="http://schemas.openxmlformats.org/officeDocument/2006/relationships/image"/><Relationship Id="rId15" Target="../media/image3.svg" Type="http://schemas.openxmlformats.org/officeDocument/2006/relationships/image"/><Relationship Id="rId16" Target="../media/image1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svg" Type="http://schemas.openxmlformats.org/officeDocument/2006/relationships/image"/><Relationship Id="rId11" Target="../media/image53.png" Type="http://schemas.openxmlformats.org/officeDocument/2006/relationships/image"/><Relationship Id="rId12" Target="../media/image5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55.png" Type="http://schemas.openxmlformats.org/officeDocument/2006/relationships/image"/><Relationship Id="rId16" Target="../media/image56.svg" Type="http://schemas.openxmlformats.org/officeDocument/2006/relationships/image"/><Relationship Id="rId17" Target="../media/image57.png" Type="http://schemas.openxmlformats.org/officeDocument/2006/relationships/image"/><Relationship Id="rId18" Target="../media/image58.svg" Type="http://schemas.openxmlformats.org/officeDocument/2006/relationships/image"/><Relationship Id="rId19" Target="../media/image2.png" Type="http://schemas.openxmlformats.org/officeDocument/2006/relationships/image"/><Relationship Id="rId2" Target="../media/image17.png" Type="http://schemas.openxmlformats.org/officeDocument/2006/relationships/image"/><Relationship Id="rId20" Target="../media/image3.svg" Type="http://schemas.openxmlformats.org/officeDocument/2006/relationships/image"/><Relationship Id="rId21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svg" Type="http://schemas.openxmlformats.org/officeDocument/2006/relationships/image"/><Relationship Id="rId12" Target="../media/image69.png" Type="http://schemas.openxmlformats.org/officeDocument/2006/relationships/image"/><Relationship Id="rId13" Target="../media/image70.svg" Type="http://schemas.openxmlformats.org/officeDocument/2006/relationships/image"/><Relationship Id="rId14" Target="../media/image71.png" Type="http://schemas.openxmlformats.org/officeDocument/2006/relationships/image"/><Relationship Id="rId15" Target="../media/image72.svg" Type="http://schemas.openxmlformats.org/officeDocument/2006/relationships/image"/><Relationship Id="rId16" Target="../media/image73.png" Type="http://schemas.openxmlformats.org/officeDocument/2006/relationships/image"/><Relationship Id="rId17" Target="../media/image74.svg" Type="http://schemas.openxmlformats.org/officeDocument/2006/relationships/image"/><Relationship Id="rId18" Target="../media/image2.png" Type="http://schemas.openxmlformats.org/officeDocument/2006/relationships/image"/><Relationship Id="rId19" Target="../media/image3.svg" Type="http://schemas.openxmlformats.org/officeDocument/2006/relationships/image"/><Relationship Id="rId2" Target="../media/image59.png" Type="http://schemas.openxmlformats.org/officeDocument/2006/relationships/image"/><Relationship Id="rId20" Target="../media/image1.png" Type="http://schemas.openxmlformats.org/officeDocument/2006/relationships/image"/><Relationship Id="rId21" Target="../media/image75.png" Type="http://schemas.openxmlformats.org/officeDocument/2006/relationships/image"/><Relationship Id="rId22" Target="../media/image76.sv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7.png" Type="http://schemas.openxmlformats.org/officeDocument/2006/relationships/image"/><Relationship Id="rId4" Target="../media/image78.jpe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Relationship Id="rId5" Target="../media/image83.png" Type="http://schemas.openxmlformats.org/officeDocument/2006/relationships/image"/><Relationship Id="rId6" Target="../media/image84.svg" Type="http://schemas.openxmlformats.org/officeDocument/2006/relationships/image"/><Relationship Id="rId7" Target="../media/image85.png" Type="http://schemas.openxmlformats.org/officeDocument/2006/relationships/image"/><Relationship Id="rId8" Target="../media/image8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6738" y="2438850"/>
            <a:ext cx="15355524" cy="189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3600">
                <a:solidFill>
                  <a:srgbClr val="00BF63"/>
                </a:solidFill>
                <a:latin typeface="Gotham Bold"/>
                <a:ea typeface="Gotham Bold"/>
                <a:cs typeface="Gotham Bold"/>
                <a:sym typeface="Gotham Bold"/>
              </a:rPr>
              <a:t>AUTONOMOUS BORDER SURVEILLANCE SYSTEM - AN ENERGY EFFICIENCY DRONE SIMULATION PATH PLANNING USING HEURISTIC OPTIMIZATION</a:t>
            </a:r>
          </a:p>
          <a:p>
            <a:pPr algn="ctr">
              <a:lnSpc>
                <a:spcPts val="3744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5918" y="6474579"/>
            <a:ext cx="6000750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2 ID: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2223081071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6995" y="7120290"/>
            <a:ext cx="6520361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2 Name: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Arif Khan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3764" y="4966503"/>
            <a:ext cx="6317769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1 ID: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2223081070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2820" y="5614896"/>
            <a:ext cx="10302080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1 Name: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Mahmudul Hasan Khan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755695" y="5139385"/>
            <a:ext cx="3021266" cy="604057"/>
            <a:chOff x="0" y="0"/>
            <a:chExt cx="203266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660" cy="406400"/>
            </a:xfrm>
            <a:custGeom>
              <a:avLst/>
              <a:gdLst/>
              <a:ahLst/>
              <a:cxnLst/>
              <a:rect r="r" b="b" t="t" l="l"/>
              <a:pathLst>
                <a:path h="406400" w="2032660">
                  <a:moveTo>
                    <a:pt x="1829460" y="0"/>
                  </a:moveTo>
                  <a:cubicBezTo>
                    <a:pt x="1941684" y="0"/>
                    <a:pt x="2032660" y="90976"/>
                    <a:pt x="2032660" y="203200"/>
                  </a:cubicBezTo>
                  <a:cubicBezTo>
                    <a:pt x="2032660" y="315424"/>
                    <a:pt x="1941684" y="406400"/>
                    <a:pt x="18294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E945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03266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755695" y="5082449"/>
            <a:ext cx="3021266" cy="122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b="true" sz="3453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Supervisor</a:t>
            </a:r>
          </a:p>
          <a:p>
            <a:pPr algn="ctr">
              <a:lnSpc>
                <a:spcPts val="483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755695" y="6566834"/>
            <a:ext cx="2793217" cy="1240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331">
                <a:solidFill>
                  <a:srgbClr val="004731"/>
                </a:solidFill>
                <a:latin typeface="Arimo"/>
                <a:ea typeface="Arimo"/>
                <a:cs typeface="Arimo"/>
                <a:sym typeface="Arimo"/>
              </a:rPr>
              <a:t>           Lecturer</a:t>
            </a:r>
          </a:p>
          <a:p>
            <a:pPr algn="l">
              <a:lnSpc>
                <a:spcPts val="3264"/>
              </a:lnSpc>
            </a:pPr>
            <a:r>
              <a:rPr lang="en-US" sz="2331">
                <a:solidFill>
                  <a:srgbClr val="004731"/>
                </a:solidFill>
                <a:latin typeface="Arimo"/>
                <a:ea typeface="Arimo"/>
                <a:cs typeface="Arimo"/>
                <a:sym typeface="Arimo"/>
              </a:rPr>
              <a:t>       Dept of CSE</a:t>
            </a:r>
          </a:p>
          <a:p>
            <a:pPr algn="l">
              <a:lnSpc>
                <a:spcPts val="3275"/>
              </a:lnSpc>
            </a:pPr>
            <a:r>
              <a:rPr lang="en-US" sz="2519">
                <a:solidFill>
                  <a:srgbClr val="004731"/>
                </a:solidFill>
                <a:latin typeface="Open Sans 1"/>
                <a:ea typeface="Open Sans 1"/>
                <a:cs typeface="Open Sans 1"/>
                <a:sym typeface="Open Sans 1"/>
              </a:rPr>
              <a:t>   </a:t>
            </a:r>
            <a:r>
              <a:rPr lang="en-US" sz="2519">
                <a:solidFill>
                  <a:srgbClr val="004731"/>
                </a:solidFill>
                <a:latin typeface="Open Sans 1"/>
                <a:ea typeface="Open Sans 1"/>
                <a:cs typeface="Open Sans 1"/>
                <a:sym typeface="Open Sans 1"/>
              </a:rPr>
              <a:t>Uttara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54000" y="6066689"/>
            <a:ext cx="2818406" cy="50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3"/>
              </a:lnSpc>
            </a:pPr>
            <a:r>
              <a:rPr lang="en-US" sz="2658">
                <a:solidFill>
                  <a:srgbClr val="00BF63"/>
                </a:solidFill>
                <a:latin typeface="Ekush"/>
                <a:ea typeface="Ekush"/>
                <a:cs typeface="Ekush"/>
                <a:sym typeface="Ekush"/>
              </a:rPr>
              <a:t>SHEBIKA RANI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4633892" y="-1159293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620500" y="2774163"/>
            <a:ext cx="5980918" cy="3683534"/>
          </a:xfrm>
          <a:custGeom>
            <a:avLst/>
            <a:gdLst/>
            <a:ahLst/>
            <a:cxnLst/>
            <a:rect r="r" b="b" t="t" l="l"/>
            <a:pathLst>
              <a:path h="3683534" w="5980918">
                <a:moveTo>
                  <a:pt x="0" y="0"/>
                </a:moveTo>
                <a:lnTo>
                  <a:pt x="5980918" y="0"/>
                </a:lnTo>
                <a:lnTo>
                  <a:pt x="5980918" y="3683535"/>
                </a:lnTo>
                <a:lnTo>
                  <a:pt x="0" y="36835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113" t="-18238" r="-6895" b="-1816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0100" y="2777524"/>
            <a:ext cx="6129564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3"/>
              </a:lnSpc>
            </a:pPr>
            <a:r>
              <a:rPr lang="en-US" sz="55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0100" y="4096732"/>
            <a:ext cx="10131859" cy="177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725">
                <a:solidFill>
                  <a:srgbClr val="021E47"/>
                </a:solidFill>
                <a:latin typeface="Nunito"/>
                <a:ea typeface="Nunito"/>
                <a:cs typeface="Nunito"/>
                <a:sym typeface="Nunito"/>
              </a:rPr>
              <a:t>Border surveillance is a critical requirement for national security and defense systems. Traditional border monitoring methods depend largely on human patrols and fixed surveillance infrastructure, which are costly, inefficient, and vulnerable to human error.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2943" y="6994114"/>
            <a:ext cx="10124004" cy="142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725">
                <a:solidFill>
                  <a:srgbClr val="021E47"/>
                </a:solidFill>
                <a:latin typeface="Nunito"/>
                <a:ea typeface="Nunito"/>
                <a:cs typeface="Nunito"/>
                <a:sym typeface="Nunito"/>
              </a:rPr>
              <a:t> This research proposes an Autonomous Border Surveillance System that uses heuristic optimization and graph-based algorithms to enable intelligent, energy-efficient, and adaptive drone navigation in border areas.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50761" y="7775055"/>
            <a:ext cx="603547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 </a:t>
            </a:r>
            <a:r>
              <a:rPr lang="en-US" sz="230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www.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30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uritywhole</a:t>
            </a:r>
            <a:r>
              <a:rPr lang="en-US" sz="230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alers</a:t>
            </a:r>
            <a:r>
              <a:rPr lang="en-US" sz="230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.c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om.au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3036" y="6531199"/>
            <a:ext cx="12958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Figure 1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65657" y="7041739"/>
            <a:ext cx="6205686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this drone configuration in this thesis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299339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1269921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6211" y="4824873"/>
            <a:ext cx="1782472" cy="1703681"/>
          </a:xfrm>
          <a:custGeom>
            <a:avLst/>
            <a:gdLst/>
            <a:ahLst/>
            <a:cxnLst/>
            <a:rect r="r" b="b" t="t" l="l"/>
            <a:pathLst>
              <a:path h="1703681" w="1782472">
                <a:moveTo>
                  <a:pt x="0" y="0"/>
                </a:moveTo>
                <a:lnTo>
                  <a:pt x="1782472" y="0"/>
                </a:lnTo>
                <a:lnTo>
                  <a:pt x="1782472" y="1703680"/>
                </a:lnTo>
                <a:lnTo>
                  <a:pt x="0" y="1703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90165" y="5020250"/>
            <a:ext cx="1594669" cy="1524180"/>
          </a:xfrm>
          <a:custGeom>
            <a:avLst/>
            <a:gdLst/>
            <a:ahLst/>
            <a:cxnLst/>
            <a:rect r="r" b="b" t="t" l="l"/>
            <a:pathLst>
              <a:path h="1524180" w="1594669">
                <a:moveTo>
                  <a:pt x="0" y="0"/>
                </a:moveTo>
                <a:lnTo>
                  <a:pt x="1594670" y="0"/>
                </a:lnTo>
                <a:lnTo>
                  <a:pt x="1594670" y="1524180"/>
                </a:lnTo>
                <a:lnTo>
                  <a:pt x="0" y="15241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99347" y="5531269"/>
            <a:ext cx="1687511" cy="1612917"/>
          </a:xfrm>
          <a:custGeom>
            <a:avLst/>
            <a:gdLst/>
            <a:ahLst/>
            <a:cxnLst/>
            <a:rect r="r" b="b" t="t" l="l"/>
            <a:pathLst>
              <a:path h="1612917" w="1687511">
                <a:moveTo>
                  <a:pt x="0" y="0"/>
                </a:moveTo>
                <a:lnTo>
                  <a:pt x="1687511" y="0"/>
                </a:lnTo>
                <a:lnTo>
                  <a:pt x="1687511" y="1612917"/>
                </a:lnTo>
                <a:lnTo>
                  <a:pt x="0" y="1612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3316" y="6781982"/>
            <a:ext cx="4246049" cy="752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6"/>
              </a:lnSpc>
            </a:pPr>
            <a:r>
              <a:rPr lang="en-US" sz="19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Multi-UAV Coverage Path Planning: A Distributed Online Cooperation Method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91230" y="7301119"/>
            <a:ext cx="4503746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Energy-Efficient Internet of Drones Path-Planning Study Using Meta-Heuristic Algorithms (2024)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30546" y="6905807"/>
            <a:ext cx="4456332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Border Patrol Using Multiple Unmanned Aerial Vehicles Based on Stackelberg Security Game (2024)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5543" y="7662307"/>
            <a:ext cx="3913682" cy="153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sz="16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Divided this area into n groups</a:t>
            </a:r>
          </a:p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sz="16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Monitoring within their own groups</a:t>
            </a:r>
          </a:p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sz="16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Each agent can make their own decisions.</a:t>
            </a:r>
          </a:p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sz="16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Create holes in dynamic environments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86500" y="8336804"/>
            <a:ext cx="5113206" cy="13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Avoiding obstacles and using the least amount of energy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Increases the stability and convergence speed of the drone's path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Not effective dynamic obstacles </a:t>
            </a:r>
          </a:p>
          <a:p>
            <a:pPr algn="ctr">
              <a:lnSpc>
                <a:spcPts val="187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169291" y="8336804"/>
            <a:ext cx="4136159" cy="92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Moving many possible paths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Target high-value zone first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Lack of Real-time Adaptivity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Static Battery Constraint</a:t>
            </a:r>
          </a:p>
        </p:txBody>
      </p:sp>
      <p:sp>
        <p:nvSpPr>
          <p:cNvPr name="Freeform 13" id="13"/>
          <p:cNvSpPr/>
          <p:nvPr/>
        </p:nvSpPr>
        <p:spPr>
          <a:xfrm>
            <a:off x="-945430" y="5374122"/>
            <a:ext cx="19863717" cy="4130319"/>
          </a:xfrm>
          <a:custGeom>
            <a:avLst/>
            <a:gdLst/>
            <a:ahLst/>
            <a:cxnLst/>
            <a:rect r="r" b="b" t="t" l="l"/>
            <a:pathLst>
              <a:path h="4130319" w="19863717">
                <a:moveTo>
                  <a:pt x="945430" y="1319656"/>
                </a:moveTo>
                <a:lnTo>
                  <a:pt x="472715" y="1319656"/>
                </a:lnTo>
                <a:cubicBezTo>
                  <a:pt x="347343" y="1319656"/>
                  <a:pt x="227107" y="1269852"/>
                  <a:pt x="138455" y="1181201"/>
                </a:cubicBezTo>
                <a:cubicBezTo>
                  <a:pt x="49804" y="1092550"/>
                  <a:pt x="0" y="972313"/>
                  <a:pt x="0" y="846941"/>
                </a:cubicBezTo>
                <a:lnTo>
                  <a:pt x="0" y="659828"/>
                </a:lnTo>
                <a:cubicBezTo>
                  <a:pt x="0" y="295415"/>
                  <a:pt x="295415" y="0"/>
                  <a:pt x="659828" y="0"/>
                </a:cubicBezTo>
                <a:lnTo>
                  <a:pt x="929370" y="0"/>
                </a:lnTo>
                <a:cubicBezTo>
                  <a:pt x="1131465" y="0"/>
                  <a:pt x="1325283" y="80282"/>
                  <a:pt x="1468186" y="223185"/>
                </a:cubicBezTo>
                <a:cubicBezTo>
                  <a:pt x="1611088" y="366087"/>
                  <a:pt x="1691370" y="559905"/>
                  <a:pt x="1691370" y="762000"/>
                </a:cubicBezTo>
                <a:lnTo>
                  <a:pt x="1691370" y="3368319"/>
                </a:lnTo>
                <a:cubicBezTo>
                  <a:pt x="1691370" y="3789160"/>
                  <a:pt x="2032529" y="4130319"/>
                  <a:pt x="2453370" y="4130319"/>
                </a:cubicBezTo>
                <a:lnTo>
                  <a:pt x="6216012" y="4130319"/>
                </a:lnTo>
                <a:cubicBezTo>
                  <a:pt x="6418107" y="4130319"/>
                  <a:pt x="6611924" y="4050037"/>
                  <a:pt x="6754827" y="3907134"/>
                </a:cubicBezTo>
                <a:cubicBezTo>
                  <a:pt x="6897730" y="3764231"/>
                  <a:pt x="6978012" y="3570413"/>
                  <a:pt x="6978012" y="3368319"/>
                </a:cubicBezTo>
                <a:lnTo>
                  <a:pt x="6978012" y="762000"/>
                </a:lnTo>
                <a:cubicBezTo>
                  <a:pt x="6978012" y="341159"/>
                  <a:pt x="7319171" y="0"/>
                  <a:pt x="7740012" y="0"/>
                </a:cubicBezTo>
                <a:lnTo>
                  <a:pt x="11804320" y="0"/>
                </a:lnTo>
                <a:cubicBezTo>
                  <a:pt x="12006415" y="0"/>
                  <a:pt x="12200232" y="80282"/>
                  <a:pt x="12343135" y="223185"/>
                </a:cubicBezTo>
                <a:cubicBezTo>
                  <a:pt x="12486038" y="366087"/>
                  <a:pt x="12566320" y="559905"/>
                  <a:pt x="12566320" y="762000"/>
                </a:cubicBezTo>
                <a:lnTo>
                  <a:pt x="12566320" y="3368319"/>
                </a:lnTo>
                <a:cubicBezTo>
                  <a:pt x="12566320" y="3789160"/>
                  <a:pt x="12907479" y="4130319"/>
                  <a:pt x="13328320" y="4130319"/>
                </a:cubicBezTo>
                <a:lnTo>
                  <a:pt x="17276540" y="4130319"/>
                </a:lnTo>
                <a:cubicBezTo>
                  <a:pt x="17478635" y="4130319"/>
                  <a:pt x="17672452" y="4050037"/>
                  <a:pt x="17815355" y="3907134"/>
                </a:cubicBezTo>
                <a:cubicBezTo>
                  <a:pt x="17958258" y="3764231"/>
                  <a:pt x="18038540" y="3570413"/>
                  <a:pt x="18038540" y="3368319"/>
                </a:cubicBezTo>
                <a:lnTo>
                  <a:pt x="18038540" y="762000"/>
                </a:lnTo>
                <a:cubicBezTo>
                  <a:pt x="18038540" y="341159"/>
                  <a:pt x="18379699" y="0"/>
                  <a:pt x="18800540" y="0"/>
                </a:cubicBezTo>
                <a:lnTo>
                  <a:pt x="19101717" y="0"/>
                </a:lnTo>
                <a:cubicBezTo>
                  <a:pt x="19303812" y="0"/>
                  <a:pt x="19497629" y="80282"/>
                  <a:pt x="19640532" y="223185"/>
                </a:cubicBezTo>
                <a:cubicBezTo>
                  <a:pt x="19783435" y="366087"/>
                  <a:pt x="19863717" y="559905"/>
                  <a:pt x="19863717" y="762000"/>
                </a:cubicBezTo>
                <a:lnTo>
                  <a:pt x="19863717" y="2656671"/>
                </a:lnTo>
                <a:cubicBezTo>
                  <a:pt x="19863717" y="2740252"/>
                  <a:pt x="19830514" y="2820410"/>
                  <a:pt x="19771414" y="2879511"/>
                </a:cubicBezTo>
                <a:cubicBezTo>
                  <a:pt x="19712312" y="2938612"/>
                  <a:pt x="19632154" y="2971814"/>
                  <a:pt x="19548574" y="2971814"/>
                </a:cubicBezTo>
                <a:lnTo>
                  <a:pt x="19233430" y="2971814"/>
                </a:lnTo>
              </a:path>
            </a:pathLst>
          </a:custGeom>
          <a:ln cap="flat" w="19050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2923543" y="5020250"/>
            <a:ext cx="576462" cy="576462"/>
          </a:xfrm>
          <a:custGeom>
            <a:avLst/>
            <a:gdLst/>
            <a:ahLst/>
            <a:cxnLst/>
            <a:rect r="r" b="b" t="t" l="l"/>
            <a:pathLst>
              <a:path h="576462" w="576462">
                <a:moveTo>
                  <a:pt x="0" y="0"/>
                </a:moveTo>
                <a:lnTo>
                  <a:pt x="576462" y="0"/>
                </a:lnTo>
                <a:lnTo>
                  <a:pt x="576462" y="576463"/>
                </a:lnTo>
                <a:lnTo>
                  <a:pt x="0" y="576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84419" y="5244099"/>
            <a:ext cx="439746" cy="405666"/>
          </a:xfrm>
          <a:custGeom>
            <a:avLst/>
            <a:gdLst/>
            <a:ahLst/>
            <a:cxnLst/>
            <a:rect r="r" b="b" t="t" l="l"/>
            <a:pathLst>
              <a:path h="405666" w="439746">
                <a:moveTo>
                  <a:pt x="0" y="0"/>
                </a:moveTo>
                <a:lnTo>
                  <a:pt x="439746" y="0"/>
                </a:lnTo>
                <a:lnTo>
                  <a:pt x="439746" y="405666"/>
                </a:lnTo>
                <a:lnTo>
                  <a:pt x="0" y="4056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18661" y="5699984"/>
            <a:ext cx="437537" cy="451069"/>
          </a:xfrm>
          <a:custGeom>
            <a:avLst/>
            <a:gdLst/>
            <a:ahLst/>
            <a:cxnLst/>
            <a:rect r="r" b="b" t="t" l="l"/>
            <a:pathLst>
              <a:path h="451069" w="437537">
                <a:moveTo>
                  <a:pt x="0" y="0"/>
                </a:moveTo>
                <a:lnTo>
                  <a:pt x="437537" y="0"/>
                </a:lnTo>
                <a:lnTo>
                  <a:pt x="437537" y="451069"/>
                </a:lnTo>
                <a:lnTo>
                  <a:pt x="0" y="4510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53000" y="3075086"/>
            <a:ext cx="8382000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BACKGROUND STUDY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358712" y="11605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0" y="2183755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0" y="90363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246328" y="901697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39620" y="7965260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1" y="0"/>
                </a:lnTo>
                <a:lnTo>
                  <a:pt x="2676251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086" y="8244794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1" y="0"/>
                </a:lnTo>
                <a:lnTo>
                  <a:pt x="2676251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781903" y="5960208"/>
            <a:ext cx="2591686" cy="2282713"/>
            <a:chOff x="0" y="0"/>
            <a:chExt cx="691144" cy="6087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19369" y="6239742"/>
            <a:ext cx="2591686" cy="2282713"/>
            <a:chOff x="0" y="0"/>
            <a:chExt cx="691144" cy="6087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781903" y="3791605"/>
            <a:ext cx="3050101" cy="2424812"/>
          </a:xfrm>
          <a:custGeom>
            <a:avLst/>
            <a:gdLst/>
            <a:ahLst/>
            <a:cxnLst/>
            <a:rect r="r" b="b" t="t" l="l"/>
            <a:pathLst>
              <a:path h="2424812" w="3050101">
                <a:moveTo>
                  <a:pt x="0" y="0"/>
                </a:moveTo>
                <a:lnTo>
                  <a:pt x="3050101" y="0"/>
                </a:lnTo>
                <a:lnTo>
                  <a:pt x="3050101" y="2424812"/>
                </a:lnTo>
                <a:lnTo>
                  <a:pt x="0" y="2424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19369" y="4071139"/>
            <a:ext cx="3040954" cy="2417540"/>
          </a:xfrm>
          <a:custGeom>
            <a:avLst/>
            <a:gdLst/>
            <a:ahLst/>
            <a:cxnLst/>
            <a:rect r="r" b="b" t="t" l="l"/>
            <a:pathLst>
              <a:path h="2417540" w="3040954">
                <a:moveTo>
                  <a:pt x="0" y="0"/>
                </a:moveTo>
                <a:lnTo>
                  <a:pt x="3040954" y="0"/>
                </a:lnTo>
                <a:lnTo>
                  <a:pt x="3040954" y="2417540"/>
                </a:lnTo>
                <a:lnTo>
                  <a:pt x="0" y="2417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49206" y="8107151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1" y="0"/>
                </a:lnTo>
                <a:lnTo>
                  <a:pt x="2676251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991489" y="6102099"/>
            <a:ext cx="2591686" cy="2282713"/>
            <a:chOff x="0" y="0"/>
            <a:chExt cx="691144" cy="6087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91489" y="3933496"/>
            <a:ext cx="3040954" cy="2417540"/>
          </a:xfrm>
          <a:custGeom>
            <a:avLst/>
            <a:gdLst/>
            <a:ahLst/>
            <a:cxnLst/>
            <a:rect r="r" b="b" t="t" l="l"/>
            <a:pathLst>
              <a:path h="2417540" w="3040954">
                <a:moveTo>
                  <a:pt x="0" y="0"/>
                </a:moveTo>
                <a:lnTo>
                  <a:pt x="3040954" y="0"/>
                </a:lnTo>
                <a:lnTo>
                  <a:pt x="3040954" y="2417540"/>
                </a:lnTo>
                <a:lnTo>
                  <a:pt x="0" y="2417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62903" y="4227655"/>
            <a:ext cx="633885" cy="501561"/>
          </a:xfrm>
          <a:custGeom>
            <a:avLst/>
            <a:gdLst/>
            <a:ahLst/>
            <a:cxnLst/>
            <a:rect r="r" b="b" t="t" l="l"/>
            <a:pathLst>
              <a:path h="501561" w="633885">
                <a:moveTo>
                  <a:pt x="0" y="0"/>
                </a:moveTo>
                <a:lnTo>
                  <a:pt x="633884" y="0"/>
                </a:lnTo>
                <a:lnTo>
                  <a:pt x="633884" y="501562"/>
                </a:lnTo>
                <a:lnTo>
                  <a:pt x="0" y="501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00369" y="4452139"/>
            <a:ext cx="556612" cy="556612"/>
          </a:xfrm>
          <a:custGeom>
            <a:avLst/>
            <a:gdLst/>
            <a:ahLst/>
            <a:cxnLst/>
            <a:rect r="r" b="b" t="t" l="l"/>
            <a:pathLst>
              <a:path h="556612" w="556612">
                <a:moveTo>
                  <a:pt x="0" y="0"/>
                </a:moveTo>
                <a:lnTo>
                  <a:pt x="556611" y="0"/>
                </a:lnTo>
                <a:lnTo>
                  <a:pt x="556611" y="556612"/>
                </a:lnTo>
                <a:lnTo>
                  <a:pt x="0" y="5566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423360" y="4578267"/>
            <a:ext cx="155315" cy="154150"/>
          </a:xfrm>
          <a:custGeom>
            <a:avLst/>
            <a:gdLst/>
            <a:ahLst/>
            <a:cxnLst/>
            <a:rect r="r" b="b" t="t" l="l"/>
            <a:pathLst>
              <a:path h="154150" w="155315">
                <a:moveTo>
                  <a:pt x="0" y="0"/>
                </a:moveTo>
                <a:lnTo>
                  <a:pt x="155315" y="0"/>
                </a:lnTo>
                <a:lnTo>
                  <a:pt x="155315" y="154150"/>
                </a:lnTo>
                <a:lnTo>
                  <a:pt x="0" y="154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25608" y="4200130"/>
            <a:ext cx="556612" cy="556612"/>
          </a:xfrm>
          <a:custGeom>
            <a:avLst/>
            <a:gdLst/>
            <a:ahLst/>
            <a:cxnLst/>
            <a:rect r="r" b="b" t="t" l="l"/>
            <a:pathLst>
              <a:path h="556612" w="556612">
                <a:moveTo>
                  <a:pt x="0" y="0"/>
                </a:moveTo>
                <a:lnTo>
                  <a:pt x="556612" y="0"/>
                </a:lnTo>
                <a:lnTo>
                  <a:pt x="556612" y="556612"/>
                </a:lnTo>
                <a:lnTo>
                  <a:pt x="0" y="556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983284" y="6735177"/>
            <a:ext cx="2463855" cy="1320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67"/>
              </a:lnSpc>
            </a:pPr>
            <a:r>
              <a:rPr lang="en-US" sz="16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Traditional surveillance drones struggle with limited battery life and lack energy-optimized routing for large border areas. (1)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2700000">
            <a:off x="16658709" y="78957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13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4960323" y="4227655"/>
            <a:ext cx="3122476" cy="2377749"/>
          </a:xfrm>
          <a:custGeom>
            <a:avLst/>
            <a:gdLst/>
            <a:ahLst/>
            <a:cxnLst/>
            <a:rect r="r" b="b" t="t" l="l"/>
            <a:pathLst>
              <a:path h="2377749" w="3122476">
                <a:moveTo>
                  <a:pt x="0" y="0"/>
                </a:moveTo>
                <a:lnTo>
                  <a:pt x="3122476" y="0"/>
                </a:lnTo>
                <a:lnTo>
                  <a:pt x="3122476" y="2377749"/>
                </a:lnTo>
                <a:lnTo>
                  <a:pt x="0" y="237774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39866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286250" y="2554498"/>
            <a:ext cx="9334500" cy="70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4"/>
              </a:lnSpc>
            </a:pPr>
            <a:r>
              <a:rPr lang="en-US" b="true" sz="51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PROBLEM STATEMENTS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47739" y="5074710"/>
            <a:ext cx="3074819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Predictability in Patrol Routes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17749" y="5318009"/>
            <a:ext cx="2844195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Unrealistic  Energy Consumption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97173" y="5351983"/>
            <a:ext cx="2875119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Lack of Real-Time Adaptivity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74883" y="6478538"/>
            <a:ext cx="2416101" cy="160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71"/>
              </a:lnSpc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Fixed or predictable patrolling patterns allow intruders to bypass security, compromising the effectiveness of the surveillance.(3)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57325" y="6606427"/>
            <a:ext cx="2318133" cy="148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Existing models rely on static, offline schedules and fail to adapt dynamically to sudden environmental changes or battery drainage.(2)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60323" y="6695976"/>
            <a:ext cx="15641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27904" y="6818354"/>
            <a:ext cx="483989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win</a:t>
            </a: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731326" y="6808829"/>
            <a:ext cx="2248011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= 0.5*ρ*v</a:t>
            </a: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*A</a:t>
            </a:r>
          </a:p>
          <a:p>
            <a:pPr algn="ctr">
              <a:lnSpc>
                <a:spcPts val="2379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7062742" y="6837581"/>
            <a:ext cx="310009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*C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12650" y="6884888"/>
            <a:ext cx="143917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971485" y="7091313"/>
            <a:ext cx="15641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116742" y="7195831"/>
            <a:ext cx="57001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climb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435519" y="7186306"/>
            <a:ext cx="2248011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= m*g*∆h </a:t>
            </a:r>
          </a:p>
          <a:p>
            <a:pPr algn="ctr">
              <a:lnSpc>
                <a:spcPts val="2379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4971485" y="7449453"/>
            <a:ext cx="15641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116742" y="7573278"/>
            <a:ext cx="84073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avionics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487485" y="7578774"/>
            <a:ext cx="2735692" cy="88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= Power* times </a:t>
            </a:r>
          </a:p>
          <a:p>
            <a:pPr algn="ctr">
              <a:lnSpc>
                <a:spcPts val="2351"/>
              </a:lnSpc>
            </a:pPr>
            <a:r>
              <a:rPr lang="en-US" sz="16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2351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4971485" y="8043813"/>
            <a:ext cx="15641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116370" y="8150976"/>
            <a:ext cx="114076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mechanical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04646" y="8149103"/>
            <a:ext cx="13781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</a:p>
        </p:txBody>
      </p:sp>
      <p:sp>
        <p:nvSpPr>
          <p:cNvPr name="AutoShape 48" id="48"/>
          <p:cNvSpPr/>
          <p:nvPr/>
        </p:nvSpPr>
        <p:spPr>
          <a:xfrm flipV="true">
            <a:off x="6566177" y="8312901"/>
            <a:ext cx="1995154" cy="928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6566177" y="7864743"/>
            <a:ext cx="15641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733757" y="7987122"/>
            <a:ext cx="483989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win</a:t>
            </a: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378358" y="7869707"/>
            <a:ext cx="15641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522546" y="7982250"/>
            <a:ext cx="57001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climb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263091" y="7982250"/>
            <a:ext cx="927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813650" y="8191800"/>
            <a:ext cx="15939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η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992346" y="8351001"/>
            <a:ext cx="10604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propulsion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009288" y="8830578"/>
            <a:ext cx="1205210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Joules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282206" y="8837563"/>
            <a:ext cx="13781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442461" y="8722476"/>
            <a:ext cx="15641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587345" y="8829639"/>
            <a:ext cx="114076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mechanical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933868" y="8722476"/>
            <a:ext cx="15641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079124" y="8846301"/>
            <a:ext cx="84073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avionics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765543" y="8853286"/>
            <a:ext cx="13022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012077" y="8440053"/>
            <a:ext cx="907777" cy="27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(friction and heat lost energy 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683530" y="7657190"/>
            <a:ext cx="907777" cy="27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(systems running Energy)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044039" y="9409063"/>
            <a:ext cx="1135707" cy="55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Battery %= 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AutoShape 66" id="66"/>
          <p:cNvSpPr/>
          <p:nvPr/>
        </p:nvSpPr>
        <p:spPr>
          <a:xfrm>
            <a:off x="6304164" y="9604491"/>
            <a:ext cx="230480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7" id="67"/>
          <p:cNvSpPr txBox="true"/>
          <p:nvPr/>
        </p:nvSpPr>
        <p:spPr>
          <a:xfrm rot="0">
            <a:off x="6274474" y="9291270"/>
            <a:ext cx="752773" cy="27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Joules *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058351" y="9139671"/>
            <a:ext cx="15939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η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263091" y="9337791"/>
            <a:ext cx="1559123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internal Efficiency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351113" y="9594966"/>
            <a:ext cx="2234059" cy="27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Usable Capacity Joules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41055" y="5281724"/>
            <a:ext cx="4427445" cy="4333362"/>
          </a:xfrm>
          <a:custGeom>
            <a:avLst/>
            <a:gdLst/>
            <a:ahLst/>
            <a:cxnLst/>
            <a:rect r="r" b="b" t="t" l="l"/>
            <a:pathLst>
              <a:path h="4333362" w="4427445">
                <a:moveTo>
                  <a:pt x="0" y="0"/>
                </a:moveTo>
                <a:lnTo>
                  <a:pt x="4427445" y="0"/>
                </a:lnTo>
                <a:lnTo>
                  <a:pt x="4427445" y="4333361"/>
                </a:lnTo>
                <a:lnTo>
                  <a:pt x="0" y="4333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61646" y="5859377"/>
            <a:ext cx="3323072" cy="541382"/>
            <a:chOff x="0" y="0"/>
            <a:chExt cx="875212" cy="1425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5212" cy="142586"/>
            </a:xfrm>
            <a:custGeom>
              <a:avLst/>
              <a:gdLst/>
              <a:ahLst/>
              <a:cxnLst/>
              <a:rect r="r" b="b" t="t" l="l"/>
              <a:pathLst>
                <a:path h="142586" w="875212">
                  <a:moveTo>
                    <a:pt x="23297" y="0"/>
                  </a:moveTo>
                  <a:lnTo>
                    <a:pt x="851915" y="0"/>
                  </a:lnTo>
                  <a:cubicBezTo>
                    <a:pt x="858094" y="0"/>
                    <a:pt x="864019" y="2455"/>
                    <a:pt x="868389" y="6824"/>
                  </a:cubicBezTo>
                  <a:cubicBezTo>
                    <a:pt x="872758" y="11193"/>
                    <a:pt x="875212" y="17119"/>
                    <a:pt x="875212" y="23297"/>
                  </a:cubicBezTo>
                  <a:lnTo>
                    <a:pt x="875212" y="119289"/>
                  </a:lnTo>
                  <a:cubicBezTo>
                    <a:pt x="875212" y="132156"/>
                    <a:pt x="864782" y="142586"/>
                    <a:pt x="851915" y="142586"/>
                  </a:cubicBezTo>
                  <a:lnTo>
                    <a:pt x="23297" y="142586"/>
                  </a:lnTo>
                  <a:cubicBezTo>
                    <a:pt x="17119" y="142586"/>
                    <a:pt x="11193" y="140132"/>
                    <a:pt x="6824" y="135763"/>
                  </a:cubicBezTo>
                  <a:cubicBezTo>
                    <a:pt x="2455" y="131393"/>
                    <a:pt x="0" y="125468"/>
                    <a:pt x="0" y="119289"/>
                  </a:cubicBezTo>
                  <a:lnTo>
                    <a:pt x="0" y="23297"/>
                  </a:lnTo>
                  <a:cubicBezTo>
                    <a:pt x="0" y="17119"/>
                    <a:pt x="2455" y="11193"/>
                    <a:pt x="6824" y="6824"/>
                  </a:cubicBezTo>
                  <a:cubicBezTo>
                    <a:pt x="11193" y="2455"/>
                    <a:pt x="17119" y="0"/>
                    <a:pt x="23297" y="0"/>
                  </a:cubicBezTo>
                  <a:close/>
                </a:path>
              </a:pathLst>
            </a:custGeom>
            <a:solidFill>
              <a:srgbClr val="FC85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875212" cy="114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961646" y="8887761"/>
            <a:ext cx="3323072" cy="552183"/>
            <a:chOff x="0" y="0"/>
            <a:chExt cx="875212" cy="1454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5212" cy="145431"/>
            </a:xfrm>
            <a:custGeom>
              <a:avLst/>
              <a:gdLst/>
              <a:ahLst/>
              <a:cxnLst/>
              <a:rect r="r" b="b" t="t" l="l"/>
              <a:pathLst>
                <a:path h="145431" w="875212">
                  <a:moveTo>
                    <a:pt x="23297" y="0"/>
                  </a:moveTo>
                  <a:lnTo>
                    <a:pt x="851915" y="0"/>
                  </a:lnTo>
                  <a:cubicBezTo>
                    <a:pt x="858094" y="0"/>
                    <a:pt x="864019" y="2455"/>
                    <a:pt x="868389" y="6824"/>
                  </a:cubicBezTo>
                  <a:cubicBezTo>
                    <a:pt x="872758" y="11193"/>
                    <a:pt x="875212" y="17119"/>
                    <a:pt x="875212" y="23297"/>
                  </a:cubicBezTo>
                  <a:lnTo>
                    <a:pt x="875212" y="122133"/>
                  </a:lnTo>
                  <a:cubicBezTo>
                    <a:pt x="875212" y="135000"/>
                    <a:pt x="864782" y="145431"/>
                    <a:pt x="851915" y="145431"/>
                  </a:cubicBezTo>
                  <a:lnTo>
                    <a:pt x="23297" y="145431"/>
                  </a:lnTo>
                  <a:cubicBezTo>
                    <a:pt x="17119" y="145431"/>
                    <a:pt x="11193" y="142976"/>
                    <a:pt x="6824" y="138607"/>
                  </a:cubicBezTo>
                  <a:cubicBezTo>
                    <a:pt x="2455" y="134238"/>
                    <a:pt x="0" y="128312"/>
                    <a:pt x="0" y="122133"/>
                  </a:cubicBezTo>
                  <a:lnTo>
                    <a:pt x="0" y="23297"/>
                  </a:lnTo>
                  <a:cubicBezTo>
                    <a:pt x="0" y="17119"/>
                    <a:pt x="2455" y="11193"/>
                    <a:pt x="6824" y="6824"/>
                  </a:cubicBezTo>
                  <a:cubicBezTo>
                    <a:pt x="11193" y="2455"/>
                    <a:pt x="17119" y="0"/>
                    <a:pt x="23297" y="0"/>
                  </a:cubicBezTo>
                  <a:close/>
                </a:path>
              </a:pathLst>
            </a:custGeom>
            <a:solidFill>
              <a:srgbClr val="021E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75212" cy="116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61646" y="6879847"/>
            <a:ext cx="3323072" cy="568557"/>
            <a:chOff x="0" y="0"/>
            <a:chExt cx="875212" cy="1497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5212" cy="149743"/>
            </a:xfrm>
            <a:custGeom>
              <a:avLst/>
              <a:gdLst/>
              <a:ahLst/>
              <a:cxnLst/>
              <a:rect r="r" b="b" t="t" l="l"/>
              <a:pathLst>
                <a:path h="149743" w="875212">
                  <a:moveTo>
                    <a:pt x="23297" y="0"/>
                  </a:moveTo>
                  <a:lnTo>
                    <a:pt x="851915" y="0"/>
                  </a:lnTo>
                  <a:cubicBezTo>
                    <a:pt x="858094" y="0"/>
                    <a:pt x="864019" y="2455"/>
                    <a:pt x="868389" y="6824"/>
                  </a:cubicBezTo>
                  <a:cubicBezTo>
                    <a:pt x="872758" y="11193"/>
                    <a:pt x="875212" y="17119"/>
                    <a:pt x="875212" y="23297"/>
                  </a:cubicBezTo>
                  <a:lnTo>
                    <a:pt x="875212" y="126446"/>
                  </a:lnTo>
                  <a:cubicBezTo>
                    <a:pt x="875212" y="132625"/>
                    <a:pt x="872758" y="138551"/>
                    <a:pt x="868389" y="142920"/>
                  </a:cubicBezTo>
                  <a:cubicBezTo>
                    <a:pt x="864019" y="147289"/>
                    <a:pt x="858094" y="149743"/>
                    <a:pt x="851915" y="149743"/>
                  </a:cubicBezTo>
                  <a:lnTo>
                    <a:pt x="23297" y="149743"/>
                  </a:lnTo>
                  <a:cubicBezTo>
                    <a:pt x="10431" y="149743"/>
                    <a:pt x="0" y="139313"/>
                    <a:pt x="0" y="126446"/>
                  </a:cubicBezTo>
                  <a:lnTo>
                    <a:pt x="0" y="23297"/>
                  </a:lnTo>
                  <a:cubicBezTo>
                    <a:pt x="0" y="17119"/>
                    <a:pt x="2455" y="11193"/>
                    <a:pt x="6824" y="6824"/>
                  </a:cubicBezTo>
                  <a:cubicBezTo>
                    <a:pt x="11193" y="2455"/>
                    <a:pt x="17119" y="0"/>
                    <a:pt x="23297" y="0"/>
                  </a:cubicBezTo>
                  <a:close/>
                </a:path>
              </a:pathLst>
            </a:custGeom>
            <a:solidFill>
              <a:srgbClr val="8ECA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875212" cy="121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61646" y="7927493"/>
            <a:ext cx="3323072" cy="587486"/>
            <a:chOff x="0" y="0"/>
            <a:chExt cx="875212" cy="154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5212" cy="154729"/>
            </a:xfrm>
            <a:custGeom>
              <a:avLst/>
              <a:gdLst/>
              <a:ahLst/>
              <a:cxnLst/>
              <a:rect r="r" b="b" t="t" l="l"/>
              <a:pathLst>
                <a:path h="154729" w="875212">
                  <a:moveTo>
                    <a:pt x="23297" y="0"/>
                  </a:moveTo>
                  <a:lnTo>
                    <a:pt x="851915" y="0"/>
                  </a:lnTo>
                  <a:cubicBezTo>
                    <a:pt x="858094" y="0"/>
                    <a:pt x="864019" y="2455"/>
                    <a:pt x="868389" y="6824"/>
                  </a:cubicBezTo>
                  <a:cubicBezTo>
                    <a:pt x="872758" y="11193"/>
                    <a:pt x="875212" y="17119"/>
                    <a:pt x="875212" y="23297"/>
                  </a:cubicBezTo>
                  <a:lnTo>
                    <a:pt x="875212" y="131431"/>
                  </a:lnTo>
                  <a:cubicBezTo>
                    <a:pt x="875212" y="144298"/>
                    <a:pt x="864782" y="154729"/>
                    <a:pt x="851915" y="154729"/>
                  </a:cubicBezTo>
                  <a:lnTo>
                    <a:pt x="23297" y="154729"/>
                  </a:lnTo>
                  <a:cubicBezTo>
                    <a:pt x="17119" y="154729"/>
                    <a:pt x="11193" y="152274"/>
                    <a:pt x="6824" y="147905"/>
                  </a:cubicBezTo>
                  <a:cubicBezTo>
                    <a:pt x="2455" y="143536"/>
                    <a:pt x="0" y="137610"/>
                    <a:pt x="0" y="131431"/>
                  </a:cubicBezTo>
                  <a:lnTo>
                    <a:pt x="0" y="23297"/>
                  </a:lnTo>
                  <a:cubicBezTo>
                    <a:pt x="0" y="17119"/>
                    <a:pt x="2455" y="11193"/>
                    <a:pt x="6824" y="6824"/>
                  </a:cubicBezTo>
                  <a:cubicBezTo>
                    <a:pt x="11193" y="2455"/>
                    <a:pt x="17119" y="0"/>
                    <a:pt x="23297" y="0"/>
                  </a:cubicBezTo>
                  <a:close/>
                </a:path>
              </a:pathLst>
            </a:custGeom>
            <a:solidFill>
              <a:srgbClr val="229E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875212" cy="126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623537" y="5492547"/>
            <a:ext cx="622602" cy="570459"/>
          </a:xfrm>
          <a:custGeom>
            <a:avLst/>
            <a:gdLst/>
            <a:ahLst/>
            <a:cxnLst/>
            <a:rect r="r" b="b" t="t" l="l"/>
            <a:pathLst>
              <a:path h="570459" w="622602">
                <a:moveTo>
                  <a:pt x="0" y="0"/>
                </a:moveTo>
                <a:lnTo>
                  <a:pt x="622602" y="0"/>
                </a:lnTo>
                <a:lnTo>
                  <a:pt x="622602" y="570459"/>
                </a:lnTo>
                <a:lnTo>
                  <a:pt x="0" y="5704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348240" y="6063006"/>
            <a:ext cx="470563" cy="503950"/>
          </a:xfrm>
          <a:custGeom>
            <a:avLst/>
            <a:gdLst/>
            <a:ahLst/>
            <a:cxnLst/>
            <a:rect r="r" b="b" t="t" l="l"/>
            <a:pathLst>
              <a:path h="503950" w="470563">
                <a:moveTo>
                  <a:pt x="0" y="0"/>
                </a:moveTo>
                <a:lnTo>
                  <a:pt x="470563" y="0"/>
                </a:lnTo>
                <a:lnTo>
                  <a:pt x="470563" y="503950"/>
                </a:lnTo>
                <a:lnTo>
                  <a:pt x="0" y="503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46768" y="7972493"/>
            <a:ext cx="544070" cy="476061"/>
          </a:xfrm>
          <a:custGeom>
            <a:avLst/>
            <a:gdLst/>
            <a:ahLst/>
            <a:cxnLst/>
            <a:rect r="r" b="b" t="t" l="l"/>
            <a:pathLst>
              <a:path h="476061" w="544070">
                <a:moveTo>
                  <a:pt x="0" y="0"/>
                </a:moveTo>
                <a:lnTo>
                  <a:pt x="544070" y="0"/>
                </a:lnTo>
                <a:lnTo>
                  <a:pt x="544070" y="476061"/>
                </a:lnTo>
                <a:lnTo>
                  <a:pt x="0" y="4760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415300" y="8630557"/>
            <a:ext cx="514313" cy="514313"/>
          </a:xfrm>
          <a:custGeom>
            <a:avLst/>
            <a:gdLst/>
            <a:ahLst/>
            <a:cxnLst/>
            <a:rect r="r" b="b" t="t" l="l"/>
            <a:pathLst>
              <a:path h="514313" w="514313">
                <a:moveTo>
                  <a:pt x="0" y="0"/>
                </a:moveTo>
                <a:lnTo>
                  <a:pt x="514313" y="0"/>
                </a:lnTo>
                <a:lnTo>
                  <a:pt x="514313" y="514313"/>
                </a:lnTo>
                <a:lnTo>
                  <a:pt x="0" y="5143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510985" y="6851026"/>
            <a:ext cx="524725" cy="524725"/>
          </a:xfrm>
          <a:custGeom>
            <a:avLst/>
            <a:gdLst/>
            <a:ahLst/>
            <a:cxnLst/>
            <a:rect r="r" b="b" t="t" l="l"/>
            <a:pathLst>
              <a:path h="524725" w="524725">
                <a:moveTo>
                  <a:pt x="0" y="0"/>
                </a:moveTo>
                <a:lnTo>
                  <a:pt x="524725" y="0"/>
                </a:lnTo>
                <a:lnTo>
                  <a:pt x="524725" y="524725"/>
                </a:lnTo>
                <a:lnTo>
                  <a:pt x="0" y="524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2700000">
            <a:off x="16299339" y="-92789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>
            <a:off x="0" y="1970683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3088107" y="3127191"/>
            <a:ext cx="10662387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AIM OF THE RESEARCH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94977" y="6009736"/>
            <a:ext cx="3289741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Continuous Surveillance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86324" y="6892904"/>
            <a:ext cx="3198393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Realistic Energy Optimization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63535" y="9042504"/>
            <a:ext cx="3952623" cy="28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b="true" sz="210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Adaptive Learning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58181" y="7972316"/>
            <a:ext cx="3198393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</a:t>
            </a:r>
            <a:r>
              <a:rPr lang="en-US" b="true" sz="20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ame-Theoretic Security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3086" y="4086201"/>
            <a:ext cx="15580270" cy="78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The primary aim of this research is to design and simulate an autonomous drone-based border surveillance system that ensures efficient area coverage, Continuous Surveillance, Realistic Energy Optimization, Game-Theoretic Security, Adaptive Learning and mission safety using heuristic optimization techniques.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31167" y="3001439"/>
            <a:ext cx="1524442" cy="2066134"/>
            <a:chOff x="0" y="0"/>
            <a:chExt cx="2032590" cy="2754846"/>
          </a:xfrm>
        </p:grpSpPr>
        <p:sp>
          <p:nvSpPr>
            <p:cNvPr name="Freeform 3" id="3"/>
            <p:cNvSpPr/>
            <p:nvPr/>
          </p:nvSpPr>
          <p:spPr>
            <a:xfrm>
              <a:off x="25760" y="357327"/>
              <a:ext cx="1515394" cy="2209511"/>
            </a:xfrm>
            <a:custGeom>
              <a:avLst/>
              <a:gdLst/>
              <a:ahLst/>
              <a:cxnLst/>
              <a:rect r="r" b="b" t="t" l="l"/>
              <a:pathLst>
                <a:path h="2209511" w="1515394">
                  <a:moveTo>
                    <a:pt x="0" y="0"/>
                  </a:moveTo>
                  <a:quadBezTo>
                    <a:pt x="1720217" y="448314"/>
                    <a:pt x="1487710" y="2209511"/>
                  </a:quadBezTo>
                </a:path>
              </a:pathLst>
            </a:custGeom>
            <a:ln cap="flat" w="51963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4" id="4"/>
            <p:cNvGrpSpPr/>
            <p:nvPr/>
          </p:nvGrpSpPr>
          <p:grpSpPr>
            <a:xfrm rot="-10800000">
              <a:off x="1257781" y="2360466"/>
              <a:ext cx="511378" cy="394380"/>
              <a:chOff x="0" y="0"/>
              <a:chExt cx="922188" cy="711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9366E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817433" y="7306812"/>
            <a:ext cx="1643061" cy="2051229"/>
            <a:chOff x="0" y="0"/>
            <a:chExt cx="2190748" cy="2734972"/>
          </a:xfrm>
        </p:grpSpPr>
        <p:sp>
          <p:nvSpPr>
            <p:cNvPr name="Freeform 8" id="8"/>
            <p:cNvSpPr/>
            <p:nvPr/>
          </p:nvSpPr>
          <p:spPr>
            <a:xfrm>
              <a:off x="496007" y="121068"/>
              <a:ext cx="1668809" cy="2233797"/>
            </a:xfrm>
            <a:custGeom>
              <a:avLst/>
              <a:gdLst/>
              <a:ahLst/>
              <a:cxnLst/>
              <a:rect r="r" b="b" t="t" l="l"/>
              <a:pathLst>
                <a:path h="2233797" w="1668809">
                  <a:moveTo>
                    <a:pt x="1668809" y="2233797"/>
                  </a:moveTo>
                  <a:quadBezTo>
                    <a:pt x="-106605" y="1818524"/>
                    <a:pt x="6810" y="0"/>
                  </a:quadBezTo>
                </a:path>
              </a:pathLst>
            </a:custGeom>
            <a:ln cap="flat" w="51963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9" id="9"/>
            <p:cNvGrpSpPr/>
            <p:nvPr/>
          </p:nvGrpSpPr>
          <p:grpSpPr>
            <a:xfrm rot="0">
              <a:off x="241680" y="0"/>
              <a:ext cx="511378" cy="394380"/>
              <a:chOff x="0" y="0"/>
              <a:chExt cx="922188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9366E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5757583" y="6720576"/>
            <a:ext cx="1649303" cy="566750"/>
            <a:chOff x="0" y="0"/>
            <a:chExt cx="2199071" cy="755667"/>
          </a:xfrm>
        </p:grpSpPr>
        <p:sp>
          <p:nvSpPr>
            <p:cNvPr name="Freeform 13" id="13"/>
            <p:cNvSpPr/>
            <p:nvPr/>
          </p:nvSpPr>
          <p:spPr>
            <a:xfrm>
              <a:off x="15432" y="313984"/>
              <a:ext cx="1869970" cy="415701"/>
            </a:xfrm>
            <a:custGeom>
              <a:avLst/>
              <a:gdLst/>
              <a:ahLst/>
              <a:cxnLst/>
              <a:rect r="r" b="b" t="t" l="l"/>
              <a:pathLst>
                <a:path h="415701" w="1869970">
                  <a:moveTo>
                    <a:pt x="0" y="0"/>
                  </a:moveTo>
                  <a:quadBezTo>
                    <a:pt x="1126096" y="831402"/>
                    <a:pt x="1869970" y="0"/>
                  </a:quadBezTo>
                </a:path>
              </a:pathLst>
            </a:custGeom>
            <a:ln cap="flat" w="51963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14" id="14"/>
            <p:cNvGrpSpPr/>
            <p:nvPr/>
          </p:nvGrpSpPr>
          <p:grpSpPr>
            <a:xfrm rot="3079347">
              <a:off x="1629652" y="125651"/>
              <a:ext cx="511378" cy="394380"/>
              <a:chOff x="0" y="0"/>
              <a:chExt cx="922188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38AEB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0128052" y="5134026"/>
            <a:ext cx="1621408" cy="562773"/>
            <a:chOff x="0" y="0"/>
            <a:chExt cx="2161878" cy="750364"/>
          </a:xfrm>
        </p:grpSpPr>
        <p:sp>
          <p:nvSpPr>
            <p:cNvPr name="Freeform 18" id="18"/>
            <p:cNvSpPr/>
            <p:nvPr/>
          </p:nvSpPr>
          <p:spPr>
            <a:xfrm>
              <a:off x="276476" y="25981"/>
              <a:ext cx="1869970" cy="415701"/>
            </a:xfrm>
            <a:custGeom>
              <a:avLst/>
              <a:gdLst/>
              <a:ahLst/>
              <a:cxnLst/>
              <a:rect r="r" b="b" t="t" l="l"/>
              <a:pathLst>
                <a:path h="415701" w="1869970">
                  <a:moveTo>
                    <a:pt x="1869970" y="415701"/>
                  </a:moveTo>
                  <a:quadBezTo>
                    <a:pt x="743874" y="-415701"/>
                    <a:pt x="0" y="415701"/>
                  </a:quadBezTo>
                </a:path>
              </a:pathLst>
            </a:custGeom>
            <a:ln cap="flat" w="51963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19" id="19"/>
            <p:cNvGrpSpPr/>
            <p:nvPr/>
          </p:nvGrpSpPr>
          <p:grpSpPr>
            <a:xfrm rot="-7720652">
              <a:off x="58042" y="230333"/>
              <a:ext cx="511378" cy="394380"/>
              <a:chOff x="0" y="0"/>
              <a:chExt cx="922188" cy="71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38AEB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7032307" y="7306812"/>
            <a:ext cx="1519510" cy="2030211"/>
            <a:chOff x="0" y="0"/>
            <a:chExt cx="2026014" cy="2706948"/>
          </a:xfrm>
        </p:grpSpPr>
        <p:sp>
          <p:nvSpPr>
            <p:cNvPr name="Freeform 23" id="23"/>
            <p:cNvSpPr/>
            <p:nvPr/>
          </p:nvSpPr>
          <p:spPr>
            <a:xfrm>
              <a:off x="28437" y="121068"/>
              <a:ext cx="1485474" cy="2233797"/>
            </a:xfrm>
            <a:custGeom>
              <a:avLst/>
              <a:gdLst/>
              <a:ahLst/>
              <a:cxnLst/>
              <a:rect r="r" b="b" t="t" l="l"/>
              <a:pathLst>
                <a:path h="2233797" w="1485474">
                  <a:moveTo>
                    <a:pt x="0" y="2233797"/>
                  </a:moveTo>
                  <a:quadBezTo>
                    <a:pt x="1539431" y="2016839"/>
                    <a:pt x="1483514" y="0"/>
                  </a:quadBezTo>
                </a:path>
              </a:pathLst>
            </a:custGeom>
            <a:ln cap="flat" w="51963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1256262" y="0"/>
              <a:ext cx="511378" cy="394380"/>
              <a:chOff x="0" y="0"/>
              <a:chExt cx="922188" cy="7112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DDA70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0084260" y="6612477"/>
            <a:ext cx="1655628" cy="867567"/>
            <a:chOff x="0" y="0"/>
            <a:chExt cx="2207504" cy="1156756"/>
          </a:xfrm>
        </p:grpSpPr>
        <p:sp>
          <p:nvSpPr>
            <p:cNvPr name="Freeform 28" id="28"/>
            <p:cNvSpPr/>
            <p:nvPr/>
          </p:nvSpPr>
          <p:spPr>
            <a:xfrm>
              <a:off x="287626" y="257003"/>
              <a:ext cx="1900024" cy="656137"/>
            </a:xfrm>
            <a:custGeom>
              <a:avLst/>
              <a:gdLst/>
              <a:ahLst/>
              <a:cxnLst/>
              <a:rect r="r" b="b" t="t" l="l"/>
              <a:pathLst>
                <a:path h="656137" w="1900024">
                  <a:moveTo>
                    <a:pt x="1900023" y="446026"/>
                  </a:moveTo>
                  <a:quadBezTo>
                    <a:pt x="557295" y="1027434"/>
                    <a:pt x="0" y="0"/>
                  </a:quadBezTo>
                </a:path>
              </a:pathLst>
            </a:custGeom>
            <a:ln cap="flat" w="51963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29" id="29"/>
            <p:cNvGrpSpPr/>
            <p:nvPr/>
          </p:nvGrpSpPr>
          <p:grpSpPr>
            <a:xfrm rot="-2700000">
              <a:off x="64545" y="123044"/>
              <a:ext cx="511378" cy="394380"/>
              <a:chOff x="0" y="0"/>
              <a:chExt cx="922188" cy="7112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E4667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644587" y="4446410"/>
            <a:ext cx="4243755" cy="1490379"/>
            <a:chOff x="0" y="0"/>
            <a:chExt cx="1365860" cy="4796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82431" y="0"/>
                  </a:moveTo>
                  <a:lnTo>
                    <a:pt x="1183429" y="0"/>
                  </a:lnTo>
                  <a:cubicBezTo>
                    <a:pt x="1284183" y="0"/>
                    <a:pt x="1365860" y="81677"/>
                    <a:pt x="1365860" y="182431"/>
                  </a:cubicBezTo>
                  <a:lnTo>
                    <a:pt x="1365860" y="297250"/>
                  </a:lnTo>
                  <a:cubicBezTo>
                    <a:pt x="1365860" y="398004"/>
                    <a:pt x="1284183" y="479681"/>
                    <a:pt x="1183429" y="479681"/>
                  </a:cubicBezTo>
                  <a:lnTo>
                    <a:pt x="182431" y="479681"/>
                  </a:lnTo>
                  <a:cubicBezTo>
                    <a:pt x="81677" y="479681"/>
                    <a:pt x="0" y="398004"/>
                    <a:pt x="0" y="297250"/>
                  </a:cubicBezTo>
                  <a:lnTo>
                    <a:pt x="0" y="182431"/>
                  </a:lnTo>
                  <a:cubicBezTo>
                    <a:pt x="0" y="81677"/>
                    <a:pt x="81677" y="0"/>
                    <a:pt x="182431" y="0"/>
                  </a:cubicBezTo>
                  <a:close/>
                </a:path>
              </a:pathLst>
            </a:custGeom>
            <a:solidFill>
              <a:srgbClr val="FFBEC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603190" y="4446410"/>
            <a:ext cx="4243755" cy="1490379"/>
            <a:chOff x="0" y="0"/>
            <a:chExt cx="1365860" cy="4796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82431" y="0"/>
                  </a:moveTo>
                  <a:lnTo>
                    <a:pt x="1183429" y="0"/>
                  </a:lnTo>
                  <a:cubicBezTo>
                    <a:pt x="1284183" y="0"/>
                    <a:pt x="1365860" y="81677"/>
                    <a:pt x="1365860" y="182431"/>
                  </a:cubicBezTo>
                  <a:lnTo>
                    <a:pt x="1365860" y="297250"/>
                  </a:lnTo>
                  <a:cubicBezTo>
                    <a:pt x="1365860" y="398004"/>
                    <a:pt x="1284183" y="479681"/>
                    <a:pt x="1183429" y="479681"/>
                  </a:cubicBezTo>
                  <a:lnTo>
                    <a:pt x="182431" y="479681"/>
                  </a:lnTo>
                  <a:cubicBezTo>
                    <a:pt x="81677" y="479681"/>
                    <a:pt x="0" y="398004"/>
                    <a:pt x="0" y="297250"/>
                  </a:cubicBezTo>
                  <a:lnTo>
                    <a:pt x="0" y="182431"/>
                  </a:lnTo>
                  <a:cubicBezTo>
                    <a:pt x="0" y="81677"/>
                    <a:pt x="81677" y="0"/>
                    <a:pt x="182431" y="0"/>
                  </a:cubicBez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05912" y="4757256"/>
            <a:ext cx="868686" cy="868686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964515" y="4757256"/>
            <a:ext cx="868686" cy="868686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44587" y="6368575"/>
            <a:ext cx="4243755" cy="1490379"/>
            <a:chOff x="0" y="0"/>
            <a:chExt cx="1365860" cy="4796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82431" y="0"/>
                  </a:moveTo>
                  <a:lnTo>
                    <a:pt x="1183429" y="0"/>
                  </a:lnTo>
                  <a:cubicBezTo>
                    <a:pt x="1284183" y="0"/>
                    <a:pt x="1365860" y="81677"/>
                    <a:pt x="1365860" y="182431"/>
                  </a:cubicBezTo>
                  <a:lnTo>
                    <a:pt x="1365860" y="297250"/>
                  </a:lnTo>
                  <a:cubicBezTo>
                    <a:pt x="1365860" y="398004"/>
                    <a:pt x="1284183" y="479681"/>
                    <a:pt x="1183429" y="479681"/>
                  </a:cubicBezTo>
                  <a:lnTo>
                    <a:pt x="182431" y="479681"/>
                  </a:lnTo>
                  <a:cubicBezTo>
                    <a:pt x="81677" y="479681"/>
                    <a:pt x="0" y="398004"/>
                    <a:pt x="0" y="297250"/>
                  </a:cubicBezTo>
                  <a:lnTo>
                    <a:pt x="0" y="182431"/>
                  </a:lnTo>
                  <a:cubicBezTo>
                    <a:pt x="0" y="81677"/>
                    <a:pt x="81677" y="0"/>
                    <a:pt x="182431" y="0"/>
                  </a:cubicBez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603190" y="6368575"/>
            <a:ext cx="4243755" cy="1490379"/>
            <a:chOff x="0" y="0"/>
            <a:chExt cx="1365860" cy="4796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82431" y="0"/>
                  </a:moveTo>
                  <a:lnTo>
                    <a:pt x="1183429" y="0"/>
                  </a:lnTo>
                  <a:cubicBezTo>
                    <a:pt x="1284183" y="0"/>
                    <a:pt x="1365860" y="81677"/>
                    <a:pt x="1365860" y="182431"/>
                  </a:cubicBezTo>
                  <a:lnTo>
                    <a:pt x="1365860" y="297250"/>
                  </a:lnTo>
                  <a:cubicBezTo>
                    <a:pt x="1365860" y="398004"/>
                    <a:pt x="1284183" y="479681"/>
                    <a:pt x="1183429" y="479681"/>
                  </a:cubicBezTo>
                  <a:lnTo>
                    <a:pt x="182431" y="479681"/>
                  </a:lnTo>
                  <a:cubicBezTo>
                    <a:pt x="81677" y="479681"/>
                    <a:pt x="0" y="398004"/>
                    <a:pt x="0" y="297250"/>
                  </a:cubicBezTo>
                  <a:lnTo>
                    <a:pt x="0" y="182431"/>
                  </a:lnTo>
                  <a:cubicBezTo>
                    <a:pt x="0" y="81677"/>
                    <a:pt x="81677" y="0"/>
                    <a:pt x="182431" y="0"/>
                  </a:cubicBezTo>
                  <a:close/>
                </a:path>
              </a:pathLst>
            </a:custGeom>
            <a:solidFill>
              <a:srgbClr val="FFBEC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005912" y="6679421"/>
            <a:ext cx="868686" cy="868686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964515" y="6679421"/>
            <a:ext cx="868686" cy="868686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808306" y="2524245"/>
            <a:ext cx="4243755" cy="1490379"/>
            <a:chOff x="0" y="0"/>
            <a:chExt cx="1365860" cy="47968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82431" y="0"/>
                  </a:moveTo>
                  <a:lnTo>
                    <a:pt x="1183429" y="0"/>
                  </a:lnTo>
                  <a:cubicBezTo>
                    <a:pt x="1284183" y="0"/>
                    <a:pt x="1365860" y="81677"/>
                    <a:pt x="1365860" y="182431"/>
                  </a:cubicBezTo>
                  <a:lnTo>
                    <a:pt x="1365860" y="297250"/>
                  </a:lnTo>
                  <a:cubicBezTo>
                    <a:pt x="1365860" y="398004"/>
                    <a:pt x="1284183" y="479681"/>
                    <a:pt x="1183429" y="479681"/>
                  </a:cubicBezTo>
                  <a:lnTo>
                    <a:pt x="182431" y="479681"/>
                  </a:lnTo>
                  <a:cubicBezTo>
                    <a:pt x="81677" y="479681"/>
                    <a:pt x="0" y="398004"/>
                    <a:pt x="0" y="297250"/>
                  </a:cubicBezTo>
                  <a:lnTo>
                    <a:pt x="0" y="182431"/>
                  </a:lnTo>
                  <a:cubicBezTo>
                    <a:pt x="0" y="81677"/>
                    <a:pt x="81677" y="0"/>
                    <a:pt x="182431" y="0"/>
                  </a:cubicBez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822349" y="2986546"/>
            <a:ext cx="1637032" cy="2081028"/>
            <a:chOff x="0" y="0"/>
            <a:chExt cx="2182709" cy="2774704"/>
          </a:xfrm>
        </p:grpSpPr>
        <p:sp>
          <p:nvSpPr>
            <p:cNvPr name="Freeform 60" id="60"/>
            <p:cNvSpPr/>
            <p:nvPr/>
          </p:nvSpPr>
          <p:spPr>
            <a:xfrm>
              <a:off x="496263" y="377185"/>
              <a:ext cx="1657802" cy="2233797"/>
            </a:xfrm>
            <a:custGeom>
              <a:avLst/>
              <a:gdLst/>
              <a:ahLst/>
              <a:cxnLst/>
              <a:rect r="r" b="b" t="t" l="l"/>
              <a:pathLst>
                <a:path h="2233797" w="1657802">
                  <a:moveTo>
                    <a:pt x="1657802" y="0"/>
                  </a:moveTo>
                  <a:quadBezTo>
                    <a:pt x="86153" y="167297"/>
                    <a:pt x="0" y="2233797"/>
                  </a:quadBezTo>
                </a:path>
              </a:pathLst>
            </a:custGeom>
            <a:ln cap="flat" w="51963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61" id="61"/>
            <p:cNvGrpSpPr/>
            <p:nvPr/>
          </p:nvGrpSpPr>
          <p:grpSpPr>
            <a:xfrm rot="-10800000">
              <a:off x="235126" y="2380324"/>
              <a:ext cx="511378" cy="394380"/>
              <a:chOff x="0" y="0"/>
              <a:chExt cx="922188" cy="7112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DDA70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64" id="64"/>
          <p:cNvGrpSpPr/>
          <p:nvPr/>
        </p:nvGrpSpPr>
        <p:grpSpPr>
          <a:xfrm rot="0">
            <a:off x="10439472" y="2524245"/>
            <a:ext cx="4243755" cy="1490379"/>
            <a:chOff x="0" y="0"/>
            <a:chExt cx="1365860" cy="47968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82431" y="0"/>
                  </a:moveTo>
                  <a:lnTo>
                    <a:pt x="1183429" y="0"/>
                  </a:lnTo>
                  <a:cubicBezTo>
                    <a:pt x="1284183" y="0"/>
                    <a:pt x="1365860" y="81677"/>
                    <a:pt x="1365860" y="182431"/>
                  </a:cubicBezTo>
                  <a:lnTo>
                    <a:pt x="1365860" y="297250"/>
                  </a:lnTo>
                  <a:cubicBezTo>
                    <a:pt x="1365860" y="398004"/>
                    <a:pt x="1284183" y="479681"/>
                    <a:pt x="1183429" y="479681"/>
                  </a:cubicBezTo>
                  <a:lnTo>
                    <a:pt x="182431" y="479681"/>
                  </a:lnTo>
                  <a:cubicBezTo>
                    <a:pt x="81677" y="479681"/>
                    <a:pt x="0" y="398004"/>
                    <a:pt x="0" y="297250"/>
                  </a:cubicBezTo>
                  <a:lnTo>
                    <a:pt x="0" y="182431"/>
                  </a:lnTo>
                  <a:cubicBezTo>
                    <a:pt x="0" y="81677"/>
                    <a:pt x="81677" y="0"/>
                    <a:pt x="182431" y="0"/>
                  </a:cubicBezTo>
                  <a:close/>
                </a:path>
              </a:pathLst>
            </a:custGeom>
            <a:solidFill>
              <a:srgbClr val="FFE8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169631" y="2835091"/>
            <a:ext cx="868686" cy="868686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800797" y="2835091"/>
            <a:ext cx="868686" cy="868686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0913512" y="2965467"/>
            <a:ext cx="621359" cy="54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25"/>
              </a:lnSpc>
            </a:pPr>
            <a:r>
              <a:rPr lang="en-US" b="true" sz="3232" spc="13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2808306" y="8290740"/>
            <a:ext cx="4243755" cy="1490379"/>
            <a:chOff x="0" y="0"/>
            <a:chExt cx="1365860" cy="47968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82431" y="0"/>
                  </a:moveTo>
                  <a:lnTo>
                    <a:pt x="1183429" y="0"/>
                  </a:lnTo>
                  <a:cubicBezTo>
                    <a:pt x="1284183" y="0"/>
                    <a:pt x="1365860" y="81677"/>
                    <a:pt x="1365860" y="182431"/>
                  </a:cubicBezTo>
                  <a:lnTo>
                    <a:pt x="1365860" y="297250"/>
                  </a:lnTo>
                  <a:cubicBezTo>
                    <a:pt x="1365860" y="398004"/>
                    <a:pt x="1284183" y="479681"/>
                    <a:pt x="1183429" y="479681"/>
                  </a:cubicBezTo>
                  <a:lnTo>
                    <a:pt x="182431" y="479681"/>
                  </a:lnTo>
                  <a:cubicBezTo>
                    <a:pt x="81677" y="479681"/>
                    <a:pt x="0" y="398004"/>
                    <a:pt x="0" y="297250"/>
                  </a:cubicBezTo>
                  <a:lnTo>
                    <a:pt x="0" y="182431"/>
                  </a:lnTo>
                  <a:cubicBezTo>
                    <a:pt x="0" y="81677"/>
                    <a:pt x="81677" y="0"/>
                    <a:pt x="182431" y="0"/>
                  </a:cubicBezTo>
                  <a:close/>
                </a:path>
              </a:pathLst>
            </a:custGeom>
            <a:solidFill>
              <a:srgbClr val="FFE8A3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439472" y="8290740"/>
            <a:ext cx="4243755" cy="1490379"/>
            <a:chOff x="0" y="0"/>
            <a:chExt cx="1365860" cy="47968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82431" y="0"/>
                  </a:moveTo>
                  <a:lnTo>
                    <a:pt x="1183429" y="0"/>
                  </a:lnTo>
                  <a:cubicBezTo>
                    <a:pt x="1284183" y="0"/>
                    <a:pt x="1365860" y="81677"/>
                    <a:pt x="1365860" y="182431"/>
                  </a:cubicBezTo>
                  <a:lnTo>
                    <a:pt x="1365860" y="297250"/>
                  </a:lnTo>
                  <a:cubicBezTo>
                    <a:pt x="1365860" y="398004"/>
                    <a:pt x="1284183" y="479681"/>
                    <a:pt x="1183429" y="479681"/>
                  </a:cubicBezTo>
                  <a:lnTo>
                    <a:pt x="182431" y="479681"/>
                  </a:lnTo>
                  <a:cubicBezTo>
                    <a:pt x="81677" y="479681"/>
                    <a:pt x="0" y="398004"/>
                    <a:pt x="0" y="297250"/>
                  </a:cubicBezTo>
                  <a:lnTo>
                    <a:pt x="0" y="182431"/>
                  </a:lnTo>
                  <a:cubicBezTo>
                    <a:pt x="0" y="81677"/>
                    <a:pt x="81677" y="0"/>
                    <a:pt x="182431" y="0"/>
                  </a:cubicBez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3169631" y="8601587"/>
            <a:ext cx="868686" cy="868686"/>
            <a:chOff x="0" y="0"/>
            <a:chExt cx="812800" cy="812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800797" y="8601587"/>
            <a:ext cx="868686" cy="868686"/>
            <a:chOff x="0" y="0"/>
            <a:chExt cx="812800" cy="812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2118628" y="4887632"/>
            <a:ext cx="621359" cy="54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25"/>
              </a:lnSpc>
            </a:pPr>
            <a:r>
              <a:rPr lang="en-US" b="true" sz="3232" spc="13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077231" y="4887632"/>
            <a:ext cx="621359" cy="54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25"/>
              </a:lnSpc>
            </a:pPr>
            <a:r>
              <a:rPr lang="en-US" b="true" sz="3232" spc="13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673628" y="4580171"/>
            <a:ext cx="3102767" cy="2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  <a:spcBef>
                <a:spcPct val="0"/>
              </a:spcBef>
            </a:pPr>
            <a:r>
              <a:rPr lang="en-US" b="true" sz="163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Simple Energy Calculation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934492" y="2607195"/>
            <a:ext cx="2491928" cy="56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  <a:spcBef>
                <a:spcPct val="0"/>
              </a:spcBef>
            </a:pPr>
            <a:r>
              <a:rPr lang="en-US" b="true" sz="163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Realistic Energy Optimization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118628" y="6809797"/>
            <a:ext cx="621359" cy="54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25"/>
              </a:lnSpc>
            </a:pPr>
            <a:r>
              <a:rPr lang="en-US" b="true" sz="3232" spc="13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077231" y="6809797"/>
            <a:ext cx="621359" cy="54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25"/>
              </a:lnSpc>
            </a:pPr>
            <a:r>
              <a:rPr lang="en-US" b="true" sz="3232" spc="13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172122" y="6504273"/>
            <a:ext cx="2491928" cy="2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  <a:spcBef>
                <a:spcPct val="0"/>
              </a:spcBef>
            </a:pPr>
            <a:r>
              <a:rPr lang="en-US" b="true" sz="1636">
                <a:solidFill>
                  <a:srgbClr val="1C1C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Avoid obstacle 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2923798" y="6504273"/>
            <a:ext cx="2491928" cy="2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  <a:spcBef>
                <a:spcPct val="0"/>
              </a:spcBef>
            </a:pPr>
            <a:r>
              <a:rPr lang="en-US" b="true" sz="163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Ad</a:t>
            </a:r>
            <a:r>
              <a:rPr lang="en-US" b="true" sz="163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aptive Learning 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3282346" y="2965467"/>
            <a:ext cx="621359" cy="54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25"/>
              </a:lnSpc>
            </a:pPr>
            <a:r>
              <a:rPr lang="en-US" b="true" sz="3232" spc="13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4128913" y="2659943"/>
            <a:ext cx="2491928" cy="2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  <a:spcBef>
                <a:spcPct val="0"/>
              </a:spcBef>
            </a:pPr>
            <a:r>
              <a:rPr lang="en-US" b="true" sz="163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Use Multi </a:t>
            </a:r>
            <a:r>
              <a:rPr lang="en-US" b="true" sz="163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systems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3098211" y="4580171"/>
            <a:ext cx="2491928" cy="2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  <a:spcBef>
                <a:spcPct val="0"/>
              </a:spcBef>
            </a:pPr>
            <a:r>
              <a:rPr lang="en-US" b="true" sz="163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No Handoff System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3282346" y="8731962"/>
            <a:ext cx="621359" cy="54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25"/>
              </a:lnSpc>
            </a:pPr>
            <a:r>
              <a:rPr lang="en-US" b="true" sz="3232" spc="13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913512" y="8731962"/>
            <a:ext cx="621359" cy="54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25"/>
              </a:lnSpc>
            </a:pPr>
            <a:r>
              <a:rPr lang="en-US" b="true" sz="3232" spc="13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08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382402" y="8426438"/>
            <a:ext cx="2491928" cy="2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  <a:spcBef>
                <a:spcPct val="0"/>
              </a:spcBef>
            </a:pPr>
            <a:r>
              <a:rPr lang="en-US" b="true" sz="163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Use Game Theory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760079" y="8426438"/>
            <a:ext cx="2491928" cy="27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1"/>
              </a:lnSpc>
              <a:spcBef>
                <a:spcPct val="0"/>
              </a:spcBef>
            </a:pPr>
            <a:r>
              <a:rPr lang="en-US" b="true" sz="163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Rea</a:t>
            </a:r>
            <a:r>
              <a:rPr lang="en-US" b="true" sz="163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l-Time Override 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743637" y="5762815"/>
            <a:ext cx="4004258" cy="8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6"/>
              </a:lnSpc>
            </a:pPr>
            <a:r>
              <a:rPr lang="en-US" b="true" sz="316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Lit</a:t>
            </a:r>
            <a:r>
              <a:rPr lang="en-US" b="true" sz="316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erature Review &amp; Research Gap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5767156" y="4941308"/>
            <a:ext cx="1683523" cy="863590"/>
            <a:chOff x="0" y="0"/>
            <a:chExt cx="2244697" cy="1151453"/>
          </a:xfrm>
        </p:grpSpPr>
        <p:sp>
          <p:nvSpPr>
            <p:cNvPr name="Freeform 103" id="103"/>
            <p:cNvSpPr/>
            <p:nvPr/>
          </p:nvSpPr>
          <p:spPr>
            <a:xfrm>
              <a:off x="19855" y="243616"/>
              <a:ext cx="1900024" cy="656137"/>
            </a:xfrm>
            <a:custGeom>
              <a:avLst/>
              <a:gdLst/>
              <a:ahLst/>
              <a:cxnLst/>
              <a:rect r="r" b="b" t="t" l="l"/>
              <a:pathLst>
                <a:path h="656137" w="1900024">
                  <a:moveTo>
                    <a:pt x="0" y="210111"/>
                  </a:moveTo>
                  <a:quadBezTo>
                    <a:pt x="1342728" y="-371297"/>
                    <a:pt x="1900023" y="656137"/>
                  </a:quadBezTo>
                </a:path>
              </a:pathLst>
            </a:custGeom>
            <a:ln cap="flat" w="51963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104" id="104"/>
            <p:cNvGrpSpPr/>
            <p:nvPr/>
          </p:nvGrpSpPr>
          <p:grpSpPr>
            <a:xfrm rot="8100000">
              <a:off x="1668775" y="634030"/>
              <a:ext cx="511378" cy="394380"/>
              <a:chOff x="0" y="0"/>
              <a:chExt cx="922188" cy="71120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E4667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sp>
        <p:nvSpPr>
          <p:cNvPr name="TextBox 107" id="107"/>
          <p:cNvSpPr txBox="true"/>
          <p:nvPr/>
        </p:nvSpPr>
        <p:spPr>
          <a:xfrm rot="0">
            <a:off x="4035622" y="3011079"/>
            <a:ext cx="2769508" cy="73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Existing studies </a:t>
            </a: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single-drone or basic multi-drone patrol systems.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2936123" y="5031236"/>
            <a:ext cx="2769508" cy="49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Many works </a:t>
            </a: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simple battery consumption models.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815584" y="6956326"/>
            <a:ext cx="3027170" cy="49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Some st</a:t>
            </a: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udies consider obstacle avoidance and threat detection.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4035622" y="8716567"/>
            <a:ext cx="2838708" cy="122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They  uses game theory to generate many possible random and unpredictable flight paths. </a:t>
            </a:r>
          </a:p>
          <a:p>
            <a:pPr algn="ctr">
              <a:lnSpc>
                <a:spcPts val="1947"/>
              </a:lnSpc>
            </a:pPr>
          </a:p>
        </p:txBody>
      </p:sp>
      <p:sp>
        <p:nvSpPr>
          <p:cNvPr name="TextBox 111" id="111"/>
          <p:cNvSpPr txBox="true"/>
          <p:nvPr/>
        </p:nvSpPr>
        <p:spPr>
          <a:xfrm rot="0">
            <a:off x="12867253" y="5019948"/>
            <a:ext cx="2769508" cy="49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automatic r</a:t>
            </a: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elay handoff between drones.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1535573" y="3123361"/>
            <a:ext cx="3148356" cy="73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accurately calculate power consumption and ensur</a:t>
            </a: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highly efficient battery management 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2783559" y="6819322"/>
            <a:ext cx="2806580" cy="97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drone learns from the environment and sets which areas should be given higher priority.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1706461" y="8782694"/>
            <a:ext cx="2806580" cy="73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3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When a threat is detected, the system overrides game theory and uses real-time safety logic.</a:t>
            </a:r>
          </a:p>
        </p:txBody>
      </p:sp>
      <p:sp>
        <p:nvSpPr>
          <p:cNvPr name="Freeform 115" id="115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116" id="116"/>
          <p:cNvSpPr/>
          <p:nvPr/>
        </p:nvSpPr>
        <p:spPr>
          <a:xfrm>
            <a:off x="0" y="1970683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7" id="117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60619" y="2689891"/>
            <a:ext cx="9654038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2"/>
              </a:lnSpc>
            </a:pPr>
            <a:r>
              <a:rPr lang="en-US" b="true" sz="48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PROPOSED METHODOLOGY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59556" y="7532677"/>
            <a:ext cx="3494029" cy="725011"/>
          </a:xfrm>
          <a:custGeom>
            <a:avLst/>
            <a:gdLst/>
            <a:ahLst/>
            <a:cxnLst/>
            <a:rect r="r" b="b" t="t" l="l"/>
            <a:pathLst>
              <a:path h="725011" w="3494029">
                <a:moveTo>
                  <a:pt x="0" y="0"/>
                </a:moveTo>
                <a:lnTo>
                  <a:pt x="3494029" y="0"/>
                </a:lnTo>
                <a:lnTo>
                  <a:pt x="3494029" y="725011"/>
                </a:lnTo>
                <a:lnTo>
                  <a:pt x="0" y="725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4272" y="7078750"/>
            <a:ext cx="3477188" cy="721517"/>
          </a:xfrm>
          <a:custGeom>
            <a:avLst/>
            <a:gdLst/>
            <a:ahLst/>
            <a:cxnLst/>
            <a:rect r="r" b="b" t="t" l="l"/>
            <a:pathLst>
              <a:path h="721517" w="3477188">
                <a:moveTo>
                  <a:pt x="0" y="0"/>
                </a:moveTo>
                <a:lnTo>
                  <a:pt x="3477188" y="0"/>
                </a:lnTo>
                <a:lnTo>
                  <a:pt x="3477188" y="721517"/>
                </a:lnTo>
                <a:lnTo>
                  <a:pt x="0" y="72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>
            <a:off x="3751" y="4770020"/>
            <a:ext cx="18288000" cy="1243888"/>
          </a:xfrm>
          <a:custGeom>
            <a:avLst/>
            <a:gdLst/>
            <a:ahLst/>
            <a:cxnLst/>
            <a:rect r="r" b="b" t="t" l="l"/>
            <a:pathLst>
              <a:path h="1243888" w="18288000">
                <a:moveTo>
                  <a:pt x="0" y="1243888"/>
                </a:moveTo>
                <a:quadBezTo>
                  <a:pt x="9144000" y="-1243888"/>
                  <a:pt x="18288000" y="1243888"/>
                </a:quadBezTo>
              </a:path>
            </a:pathLst>
          </a:cu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59556" y="5233080"/>
            <a:ext cx="3496553" cy="2876912"/>
            <a:chOff x="0" y="0"/>
            <a:chExt cx="758723" cy="6242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8723" cy="624266"/>
            </a:xfrm>
            <a:custGeom>
              <a:avLst/>
              <a:gdLst/>
              <a:ahLst/>
              <a:cxnLst/>
              <a:rect r="r" b="b" t="t" l="l"/>
              <a:pathLst>
                <a:path h="624266" w="758723">
                  <a:moveTo>
                    <a:pt x="77496" y="0"/>
                  </a:moveTo>
                  <a:lnTo>
                    <a:pt x="681227" y="0"/>
                  </a:lnTo>
                  <a:cubicBezTo>
                    <a:pt x="701780" y="0"/>
                    <a:pt x="721492" y="8165"/>
                    <a:pt x="736025" y="22698"/>
                  </a:cubicBezTo>
                  <a:cubicBezTo>
                    <a:pt x="750558" y="37231"/>
                    <a:pt x="758723" y="56942"/>
                    <a:pt x="758723" y="77496"/>
                  </a:cubicBezTo>
                  <a:lnTo>
                    <a:pt x="758723" y="546770"/>
                  </a:lnTo>
                  <a:cubicBezTo>
                    <a:pt x="758723" y="589570"/>
                    <a:pt x="724027" y="624266"/>
                    <a:pt x="681227" y="624266"/>
                  </a:cubicBezTo>
                  <a:lnTo>
                    <a:pt x="77496" y="624266"/>
                  </a:lnTo>
                  <a:cubicBezTo>
                    <a:pt x="34696" y="624266"/>
                    <a:pt x="0" y="589570"/>
                    <a:pt x="0" y="546770"/>
                  </a:cubicBezTo>
                  <a:lnTo>
                    <a:pt x="0" y="77496"/>
                  </a:lnTo>
                  <a:cubicBezTo>
                    <a:pt x="0" y="34696"/>
                    <a:pt x="34696" y="0"/>
                    <a:pt x="77496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758723" cy="595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34272" y="4790236"/>
            <a:ext cx="3477188" cy="2649272"/>
            <a:chOff x="0" y="0"/>
            <a:chExt cx="758175" cy="577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77927" y="0"/>
                  </a:moveTo>
                  <a:lnTo>
                    <a:pt x="680248" y="0"/>
                  </a:lnTo>
                  <a:cubicBezTo>
                    <a:pt x="700916" y="0"/>
                    <a:pt x="720737" y="8210"/>
                    <a:pt x="735351" y="22824"/>
                  </a:cubicBezTo>
                  <a:cubicBezTo>
                    <a:pt x="749965" y="37438"/>
                    <a:pt x="758175" y="57260"/>
                    <a:pt x="758175" y="77927"/>
                  </a:cubicBezTo>
                  <a:lnTo>
                    <a:pt x="758175" y="499727"/>
                  </a:lnTo>
                  <a:cubicBezTo>
                    <a:pt x="758175" y="542765"/>
                    <a:pt x="723286" y="577654"/>
                    <a:pt x="680248" y="577654"/>
                  </a:cubicBezTo>
                  <a:lnTo>
                    <a:pt x="77927" y="577654"/>
                  </a:lnTo>
                  <a:cubicBezTo>
                    <a:pt x="57260" y="577654"/>
                    <a:pt x="37438" y="569444"/>
                    <a:pt x="22824" y="554830"/>
                  </a:cubicBezTo>
                  <a:cubicBezTo>
                    <a:pt x="8210" y="540216"/>
                    <a:pt x="0" y="520395"/>
                    <a:pt x="0" y="499727"/>
                  </a:cubicBezTo>
                  <a:lnTo>
                    <a:pt x="0" y="77927"/>
                  </a:lnTo>
                  <a:cubicBezTo>
                    <a:pt x="0" y="57260"/>
                    <a:pt x="8210" y="37438"/>
                    <a:pt x="22824" y="22824"/>
                  </a:cubicBezTo>
                  <a:cubicBezTo>
                    <a:pt x="37438" y="8210"/>
                    <a:pt x="57260" y="0"/>
                    <a:pt x="77927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377283" y="7036142"/>
            <a:ext cx="3422903" cy="710252"/>
          </a:xfrm>
          <a:custGeom>
            <a:avLst/>
            <a:gdLst/>
            <a:ahLst/>
            <a:cxnLst/>
            <a:rect r="r" b="b" t="t" l="l"/>
            <a:pathLst>
              <a:path h="710252" w="3422903">
                <a:moveTo>
                  <a:pt x="0" y="0"/>
                </a:moveTo>
                <a:lnTo>
                  <a:pt x="3422903" y="0"/>
                </a:lnTo>
                <a:lnTo>
                  <a:pt x="3422903" y="710253"/>
                </a:lnTo>
                <a:lnTo>
                  <a:pt x="0" y="710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36270" y="7125709"/>
            <a:ext cx="3295965" cy="683913"/>
          </a:xfrm>
          <a:custGeom>
            <a:avLst/>
            <a:gdLst/>
            <a:ahLst/>
            <a:cxnLst/>
            <a:rect r="r" b="b" t="t" l="l"/>
            <a:pathLst>
              <a:path h="683913" w="3295965">
                <a:moveTo>
                  <a:pt x="0" y="0"/>
                </a:moveTo>
                <a:lnTo>
                  <a:pt x="3295965" y="0"/>
                </a:lnTo>
                <a:lnTo>
                  <a:pt x="3295965" y="683913"/>
                </a:lnTo>
                <a:lnTo>
                  <a:pt x="0" y="683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377283" y="4783356"/>
            <a:ext cx="3422903" cy="4223747"/>
            <a:chOff x="0" y="0"/>
            <a:chExt cx="758175" cy="9355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8175" cy="935562"/>
            </a:xfrm>
            <a:custGeom>
              <a:avLst/>
              <a:gdLst/>
              <a:ahLst/>
              <a:cxnLst/>
              <a:rect r="r" b="b" t="t" l="l"/>
              <a:pathLst>
                <a:path h="935562" w="758175">
                  <a:moveTo>
                    <a:pt x="79163" y="0"/>
                  </a:moveTo>
                  <a:lnTo>
                    <a:pt x="679012" y="0"/>
                  </a:lnTo>
                  <a:cubicBezTo>
                    <a:pt x="700007" y="0"/>
                    <a:pt x="720143" y="8340"/>
                    <a:pt x="734989" y="23186"/>
                  </a:cubicBezTo>
                  <a:cubicBezTo>
                    <a:pt x="749835" y="38032"/>
                    <a:pt x="758175" y="58168"/>
                    <a:pt x="758175" y="79163"/>
                  </a:cubicBezTo>
                  <a:lnTo>
                    <a:pt x="758175" y="856399"/>
                  </a:lnTo>
                  <a:cubicBezTo>
                    <a:pt x="758175" y="877395"/>
                    <a:pt x="749835" y="897530"/>
                    <a:pt x="734989" y="912376"/>
                  </a:cubicBezTo>
                  <a:cubicBezTo>
                    <a:pt x="720143" y="927222"/>
                    <a:pt x="700007" y="935562"/>
                    <a:pt x="679012" y="935562"/>
                  </a:cubicBezTo>
                  <a:lnTo>
                    <a:pt x="79163" y="935562"/>
                  </a:lnTo>
                  <a:cubicBezTo>
                    <a:pt x="58168" y="935562"/>
                    <a:pt x="38032" y="927222"/>
                    <a:pt x="23186" y="912376"/>
                  </a:cubicBezTo>
                  <a:cubicBezTo>
                    <a:pt x="8340" y="897530"/>
                    <a:pt x="0" y="877395"/>
                    <a:pt x="0" y="856399"/>
                  </a:cubicBezTo>
                  <a:lnTo>
                    <a:pt x="0" y="79163"/>
                  </a:lnTo>
                  <a:cubicBezTo>
                    <a:pt x="0" y="58168"/>
                    <a:pt x="8340" y="38032"/>
                    <a:pt x="23186" y="23186"/>
                  </a:cubicBezTo>
                  <a:cubicBezTo>
                    <a:pt x="38032" y="8340"/>
                    <a:pt x="58168" y="0"/>
                    <a:pt x="79163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758175" cy="906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836270" y="4956468"/>
            <a:ext cx="3295965" cy="2853154"/>
            <a:chOff x="0" y="0"/>
            <a:chExt cx="758175" cy="6563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8175" cy="656315"/>
            </a:xfrm>
            <a:custGeom>
              <a:avLst/>
              <a:gdLst/>
              <a:ahLst/>
              <a:cxnLst/>
              <a:rect r="r" b="b" t="t" l="l"/>
              <a:pathLst>
                <a:path h="656315" w="758175">
                  <a:moveTo>
                    <a:pt x="82212" y="0"/>
                  </a:moveTo>
                  <a:lnTo>
                    <a:pt x="675963" y="0"/>
                  </a:lnTo>
                  <a:cubicBezTo>
                    <a:pt x="697767" y="0"/>
                    <a:pt x="718678" y="8662"/>
                    <a:pt x="734096" y="24079"/>
                  </a:cubicBezTo>
                  <a:cubicBezTo>
                    <a:pt x="749514" y="39497"/>
                    <a:pt x="758175" y="60408"/>
                    <a:pt x="758175" y="82212"/>
                  </a:cubicBezTo>
                  <a:lnTo>
                    <a:pt x="758175" y="574103"/>
                  </a:lnTo>
                  <a:cubicBezTo>
                    <a:pt x="758175" y="595907"/>
                    <a:pt x="749514" y="616818"/>
                    <a:pt x="734096" y="632236"/>
                  </a:cubicBezTo>
                  <a:cubicBezTo>
                    <a:pt x="718678" y="647653"/>
                    <a:pt x="697767" y="656315"/>
                    <a:pt x="675963" y="656315"/>
                  </a:cubicBezTo>
                  <a:lnTo>
                    <a:pt x="82212" y="656315"/>
                  </a:lnTo>
                  <a:cubicBezTo>
                    <a:pt x="60408" y="656315"/>
                    <a:pt x="39497" y="647653"/>
                    <a:pt x="24079" y="632236"/>
                  </a:cubicBezTo>
                  <a:cubicBezTo>
                    <a:pt x="8662" y="616818"/>
                    <a:pt x="0" y="595907"/>
                    <a:pt x="0" y="574103"/>
                  </a:cubicBezTo>
                  <a:lnTo>
                    <a:pt x="0" y="82212"/>
                  </a:lnTo>
                  <a:cubicBezTo>
                    <a:pt x="0" y="60408"/>
                    <a:pt x="8662" y="39497"/>
                    <a:pt x="24079" y="24079"/>
                  </a:cubicBezTo>
                  <a:cubicBezTo>
                    <a:pt x="39497" y="8662"/>
                    <a:pt x="60408" y="0"/>
                    <a:pt x="82212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758175" cy="627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59556" y="4790236"/>
            <a:ext cx="3494029" cy="885686"/>
          </a:xfrm>
          <a:custGeom>
            <a:avLst/>
            <a:gdLst/>
            <a:ahLst/>
            <a:cxnLst/>
            <a:rect r="r" b="b" t="t" l="l"/>
            <a:pathLst>
              <a:path h="885686" w="3494029">
                <a:moveTo>
                  <a:pt x="0" y="0"/>
                </a:moveTo>
                <a:lnTo>
                  <a:pt x="3494029" y="0"/>
                </a:lnTo>
                <a:lnTo>
                  <a:pt x="3494029" y="885687"/>
                </a:lnTo>
                <a:lnTo>
                  <a:pt x="0" y="8856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834272" y="4349528"/>
            <a:ext cx="3477188" cy="881417"/>
          </a:xfrm>
          <a:custGeom>
            <a:avLst/>
            <a:gdLst/>
            <a:ahLst/>
            <a:cxnLst/>
            <a:rect r="r" b="b" t="t" l="l"/>
            <a:pathLst>
              <a:path h="881417" w="3477188">
                <a:moveTo>
                  <a:pt x="0" y="0"/>
                </a:moveTo>
                <a:lnTo>
                  <a:pt x="3477188" y="0"/>
                </a:lnTo>
                <a:lnTo>
                  <a:pt x="3477188" y="881417"/>
                </a:lnTo>
                <a:lnTo>
                  <a:pt x="0" y="8814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377283" y="4349528"/>
            <a:ext cx="3422903" cy="867657"/>
          </a:xfrm>
          <a:custGeom>
            <a:avLst/>
            <a:gdLst/>
            <a:ahLst/>
            <a:cxnLst/>
            <a:rect r="r" b="b" t="t" l="l"/>
            <a:pathLst>
              <a:path h="867657" w="3422903">
                <a:moveTo>
                  <a:pt x="0" y="0"/>
                </a:moveTo>
                <a:lnTo>
                  <a:pt x="3422903" y="0"/>
                </a:lnTo>
                <a:lnTo>
                  <a:pt x="3422903" y="867657"/>
                </a:lnTo>
                <a:lnTo>
                  <a:pt x="0" y="8676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836270" y="4538728"/>
            <a:ext cx="3295965" cy="835480"/>
          </a:xfrm>
          <a:custGeom>
            <a:avLst/>
            <a:gdLst/>
            <a:ahLst/>
            <a:cxnLst/>
            <a:rect r="r" b="b" t="t" l="l"/>
            <a:pathLst>
              <a:path h="835480" w="3295965">
                <a:moveTo>
                  <a:pt x="0" y="0"/>
                </a:moveTo>
                <a:lnTo>
                  <a:pt x="3295965" y="0"/>
                </a:lnTo>
                <a:lnTo>
                  <a:pt x="3295965" y="835480"/>
                </a:lnTo>
                <a:lnTo>
                  <a:pt x="0" y="835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80002" y="5076142"/>
            <a:ext cx="353498" cy="403998"/>
          </a:xfrm>
          <a:custGeom>
            <a:avLst/>
            <a:gdLst/>
            <a:ahLst/>
            <a:cxnLst/>
            <a:rect r="r" b="b" t="t" l="l"/>
            <a:pathLst>
              <a:path h="403998" w="353498">
                <a:moveTo>
                  <a:pt x="0" y="0"/>
                </a:moveTo>
                <a:lnTo>
                  <a:pt x="353498" y="0"/>
                </a:lnTo>
                <a:lnTo>
                  <a:pt x="353498" y="403998"/>
                </a:lnTo>
                <a:lnTo>
                  <a:pt x="0" y="403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050820" y="4534736"/>
            <a:ext cx="473351" cy="487990"/>
          </a:xfrm>
          <a:custGeom>
            <a:avLst/>
            <a:gdLst/>
            <a:ahLst/>
            <a:cxnLst/>
            <a:rect r="r" b="b" t="t" l="l"/>
            <a:pathLst>
              <a:path h="487990" w="473351">
                <a:moveTo>
                  <a:pt x="0" y="0"/>
                </a:moveTo>
                <a:lnTo>
                  <a:pt x="473350" y="0"/>
                </a:lnTo>
                <a:lnTo>
                  <a:pt x="473350" y="487990"/>
                </a:lnTo>
                <a:lnTo>
                  <a:pt x="0" y="4879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576039" y="4543170"/>
            <a:ext cx="480372" cy="480372"/>
          </a:xfrm>
          <a:custGeom>
            <a:avLst/>
            <a:gdLst/>
            <a:ahLst/>
            <a:cxnLst/>
            <a:rect r="r" b="b" t="t" l="l"/>
            <a:pathLst>
              <a:path h="480372" w="480372">
                <a:moveTo>
                  <a:pt x="0" y="0"/>
                </a:moveTo>
                <a:lnTo>
                  <a:pt x="480372" y="0"/>
                </a:lnTo>
                <a:lnTo>
                  <a:pt x="480372" y="480372"/>
                </a:lnTo>
                <a:lnTo>
                  <a:pt x="0" y="4803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014657" y="4725189"/>
            <a:ext cx="494961" cy="451652"/>
          </a:xfrm>
          <a:custGeom>
            <a:avLst/>
            <a:gdLst/>
            <a:ahLst/>
            <a:cxnLst/>
            <a:rect r="r" b="b" t="t" l="l"/>
            <a:pathLst>
              <a:path h="451652" w="494961">
                <a:moveTo>
                  <a:pt x="0" y="0"/>
                </a:moveTo>
                <a:lnTo>
                  <a:pt x="494960" y="0"/>
                </a:lnTo>
                <a:lnTo>
                  <a:pt x="494960" y="451652"/>
                </a:lnTo>
                <a:lnTo>
                  <a:pt x="0" y="45165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877086" y="5012632"/>
            <a:ext cx="2024881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Environment &amp; Energy Modeling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99644" y="4532053"/>
            <a:ext cx="2525373" cy="53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1974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SMRS Framework Design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40047" y="5694973"/>
            <a:ext cx="3477188" cy="144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5669" indent="-197834" lvl="1">
              <a:lnSpc>
                <a:spcPts val="1905"/>
              </a:lnSpc>
              <a:buFont typeface="Arial"/>
              <a:buChar char="•"/>
            </a:pPr>
            <a:r>
              <a:rPr lang="en-US" sz="183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Developing the Smart Multi Surveillance (SMRS) architecture.</a:t>
            </a:r>
          </a:p>
          <a:p>
            <a:pPr algn="l" marL="395669" indent="-197834" lvl="1">
              <a:lnSpc>
                <a:spcPts val="1905"/>
              </a:lnSpc>
              <a:buFont typeface="Arial"/>
              <a:buChar char="•"/>
            </a:pPr>
            <a:r>
              <a:rPr lang="en-US" sz="183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Implementing autonomous relay-handoff for continuous coverage.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49685" y="5508715"/>
            <a:ext cx="3450500" cy="34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744" indent="-205372" lvl="1">
              <a:lnSpc>
                <a:spcPts val="1978"/>
              </a:lnSpc>
              <a:buFont typeface="Arial"/>
              <a:buChar char="•"/>
            </a:pPr>
            <a:r>
              <a:rPr lang="en-US" sz="190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Applying Bayesian Stackelberg Security Games (SSE).</a:t>
            </a:r>
          </a:p>
          <a:p>
            <a:pPr algn="l" marL="410744" indent="-205372" lvl="1">
              <a:lnSpc>
                <a:spcPts val="1978"/>
              </a:lnSpc>
              <a:buFont typeface="Arial"/>
              <a:buChar char="•"/>
            </a:pPr>
            <a:r>
              <a:rPr lang="en-US" sz="190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Expected Utility= (P1 * V1) + (P2+V2)</a:t>
            </a:r>
          </a:p>
          <a:p>
            <a:pPr algn="l" marL="410744" indent="-205372" lvl="1">
              <a:lnSpc>
                <a:spcPts val="1978"/>
              </a:lnSpc>
              <a:buFont typeface="Arial"/>
              <a:buChar char="•"/>
            </a:pPr>
            <a:r>
              <a:rPr lang="en-US" sz="190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Catching the intruder (he gets +0.65)</a:t>
            </a:r>
          </a:p>
          <a:p>
            <a:pPr algn="l" marL="410744" indent="-205372" lvl="1">
              <a:lnSpc>
                <a:spcPts val="1978"/>
              </a:lnSpc>
              <a:buFont typeface="Arial"/>
              <a:buChar char="•"/>
            </a:pPr>
            <a:r>
              <a:rPr lang="en-US" sz="190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The smuggling operation is causing a huge loss (0.35 * 4 = 1.4)</a:t>
            </a:r>
          </a:p>
          <a:p>
            <a:pPr algn="l" marL="410744" indent="-205372" lvl="1">
              <a:lnSpc>
                <a:spcPts val="1978"/>
              </a:lnSpc>
              <a:buFont typeface="Arial"/>
              <a:buChar char="•"/>
            </a:pPr>
            <a:r>
              <a:rPr lang="en-US" sz="190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190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ountering bounded-rational attackers using SUQR models.</a:t>
            </a:r>
          </a:p>
          <a:p>
            <a:pPr algn="l">
              <a:lnSpc>
                <a:spcPts val="1978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4986408" y="4551070"/>
            <a:ext cx="2272892" cy="80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3"/>
              </a:lnSpc>
            </a:pPr>
            <a:r>
              <a:rPr lang="en-US" sz="206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Executable Route Generation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66986" y="5818346"/>
            <a:ext cx="3324920" cy="121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5511" indent="-197756" lvl="1">
              <a:lnSpc>
                <a:spcPts val="1905"/>
              </a:lnSpc>
              <a:buFont typeface="Arial"/>
              <a:buChar char="•"/>
            </a:pPr>
            <a:r>
              <a:rPr lang="en-US" sz="1831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Using Metropolis-Hastings Markov Chain to map theoretical coverage into physical drone paths.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2700000">
            <a:off x="4934241" y="9037043"/>
            <a:ext cx="5205423" cy="5205423"/>
          </a:xfrm>
          <a:custGeom>
            <a:avLst/>
            <a:gdLst/>
            <a:ahLst/>
            <a:cxnLst/>
            <a:rect r="r" b="b" t="t" l="l"/>
            <a:pathLst>
              <a:path h="5205423" w="5205423">
                <a:moveTo>
                  <a:pt x="0" y="0"/>
                </a:moveTo>
                <a:lnTo>
                  <a:pt x="5205423" y="0"/>
                </a:lnTo>
                <a:lnTo>
                  <a:pt x="5205423" y="5205423"/>
                </a:lnTo>
                <a:lnTo>
                  <a:pt x="0" y="520542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13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13916" y="6153649"/>
            <a:ext cx="3385310" cy="144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7689" indent="-198845" lvl="1">
              <a:lnSpc>
                <a:spcPts val="1915"/>
              </a:lnSpc>
              <a:buFont typeface="Arial"/>
              <a:buChar char="•"/>
            </a:pPr>
            <a:r>
              <a:rPr lang="en-US" sz="184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Integration of 3D SRTM terrain data..</a:t>
            </a:r>
          </a:p>
          <a:p>
            <a:pPr algn="l" marL="397689" indent="-198845" lvl="1">
              <a:lnSpc>
                <a:spcPts val="1915"/>
              </a:lnSpc>
              <a:buFont typeface="Arial"/>
              <a:buChar char="•"/>
            </a:pPr>
            <a:r>
              <a:rPr lang="en-US" sz="184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Applying OWT-A* physics (wind drag, climb cost)</a:t>
            </a:r>
          </a:p>
          <a:p>
            <a:pPr algn="l" marL="397689" indent="-198845" lvl="1">
              <a:lnSpc>
                <a:spcPts val="1915"/>
              </a:lnSpc>
              <a:buFont typeface="Arial"/>
              <a:buChar char="•"/>
            </a:pPr>
            <a:r>
              <a:rPr lang="en-US" sz="1842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 real-time battery drain calculation.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AutoShape 37" id="37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532661" y="4497048"/>
            <a:ext cx="2525373" cy="53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1974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Game-Theoretic Decision Making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076310"/>
            <a:ext cx="7963753" cy="145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5396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SYSTEM ARCHITECTURE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0" y="204067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24379" y="942975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9551079" y="2653242"/>
            <a:ext cx="8087632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9551079" y="3596634"/>
            <a:ext cx="8087632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565367" y="2628124"/>
            <a:ext cx="0" cy="96851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624424" y="2628124"/>
            <a:ext cx="0" cy="96851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565367" y="4236114"/>
            <a:ext cx="8087632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565367" y="5179507"/>
            <a:ext cx="8087632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551079" y="4210997"/>
            <a:ext cx="0" cy="96851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7638711" y="4210997"/>
            <a:ext cx="0" cy="96851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579654" y="5857087"/>
            <a:ext cx="8087632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579654" y="6800479"/>
            <a:ext cx="8087632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9593942" y="5831969"/>
            <a:ext cx="0" cy="96851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7652999" y="5831969"/>
            <a:ext cx="0" cy="96851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9593942" y="7468534"/>
            <a:ext cx="8087632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9593942" y="8411927"/>
            <a:ext cx="8087632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9608229" y="7443417"/>
            <a:ext cx="0" cy="96851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7667286" y="7443417"/>
            <a:ext cx="0" cy="96851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9608229" y="9058719"/>
            <a:ext cx="8087632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9608229" y="10002111"/>
            <a:ext cx="8087632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9622517" y="9033601"/>
            <a:ext cx="0" cy="96851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7681574" y="9033601"/>
            <a:ext cx="0" cy="96851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0044048" y="2667529"/>
            <a:ext cx="67708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🌍 1. Environment &amp; Input Mod</a:t>
            </a:r>
            <a:r>
              <a:rPr lang="en-US" b="true" sz="24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ule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61443" y="3128915"/>
            <a:ext cx="5120967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3D SRTM Terrain Data &amp; Win</a:t>
            </a: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Attributes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29850" y="4279719"/>
            <a:ext cx="67708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 ⚙️ 2. Physics</a:t>
            </a:r>
            <a:r>
              <a:rPr lang="en-US" b="true" sz="24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 &amp; Energy Engin</a:t>
            </a:r>
            <a:r>
              <a:rPr lang="en-US" b="true" sz="24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e (OWT-A*)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97547" y="4714059"/>
            <a:ext cx="5120967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Calculates Wind, Turn, an</a:t>
            </a: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Climb Costs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38063" y="5947574"/>
            <a:ext cx="67708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🧠 3. Game-Theoretic</a:t>
            </a:r>
            <a:r>
              <a:rPr lang="en-US" b="true" sz="24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 Intelligenc</a:t>
            </a:r>
            <a:r>
              <a:rPr lang="en-US" b="true" sz="24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e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26122" y="6410489"/>
            <a:ext cx="5120967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(Attacker Pre</a:t>
            </a: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diction)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0" y="7511397"/>
            <a:ext cx="67708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🚁 4. SMRS Control &amp; Path</a:t>
            </a:r>
            <a:r>
              <a:rPr lang="en-US" b="true" sz="24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 Planning</a:t>
            </a:r>
            <a:r>
              <a:rPr lang="en-US" b="true" sz="24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54697" y="7974312"/>
            <a:ext cx="5120967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Markov Chain Route &amp; Relay-Han</a:t>
            </a: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doff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15575" y="9149206"/>
            <a:ext cx="67708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💻 5. Simulation &amp; Output</a:t>
            </a:r>
            <a:r>
              <a:rPr lang="en-US" b="true" sz="2400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30964" y="9583546"/>
            <a:ext cx="5120967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GUI Execution &amp; Performance Metrics</a:t>
            </a:r>
            <a:r>
              <a:rPr lang="en-US" sz="1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AutoShape 37" id="37"/>
          <p:cNvSpPr/>
          <p:nvPr/>
        </p:nvSpPr>
        <p:spPr>
          <a:xfrm>
            <a:off x="13791447" y="3648130"/>
            <a:ext cx="0" cy="515912"/>
          </a:xfrm>
          <a:prstGeom prst="line">
            <a:avLst/>
          </a:prstGeom>
          <a:ln cap="flat" w="28575">
            <a:solidFill>
              <a:srgbClr val="021E4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>
            <a:off x="13791447" y="5269734"/>
            <a:ext cx="0" cy="521039"/>
          </a:xfrm>
          <a:prstGeom prst="line">
            <a:avLst/>
          </a:prstGeom>
          <a:ln cap="flat" w="28575">
            <a:solidFill>
              <a:srgbClr val="021E4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 flipH="true">
            <a:off x="13791447" y="6896387"/>
            <a:ext cx="0" cy="484991"/>
          </a:xfrm>
          <a:prstGeom prst="line">
            <a:avLst/>
          </a:prstGeom>
          <a:ln cap="flat" w="28575">
            <a:solidFill>
              <a:srgbClr val="021E4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13791447" y="8502074"/>
            <a:ext cx="0" cy="479842"/>
          </a:xfrm>
          <a:prstGeom prst="line">
            <a:avLst/>
          </a:prstGeom>
          <a:ln cap="flat" w="28575">
            <a:solidFill>
              <a:srgbClr val="021E4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1" id="41"/>
          <p:cNvSpPr txBox="true"/>
          <p:nvPr/>
        </p:nvSpPr>
        <p:spPr>
          <a:xfrm rot="0">
            <a:off x="788985" y="6410489"/>
            <a:ext cx="7199995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block diagram illustrates how the different modules of our proposed system interact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 each other.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5832" y="3106714"/>
            <a:ext cx="9450506" cy="150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4"/>
              </a:lnSpc>
            </a:pPr>
            <a:r>
              <a:rPr lang="en-US" sz="56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IMPLEMENTATION PROGRESS</a:t>
            </a:r>
          </a:p>
        </p:txBody>
      </p:sp>
      <p:sp>
        <p:nvSpPr>
          <p:cNvPr name="Freeform 3" id="3"/>
          <p:cNvSpPr/>
          <p:nvPr/>
        </p:nvSpPr>
        <p:spPr>
          <a:xfrm>
            <a:off x="-229888" y="3820835"/>
            <a:ext cx="19235078" cy="3076026"/>
          </a:xfrm>
          <a:custGeom>
            <a:avLst/>
            <a:gdLst/>
            <a:ahLst/>
            <a:cxnLst/>
            <a:rect r="r" b="b" t="t" l="l"/>
            <a:pathLst>
              <a:path h="3076026" w="19235078">
                <a:moveTo>
                  <a:pt x="0" y="2842888"/>
                </a:moveTo>
                <a:quadBezTo>
                  <a:pt x="9987242" y="3922866"/>
                  <a:pt x="19235078" y="0"/>
                </a:quadBezTo>
              </a:path>
            </a:pathLst>
          </a:custGeom>
          <a:ln cap="flat" w="66675">
            <a:solidFill>
              <a:srgbClr val="021E47"/>
            </a:solidFill>
            <a:prstDash val="sysDash"/>
            <a:headEnd type="none" len="sm" w="sm"/>
            <a:tailEnd type="triangle" len="med" w="lg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1739635" y="5394090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49169" y="6236572"/>
            <a:ext cx="3115636" cy="1313837"/>
          </a:xfrm>
          <a:custGeom>
            <a:avLst/>
            <a:gdLst/>
            <a:ahLst/>
            <a:cxnLst/>
            <a:rect r="r" b="b" t="t" l="l"/>
            <a:pathLst>
              <a:path h="1313837" w="3115636">
                <a:moveTo>
                  <a:pt x="3115635" y="0"/>
                </a:moveTo>
                <a:lnTo>
                  <a:pt x="0" y="0"/>
                </a:lnTo>
                <a:lnTo>
                  <a:pt x="0" y="1313837"/>
                </a:lnTo>
                <a:lnTo>
                  <a:pt x="3115635" y="1313837"/>
                </a:lnTo>
                <a:lnTo>
                  <a:pt x="311563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8120771" y="6026071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516289" y="6236572"/>
            <a:ext cx="2822643" cy="1190284"/>
          </a:xfrm>
          <a:custGeom>
            <a:avLst/>
            <a:gdLst/>
            <a:ahLst/>
            <a:cxnLst/>
            <a:rect r="r" b="b" t="t" l="l"/>
            <a:pathLst>
              <a:path h="1190284" w="2822643">
                <a:moveTo>
                  <a:pt x="2822643" y="0"/>
                </a:moveTo>
                <a:lnTo>
                  <a:pt x="0" y="0"/>
                </a:lnTo>
                <a:lnTo>
                  <a:pt x="0" y="1190285"/>
                </a:lnTo>
                <a:lnTo>
                  <a:pt x="2822643" y="1190285"/>
                </a:lnTo>
                <a:lnTo>
                  <a:pt x="28226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1663435" y="5297268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1137" y="6740860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55695" y="3507092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77609" y="6666108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39411" y="5704941"/>
            <a:ext cx="332091" cy="342804"/>
          </a:xfrm>
          <a:custGeom>
            <a:avLst/>
            <a:gdLst/>
            <a:ahLst/>
            <a:cxnLst/>
            <a:rect r="r" b="b" t="t" l="l"/>
            <a:pathLst>
              <a:path h="342804" w="332091">
                <a:moveTo>
                  <a:pt x="0" y="0"/>
                </a:moveTo>
                <a:lnTo>
                  <a:pt x="332092" y="0"/>
                </a:lnTo>
                <a:lnTo>
                  <a:pt x="332092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13991" y="6693948"/>
            <a:ext cx="2150814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Smart Multi Relay System (SMRS)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91131" y="4264307"/>
            <a:ext cx="2043369" cy="78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 Physics &amp; Energy Engine (OWT-A*)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36652" y="5616882"/>
            <a:ext cx="1550848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100" b="true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Security &amp; Learning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2700000">
            <a:off x="16295874" y="839713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3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>
            <a:off x="0" y="204067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63435" y="6950362"/>
            <a:ext cx="3771900" cy="45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1872"/>
              </a:lnSpc>
              <a:buFont typeface="Arial"/>
              <a:buChar char="•"/>
            </a:pPr>
            <a:r>
              <a:rPr lang="en-US" b="true" sz="1800">
                <a:solidFill>
                  <a:srgbClr val="021E4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Game-Theoretic Security</a:t>
            </a:r>
          </a:p>
          <a:p>
            <a:pPr algn="l" marL="388622" indent="-194311" lvl="1">
              <a:lnSpc>
                <a:spcPts val="1872"/>
              </a:lnSpc>
              <a:buFont typeface="Arial"/>
              <a:buChar char="•"/>
            </a:pPr>
            <a:r>
              <a:rPr lang="en-US" b="true" sz="1800">
                <a:solidFill>
                  <a:srgbClr val="021E4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Adaptive Learning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884" y="7969915"/>
            <a:ext cx="3823647" cy="110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b="true" sz="1699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Implemented on a 30 × 30 Grid</a:t>
            </a:r>
          </a:p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b="true" sz="1699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SRTM Terrain Data Integration</a:t>
            </a:r>
          </a:p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b="true" sz="1699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Automatic drone handoff </a:t>
            </a:r>
          </a:p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b="true" sz="1699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Continuous border surveillance</a:t>
            </a:r>
          </a:p>
          <a:p>
            <a:pPr algn="ctr">
              <a:lnSpc>
                <a:spcPts val="176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451085" y="6613401"/>
            <a:ext cx="2150814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Physics-Based Energy Model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11315" y="7750840"/>
            <a:ext cx="3789685" cy="110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b="true" sz="1699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Wind effect calculation</a:t>
            </a:r>
          </a:p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b="true" sz="1699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Turning energy calculation</a:t>
            </a:r>
          </a:p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b="true" sz="1699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Terrain elevation energy calculation</a:t>
            </a:r>
          </a:p>
          <a:p>
            <a:pPr algn="ctr">
              <a:lnSpc>
                <a:spcPts val="176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830815" y="7641422"/>
            <a:ext cx="3789685" cy="88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b="true" sz="1699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Battery-aware decision making</a:t>
            </a:r>
          </a:p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b="true" sz="1699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Threat detection</a:t>
            </a:r>
          </a:p>
          <a:p>
            <a:pPr algn="ctr" marL="367029" indent="-183514" lvl="1">
              <a:lnSpc>
                <a:spcPts val="1767"/>
              </a:lnSpc>
              <a:buFont typeface="Arial"/>
              <a:buChar char="•"/>
            </a:pPr>
            <a:r>
              <a:rPr lang="en-US" b="true" sz="1699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Path planning</a:t>
            </a:r>
          </a:p>
          <a:p>
            <a:pPr algn="ctr">
              <a:lnSpc>
                <a:spcPts val="176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0" y="6333022"/>
            <a:ext cx="1738385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 Drone Operations</a:t>
            </a:r>
          </a:p>
        </p:txBody>
      </p:sp>
      <p:sp>
        <p:nvSpPr>
          <p:cNvPr name="Freeform 27" id="27"/>
          <p:cNvSpPr/>
          <p:nvPr/>
        </p:nvSpPr>
        <p:spPr>
          <a:xfrm flipH="true" flipV="false" rot="0">
            <a:off x="15072496" y="4420631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6002000" y="4740246"/>
            <a:ext cx="1728878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1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Simulation Environment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5199319" y="4788866"/>
            <a:ext cx="421681" cy="421681"/>
          </a:xfrm>
          <a:custGeom>
            <a:avLst/>
            <a:gdLst/>
            <a:ahLst/>
            <a:cxnLst/>
            <a:rect r="r" b="b" t="t" l="l"/>
            <a:pathLst>
              <a:path h="421681" w="421681">
                <a:moveTo>
                  <a:pt x="0" y="0"/>
                </a:moveTo>
                <a:lnTo>
                  <a:pt x="421681" y="0"/>
                </a:lnTo>
                <a:lnTo>
                  <a:pt x="421681" y="421681"/>
                </a:lnTo>
                <a:lnTo>
                  <a:pt x="0" y="4216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312815" y="6455419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5048053" y="5999743"/>
            <a:ext cx="3051009" cy="91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1872"/>
              </a:lnSpc>
              <a:buFont typeface="Arial"/>
              <a:buChar char="•"/>
            </a:pPr>
            <a:r>
              <a:rPr lang="en-US" b="true" sz="1800">
                <a:solidFill>
                  <a:srgbClr val="021E4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Drone simulation</a:t>
            </a:r>
          </a:p>
          <a:p>
            <a:pPr algn="l" marL="388622" indent="-194311" lvl="1">
              <a:lnSpc>
                <a:spcPts val="1872"/>
              </a:lnSpc>
              <a:buFont typeface="Arial"/>
              <a:buChar char="•"/>
            </a:pPr>
            <a:r>
              <a:rPr lang="en-US" b="true" sz="1800">
                <a:solidFill>
                  <a:srgbClr val="021E4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GUI visualization</a:t>
            </a:r>
          </a:p>
          <a:p>
            <a:pPr algn="l" marL="388622" indent="-194311" lvl="1">
              <a:lnSpc>
                <a:spcPts val="1872"/>
              </a:lnSpc>
              <a:buFont typeface="Arial"/>
              <a:buChar char="•"/>
            </a:pPr>
            <a:r>
              <a:rPr lang="en-US" b="true" sz="1800">
                <a:solidFill>
                  <a:srgbClr val="021E47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Real/Synthetic terrain support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34650" y="0"/>
            <a:ext cx="2753350" cy="1367558"/>
          </a:xfrm>
          <a:custGeom>
            <a:avLst/>
            <a:gdLst/>
            <a:ahLst/>
            <a:cxnLst/>
            <a:rect r="r" b="b" t="t" l="l"/>
            <a:pathLst>
              <a:path h="1367558" w="2753350">
                <a:moveTo>
                  <a:pt x="0" y="0"/>
                </a:moveTo>
                <a:lnTo>
                  <a:pt x="2753350" y="0"/>
                </a:lnTo>
                <a:lnTo>
                  <a:pt x="2753350" y="1367558"/>
                </a:lnTo>
                <a:lnTo>
                  <a:pt x="0" y="1367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2777" y="1493956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569327" y="1778260"/>
            <a:ext cx="5505709" cy="1989018"/>
            <a:chOff x="0" y="0"/>
            <a:chExt cx="1555244" cy="5618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5244" cy="561854"/>
            </a:xfrm>
            <a:custGeom>
              <a:avLst/>
              <a:gdLst/>
              <a:ahLst/>
              <a:cxnLst/>
              <a:rect r="r" b="b" t="t" l="l"/>
              <a:pathLst>
                <a:path h="561854" w="1555244">
                  <a:moveTo>
                    <a:pt x="23905" y="0"/>
                  </a:moveTo>
                  <a:lnTo>
                    <a:pt x="1531339" y="0"/>
                  </a:lnTo>
                  <a:cubicBezTo>
                    <a:pt x="1544541" y="0"/>
                    <a:pt x="1555244" y="10703"/>
                    <a:pt x="1555244" y="23905"/>
                  </a:cubicBezTo>
                  <a:lnTo>
                    <a:pt x="1555244" y="537950"/>
                  </a:lnTo>
                  <a:cubicBezTo>
                    <a:pt x="1555244" y="544290"/>
                    <a:pt x="1552725" y="550370"/>
                    <a:pt x="1548242" y="554853"/>
                  </a:cubicBezTo>
                  <a:cubicBezTo>
                    <a:pt x="1543759" y="559336"/>
                    <a:pt x="1537679" y="561854"/>
                    <a:pt x="1531339" y="561854"/>
                  </a:cubicBezTo>
                  <a:lnTo>
                    <a:pt x="23905" y="561854"/>
                  </a:lnTo>
                  <a:cubicBezTo>
                    <a:pt x="17565" y="561854"/>
                    <a:pt x="11485" y="559336"/>
                    <a:pt x="7002" y="554853"/>
                  </a:cubicBezTo>
                  <a:cubicBezTo>
                    <a:pt x="2519" y="550370"/>
                    <a:pt x="0" y="544290"/>
                    <a:pt x="0" y="537950"/>
                  </a:cubicBezTo>
                  <a:lnTo>
                    <a:pt x="0" y="23905"/>
                  </a:lnTo>
                  <a:cubicBezTo>
                    <a:pt x="0" y="17565"/>
                    <a:pt x="2519" y="11485"/>
                    <a:pt x="7002" y="7002"/>
                  </a:cubicBezTo>
                  <a:cubicBezTo>
                    <a:pt x="11485" y="2519"/>
                    <a:pt x="17565" y="0"/>
                    <a:pt x="23905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555244" cy="561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689802" y="1937785"/>
            <a:ext cx="5265030" cy="1664719"/>
          </a:xfrm>
          <a:custGeom>
            <a:avLst/>
            <a:gdLst/>
            <a:ahLst/>
            <a:cxnLst/>
            <a:rect r="r" b="b" t="t" l="l"/>
            <a:pathLst>
              <a:path h="1664719" w="5265030">
                <a:moveTo>
                  <a:pt x="0" y="0"/>
                </a:moveTo>
                <a:lnTo>
                  <a:pt x="5265030" y="0"/>
                </a:lnTo>
                <a:lnTo>
                  <a:pt x="5265030" y="1664720"/>
                </a:lnTo>
                <a:lnTo>
                  <a:pt x="0" y="166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283" b="-2304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3304320"/>
            <a:ext cx="11620500" cy="3921761"/>
            <a:chOff x="0" y="0"/>
            <a:chExt cx="2997381" cy="10115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97381" cy="1011575"/>
            </a:xfrm>
            <a:custGeom>
              <a:avLst/>
              <a:gdLst/>
              <a:ahLst/>
              <a:cxnLst/>
              <a:rect r="r" b="b" t="t" l="l"/>
              <a:pathLst>
                <a:path h="1011575" w="2997381">
                  <a:moveTo>
                    <a:pt x="11326" y="0"/>
                  </a:moveTo>
                  <a:lnTo>
                    <a:pt x="2986056" y="0"/>
                  </a:lnTo>
                  <a:cubicBezTo>
                    <a:pt x="2989059" y="0"/>
                    <a:pt x="2991940" y="1193"/>
                    <a:pt x="2994064" y="3317"/>
                  </a:cubicBezTo>
                  <a:cubicBezTo>
                    <a:pt x="2996188" y="5441"/>
                    <a:pt x="2997381" y="8322"/>
                    <a:pt x="2997381" y="11326"/>
                  </a:cubicBezTo>
                  <a:lnTo>
                    <a:pt x="2997381" y="1000250"/>
                  </a:lnTo>
                  <a:cubicBezTo>
                    <a:pt x="2997381" y="1006505"/>
                    <a:pt x="2992311" y="1011575"/>
                    <a:pt x="2986056" y="1011575"/>
                  </a:cubicBezTo>
                  <a:lnTo>
                    <a:pt x="11326" y="1011575"/>
                  </a:lnTo>
                  <a:cubicBezTo>
                    <a:pt x="5071" y="1011575"/>
                    <a:pt x="0" y="1006505"/>
                    <a:pt x="0" y="1000250"/>
                  </a:cubicBezTo>
                  <a:lnTo>
                    <a:pt x="0" y="11326"/>
                  </a:lnTo>
                  <a:cubicBezTo>
                    <a:pt x="0" y="5071"/>
                    <a:pt x="5071" y="0"/>
                    <a:pt x="11326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997381" cy="1011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8816" y="3405715"/>
            <a:ext cx="11297537" cy="3662534"/>
          </a:xfrm>
          <a:custGeom>
            <a:avLst/>
            <a:gdLst/>
            <a:ahLst/>
            <a:cxnLst/>
            <a:rect r="r" b="b" t="t" l="l"/>
            <a:pathLst>
              <a:path h="3662534" w="11297537">
                <a:moveTo>
                  <a:pt x="0" y="0"/>
                </a:moveTo>
                <a:lnTo>
                  <a:pt x="11297537" y="0"/>
                </a:lnTo>
                <a:lnTo>
                  <a:pt x="11297537" y="3662534"/>
                </a:lnTo>
                <a:lnTo>
                  <a:pt x="0" y="3662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1" t="0" r="-527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569327" y="6418278"/>
            <a:ext cx="5467337" cy="3071843"/>
            <a:chOff x="0" y="0"/>
            <a:chExt cx="1544404" cy="867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44404" cy="867729"/>
            </a:xfrm>
            <a:custGeom>
              <a:avLst/>
              <a:gdLst/>
              <a:ahLst/>
              <a:cxnLst/>
              <a:rect r="r" b="b" t="t" l="l"/>
              <a:pathLst>
                <a:path h="867729" w="1544404">
                  <a:moveTo>
                    <a:pt x="24073" y="0"/>
                  </a:moveTo>
                  <a:lnTo>
                    <a:pt x="1520332" y="0"/>
                  </a:lnTo>
                  <a:cubicBezTo>
                    <a:pt x="1526716" y="0"/>
                    <a:pt x="1532839" y="2536"/>
                    <a:pt x="1537354" y="7051"/>
                  </a:cubicBezTo>
                  <a:cubicBezTo>
                    <a:pt x="1541868" y="11565"/>
                    <a:pt x="1544404" y="17688"/>
                    <a:pt x="1544404" y="24073"/>
                  </a:cubicBezTo>
                  <a:lnTo>
                    <a:pt x="1544404" y="843657"/>
                  </a:lnTo>
                  <a:cubicBezTo>
                    <a:pt x="1544404" y="850041"/>
                    <a:pt x="1541868" y="856164"/>
                    <a:pt x="1537354" y="860679"/>
                  </a:cubicBezTo>
                  <a:cubicBezTo>
                    <a:pt x="1532839" y="865193"/>
                    <a:pt x="1526716" y="867729"/>
                    <a:pt x="1520332" y="867729"/>
                  </a:cubicBezTo>
                  <a:lnTo>
                    <a:pt x="24073" y="867729"/>
                  </a:lnTo>
                  <a:cubicBezTo>
                    <a:pt x="17688" y="867729"/>
                    <a:pt x="11565" y="865193"/>
                    <a:pt x="7051" y="860679"/>
                  </a:cubicBezTo>
                  <a:cubicBezTo>
                    <a:pt x="2536" y="856164"/>
                    <a:pt x="0" y="850041"/>
                    <a:pt x="0" y="843657"/>
                  </a:cubicBezTo>
                  <a:lnTo>
                    <a:pt x="0" y="24073"/>
                  </a:lnTo>
                  <a:cubicBezTo>
                    <a:pt x="0" y="17688"/>
                    <a:pt x="2536" y="11565"/>
                    <a:pt x="7051" y="7051"/>
                  </a:cubicBezTo>
                  <a:cubicBezTo>
                    <a:pt x="11565" y="2536"/>
                    <a:pt x="17688" y="0"/>
                    <a:pt x="24073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544404" cy="867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704606" y="6540215"/>
            <a:ext cx="5211718" cy="2842558"/>
          </a:xfrm>
          <a:custGeom>
            <a:avLst/>
            <a:gdLst/>
            <a:ahLst/>
            <a:cxnLst/>
            <a:rect r="r" b="b" t="t" l="l"/>
            <a:pathLst>
              <a:path h="2842558" w="5211718">
                <a:moveTo>
                  <a:pt x="0" y="0"/>
                </a:moveTo>
                <a:lnTo>
                  <a:pt x="5211718" y="0"/>
                </a:lnTo>
                <a:lnTo>
                  <a:pt x="5211718" y="2842558"/>
                </a:lnTo>
                <a:lnTo>
                  <a:pt x="0" y="28425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-331460" y="58961"/>
            <a:ext cx="12755695" cy="65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4"/>
              </a:lnSpc>
            </a:pPr>
            <a:r>
              <a:rPr lang="en-US" sz="36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246328" y="702661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7747" y="2326420"/>
            <a:ext cx="945050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5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CURRENT RESULTS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1223" y="7347173"/>
            <a:ext cx="7765554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Fig-1: Comparison simulation (SMRS vs Greedy vs GPS vs ACO)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33525" y="9547271"/>
            <a:ext cx="5334000" cy="62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177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Fig-4: Improving Game Theory using Adaptive Learning 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16294" y="3941673"/>
            <a:ext cx="4326351" cy="31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177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Fig-2: Average all threat detect steps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6352" y="8284104"/>
            <a:ext cx="9827795" cy="100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mart Multi Relay System (SMRS) doesn't just focus on threats; it also provides effective coverage. In just 283 steps, SMRS covered 69% of the path and detect 18 threats. Ant Colony Optimization (ACO) covered 43% and detect 6 threats.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729950" y="9008157"/>
            <a:ext cx="633149" cy="234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0"/>
              </a:lnSpc>
            </a:pPr>
            <a:r>
              <a:rPr lang="en-US" b="true" sz="1307">
                <a:solidFill>
                  <a:srgbClr val="00BF63"/>
                </a:solidFill>
                <a:latin typeface="Poppins Bold"/>
                <a:ea typeface="Poppins Bold"/>
                <a:cs typeface="Poppins Bold"/>
                <a:sym typeface="Poppins Bold"/>
              </a:rPr>
              <a:t>~ 3.62%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725359" y="4359905"/>
            <a:ext cx="6562641" cy="1421066"/>
            <a:chOff x="0" y="0"/>
            <a:chExt cx="1853804" cy="4014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53804" cy="401420"/>
            </a:xfrm>
            <a:custGeom>
              <a:avLst/>
              <a:gdLst/>
              <a:ahLst/>
              <a:cxnLst/>
              <a:rect r="r" b="b" t="t" l="l"/>
              <a:pathLst>
                <a:path h="401420" w="1853804">
                  <a:moveTo>
                    <a:pt x="20055" y="0"/>
                  </a:moveTo>
                  <a:lnTo>
                    <a:pt x="1833749" y="0"/>
                  </a:lnTo>
                  <a:cubicBezTo>
                    <a:pt x="1844825" y="0"/>
                    <a:pt x="1853804" y="8979"/>
                    <a:pt x="1853804" y="20055"/>
                  </a:cubicBezTo>
                  <a:lnTo>
                    <a:pt x="1853804" y="381365"/>
                  </a:lnTo>
                  <a:cubicBezTo>
                    <a:pt x="1853804" y="392441"/>
                    <a:pt x="1844825" y="401420"/>
                    <a:pt x="1833749" y="401420"/>
                  </a:cubicBezTo>
                  <a:lnTo>
                    <a:pt x="20055" y="401420"/>
                  </a:lnTo>
                  <a:cubicBezTo>
                    <a:pt x="8979" y="401420"/>
                    <a:pt x="0" y="392441"/>
                    <a:pt x="0" y="381365"/>
                  </a:cubicBezTo>
                  <a:lnTo>
                    <a:pt x="0" y="20055"/>
                  </a:lnTo>
                  <a:cubicBezTo>
                    <a:pt x="0" y="8979"/>
                    <a:pt x="8979" y="0"/>
                    <a:pt x="20055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853804" cy="401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817756" y="4475863"/>
            <a:ext cx="6377848" cy="1194542"/>
          </a:xfrm>
          <a:custGeom>
            <a:avLst/>
            <a:gdLst/>
            <a:ahLst/>
            <a:cxnLst/>
            <a:rect r="r" b="b" t="t" l="l"/>
            <a:pathLst>
              <a:path h="1194542" w="6377848">
                <a:moveTo>
                  <a:pt x="0" y="0"/>
                </a:moveTo>
                <a:lnTo>
                  <a:pt x="6377847" y="0"/>
                </a:lnTo>
                <a:lnTo>
                  <a:pt x="6377847" y="1194542"/>
                </a:lnTo>
                <a:lnTo>
                  <a:pt x="0" y="11945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99" t="-298999" r="-13133" b="-121784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941153" y="5838121"/>
            <a:ext cx="4476632" cy="31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177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Fig-3: Detection % using Game Theory 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204067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43745" y="2979583"/>
            <a:ext cx="945050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5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FUTURE WORK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62050" y="4938559"/>
            <a:ext cx="1657421" cy="165742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13460" y="4938559"/>
            <a:ext cx="5660569" cy="1657421"/>
            <a:chOff x="0" y="0"/>
            <a:chExt cx="2775945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5945" cy="812800"/>
            </a:xfrm>
            <a:custGeom>
              <a:avLst/>
              <a:gdLst/>
              <a:ahLst/>
              <a:cxnLst/>
              <a:rect r="r" b="b" t="t" l="l"/>
              <a:pathLst>
                <a:path h="81280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EAE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1968" y="7371822"/>
            <a:ext cx="1657421" cy="165742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DDA70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23378" y="7371822"/>
            <a:ext cx="5660569" cy="1657421"/>
            <a:chOff x="0" y="0"/>
            <a:chExt cx="2775945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75945" cy="812800"/>
            </a:xfrm>
            <a:custGeom>
              <a:avLst/>
              <a:gdLst/>
              <a:ahLst/>
              <a:cxnLst/>
              <a:rect r="r" b="b" t="t" l="l"/>
              <a:pathLst>
                <a:path h="81280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FFE8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99252" y="4938559"/>
            <a:ext cx="1657421" cy="165742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38AEB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50663" y="4938559"/>
            <a:ext cx="5660569" cy="1657421"/>
            <a:chOff x="0" y="0"/>
            <a:chExt cx="2775945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75945" cy="812800"/>
            </a:xfrm>
            <a:custGeom>
              <a:avLst/>
              <a:gdLst/>
              <a:ahLst/>
              <a:cxnLst/>
              <a:rect r="r" b="b" t="t" l="l"/>
              <a:pathLst>
                <a:path h="81280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09170" y="7371822"/>
            <a:ext cx="1657421" cy="165742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9366E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160581" y="7371822"/>
            <a:ext cx="5660569" cy="1657421"/>
            <a:chOff x="0" y="0"/>
            <a:chExt cx="2775945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75945" cy="812800"/>
            </a:xfrm>
            <a:custGeom>
              <a:avLst/>
              <a:gdLst/>
              <a:ahLst/>
              <a:cxnLst/>
              <a:rect r="r" b="b" t="t" l="l"/>
              <a:pathLst>
                <a:path h="812800" w="2775945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EAE0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509517" y="5592955"/>
            <a:ext cx="5184269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9"/>
              </a:lnSpc>
            </a:pP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Enabl</a:t>
            </a:r>
            <a:r>
              <a:rPr lang="en-US" sz="1399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e the UAV to adapt its game-theoretic strategy based on changing threats and environmental conditions.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28484" y="5398976"/>
            <a:ext cx="72455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52070" y="7786597"/>
            <a:ext cx="1033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91543" y="7786597"/>
            <a:ext cx="99843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92556" y="5362047"/>
            <a:ext cx="99843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99"/>
              </a:lnSpc>
              <a:spcBef>
                <a:spcPct val="0"/>
              </a:spcBef>
            </a:pPr>
            <a:r>
              <a:rPr lang="en-US" b="true" sz="3999" spc="167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320195" y="7523071"/>
            <a:ext cx="4798475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 Dynamic Threat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09517" y="5177030"/>
            <a:ext cx="4798475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Improve Adaptive Learning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27475" y="7523071"/>
            <a:ext cx="4798475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Dynamic Micro-Weather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53877" y="8097747"/>
            <a:ext cx="4909755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Upgrading t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 static wind model to dynamic micro-weather conditions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360688" y="7950745"/>
            <a:ext cx="4909755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Replac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static threat values with real-time dynamic threat estimation for adaptive UAV patrol.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02675" y="5098522"/>
            <a:ext cx="2316758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 Multi-Drone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220654" y="5522067"/>
            <a:ext cx="4909755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multiple UAVs to increase the threat detection rate and area coverage.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746115" y="6822500"/>
            <a:ext cx="11824173" cy="11044"/>
          </a:xfrm>
          <a:prstGeom prst="line">
            <a:avLst/>
          </a:prstGeom>
          <a:ln cap="flat" w="2857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746115" y="5886739"/>
            <a:ext cx="11824173" cy="27223"/>
          </a:xfrm>
          <a:prstGeom prst="line">
            <a:avLst/>
          </a:prstGeom>
          <a:ln cap="flat" w="2857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746115" y="4835099"/>
            <a:ext cx="11824173" cy="33614"/>
          </a:xfrm>
          <a:prstGeom prst="line">
            <a:avLst/>
          </a:prstGeom>
          <a:ln cap="flat" w="2857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746115" y="8809901"/>
            <a:ext cx="11824173" cy="99698"/>
          </a:xfrm>
          <a:prstGeom prst="line">
            <a:avLst/>
          </a:prstGeom>
          <a:ln cap="flat" w="2857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746115" y="3841398"/>
            <a:ext cx="11824173" cy="109538"/>
          </a:xfrm>
          <a:prstGeom prst="line">
            <a:avLst/>
          </a:prstGeom>
          <a:ln cap="flat" w="2857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746115" y="7816200"/>
            <a:ext cx="11824173" cy="42994"/>
          </a:xfrm>
          <a:prstGeom prst="line">
            <a:avLst/>
          </a:prstGeom>
          <a:ln cap="flat" w="2857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700475" y="2183644"/>
            <a:ext cx="11824173" cy="43988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31679" y="2885327"/>
            <a:ext cx="3058928" cy="820243"/>
            <a:chOff x="0" y="0"/>
            <a:chExt cx="716932" cy="1922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6932" cy="192243"/>
            </a:xfrm>
            <a:custGeom>
              <a:avLst/>
              <a:gdLst/>
              <a:ahLst/>
              <a:cxnLst/>
              <a:rect r="r" b="b" t="t" l="l"/>
              <a:pathLst>
                <a:path h="192243" w="716932">
                  <a:moveTo>
                    <a:pt x="96122" y="0"/>
                  </a:moveTo>
                  <a:lnTo>
                    <a:pt x="620811" y="0"/>
                  </a:lnTo>
                  <a:cubicBezTo>
                    <a:pt x="646304" y="0"/>
                    <a:pt x="670752" y="10127"/>
                    <a:pt x="688779" y="28153"/>
                  </a:cubicBezTo>
                  <a:cubicBezTo>
                    <a:pt x="706805" y="46180"/>
                    <a:pt x="716932" y="70629"/>
                    <a:pt x="716932" y="96122"/>
                  </a:cubicBezTo>
                  <a:lnTo>
                    <a:pt x="716932" y="96122"/>
                  </a:lnTo>
                  <a:cubicBezTo>
                    <a:pt x="716932" y="149208"/>
                    <a:pt x="673897" y="192243"/>
                    <a:pt x="62081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16932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94032" y="2953344"/>
            <a:ext cx="1643599" cy="776049"/>
            <a:chOff x="0" y="0"/>
            <a:chExt cx="407153" cy="1922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7153" cy="192243"/>
            </a:xfrm>
            <a:custGeom>
              <a:avLst/>
              <a:gdLst/>
              <a:ahLst/>
              <a:cxnLst/>
              <a:rect r="r" b="b" t="t" l="l"/>
              <a:pathLst>
                <a:path h="192243" w="407153">
                  <a:moveTo>
                    <a:pt x="96122" y="0"/>
                  </a:moveTo>
                  <a:lnTo>
                    <a:pt x="311031" y="0"/>
                  </a:lnTo>
                  <a:cubicBezTo>
                    <a:pt x="364118" y="0"/>
                    <a:pt x="407153" y="43035"/>
                    <a:pt x="407153" y="96122"/>
                  </a:cubicBezTo>
                  <a:lnTo>
                    <a:pt x="407153" y="96122"/>
                  </a:lnTo>
                  <a:cubicBezTo>
                    <a:pt x="407153" y="121615"/>
                    <a:pt x="397026" y="146064"/>
                    <a:pt x="379000" y="164090"/>
                  </a:cubicBezTo>
                  <a:cubicBezTo>
                    <a:pt x="360973" y="182116"/>
                    <a:pt x="336524" y="192243"/>
                    <a:pt x="31103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0715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94540" y="3950936"/>
            <a:ext cx="1999216" cy="776049"/>
            <a:chOff x="0" y="0"/>
            <a:chExt cx="495246" cy="1922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5247" cy="192243"/>
            </a:xfrm>
            <a:custGeom>
              <a:avLst/>
              <a:gdLst/>
              <a:ahLst/>
              <a:cxnLst/>
              <a:rect r="r" b="b" t="t" l="l"/>
              <a:pathLst>
                <a:path h="192243" w="495247">
                  <a:moveTo>
                    <a:pt x="96122" y="0"/>
                  </a:moveTo>
                  <a:lnTo>
                    <a:pt x="399125" y="0"/>
                  </a:lnTo>
                  <a:cubicBezTo>
                    <a:pt x="452211" y="0"/>
                    <a:pt x="495247" y="43035"/>
                    <a:pt x="495247" y="96122"/>
                  </a:cubicBezTo>
                  <a:lnTo>
                    <a:pt x="495247" y="96122"/>
                  </a:lnTo>
                  <a:cubicBezTo>
                    <a:pt x="495247" y="121615"/>
                    <a:pt x="485119" y="146064"/>
                    <a:pt x="467093" y="164090"/>
                  </a:cubicBezTo>
                  <a:cubicBezTo>
                    <a:pt x="449067" y="182116"/>
                    <a:pt x="424618" y="192243"/>
                    <a:pt x="399125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768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95246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679" y="5100744"/>
            <a:ext cx="3174176" cy="820243"/>
            <a:chOff x="0" y="0"/>
            <a:chExt cx="743943" cy="1922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679" y="8257648"/>
            <a:ext cx="3174176" cy="820243"/>
            <a:chOff x="0" y="0"/>
            <a:chExt cx="743943" cy="1922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1679" y="4048470"/>
            <a:ext cx="3071461" cy="820243"/>
            <a:chOff x="0" y="0"/>
            <a:chExt cx="719869" cy="1922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9869" cy="192243"/>
            </a:xfrm>
            <a:custGeom>
              <a:avLst/>
              <a:gdLst/>
              <a:ahLst/>
              <a:cxnLst/>
              <a:rect r="r" b="b" t="t" l="l"/>
              <a:pathLst>
                <a:path h="192243" w="719869">
                  <a:moveTo>
                    <a:pt x="96122" y="0"/>
                  </a:moveTo>
                  <a:lnTo>
                    <a:pt x="623748" y="0"/>
                  </a:lnTo>
                  <a:cubicBezTo>
                    <a:pt x="649241" y="0"/>
                    <a:pt x="673690" y="10127"/>
                    <a:pt x="691716" y="28153"/>
                  </a:cubicBezTo>
                  <a:cubicBezTo>
                    <a:pt x="709742" y="46180"/>
                    <a:pt x="719869" y="70629"/>
                    <a:pt x="719869" y="96122"/>
                  </a:cubicBezTo>
                  <a:lnTo>
                    <a:pt x="719869" y="96122"/>
                  </a:lnTo>
                  <a:cubicBezTo>
                    <a:pt x="719869" y="121615"/>
                    <a:pt x="709742" y="146064"/>
                    <a:pt x="691716" y="164090"/>
                  </a:cubicBezTo>
                  <a:cubicBezTo>
                    <a:pt x="673690" y="182116"/>
                    <a:pt x="649241" y="192243"/>
                    <a:pt x="623748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19869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31679" y="7205374"/>
            <a:ext cx="3174176" cy="820243"/>
            <a:chOff x="0" y="0"/>
            <a:chExt cx="743943" cy="1922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1679" y="6153100"/>
            <a:ext cx="3174176" cy="820243"/>
            <a:chOff x="0" y="0"/>
            <a:chExt cx="743943" cy="1922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83748" y="4944636"/>
            <a:ext cx="3836752" cy="776049"/>
            <a:chOff x="0" y="0"/>
            <a:chExt cx="950442" cy="1922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442" cy="192243"/>
            </a:xfrm>
            <a:custGeom>
              <a:avLst/>
              <a:gdLst/>
              <a:ahLst/>
              <a:cxnLst/>
              <a:rect r="r" b="b" t="t" l="l"/>
              <a:pathLst>
                <a:path h="192243" w="950442">
                  <a:moveTo>
                    <a:pt x="96122" y="0"/>
                  </a:moveTo>
                  <a:lnTo>
                    <a:pt x="854320" y="0"/>
                  </a:lnTo>
                  <a:cubicBezTo>
                    <a:pt x="879813" y="0"/>
                    <a:pt x="904262" y="10127"/>
                    <a:pt x="922288" y="28153"/>
                  </a:cubicBezTo>
                  <a:cubicBezTo>
                    <a:pt x="940315" y="46180"/>
                    <a:pt x="950442" y="70629"/>
                    <a:pt x="950442" y="96122"/>
                  </a:cubicBezTo>
                  <a:lnTo>
                    <a:pt x="950442" y="96122"/>
                  </a:lnTo>
                  <a:cubicBezTo>
                    <a:pt x="950442" y="149208"/>
                    <a:pt x="907407" y="192243"/>
                    <a:pt x="854320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46C0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950442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557066" y="5936913"/>
            <a:ext cx="1879874" cy="776049"/>
            <a:chOff x="0" y="0"/>
            <a:chExt cx="465683" cy="19224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5683" cy="192243"/>
            </a:xfrm>
            <a:custGeom>
              <a:avLst/>
              <a:gdLst/>
              <a:ahLst/>
              <a:cxnLst/>
              <a:rect r="r" b="b" t="t" l="l"/>
              <a:pathLst>
                <a:path h="192243" w="465683">
                  <a:moveTo>
                    <a:pt x="96122" y="0"/>
                  </a:moveTo>
                  <a:lnTo>
                    <a:pt x="369561" y="0"/>
                  </a:lnTo>
                  <a:cubicBezTo>
                    <a:pt x="395054" y="0"/>
                    <a:pt x="419503" y="10127"/>
                    <a:pt x="437530" y="28153"/>
                  </a:cubicBezTo>
                  <a:cubicBezTo>
                    <a:pt x="455556" y="46180"/>
                    <a:pt x="465683" y="70629"/>
                    <a:pt x="465683" y="96122"/>
                  </a:cubicBezTo>
                  <a:lnTo>
                    <a:pt x="465683" y="96122"/>
                  </a:lnTo>
                  <a:cubicBezTo>
                    <a:pt x="465683" y="149208"/>
                    <a:pt x="422648" y="192243"/>
                    <a:pt x="36956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BC5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6568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867372" y="7921107"/>
            <a:ext cx="1840464" cy="776049"/>
            <a:chOff x="0" y="0"/>
            <a:chExt cx="455920" cy="19224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5920" cy="192243"/>
            </a:xfrm>
            <a:custGeom>
              <a:avLst/>
              <a:gdLst/>
              <a:ahLst/>
              <a:cxnLst/>
              <a:rect r="r" b="b" t="t" l="l"/>
              <a:pathLst>
                <a:path h="192243" w="455920">
                  <a:moveTo>
                    <a:pt x="96122" y="0"/>
                  </a:moveTo>
                  <a:lnTo>
                    <a:pt x="359799" y="0"/>
                  </a:lnTo>
                  <a:cubicBezTo>
                    <a:pt x="385292" y="0"/>
                    <a:pt x="409741" y="10127"/>
                    <a:pt x="427767" y="28153"/>
                  </a:cubicBezTo>
                  <a:cubicBezTo>
                    <a:pt x="445793" y="46180"/>
                    <a:pt x="455920" y="70629"/>
                    <a:pt x="455920" y="96122"/>
                  </a:cubicBezTo>
                  <a:lnTo>
                    <a:pt x="455920" y="96122"/>
                  </a:lnTo>
                  <a:cubicBezTo>
                    <a:pt x="455920" y="121615"/>
                    <a:pt x="445793" y="146064"/>
                    <a:pt x="427767" y="164090"/>
                  </a:cubicBezTo>
                  <a:cubicBezTo>
                    <a:pt x="409741" y="182116"/>
                    <a:pt x="385292" y="192243"/>
                    <a:pt x="359799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0EAD6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55920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064322" y="6978239"/>
            <a:ext cx="1954019" cy="776049"/>
            <a:chOff x="0" y="0"/>
            <a:chExt cx="484050" cy="1922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4050" cy="192243"/>
            </a:xfrm>
            <a:custGeom>
              <a:avLst/>
              <a:gdLst/>
              <a:ahLst/>
              <a:cxnLst/>
              <a:rect r="r" b="b" t="t" l="l"/>
              <a:pathLst>
                <a:path h="192243" w="484050">
                  <a:moveTo>
                    <a:pt x="96122" y="0"/>
                  </a:moveTo>
                  <a:lnTo>
                    <a:pt x="387929" y="0"/>
                  </a:lnTo>
                  <a:cubicBezTo>
                    <a:pt x="413422" y="0"/>
                    <a:pt x="437871" y="10127"/>
                    <a:pt x="455897" y="28153"/>
                  </a:cubicBezTo>
                  <a:cubicBezTo>
                    <a:pt x="473923" y="46180"/>
                    <a:pt x="484050" y="70629"/>
                    <a:pt x="484050" y="96122"/>
                  </a:cubicBezTo>
                  <a:lnTo>
                    <a:pt x="484050" y="96122"/>
                  </a:lnTo>
                  <a:cubicBezTo>
                    <a:pt x="484050" y="121615"/>
                    <a:pt x="473923" y="146064"/>
                    <a:pt x="455897" y="164090"/>
                  </a:cubicBezTo>
                  <a:cubicBezTo>
                    <a:pt x="437871" y="182116"/>
                    <a:pt x="413422" y="192243"/>
                    <a:pt x="387929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CD78C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84050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7001" y="2009027"/>
            <a:ext cx="2661046" cy="551796"/>
            <a:chOff x="0" y="0"/>
            <a:chExt cx="659195" cy="1366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9195" cy="136691"/>
            </a:xfrm>
            <a:custGeom>
              <a:avLst/>
              <a:gdLst/>
              <a:ahLst/>
              <a:cxnLst/>
              <a:rect r="r" b="b" t="t" l="l"/>
              <a:pathLst>
                <a:path h="136691" w="659195">
                  <a:moveTo>
                    <a:pt x="68346" y="0"/>
                  </a:moveTo>
                  <a:lnTo>
                    <a:pt x="590850" y="0"/>
                  </a:lnTo>
                  <a:cubicBezTo>
                    <a:pt x="608976" y="0"/>
                    <a:pt x="626360" y="7201"/>
                    <a:pt x="639178" y="20018"/>
                  </a:cubicBezTo>
                  <a:cubicBezTo>
                    <a:pt x="651995" y="32835"/>
                    <a:pt x="659195" y="50219"/>
                    <a:pt x="659195" y="68346"/>
                  </a:cubicBezTo>
                  <a:lnTo>
                    <a:pt x="659195" y="68346"/>
                  </a:lnTo>
                  <a:cubicBezTo>
                    <a:pt x="659195" y="106092"/>
                    <a:pt x="628596" y="136691"/>
                    <a:pt x="590850" y="136691"/>
                  </a:cubicBezTo>
                  <a:lnTo>
                    <a:pt x="68346" y="136691"/>
                  </a:lnTo>
                  <a:cubicBezTo>
                    <a:pt x="50219" y="136691"/>
                    <a:pt x="32835" y="129490"/>
                    <a:pt x="20018" y="116673"/>
                  </a:cubicBezTo>
                  <a:cubicBezTo>
                    <a:pt x="7201" y="103856"/>
                    <a:pt x="0" y="86472"/>
                    <a:pt x="0" y="68346"/>
                  </a:cubicBezTo>
                  <a:lnTo>
                    <a:pt x="0" y="68346"/>
                  </a:lnTo>
                  <a:cubicBezTo>
                    <a:pt x="0" y="50219"/>
                    <a:pt x="7201" y="32835"/>
                    <a:pt x="20018" y="20018"/>
                  </a:cubicBezTo>
                  <a:cubicBezTo>
                    <a:pt x="32835" y="7201"/>
                    <a:pt x="50219" y="0"/>
                    <a:pt x="68346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59195" cy="13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271435" y="2009027"/>
            <a:ext cx="12436401" cy="551796"/>
            <a:chOff x="0" y="0"/>
            <a:chExt cx="3080750" cy="1366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80750" cy="136691"/>
            </a:xfrm>
            <a:custGeom>
              <a:avLst/>
              <a:gdLst/>
              <a:ahLst/>
              <a:cxnLst/>
              <a:rect r="r" b="b" t="t" l="l"/>
              <a:pathLst>
                <a:path h="136691" w="3080750">
                  <a:moveTo>
                    <a:pt x="62252" y="0"/>
                  </a:moveTo>
                  <a:lnTo>
                    <a:pt x="3018498" y="0"/>
                  </a:lnTo>
                  <a:cubicBezTo>
                    <a:pt x="3052879" y="0"/>
                    <a:pt x="3080750" y="27871"/>
                    <a:pt x="3080750" y="62252"/>
                  </a:cubicBezTo>
                  <a:lnTo>
                    <a:pt x="3080750" y="74439"/>
                  </a:lnTo>
                  <a:cubicBezTo>
                    <a:pt x="3080750" y="108820"/>
                    <a:pt x="3052879" y="136691"/>
                    <a:pt x="3018498" y="136691"/>
                  </a:cubicBezTo>
                  <a:lnTo>
                    <a:pt x="62252" y="136691"/>
                  </a:lnTo>
                  <a:cubicBezTo>
                    <a:pt x="27871" y="136691"/>
                    <a:pt x="0" y="108820"/>
                    <a:pt x="0" y="74439"/>
                  </a:cubicBezTo>
                  <a:lnTo>
                    <a:pt x="0" y="62252"/>
                  </a:lnTo>
                  <a:cubicBezTo>
                    <a:pt x="0" y="27871"/>
                    <a:pt x="27871" y="0"/>
                    <a:pt x="6225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080750" cy="13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>
            <a:off x="4700519" y="2819994"/>
            <a:ext cx="11824173" cy="109538"/>
          </a:xfrm>
          <a:prstGeom prst="line">
            <a:avLst/>
          </a:prstGeom>
          <a:ln cap="flat" w="2857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997210" y="3074787"/>
            <a:ext cx="570228" cy="533163"/>
          </a:xfrm>
          <a:custGeom>
            <a:avLst/>
            <a:gdLst/>
            <a:ahLst/>
            <a:cxnLst/>
            <a:rect r="r" b="b" t="t" l="l"/>
            <a:pathLst>
              <a:path h="533163" w="570228">
                <a:moveTo>
                  <a:pt x="0" y="0"/>
                </a:moveTo>
                <a:lnTo>
                  <a:pt x="570228" y="0"/>
                </a:lnTo>
                <a:lnTo>
                  <a:pt x="570228" y="533163"/>
                </a:lnTo>
                <a:lnTo>
                  <a:pt x="0" y="533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008295" y="3025574"/>
            <a:ext cx="2723036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021E47"/>
                </a:solidFill>
                <a:latin typeface="Telegraf Bold"/>
                <a:ea typeface="Telegraf Bold"/>
                <a:cs typeface="Telegraf Bold"/>
                <a:sym typeface="Telegraf Bold"/>
              </a:rPr>
              <a:t>Literature Review and Problem Analysis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72410" y="4239848"/>
            <a:ext cx="2809073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Design and Architecture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00960" y="5245128"/>
            <a:ext cx="2537706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004731"/>
                </a:solidFill>
                <a:latin typeface="Telegraf Bold"/>
                <a:ea typeface="Telegraf Bold"/>
                <a:cs typeface="Telegraf Bold"/>
                <a:sym typeface="Telegraf Bold"/>
              </a:rPr>
              <a:t>Algorithm Implementation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37001" y="7327637"/>
            <a:ext cx="2763532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021E47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Testing and Performance Evaluation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00960" y="8378042"/>
            <a:ext cx="2497087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Documentation and Thesis Writing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19464" y="6301986"/>
            <a:ext cx="3107501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021E47"/>
                </a:solidFill>
                <a:latin typeface="Telegraf Bold"/>
                <a:ea typeface="Telegraf Bold"/>
                <a:cs typeface="Telegraf Bold"/>
                <a:sym typeface="Telegraf Bold"/>
              </a:rPr>
              <a:t>Simulation and Visualization Development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51476" y="2106021"/>
            <a:ext cx="1210042" cy="37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6"/>
              </a:lnSpc>
              <a:spcBef>
                <a:spcPct val="0"/>
              </a:spcBef>
            </a:pPr>
            <a:r>
              <a:rPr lang="en-US" b="true" sz="2596" spc="-64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TASKS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528696" y="2122353"/>
            <a:ext cx="1507256" cy="30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FEBRUARY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054940" y="190293"/>
            <a:ext cx="8382000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GANTT CHART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930973" y="1066800"/>
            <a:ext cx="8382000" cy="41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3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Time line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035952" y="2128309"/>
            <a:ext cx="1507256" cy="30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M</a:t>
            </a: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ARCH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543207" y="2134264"/>
            <a:ext cx="1507256" cy="30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AP</a:t>
            </a: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RIL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050463" y="2140220"/>
            <a:ext cx="1507256" cy="30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M</a:t>
            </a: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AY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481518" y="2158087"/>
            <a:ext cx="1507256" cy="30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JUN</a:t>
            </a: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E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853484" y="2174119"/>
            <a:ext cx="1507256" cy="30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J</a:t>
            </a: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ULY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287703" y="2139033"/>
            <a:ext cx="1507256" cy="30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AUG</a:t>
            </a: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UST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867372" y="2139033"/>
            <a:ext cx="1507256" cy="30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S</a:t>
            </a:r>
            <a:r>
              <a:rPr lang="en-US" b="true" sz="1942" spc="-48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EPTEMBER 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6504466" y="4048470"/>
            <a:ext cx="570228" cy="533163"/>
          </a:xfrm>
          <a:custGeom>
            <a:avLst/>
            <a:gdLst/>
            <a:ahLst/>
            <a:cxnLst/>
            <a:rect r="r" b="b" t="t" l="l"/>
            <a:pathLst>
              <a:path h="533163" w="570228">
                <a:moveTo>
                  <a:pt x="0" y="0"/>
                </a:moveTo>
                <a:lnTo>
                  <a:pt x="570227" y="0"/>
                </a:lnTo>
                <a:lnTo>
                  <a:pt x="570227" y="533163"/>
                </a:lnTo>
                <a:lnTo>
                  <a:pt x="0" y="533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9334500" y="5066080"/>
            <a:ext cx="570228" cy="533163"/>
          </a:xfrm>
          <a:custGeom>
            <a:avLst/>
            <a:gdLst/>
            <a:ahLst/>
            <a:cxnLst/>
            <a:rect r="r" b="b" t="t" l="l"/>
            <a:pathLst>
              <a:path h="533163" w="570228">
                <a:moveTo>
                  <a:pt x="0" y="0"/>
                </a:moveTo>
                <a:lnTo>
                  <a:pt x="570228" y="0"/>
                </a:lnTo>
                <a:lnTo>
                  <a:pt x="570228" y="533162"/>
                </a:lnTo>
                <a:lnTo>
                  <a:pt x="0" y="533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2211889" y="6058356"/>
            <a:ext cx="570228" cy="533163"/>
          </a:xfrm>
          <a:custGeom>
            <a:avLst/>
            <a:gdLst/>
            <a:ahLst/>
            <a:cxnLst/>
            <a:rect r="r" b="b" t="t" l="l"/>
            <a:pathLst>
              <a:path h="533163" w="570228">
                <a:moveTo>
                  <a:pt x="0" y="0"/>
                </a:moveTo>
                <a:lnTo>
                  <a:pt x="570228" y="0"/>
                </a:lnTo>
                <a:lnTo>
                  <a:pt x="570228" y="533163"/>
                </a:lnTo>
                <a:lnTo>
                  <a:pt x="0" y="533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299339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1269921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0" y="1970683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113419" y="5544078"/>
            <a:ext cx="2443162" cy="4114800"/>
          </a:xfrm>
          <a:custGeom>
            <a:avLst/>
            <a:gdLst/>
            <a:ahLst/>
            <a:cxnLst/>
            <a:rect r="r" b="b" t="t" l="l"/>
            <a:pathLst>
              <a:path h="4114800" w="2443162">
                <a:moveTo>
                  <a:pt x="0" y="0"/>
                </a:moveTo>
                <a:lnTo>
                  <a:pt x="2443162" y="0"/>
                </a:lnTo>
                <a:lnTo>
                  <a:pt x="24431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84063" y="2343932"/>
            <a:ext cx="5250905" cy="4114800"/>
          </a:xfrm>
          <a:custGeom>
            <a:avLst/>
            <a:gdLst/>
            <a:ahLst/>
            <a:cxnLst/>
            <a:rect r="r" b="b" t="t" l="l"/>
            <a:pathLst>
              <a:path h="4114800" w="5250905">
                <a:moveTo>
                  <a:pt x="0" y="0"/>
                </a:moveTo>
                <a:lnTo>
                  <a:pt x="5250905" y="0"/>
                </a:lnTo>
                <a:lnTo>
                  <a:pt x="5250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76500" y="6887357"/>
            <a:ext cx="8382000" cy="150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sz="5600" b="true">
                <a:solidFill>
                  <a:srgbClr val="00BF63"/>
                </a:solidFill>
                <a:latin typeface="Gotham Bold"/>
                <a:ea typeface="Gotham Bold"/>
                <a:cs typeface="Gotham Bold"/>
                <a:sym typeface="Gotham Bold"/>
              </a:rPr>
              <a:t>Do you have </a:t>
            </a:r>
            <a:r>
              <a:rPr lang="en-US" sz="5600" b="true">
                <a:solidFill>
                  <a:srgbClr val="46C0FF"/>
                </a:solidFill>
                <a:latin typeface="Gotham Bold"/>
                <a:ea typeface="Gotham Bold"/>
                <a:cs typeface="Gotham Bold"/>
                <a:sym typeface="Gotham Bold"/>
              </a:rPr>
              <a:t>Any Questions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3560" y="4172974"/>
            <a:ext cx="8747165" cy="236724"/>
          </a:xfrm>
          <a:custGeom>
            <a:avLst/>
            <a:gdLst/>
            <a:ahLst/>
            <a:cxnLst/>
            <a:rect r="r" b="b" t="t" l="l"/>
            <a:pathLst>
              <a:path h="236724" w="8747165">
                <a:moveTo>
                  <a:pt x="0" y="0"/>
                </a:moveTo>
                <a:lnTo>
                  <a:pt x="8747165" y="0"/>
                </a:lnTo>
                <a:lnTo>
                  <a:pt x="8747165" y="236725"/>
                </a:lnTo>
                <a:lnTo>
                  <a:pt x="0" y="236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-649222" r="0" b="-2182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0643" y="3927982"/>
            <a:ext cx="13858714" cy="430848"/>
            <a:chOff x="0" y="0"/>
            <a:chExt cx="11274233" cy="350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74233" cy="350500"/>
            </a:xfrm>
            <a:custGeom>
              <a:avLst/>
              <a:gdLst/>
              <a:ahLst/>
              <a:cxnLst/>
              <a:rect r="r" b="b" t="t" l="l"/>
              <a:pathLst>
                <a:path h="350500" w="11274233">
                  <a:moveTo>
                    <a:pt x="11274233" y="175250"/>
                  </a:moveTo>
                  <a:lnTo>
                    <a:pt x="11071033" y="350500"/>
                  </a:lnTo>
                  <a:lnTo>
                    <a:pt x="203200" y="350500"/>
                  </a:lnTo>
                  <a:lnTo>
                    <a:pt x="0" y="175250"/>
                  </a:lnTo>
                  <a:lnTo>
                    <a:pt x="203200" y="0"/>
                  </a:lnTo>
                  <a:lnTo>
                    <a:pt x="11071033" y="0"/>
                  </a:lnTo>
                  <a:lnTo>
                    <a:pt x="11274233" y="175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47625"/>
              <a:ext cx="11045633" cy="398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99791" y="4032618"/>
            <a:ext cx="12582592" cy="18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20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Ref: Di Franco, C., &amp; Buttazzo, G. (2015). Energy-aware coverage path planning of UAVs. 2015 IEEE International Conference on Robotics and Automation (ICRA), 7157-7162.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99805" y="5244194"/>
            <a:ext cx="2547716" cy="305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4"/>
              </a:lnSpc>
            </a:pPr>
            <a:r>
              <a:rPr lang="en-US" sz="924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New insights about customer interests refine targeting and personalization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685" y="3901988"/>
            <a:ext cx="633989" cy="36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b="true" sz="2081">
                <a:solidFill>
                  <a:srgbClr val="0CC0D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99805" y="5890743"/>
            <a:ext cx="2547716" cy="1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4"/>
              </a:lnSpc>
            </a:pPr>
            <a:r>
              <a:rPr lang="en-US" b="true" sz="92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Content Improve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0" y="1970683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747" y="2636595"/>
            <a:ext cx="945050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5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REFERENCE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93607" y="4775825"/>
            <a:ext cx="8747165" cy="236724"/>
          </a:xfrm>
          <a:custGeom>
            <a:avLst/>
            <a:gdLst/>
            <a:ahLst/>
            <a:cxnLst/>
            <a:rect r="r" b="b" t="t" l="l"/>
            <a:pathLst>
              <a:path h="236724" w="8747165">
                <a:moveTo>
                  <a:pt x="0" y="0"/>
                </a:moveTo>
                <a:lnTo>
                  <a:pt x="8747165" y="0"/>
                </a:lnTo>
                <a:lnTo>
                  <a:pt x="8747165" y="236725"/>
                </a:lnTo>
                <a:lnTo>
                  <a:pt x="0" y="236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-649222" r="0" b="-218217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10690" y="4530833"/>
            <a:ext cx="13838668" cy="430848"/>
            <a:chOff x="0" y="0"/>
            <a:chExt cx="11257924" cy="350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57924" cy="350500"/>
            </a:xfrm>
            <a:custGeom>
              <a:avLst/>
              <a:gdLst/>
              <a:ahLst/>
              <a:cxnLst/>
              <a:rect r="r" b="b" t="t" l="l"/>
              <a:pathLst>
                <a:path h="350500" w="11257924">
                  <a:moveTo>
                    <a:pt x="11257924" y="175250"/>
                  </a:moveTo>
                  <a:lnTo>
                    <a:pt x="11054724" y="350500"/>
                  </a:lnTo>
                  <a:lnTo>
                    <a:pt x="203200" y="350500"/>
                  </a:lnTo>
                  <a:lnTo>
                    <a:pt x="0" y="175250"/>
                  </a:lnTo>
                  <a:lnTo>
                    <a:pt x="203200" y="0"/>
                  </a:lnTo>
                  <a:lnTo>
                    <a:pt x="11054724" y="0"/>
                  </a:lnTo>
                  <a:lnTo>
                    <a:pt x="11257924" y="175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47625"/>
              <a:ext cx="11029324" cy="398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13654" y="5378676"/>
            <a:ext cx="8747165" cy="236724"/>
          </a:xfrm>
          <a:custGeom>
            <a:avLst/>
            <a:gdLst/>
            <a:ahLst/>
            <a:cxnLst/>
            <a:rect r="r" b="b" t="t" l="l"/>
            <a:pathLst>
              <a:path h="236724" w="8747165">
                <a:moveTo>
                  <a:pt x="0" y="0"/>
                </a:moveTo>
                <a:lnTo>
                  <a:pt x="8747165" y="0"/>
                </a:lnTo>
                <a:lnTo>
                  <a:pt x="8747165" y="236725"/>
                </a:lnTo>
                <a:lnTo>
                  <a:pt x="0" y="236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-649222" r="0" b="-218217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30736" y="5133684"/>
            <a:ext cx="13818621" cy="430848"/>
            <a:chOff x="0" y="0"/>
            <a:chExt cx="11241616" cy="350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41616" cy="350500"/>
            </a:xfrm>
            <a:custGeom>
              <a:avLst/>
              <a:gdLst/>
              <a:ahLst/>
              <a:cxnLst/>
              <a:rect r="r" b="b" t="t" l="l"/>
              <a:pathLst>
                <a:path h="350500" w="11241616">
                  <a:moveTo>
                    <a:pt x="11241616" y="175250"/>
                  </a:moveTo>
                  <a:lnTo>
                    <a:pt x="11038416" y="350500"/>
                  </a:lnTo>
                  <a:lnTo>
                    <a:pt x="203200" y="350500"/>
                  </a:lnTo>
                  <a:lnTo>
                    <a:pt x="0" y="175250"/>
                  </a:lnTo>
                  <a:lnTo>
                    <a:pt x="203200" y="0"/>
                  </a:lnTo>
                  <a:lnTo>
                    <a:pt x="11038416" y="0"/>
                  </a:lnTo>
                  <a:lnTo>
                    <a:pt x="11241616" y="175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47625"/>
              <a:ext cx="11013016" cy="398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99791" y="4578702"/>
            <a:ext cx="11846256" cy="18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20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Ref: Aggarwal, S., &amp; Kumar, N. (2020). Path planning techniques for unmanned aerial vehicles: A review, solutions, and challenges. Computer Communications, 149, 270-299.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33701" y="5981527"/>
            <a:ext cx="8747165" cy="236724"/>
          </a:xfrm>
          <a:custGeom>
            <a:avLst/>
            <a:gdLst/>
            <a:ahLst/>
            <a:cxnLst/>
            <a:rect r="r" b="b" t="t" l="l"/>
            <a:pathLst>
              <a:path h="236724" w="8747165">
                <a:moveTo>
                  <a:pt x="0" y="0"/>
                </a:moveTo>
                <a:lnTo>
                  <a:pt x="8747164" y="0"/>
                </a:lnTo>
                <a:lnTo>
                  <a:pt x="8747164" y="236724"/>
                </a:lnTo>
                <a:lnTo>
                  <a:pt x="0" y="236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-649222" r="0" b="-218217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750783" y="5736535"/>
            <a:ext cx="13798574" cy="430848"/>
            <a:chOff x="0" y="0"/>
            <a:chExt cx="11225308" cy="350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25308" cy="350500"/>
            </a:xfrm>
            <a:custGeom>
              <a:avLst/>
              <a:gdLst/>
              <a:ahLst/>
              <a:cxnLst/>
              <a:rect r="r" b="b" t="t" l="l"/>
              <a:pathLst>
                <a:path h="350500" w="11225308">
                  <a:moveTo>
                    <a:pt x="11225308" y="175250"/>
                  </a:moveTo>
                  <a:lnTo>
                    <a:pt x="11022108" y="350500"/>
                  </a:lnTo>
                  <a:lnTo>
                    <a:pt x="203200" y="350500"/>
                  </a:lnTo>
                  <a:lnTo>
                    <a:pt x="0" y="175250"/>
                  </a:lnTo>
                  <a:lnTo>
                    <a:pt x="203200" y="0"/>
                  </a:lnTo>
                  <a:lnTo>
                    <a:pt x="11022108" y="0"/>
                  </a:lnTo>
                  <a:lnTo>
                    <a:pt x="11225308" y="175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14300" y="-47625"/>
              <a:ext cx="10996708" cy="398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79978" y="5884163"/>
            <a:ext cx="7706600" cy="18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20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Energy-Efficient Internet of Drones Path-Planning Study Using Meta-Heuristic Algorithms (2024)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53747" y="6584378"/>
            <a:ext cx="8747165" cy="236724"/>
          </a:xfrm>
          <a:custGeom>
            <a:avLst/>
            <a:gdLst/>
            <a:ahLst/>
            <a:cxnLst/>
            <a:rect r="r" b="b" t="t" l="l"/>
            <a:pathLst>
              <a:path h="236724" w="8747165">
                <a:moveTo>
                  <a:pt x="0" y="0"/>
                </a:moveTo>
                <a:lnTo>
                  <a:pt x="8747165" y="0"/>
                </a:lnTo>
                <a:lnTo>
                  <a:pt x="8747165" y="236724"/>
                </a:lnTo>
                <a:lnTo>
                  <a:pt x="0" y="236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-649222" r="0" b="-218217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770830" y="6339386"/>
            <a:ext cx="13778528" cy="430848"/>
            <a:chOff x="0" y="0"/>
            <a:chExt cx="11209000" cy="350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09000" cy="350500"/>
            </a:xfrm>
            <a:custGeom>
              <a:avLst/>
              <a:gdLst/>
              <a:ahLst/>
              <a:cxnLst/>
              <a:rect r="r" b="b" t="t" l="l"/>
              <a:pathLst>
                <a:path h="350500" w="11209000">
                  <a:moveTo>
                    <a:pt x="11209000" y="175250"/>
                  </a:moveTo>
                  <a:lnTo>
                    <a:pt x="11005800" y="350500"/>
                  </a:lnTo>
                  <a:lnTo>
                    <a:pt x="203200" y="350500"/>
                  </a:lnTo>
                  <a:lnTo>
                    <a:pt x="0" y="175250"/>
                  </a:lnTo>
                  <a:lnTo>
                    <a:pt x="203200" y="0"/>
                  </a:lnTo>
                  <a:lnTo>
                    <a:pt x="11005800" y="0"/>
                  </a:lnTo>
                  <a:lnTo>
                    <a:pt x="11209000" y="175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47625"/>
              <a:ext cx="10980400" cy="398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507783" y="6468268"/>
            <a:ext cx="9498250" cy="18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20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Ref: Farr, T. G., et al. (2007). The shuttle radar topography mission. Reviews of Geophysics, 45(2), RG2004. (SRTM)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73794" y="7187229"/>
            <a:ext cx="8747165" cy="236724"/>
          </a:xfrm>
          <a:custGeom>
            <a:avLst/>
            <a:gdLst/>
            <a:ahLst/>
            <a:cxnLst/>
            <a:rect r="r" b="b" t="t" l="l"/>
            <a:pathLst>
              <a:path h="236724" w="8747165">
                <a:moveTo>
                  <a:pt x="0" y="0"/>
                </a:moveTo>
                <a:lnTo>
                  <a:pt x="8747165" y="0"/>
                </a:lnTo>
                <a:lnTo>
                  <a:pt x="8747165" y="236724"/>
                </a:lnTo>
                <a:lnTo>
                  <a:pt x="0" y="236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-649222" r="0" b="-218217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790876" y="6942237"/>
            <a:ext cx="13758481" cy="430848"/>
            <a:chOff x="0" y="0"/>
            <a:chExt cx="11192691" cy="350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192691" cy="350500"/>
            </a:xfrm>
            <a:custGeom>
              <a:avLst/>
              <a:gdLst/>
              <a:ahLst/>
              <a:cxnLst/>
              <a:rect r="r" b="b" t="t" l="l"/>
              <a:pathLst>
                <a:path h="350500" w="11192691">
                  <a:moveTo>
                    <a:pt x="11192691" y="175250"/>
                  </a:moveTo>
                  <a:lnTo>
                    <a:pt x="10989491" y="350500"/>
                  </a:lnTo>
                  <a:lnTo>
                    <a:pt x="203200" y="350500"/>
                  </a:lnTo>
                  <a:lnTo>
                    <a:pt x="0" y="175250"/>
                  </a:lnTo>
                  <a:lnTo>
                    <a:pt x="203200" y="0"/>
                  </a:lnTo>
                  <a:lnTo>
                    <a:pt x="10989491" y="0"/>
                  </a:lnTo>
                  <a:lnTo>
                    <a:pt x="11192691" y="175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14300" y="-47625"/>
              <a:ext cx="10964091" cy="398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59931" y="7059352"/>
            <a:ext cx="12522452" cy="18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20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Ref: Lian, F., et al. (2024). WA-LPA*: An Energy-Aware Path-Planning Algorithm for UAVs in Dynamic Wind Environments. Drones, 9(12), 850. (OWT 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3925" y="4530502"/>
            <a:ext cx="633989" cy="36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b="true" sz="2081">
                <a:solidFill>
                  <a:srgbClr val="0C73D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19838" y="5255962"/>
            <a:ext cx="7706600" cy="18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20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Border Patrol Using Multiple Unmanned Aerial Vehicles Based on Stackelberg Security Game (2023)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8685" y="5131545"/>
            <a:ext cx="633989" cy="3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b="true" sz="2081">
                <a:solidFill>
                  <a:srgbClr val="0CC0D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1683" y="5744810"/>
            <a:ext cx="633989" cy="36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b="true" sz="2081">
                <a:solidFill>
                  <a:srgbClr val="0C73DF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7929" y="6337247"/>
            <a:ext cx="633989" cy="36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b="true" sz="2081">
                <a:solidFill>
                  <a:srgbClr val="0CC0D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1556" y="6930124"/>
            <a:ext cx="633989" cy="3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b="true" sz="2081">
                <a:solidFill>
                  <a:srgbClr val="0C73DF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833701" y="7788722"/>
            <a:ext cx="8747165" cy="236724"/>
          </a:xfrm>
          <a:custGeom>
            <a:avLst/>
            <a:gdLst/>
            <a:ahLst/>
            <a:cxnLst/>
            <a:rect r="r" b="b" t="t" l="l"/>
            <a:pathLst>
              <a:path h="236724" w="8747165">
                <a:moveTo>
                  <a:pt x="0" y="0"/>
                </a:moveTo>
                <a:lnTo>
                  <a:pt x="8747164" y="0"/>
                </a:lnTo>
                <a:lnTo>
                  <a:pt x="8747164" y="236725"/>
                </a:lnTo>
                <a:lnTo>
                  <a:pt x="0" y="236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-649222" r="0" b="-218217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750783" y="7543730"/>
            <a:ext cx="13798574" cy="430848"/>
            <a:chOff x="0" y="0"/>
            <a:chExt cx="11225308" cy="3505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25308" cy="350500"/>
            </a:xfrm>
            <a:custGeom>
              <a:avLst/>
              <a:gdLst/>
              <a:ahLst/>
              <a:cxnLst/>
              <a:rect r="r" b="b" t="t" l="l"/>
              <a:pathLst>
                <a:path h="350500" w="11225308">
                  <a:moveTo>
                    <a:pt x="11225308" y="175250"/>
                  </a:moveTo>
                  <a:lnTo>
                    <a:pt x="11022108" y="350500"/>
                  </a:lnTo>
                  <a:lnTo>
                    <a:pt x="203200" y="350500"/>
                  </a:lnTo>
                  <a:lnTo>
                    <a:pt x="0" y="175250"/>
                  </a:lnTo>
                  <a:lnTo>
                    <a:pt x="203200" y="0"/>
                  </a:lnTo>
                  <a:lnTo>
                    <a:pt x="11022108" y="0"/>
                  </a:lnTo>
                  <a:lnTo>
                    <a:pt x="11225308" y="175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14300" y="-47625"/>
              <a:ext cx="10996708" cy="398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419838" y="7660846"/>
            <a:ext cx="12886882" cy="18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20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Ref: Basilico, N., Gatti, N., &amp; Amigoni, F. (2009). Leader-follower strategies for robotic patrolling in environments with arbitrary topologies. IEEE Transactions on Robotics, 25(6), 1317-1331. (SSE)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11556" y="7542949"/>
            <a:ext cx="633989" cy="3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b="true" sz="2081">
                <a:solidFill>
                  <a:srgbClr val="0CC0DF"/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05895" y="8056005"/>
            <a:ext cx="13743462" cy="430848"/>
            <a:chOff x="0" y="0"/>
            <a:chExt cx="11180474" cy="3505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180473" cy="350500"/>
            </a:xfrm>
            <a:custGeom>
              <a:avLst/>
              <a:gdLst/>
              <a:ahLst/>
              <a:cxnLst/>
              <a:rect r="r" b="b" t="t" l="l"/>
              <a:pathLst>
                <a:path h="350500" w="11180473">
                  <a:moveTo>
                    <a:pt x="11180473" y="175250"/>
                  </a:moveTo>
                  <a:lnTo>
                    <a:pt x="10977273" y="350500"/>
                  </a:lnTo>
                  <a:lnTo>
                    <a:pt x="203200" y="350500"/>
                  </a:lnTo>
                  <a:lnTo>
                    <a:pt x="0" y="175250"/>
                  </a:lnTo>
                  <a:lnTo>
                    <a:pt x="203200" y="0"/>
                  </a:lnTo>
                  <a:lnTo>
                    <a:pt x="10977273" y="0"/>
                  </a:lnTo>
                  <a:lnTo>
                    <a:pt x="11180473" y="175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14300" y="-47625"/>
              <a:ext cx="10951874" cy="398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18816" y="8050281"/>
            <a:ext cx="633989" cy="3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b="true" sz="2081">
                <a:solidFill>
                  <a:srgbClr val="0C73DF"/>
                </a:solidFill>
                <a:latin typeface="TT Hoves Bold"/>
                <a:ea typeface="TT Hoves Bold"/>
                <a:cs typeface="TT Hoves Bold"/>
                <a:sym typeface="TT Hoves Bold"/>
              </a:rPr>
              <a:t>08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888813" y="8856810"/>
            <a:ext cx="8747165" cy="236724"/>
          </a:xfrm>
          <a:custGeom>
            <a:avLst/>
            <a:gdLst/>
            <a:ahLst/>
            <a:cxnLst/>
            <a:rect r="r" b="b" t="t" l="l"/>
            <a:pathLst>
              <a:path h="236724" w="8747165">
                <a:moveTo>
                  <a:pt x="0" y="0"/>
                </a:moveTo>
                <a:lnTo>
                  <a:pt x="8747164" y="0"/>
                </a:lnTo>
                <a:lnTo>
                  <a:pt x="8747164" y="236725"/>
                </a:lnTo>
                <a:lnTo>
                  <a:pt x="0" y="236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-649222" r="0" b="-218217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805895" y="8611818"/>
            <a:ext cx="13743462" cy="430848"/>
            <a:chOff x="0" y="0"/>
            <a:chExt cx="11180474" cy="3505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180473" cy="350500"/>
            </a:xfrm>
            <a:custGeom>
              <a:avLst/>
              <a:gdLst/>
              <a:ahLst/>
              <a:cxnLst/>
              <a:rect r="r" b="b" t="t" l="l"/>
              <a:pathLst>
                <a:path h="350500" w="11180473">
                  <a:moveTo>
                    <a:pt x="11180473" y="175250"/>
                  </a:moveTo>
                  <a:lnTo>
                    <a:pt x="10977273" y="350500"/>
                  </a:lnTo>
                  <a:lnTo>
                    <a:pt x="203200" y="350500"/>
                  </a:lnTo>
                  <a:lnTo>
                    <a:pt x="0" y="175250"/>
                  </a:lnTo>
                  <a:lnTo>
                    <a:pt x="203200" y="0"/>
                  </a:lnTo>
                  <a:lnTo>
                    <a:pt x="10977273" y="0"/>
                  </a:lnTo>
                  <a:lnTo>
                    <a:pt x="11180473" y="175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114300" y="-47625"/>
              <a:ext cx="10951874" cy="398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459931" y="8064070"/>
            <a:ext cx="12614961" cy="39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20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Ref: Yang, R., Kiekintveld, C., Ordóñez, F., Tambe, M., &amp; John, R. (2011). Improving resource allocation strategy against human adversaries in security games. IJCAI Proceedings-International Joint Conference on Artificial Intelligence, 22(1), 458-464. (SUQR)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11556" y="8605848"/>
            <a:ext cx="633989" cy="3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b="true" sz="2081">
                <a:solidFill>
                  <a:srgbClr val="0CC0DF"/>
                </a:solidFill>
                <a:latin typeface="TT Hoves Bold"/>
                <a:ea typeface="TT Hoves Bold"/>
                <a:cs typeface="TT Hoves Bold"/>
                <a:sym typeface="TT Hoves Bold"/>
              </a:rPr>
              <a:t>09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59931" y="8629728"/>
            <a:ext cx="11823582" cy="39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20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Ref: Valavanis, K. P., &amp; Vachtsevanos, G. J. (2015). Handbook of Unmanned Aerial Vehicles (Vol. 1). Springer Publishing Company, Incorporated. (Chapter: UAV Simulation and Visualization). (GUI)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DAG9bsWWnNs</dc:identifier>
  <dcterms:modified xsi:type="dcterms:W3CDTF">2011-08-01T06:04:30Z</dcterms:modified>
  <cp:revision>1</cp:revision>
  <dc:title>Blue and Yellow Geometric Product Development Flow Presentation</dc:title>
</cp:coreProperties>
</file>