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1" r:id="rId6"/>
    <p:sldId id="260" r:id="rId7"/>
    <p:sldId id="267" r:id="rId8"/>
    <p:sldId id="262" r:id="rId9"/>
    <p:sldId id="268" r:id="rId10"/>
    <p:sldId id="269" r:id="rId11"/>
    <p:sldId id="264" r:id="rId12"/>
    <p:sldId id="263" r:id="rId13"/>
    <p:sldId id="26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-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DC49B9-A927-4E7F-BB25-FECDF2B07179}" type="datetimeFigureOut">
              <a:rPr lang="en-US" smtClean="0"/>
              <a:t>21-Jan-26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36F697-C4D6-4D24-BBCC-A51442B24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854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22EF4-E506-4923-B0F1-1D8A6371DF83}" type="datetimeFigureOut">
              <a:rPr lang="en-US" smtClean="0"/>
              <a:t>21-Jan-26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AA9AB-9D7F-458F-B1A9-F03F063A2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246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22EF4-E506-4923-B0F1-1D8A6371DF83}" type="datetimeFigureOut">
              <a:rPr lang="en-US" smtClean="0"/>
              <a:t>21-Jan-26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AA9AB-9D7F-458F-B1A9-F03F063A2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2952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22EF4-E506-4923-B0F1-1D8A6371DF83}" type="datetimeFigureOut">
              <a:rPr lang="en-US" smtClean="0"/>
              <a:t>21-Jan-26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AA9AB-9D7F-458F-B1A9-F03F063A2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6452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22EF4-E506-4923-B0F1-1D8A6371DF83}" type="datetimeFigureOut">
              <a:rPr lang="en-US" smtClean="0"/>
              <a:t>21-Jan-26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AA9AB-9D7F-458F-B1A9-F03F063A2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577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22EF4-E506-4923-B0F1-1D8A6371DF83}" type="datetimeFigureOut">
              <a:rPr lang="en-US" smtClean="0"/>
              <a:t>21-Jan-26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AA9AB-9D7F-458F-B1A9-F03F063A2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0984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22EF4-E506-4923-B0F1-1D8A6371DF83}" type="datetimeFigureOut">
              <a:rPr lang="en-US" smtClean="0"/>
              <a:t>21-Jan-26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AA9AB-9D7F-458F-B1A9-F03F063A2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547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22EF4-E506-4923-B0F1-1D8A6371DF83}" type="datetimeFigureOut">
              <a:rPr lang="en-US" smtClean="0"/>
              <a:t>21-Jan-26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AA9AB-9D7F-458F-B1A9-F03F063A2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7888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22EF4-E506-4923-B0F1-1D8A6371DF83}" type="datetimeFigureOut">
              <a:rPr lang="en-US" smtClean="0"/>
              <a:t>21-Jan-26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AA9AB-9D7F-458F-B1A9-F03F063A2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2014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22EF4-E506-4923-B0F1-1D8A6371DF83}" type="datetimeFigureOut">
              <a:rPr lang="en-US" smtClean="0"/>
              <a:t>21-Jan-26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AA9AB-9D7F-458F-B1A9-F03F063A2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2049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22EF4-E506-4923-B0F1-1D8A6371DF83}" type="datetimeFigureOut">
              <a:rPr lang="en-US" smtClean="0"/>
              <a:t>21-Jan-26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AA9AB-9D7F-458F-B1A9-F03F063A2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2581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22EF4-E506-4923-B0F1-1D8A6371DF83}" type="datetimeFigureOut">
              <a:rPr lang="en-US" smtClean="0"/>
              <a:t>21-Jan-26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AA9AB-9D7F-458F-B1A9-F03F063A2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9065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122EF4-E506-4923-B0F1-1D8A6371DF83}" type="datetimeFigureOut">
              <a:rPr lang="en-US" smtClean="0"/>
              <a:t>21-Jan-26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EAA9AB-9D7F-458F-B1A9-F03F063A2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0913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89776" y="1870443"/>
            <a:ext cx="9144000" cy="1249948"/>
          </a:xfrm>
        </p:spPr>
        <p:txBody>
          <a:bodyPr>
            <a:normAutofit fontScale="90000"/>
          </a:bodyPr>
          <a:lstStyle/>
          <a:p>
            <a:r>
              <a:rPr lang="en-US" sz="2700" b="1" kern="100" dirty="0">
                <a:solidFill>
                  <a:srgbClr val="5C0F2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THESIS TITLE: Pneumonia Detection from Chest X-ray using Deep Learning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Gill Sans MT" panose="020B0502020104020203" pitchFamily="34" charset="0"/>
                <a:ea typeface="Gill Sans MT" panose="020B0502020104020203" pitchFamily="34" charset="0"/>
                <a:cs typeface="Gill Sans MT" panose="020B0502020104020203" pitchFamily="34" charset="0"/>
              </a:rPr>
              <a:t/>
            </a:r>
            <a:br>
              <a:rPr lang="en-US" sz="1800" kern="100" dirty="0">
                <a:solidFill>
                  <a:srgbClr val="000000"/>
                </a:solidFill>
                <a:effectLst/>
                <a:latin typeface="Gill Sans MT" panose="020B0502020104020203" pitchFamily="34" charset="0"/>
                <a:ea typeface="Gill Sans MT" panose="020B0502020104020203" pitchFamily="34" charset="0"/>
                <a:cs typeface="Gill Sans MT" panose="020B0502020104020203" pitchFamily="34" charset="0"/>
              </a:rPr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82229" y="2750975"/>
            <a:ext cx="9144000" cy="3565030"/>
          </a:xfrm>
        </p:spPr>
        <p:txBody>
          <a:bodyPr>
            <a:normAutofit fontScale="92500" lnSpcReduction="10000"/>
          </a:bodyPr>
          <a:lstStyle/>
          <a:p>
            <a:r>
              <a:rPr lang="en-US" sz="22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PRESENTED BY:</a:t>
            </a:r>
            <a:endParaRPr lang="en-US" sz="2200" kern="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Gill Sans MT" panose="020B0502020104020203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 Name 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Sumaiya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Akter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id:2222081078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 Name: Humaira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akter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id:2223081050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Supervisor: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Shamima Nasrin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Senior Lecture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877" y="39756"/>
            <a:ext cx="11698333" cy="1495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6407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103494" y="1878070"/>
            <a:ext cx="7203831" cy="4223526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 algn="ctr">
              <a:buNone/>
            </a:pPr>
            <a:r>
              <a:rPr lang="en-US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Pneumonia is a serious lung disease</a:t>
            </a:r>
          </a:p>
          <a:p>
            <a:pPr marL="457200" lvl="1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Chest X-ray is commonly used for diagnosis</a:t>
            </a:r>
          </a:p>
          <a:p>
            <a:pPr marL="457200" lvl="1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Manual diagnosis depends on expert radiologists</a:t>
            </a:r>
          </a:p>
          <a:p>
            <a:pPr marL="457200" lvl="1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Automated system can help in fast detection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/>
              <a:t> 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877" y="39756"/>
            <a:ext cx="11698333" cy="14956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932B219-05B2-8FBD-FA00-2A7D83421E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7326" y="1878070"/>
            <a:ext cx="3871296" cy="3444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3012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877" y="39756"/>
            <a:ext cx="11698333" cy="149563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5B8CB20-2D6F-0B55-8FEA-D62B0A30CC1B}"/>
              </a:ext>
            </a:extLst>
          </p:cNvPr>
          <p:cNvSpPr txBox="1"/>
          <p:nvPr/>
        </p:nvSpPr>
        <p:spPr>
          <a:xfrm>
            <a:off x="4068614" y="1459517"/>
            <a:ext cx="361513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32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Background Work</a:t>
            </a:r>
            <a:endParaRPr lang="en-US" sz="32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0C859A0-E3C1-EF58-E016-017C4108B9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9861300"/>
              </p:ext>
            </p:extLst>
          </p:nvPr>
        </p:nvGraphicFramePr>
        <p:xfrm>
          <a:off x="157988" y="2044291"/>
          <a:ext cx="11880215" cy="41892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2957">
                  <a:extLst>
                    <a:ext uri="{9D8B030D-6E8A-4147-A177-3AD203B41FA5}">
                      <a16:colId xmlns:a16="http://schemas.microsoft.com/office/drawing/2014/main" val="3730414244"/>
                    </a:ext>
                  </a:extLst>
                </a:gridCol>
                <a:gridCol w="1270351">
                  <a:extLst>
                    <a:ext uri="{9D8B030D-6E8A-4147-A177-3AD203B41FA5}">
                      <a16:colId xmlns:a16="http://schemas.microsoft.com/office/drawing/2014/main" val="3356430470"/>
                    </a:ext>
                  </a:extLst>
                </a:gridCol>
                <a:gridCol w="4429467">
                  <a:extLst>
                    <a:ext uri="{9D8B030D-6E8A-4147-A177-3AD203B41FA5}">
                      <a16:colId xmlns:a16="http://schemas.microsoft.com/office/drawing/2014/main" val="469179343"/>
                    </a:ext>
                  </a:extLst>
                </a:gridCol>
                <a:gridCol w="4420691">
                  <a:extLst>
                    <a:ext uri="{9D8B030D-6E8A-4147-A177-3AD203B41FA5}">
                      <a16:colId xmlns:a16="http://schemas.microsoft.com/office/drawing/2014/main" val="3543899509"/>
                    </a:ext>
                  </a:extLst>
                </a:gridCol>
                <a:gridCol w="1186749">
                  <a:extLst>
                    <a:ext uri="{9D8B030D-6E8A-4147-A177-3AD203B41FA5}">
                      <a16:colId xmlns:a16="http://schemas.microsoft.com/office/drawing/2014/main" val="1492975151"/>
                    </a:ext>
                  </a:extLst>
                </a:gridCol>
              </a:tblGrid>
              <a:tr h="584523"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kern="12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Dataset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kern="12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Architecture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kern="12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Accuracy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9444083"/>
                  </a:ext>
                </a:extLst>
              </a:tr>
              <a:tr h="527457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2020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lvl="1" algn="ctr" rtl="0" fontAlgn="b"/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Chest X-ray Pneumonia </a:t>
                      </a:r>
                      <a:r>
                        <a:rPr lang="en-US" sz="12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VGG16, ResNet18, DenseNet201,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SqueezeNet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98%</a:t>
                      </a: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584134914"/>
                  </a:ext>
                </a:extLst>
              </a:tr>
              <a:tr h="48922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2021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lvl="1" algn="ctr" rtl="0" fontAlgn="b"/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Kermany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Chest X-ray Dataset + RSNA </a:t>
                      </a:r>
                    </a:p>
                    <a:p>
                      <a:pPr lvl="1" algn="ctr" rtl="0" fontAlgn="b"/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Pneumonia Dataset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ResNet-18, DenseNet-121,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GoogLeNet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(Ensemble)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99%</a:t>
                      </a: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2619203334"/>
                  </a:ext>
                </a:extLst>
              </a:tr>
              <a:tr h="48840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2020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lvl="1" algn="ctr" rtl="0" fontAlgn="b"/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Chest X-ray Pneumonia </a:t>
                      </a:r>
                      <a:r>
                        <a:rPr lang="en-US" sz="12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ResNet50, Inception-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ResNet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MobileNetV2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96%</a:t>
                      </a: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3989418542"/>
                  </a:ext>
                </a:extLst>
              </a:tr>
              <a:tr h="48922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2021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lvl="1" algn="ctr" rtl="0" fontAlgn="b"/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Chest X-ray Pneumonia Dataset (5,856 images)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MobileNet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94.23%</a:t>
                      </a: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529323466"/>
                  </a:ext>
                </a:extLst>
              </a:tr>
              <a:tr h="69550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lvl="1" algn="ctr" rtl="0" fontAlgn="b"/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Chest X-ray Pneumonia Dataset 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DenseNet121, VGG19, InceptionV3 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97.40%</a:t>
                      </a: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427958549"/>
                  </a:ext>
                </a:extLst>
              </a:tr>
              <a:tr h="30496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2017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lvl="1" algn="ctr" rtl="0" fontAlgn="ctr"/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NIH Chest X-ray (112,120 images)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DenseNet-121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84.30%</a:t>
                      </a: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3059795718"/>
                  </a:ext>
                </a:extLst>
              </a:tr>
              <a:tr h="30496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dirty="0" smtClean="0">
                          <a:effectLst/>
                        </a:rPr>
                        <a:t>7.</a:t>
                      </a:r>
                      <a:endParaRPr lang="en-US" sz="1200" b="1" dirty="0">
                        <a:effectLst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>
                          <a:effectLst/>
                        </a:rPr>
                        <a:t>2020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dirty="0">
                          <a:effectLst/>
                        </a:rPr>
                        <a:t>Chest X-ray Pneumonia Dataset 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dirty="0">
                          <a:effectLst/>
                        </a:rPr>
                        <a:t>Custom CNN, LSTM-CNN, MobileNetV2, ResNet152V2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dirty="0">
                          <a:effectLst/>
                        </a:rPr>
                        <a:t>99.22% </a:t>
                      </a: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2378400122"/>
                  </a:ext>
                </a:extLst>
              </a:tr>
              <a:tr h="30496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8.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dirty="0">
                          <a:effectLst/>
                        </a:rPr>
                        <a:t>2019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dirty="0">
                          <a:effectLst/>
                        </a:rPr>
                        <a:t>Chest X-ray dataset from </a:t>
                      </a:r>
                      <a:r>
                        <a:rPr lang="en-US" sz="1200" dirty="0" err="1">
                          <a:effectLst/>
                        </a:rPr>
                        <a:t>Kaggle</a:t>
                      </a:r>
                      <a:endParaRPr lang="en-US" sz="1200" dirty="0">
                        <a:effectLst/>
                      </a:endParaRP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dirty="0">
                          <a:effectLst/>
                        </a:rPr>
                        <a:t>Custom Convolutional Neural Network (CNN) trained from scratch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dirty="0">
                          <a:effectLst/>
                        </a:rPr>
                        <a:t>85.74%</a:t>
                      </a: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3191849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12639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227942" y="1800327"/>
            <a:ext cx="4682169" cy="66642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 algn="ctr">
              <a:buNone/>
            </a:pPr>
            <a:r>
              <a:rPr lang="en-US" sz="30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</a:t>
            </a:r>
            <a:r>
              <a:rPr lang="en-US" sz="3000" b="1" dirty="0" smtClean="0"/>
              <a:t> 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651" y="0"/>
            <a:ext cx="11698333" cy="149563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F8B177F-4B13-D708-ED3F-F917E33C3612}"/>
              </a:ext>
            </a:extLst>
          </p:cNvPr>
          <p:cNvSpPr txBox="1"/>
          <p:nvPr/>
        </p:nvSpPr>
        <p:spPr>
          <a:xfrm>
            <a:off x="774299" y="2068962"/>
            <a:ext cx="9994032" cy="350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fontAlgn="base">
              <a:lnSpc>
                <a:spcPct val="108000"/>
              </a:lnSpc>
              <a:spcBef>
                <a:spcPts val="0"/>
              </a:spcBef>
              <a:spcAft>
                <a:spcPts val="1430"/>
              </a:spcAft>
              <a:buClr>
                <a:srgbClr val="000000"/>
              </a:buClr>
              <a:buSzPts val="2200"/>
            </a:pPr>
            <a:endParaRPr lang="en-US" kern="100" dirty="0" smtClea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ea typeface="Gill Sans MT" panose="020B0502020104020203" pitchFamily="34" charset="0"/>
              <a:cs typeface="Times New Roman" panose="02020603050405020304" pitchFamily="18" charset="0"/>
            </a:endParaRPr>
          </a:p>
          <a:p>
            <a:pPr marL="285750" marR="0" lvl="0" indent="-285750" fontAlgn="base">
              <a:lnSpc>
                <a:spcPct val="108000"/>
              </a:lnSpc>
              <a:spcBef>
                <a:spcPts val="0"/>
              </a:spcBef>
              <a:spcAft>
                <a:spcPts val="1430"/>
              </a:spcAft>
              <a:buClr>
                <a:srgbClr val="000000"/>
              </a:buClr>
              <a:buSzPts val="2200"/>
              <a:buFont typeface="Wingdings" panose="05000000000000000000" pitchFamily="2" charset="2"/>
              <a:buChar char="Ø"/>
            </a:pPr>
            <a:r>
              <a:rPr lang="en-US" b="1" dirty="0"/>
              <a:t>Observation: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As you mentioned, the </a:t>
            </a:r>
            <a:r>
              <a:rPr lang="en-US" b="1" dirty="0"/>
              <a:t>small binary datasets (5,856 images)</a:t>
            </a:r>
            <a:r>
              <a:rPr lang="en-US" dirty="0"/>
              <a:t> consistently yield </a:t>
            </a:r>
            <a:r>
              <a:rPr lang="en-US" b="1" dirty="0"/>
              <a:t>higher accuracies (94%–99%)</a:t>
            </a:r>
            <a:r>
              <a:rPr lang="en-US" dirty="0"/>
              <a:t>, while the </a:t>
            </a:r>
            <a:r>
              <a:rPr lang="en-US" b="1" dirty="0"/>
              <a:t>large multi-label NIH dataset (112,120 images)</a:t>
            </a:r>
            <a:r>
              <a:rPr lang="en-US" dirty="0"/>
              <a:t> gives significantly </a:t>
            </a:r>
            <a:r>
              <a:rPr lang="en-US" b="1" dirty="0"/>
              <a:t>lower accuracy (84.30%)</a:t>
            </a:r>
            <a:r>
              <a:rPr lang="en-US" dirty="0"/>
              <a:t>. This confirms the trade-off between dataset size/complexity and model performance</a:t>
            </a:r>
            <a:r>
              <a:rPr lang="en-US" dirty="0" smtClean="0"/>
              <a:t>.</a:t>
            </a:r>
          </a:p>
          <a:p>
            <a:pPr marL="285750" marR="0" lvl="0" indent="-285750" fontAlgn="base">
              <a:lnSpc>
                <a:spcPct val="108000"/>
              </a:lnSpc>
              <a:spcBef>
                <a:spcPts val="0"/>
              </a:spcBef>
              <a:spcAft>
                <a:spcPts val="1430"/>
              </a:spcAft>
              <a:buClr>
                <a:srgbClr val="000000"/>
              </a:buClr>
              <a:buSzPts val="2200"/>
              <a:buFont typeface="Wingdings" panose="05000000000000000000" pitchFamily="2" charset="2"/>
              <a:buChar char="Ø"/>
            </a:pPr>
            <a:r>
              <a:rPr lang="en-US" kern="1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Gill Sans MT" panose="020B0502020104020203" pitchFamily="34" charset="0"/>
                <a:cs typeface="Times New Roman" panose="02020603050405020304" pitchFamily="18" charset="0"/>
              </a:rPr>
              <a:t>Use small, clean datasets if only binary pneumonia detection is needed.</a:t>
            </a:r>
          </a:p>
          <a:p>
            <a:pPr marL="285750" marR="0" lvl="0" indent="-285750" fontAlgn="base">
              <a:lnSpc>
                <a:spcPct val="108000"/>
              </a:lnSpc>
              <a:spcBef>
                <a:spcPts val="0"/>
              </a:spcBef>
              <a:spcAft>
                <a:spcPts val="1430"/>
              </a:spcAft>
              <a:buClr>
                <a:srgbClr val="000000"/>
              </a:buClr>
              <a:buSzPts val="2200"/>
              <a:buFont typeface="Wingdings" panose="05000000000000000000" pitchFamily="2" charset="2"/>
              <a:buChar char="Ø"/>
            </a:pPr>
            <a:r>
              <a:rPr lang="en-US" kern="1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Gill Sans MT" panose="020B0502020104020203" pitchFamily="34" charset="0"/>
                <a:cs typeface="Times New Roman" panose="02020603050405020304" pitchFamily="18" charset="0"/>
              </a:rPr>
              <a:t>Use large, diverse datasets if developing a real-world, multi-disease diagnostic system</a:t>
            </a:r>
          </a:p>
          <a:p>
            <a:pPr marL="285750" marR="0" lvl="0" indent="-285750" fontAlgn="base">
              <a:lnSpc>
                <a:spcPct val="108000"/>
              </a:lnSpc>
              <a:spcBef>
                <a:spcPts val="0"/>
              </a:spcBef>
              <a:spcAft>
                <a:spcPts val="1430"/>
              </a:spcAft>
              <a:buClr>
                <a:srgbClr val="000000"/>
              </a:buClr>
              <a:buSzPts val="2200"/>
              <a:buFont typeface="Wingdings" panose="05000000000000000000" pitchFamily="2" charset="2"/>
              <a:buChar char="Ø"/>
            </a:pPr>
            <a:r>
              <a:rPr lang="en-US" kern="1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Gill Sans MT" panose="020B0502020104020203" pitchFamily="34" charset="0"/>
                <a:cs typeface="Times New Roman" panose="02020603050405020304" pitchFamily="18" charset="0"/>
              </a:rPr>
              <a:t>Balance data size and complexity to avoid overfitting on small datasets and </a:t>
            </a:r>
            <a:r>
              <a:rPr lang="en-US" kern="100" dirty="0" err="1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Gill Sans MT" panose="020B0502020104020203" pitchFamily="34" charset="0"/>
                <a:cs typeface="Times New Roman" panose="02020603050405020304" pitchFamily="18" charset="0"/>
              </a:rPr>
              <a:t>underfitting</a:t>
            </a:r>
            <a:r>
              <a:rPr lang="en-US" kern="1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Gill Sans MT" panose="020B0502020104020203" pitchFamily="34" charset="0"/>
                <a:cs typeface="Times New Roman" panose="02020603050405020304" pitchFamily="18" charset="0"/>
              </a:rPr>
              <a:t> on large ones</a:t>
            </a:r>
            <a:endParaRPr lang="en-US" u="none" strike="noStrike" kern="100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ea typeface="Gill Sans MT" panose="020B0502020104020203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13319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593121" y="1616828"/>
            <a:ext cx="5812465" cy="61850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Aims of the research </a:t>
            </a:r>
          </a:p>
          <a:p>
            <a:pPr marL="457200" lvl="1" indent="0">
              <a:buNone/>
            </a:pPr>
            <a:endParaRPr lang="en-US" sz="2800" b="1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968" y="0"/>
            <a:ext cx="11698333" cy="149563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C23CDD9-B5A8-ECF8-D852-800CF893012B}"/>
              </a:ext>
            </a:extLst>
          </p:cNvPr>
          <p:cNvSpPr txBox="1"/>
          <p:nvPr/>
        </p:nvSpPr>
        <p:spPr>
          <a:xfrm>
            <a:off x="476789" y="2413337"/>
            <a:ext cx="1088742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To propose a more effective deep learning model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for pneumonia detection from NIH chest X-ray images compared to existing single-model approaches.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lang="en-US" altLang="en-US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To improve pneumonia detection accuracy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by addressing the limitations of the DenseNet-121 baseline model used in earlier studies.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lang="en-US" altLang="en-US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To develop an ensemble deep learning model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by combining multiple CNN architectures (such as DenseNet-201, EfficientNet-B4, and ResNet-50).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reduce the impact of class imbalance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present in the NIH Chest X-ray dataset and improve pneumonia classification reliability.</a:t>
            </a: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44494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4145918" y="2013576"/>
            <a:ext cx="3233078" cy="77747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r>
              <a:rPr lang="en-US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r>
              <a:rPr lang="en-US" sz="2800" b="1" dirty="0"/>
              <a:t>  </a:t>
            </a:r>
            <a:endParaRPr lang="en-US" dirty="0"/>
          </a:p>
          <a:p>
            <a:pPr marL="514338" indent="-514338">
              <a:buFont typeface="+mj-lt"/>
              <a:buAutoNum type="arabicPeriod"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877" y="39756"/>
            <a:ext cx="11698333" cy="149563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319E29A-7622-1C51-85D4-CCC32A34D885}"/>
              </a:ext>
            </a:extLst>
          </p:cNvPr>
          <p:cNvSpPr txBox="1"/>
          <p:nvPr/>
        </p:nvSpPr>
        <p:spPr>
          <a:xfrm>
            <a:off x="1377108" y="2831590"/>
            <a:ext cx="903383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study existing pneumonia detection methods using chest X-ray images.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and develop a deep learning model for pneumonia detection.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test the model and check its accuracy.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test the model and check its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accuracy.To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compare the proposed model with existing models.</a:t>
            </a:r>
          </a:p>
        </p:txBody>
      </p:sp>
    </p:spTree>
    <p:extLst>
      <p:ext uri="{BB962C8B-B14F-4D97-AF65-F5344CB8AC3E}">
        <p14:creationId xmlns:p14="http://schemas.microsoft.com/office/powerpoint/2010/main" val="9023934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4145918" y="2013576"/>
            <a:ext cx="3233078" cy="77747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r>
              <a:rPr lang="en-US" sz="2800" b="1" dirty="0"/>
              <a:t>  </a:t>
            </a:r>
            <a:endParaRPr lang="en-US" dirty="0"/>
          </a:p>
          <a:p>
            <a:pPr marL="514338" indent="-514338">
              <a:buFont typeface="+mj-lt"/>
              <a:buAutoNum type="arabicPeriod"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877" y="39756"/>
            <a:ext cx="11698333" cy="149563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21FEC8F-C208-2BA4-F61D-33FF554B5123}"/>
              </a:ext>
            </a:extLst>
          </p:cNvPr>
          <p:cNvSpPr txBox="1"/>
          <p:nvPr/>
        </p:nvSpPr>
        <p:spPr>
          <a:xfrm>
            <a:off x="813390" y="2791047"/>
            <a:ext cx="7692658" cy="2785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fontAlgn="base">
              <a:lnSpc>
                <a:spcPct val="108000"/>
              </a:lnSpc>
              <a:spcBef>
                <a:spcPts val="0"/>
              </a:spcBef>
              <a:spcAft>
                <a:spcPts val="1165"/>
              </a:spcAft>
              <a:buClr>
                <a:srgbClr val="B71E42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u="none" strike="noStrike" kern="1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Use CNN-based deep learning models</a:t>
            </a:r>
          </a:p>
          <a:p>
            <a:pPr marL="342900" marR="0" lvl="0" indent="-342900" fontAlgn="base">
              <a:lnSpc>
                <a:spcPct val="108000"/>
              </a:lnSpc>
              <a:spcBef>
                <a:spcPts val="0"/>
              </a:spcBef>
              <a:spcAft>
                <a:spcPts val="1145"/>
              </a:spcAft>
              <a:buClr>
                <a:srgbClr val="B71E42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u="none" strike="noStrike" kern="1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Apply pre-trained transfer learning models</a:t>
            </a:r>
          </a:p>
          <a:p>
            <a:pPr marL="342900" marR="0" lvl="0" indent="-342900" fontAlgn="base">
              <a:lnSpc>
                <a:spcPct val="108000"/>
              </a:lnSpc>
              <a:spcBef>
                <a:spcPts val="0"/>
              </a:spcBef>
              <a:spcAft>
                <a:spcPts val="1165"/>
              </a:spcAft>
              <a:buClr>
                <a:srgbClr val="B71E42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u="none" strike="noStrike" kern="1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Automatically classify X-ray images</a:t>
            </a:r>
          </a:p>
          <a:p>
            <a:pPr marL="342900" marR="0" lvl="0" indent="-342900" fontAlgn="base">
              <a:lnSpc>
                <a:spcPct val="108000"/>
              </a:lnSpc>
              <a:spcBef>
                <a:spcPts val="0"/>
              </a:spcBef>
              <a:spcAft>
                <a:spcPts val="1740"/>
              </a:spcAft>
              <a:buClr>
                <a:srgbClr val="B71E42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u="none" strike="noStrike" kern="1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Output: Normal or Pneumonia</a:t>
            </a:r>
          </a:p>
          <a:p>
            <a:pPr marL="342900" marR="0" lvl="0" indent="-342900" fontAlgn="base">
              <a:lnSpc>
                <a:spcPct val="108000"/>
              </a:lnSpc>
              <a:spcBef>
                <a:spcPts val="0"/>
              </a:spcBef>
              <a:spcAft>
                <a:spcPts val="1740"/>
              </a:spcAft>
              <a:buClr>
                <a:srgbClr val="B71E42"/>
              </a:buClr>
              <a:buSzPts val="2200"/>
              <a:buFont typeface="Arial" panose="020B0604020202020204" pitchFamily="34" charset="0"/>
              <a:buChar char="•"/>
            </a:pPr>
            <a:endParaRPr lang="en-US" sz="2800" u="none" strike="noStrike" kern="100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1CD05E4-AA80-FC58-456B-20557D8929BD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7685715" y="2663480"/>
            <a:ext cx="4284980" cy="367538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B70D66A-0CF4-5F7F-BDB0-14C26E99C722}"/>
              </a:ext>
            </a:extLst>
          </p:cNvPr>
          <p:cNvSpPr txBox="1"/>
          <p:nvPr/>
        </p:nvSpPr>
        <p:spPr>
          <a:xfrm>
            <a:off x="3745467" y="1626973"/>
            <a:ext cx="46711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 Solution</a:t>
            </a:r>
          </a:p>
        </p:txBody>
      </p:sp>
    </p:spTree>
    <p:extLst>
      <p:ext uri="{BB962C8B-B14F-4D97-AF65-F5344CB8AC3E}">
        <p14:creationId xmlns:p14="http://schemas.microsoft.com/office/powerpoint/2010/main" val="23074030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4337408" y="1882907"/>
            <a:ext cx="4735708" cy="738019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3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</a:t>
            </a:r>
            <a:r>
              <a:rPr lang="en-US" sz="3300" b="1" dirty="0"/>
              <a:t>: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877" y="39756"/>
            <a:ext cx="11698333" cy="149563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0EC2DE8-499F-A72E-CD85-44920E05A53F}"/>
              </a:ext>
            </a:extLst>
          </p:cNvPr>
          <p:cNvSpPr txBox="1"/>
          <p:nvPr/>
        </p:nvSpPr>
        <p:spPr>
          <a:xfrm>
            <a:off x="919716" y="2805721"/>
            <a:ext cx="463526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lnSpc>
                <a:spcPct val="170000"/>
              </a:lnSpc>
              <a:buClr>
                <a:srgbClr val="B71E42"/>
              </a:buClr>
              <a:buSzPts val="2400"/>
            </a:pPr>
            <a:r>
              <a:rPr lang="en-US" sz="20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Gill Sans MT" panose="020B0502020104020203" pitchFamily="34" charset="0"/>
                <a:cs typeface="Times New Roman" panose="02020603050405020304" pitchFamily="18" charset="0"/>
              </a:rPr>
              <a:t>DATASET DESCRIPTION</a:t>
            </a:r>
            <a:endParaRPr lang="en-US" sz="2000" u="none" strike="noStrike" kern="100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 fontAlgn="base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B71E42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000" u="none" strike="noStrike" kern="1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Dataset collected from Kaggle </a:t>
            </a:r>
          </a:p>
          <a:p>
            <a:pPr marR="0" lvl="0" fontAlgn="base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B71E42"/>
              </a:buClr>
              <a:buSzPts val="2400"/>
            </a:pPr>
            <a:r>
              <a:rPr lang="en-US" sz="2000" u="none" strike="noStrike" kern="100" dirty="0">
                <a:solidFill>
                  <a:srgbClr val="B71E42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•    </a:t>
            </a:r>
            <a:r>
              <a:rPr lang="en-US" sz="2000" u="none" strike="noStrike" kern="1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Publicly available chest X-ray images</a:t>
            </a:r>
          </a:p>
          <a:p>
            <a:pPr marL="342900" marR="0" lvl="0" indent="-342900" fontAlgn="base">
              <a:lnSpc>
                <a:spcPct val="108000"/>
              </a:lnSpc>
              <a:spcBef>
                <a:spcPts val="0"/>
              </a:spcBef>
              <a:spcAft>
                <a:spcPts val="1740"/>
              </a:spcAft>
              <a:buClr>
                <a:srgbClr val="B71E42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1800" u="none" strike="noStrike" kern="1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Used for training and testing</a:t>
            </a:r>
          </a:p>
        </p:txBody>
      </p:sp>
    </p:spTree>
    <p:extLst>
      <p:ext uri="{BB962C8B-B14F-4D97-AF65-F5344CB8AC3E}">
        <p14:creationId xmlns:p14="http://schemas.microsoft.com/office/powerpoint/2010/main" val="10133253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4337408" y="1882907"/>
            <a:ext cx="4735708" cy="738019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3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</a:t>
            </a:r>
            <a:r>
              <a:rPr lang="en-US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877" y="39756"/>
            <a:ext cx="11698333" cy="149563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0EC2DE8-499F-A72E-CD85-44920E05A53F}"/>
              </a:ext>
            </a:extLst>
          </p:cNvPr>
          <p:cNvSpPr txBox="1"/>
          <p:nvPr/>
        </p:nvSpPr>
        <p:spPr>
          <a:xfrm>
            <a:off x="756877" y="2821343"/>
            <a:ext cx="8649586" cy="28775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lnSpc>
                <a:spcPct val="107000"/>
              </a:lnSpc>
              <a:spcAft>
                <a:spcPts val="1370"/>
              </a:spcAft>
              <a:buClr>
                <a:srgbClr val="000000"/>
              </a:buClr>
              <a:buSzPts val="2000"/>
            </a:pPr>
            <a:r>
              <a:rPr lang="en-US" sz="1800" b="1" kern="100" dirty="0">
                <a:solidFill>
                  <a:srgbClr val="000000"/>
                </a:solidFill>
                <a:effectLst/>
                <a:latin typeface="Gill Sans MT" panose="020B0502020104020203" pitchFamily="34" charset="0"/>
                <a:ea typeface="Gill Sans MT" panose="020B0502020104020203" pitchFamily="34" charset="0"/>
                <a:cs typeface="Gill Sans MT" panose="020B0502020104020203" pitchFamily="34" charset="0"/>
              </a:rPr>
              <a:t>TO</a:t>
            </a:r>
            <a:r>
              <a:rPr lang="en-US" sz="18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Gill Sans MT" panose="020B0502020104020203" pitchFamily="34" charset="0"/>
                <a:cs typeface="Times New Roman" panose="02020603050405020304" pitchFamily="18" charset="0"/>
              </a:rPr>
              <a:t>OLS &amp; TECHNOLOGIES</a:t>
            </a:r>
            <a:endParaRPr lang="en-US" sz="1800" b="1" u="none" strike="noStrike" kern="100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ea typeface="Gill Sans MT" panose="020B0502020104020203" pitchFamily="34" charset="0"/>
              <a:cs typeface="Times New Roman" panose="02020603050405020304" pitchFamily="18" charset="0"/>
            </a:endParaRPr>
          </a:p>
          <a:p>
            <a:pPr marL="285750" marR="0" lvl="0" indent="-285750" fontAlgn="base">
              <a:lnSpc>
                <a:spcPct val="107000"/>
              </a:lnSpc>
              <a:spcBef>
                <a:spcPts val="0"/>
              </a:spcBef>
              <a:spcAft>
                <a:spcPts val="1370"/>
              </a:spcAft>
              <a:buClr>
                <a:srgbClr val="000000"/>
              </a:buClr>
              <a:buSzPts val="2000"/>
              <a:buFont typeface="Wingdings" panose="05000000000000000000" pitchFamily="2" charset="2"/>
              <a:buChar char="q"/>
            </a:pPr>
            <a:r>
              <a:rPr lang="en-US" sz="1800" b="1" u="none" strike="noStrike" kern="1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Gill Sans MT" panose="020B0502020104020203" pitchFamily="34" charset="0"/>
                <a:cs typeface="Times New Roman" panose="02020603050405020304" pitchFamily="18" charset="0"/>
              </a:rPr>
              <a:t>Programming Language: </a:t>
            </a:r>
            <a:r>
              <a:rPr lang="en-US" sz="1800" b="1" u="none" strike="noStrike" kern="100" dirty="0">
                <a:solidFill>
                  <a:srgbClr val="00206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Gill Sans MT" panose="020B0502020104020203" pitchFamily="34" charset="0"/>
                <a:cs typeface="Times New Roman" panose="02020603050405020304" pitchFamily="18" charset="0"/>
              </a:rPr>
              <a:t>Python</a:t>
            </a:r>
            <a:endParaRPr lang="en-US" kern="100" dirty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ea typeface="Gill Sans MT" panose="020B0502020104020203" pitchFamily="34" charset="0"/>
              <a:cs typeface="Times New Roman" panose="02020603050405020304" pitchFamily="18" charset="0"/>
            </a:endParaRPr>
          </a:p>
          <a:p>
            <a:pPr marL="285750" marR="0" lvl="0" indent="-285750" fontAlgn="base">
              <a:lnSpc>
                <a:spcPct val="107000"/>
              </a:lnSpc>
              <a:spcBef>
                <a:spcPts val="0"/>
              </a:spcBef>
              <a:spcAft>
                <a:spcPts val="1370"/>
              </a:spcAft>
              <a:buClr>
                <a:srgbClr val="000000"/>
              </a:buClr>
              <a:buSzPts val="2000"/>
              <a:buFont typeface="Wingdings" panose="05000000000000000000" pitchFamily="2" charset="2"/>
              <a:buChar char="q"/>
            </a:pPr>
            <a:r>
              <a:rPr lang="en-US" sz="1800" b="1" u="none" strike="noStrike" kern="1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Gill Sans MT" panose="020B0502020104020203" pitchFamily="34" charset="0"/>
                <a:cs typeface="Times New Roman" panose="02020603050405020304" pitchFamily="18" charset="0"/>
              </a:rPr>
              <a:t>Framework: </a:t>
            </a:r>
            <a:r>
              <a:rPr lang="en-US" sz="1800" b="1" u="none" strike="noStrike" kern="100" dirty="0">
                <a:solidFill>
                  <a:srgbClr val="00206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Gill Sans MT" panose="020B0502020104020203" pitchFamily="34" charset="0"/>
                <a:cs typeface="Times New Roman" panose="02020603050405020304" pitchFamily="18" charset="0"/>
              </a:rPr>
              <a:t>TensorFlow, </a:t>
            </a:r>
            <a:r>
              <a:rPr lang="en-US" sz="1800" b="1" u="none" strike="noStrike" kern="100" dirty="0" err="1">
                <a:solidFill>
                  <a:srgbClr val="00206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Gill Sans MT" panose="020B0502020104020203" pitchFamily="34" charset="0"/>
                <a:cs typeface="Times New Roman" panose="02020603050405020304" pitchFamily="18" charset="0"/>
              </a:rPr>
              <a:t>Keras</a:t>
            </a:r>
            <a:endParaRPr lang="en-US" kern="100" dirty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ea typeface="Gill Sans MT" panose="020B0502020104020203" pitchFamily="34" charset="0"/>
              <a:cs typeface="Times New Roman" panose="02020603050405020304" pitchFamily="18" charset="0"/>
            </a:endParaRPr>
          </a:p>
          <a:p>
            <a:pPr marL="285750" marR="0" lvl="0" indent="-285750" fontAlgn="base">
              <a:lnSpc>
                <a:spcPct val="107000"/>
              </a:lnSpc>
              <a:spcBef>
                <a:spcPts val="0"/>
              </a:spcBef>
              <a:spcAft>
                <a:spcPts val="1370"/>
              </a:spcAft>
              <a:buClr>
                <a:srgbClr val="000000"/>
              </a:buClr>
              <a:buSzPts val="2000"/>
              <a:buFont typeface="Wingdings" panose="05000000000000000000" pitchFamily="2" charset="2"/>
              <a:buChar char="q"/>
            </a:pPr>
            <a:r>
              <a:rPr lang="en-US" sz="1800" b="1" u="none" strike="noStrike" kern="1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Gill Sans MT" panose="020B0502020104020203" pitchFamily="34" charset="0"/>
                <a:cs typeface="Times New Roman" panose="02020603050405020304" pitchFamily="18" charset="0"/>
              </a:rPr>
              <a:t>Platform: </a:t>
            </a:r>
            <a:r>
              <a:rPr lang="en-US" sz="1800" b="1" u="none" strike="noStrike" kern="100" dirty="0" err="1">
                <a:solidFill>
                  <a:srgbClr val="00206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Gill Sans MT" panose="020B0502020104020203" pitchFamily="34" charset="0"/>
                <a:cs typeface="Times New Roman" panose="02020603050405020304" pitchFamily="18" charset="0"/>
              </a:rPr>
              <a:t>Pycharm</a:t>
            </a:r>
            <a:endParaRPr lang="en-US" kern="100" dirty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ea typeface="Gill Sans MT" panose="020B0502020104020203" pitchFamily="34" charset="0"/>
              <a:cs typeface="Times New Roman" panose="02020603050405020304" pitchFamily="18" charset="0"/>
            </a:endParaRPr>
          </a:p>
          <a:p>
            <a:pPr marL="285750" marR="0" lvl="0" indent="-285750" fontAlgn="base">
              <a:lnSpc>
                <a:spcPct val="107000"/>
              </a:lnSpc>
              <a:spcBef>
                <a:spcPts val="0"/>
              </a:spcBef>
              <a:spcAft>
                <a:spcPts val="1370"/>
              </a:spcAft>
              <a:buClr>
                <a:srgbClr val="000000"/>
              </a:buClr>
              <a:buSzPts val="2000"/>
              <a:buFont typeface="Wingdings" panose="05000000000000000000" pitchFamily="2" charset="2"/>
              <a:buChar char="q"/>
            </a:pPr>
            <a:r>
              <a:rPr lang="en-US" sz="1800" b="1" u="none" strike="noStrike" kern="1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Gill Sans MT" panose="020B0502020104020203" pitchFamily="34" charset="0"/>
                <a:cs typeface="Times New Roman" panose="02020603050405020304" pitchFamily="18" charset="0"/>
              </a:rPr>
              <a:t>Libraries: </a:t>
            </a:r>
            <a:r>
              <a:rPr lang="en-US" sz="1800" b="1" u="none" strike="noStrike" kern="100" dirty="0">
                <a:solidFill>
                  <a:srgbClr val="00206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Gill Sans MT" panose="020B0502020104020203" pitchFamily="34" charset="0"/>
                <a:cs typeface="Times New Roman" panose="02020603050405020304" pitchFamily="18" charset="0"/>
              </a:rPr>
              <a:t>NumPy, OpenCV, NumPy, Pandas, </a:t>
            </a:r>
            <a:r>
              <a:rPr lang="en-US" sz="1800" b="1" u="none" strike="noStrike" kern="100" dirty="0" err="1">
                <a:solidFill>
                  <a:srgbClr val="00206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Gill Sans MT" panose="020B0502020104020203" pitchFamily="34" charset="0"/>
                <a:cs typeface="Times New Roman" panose="02020603050405020304" pitchFamily="18" charset="0"/>
              </a:rPr>
              <a:t>PyTorch</a:t>
            </a:r>
            <a:r>
              <a:rPr lang="en-US" sz="1800" b="1" u="none" strike="noStrike" kern="100" dirty="0">
                <a:solidFill>
                  <a:srgbClr val="00206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Gill Sans MT" panose="020B0502020104020203" pitchFamily="34" charset="0"/>
                <a:cs typeface="Times New Roman" panose="02020603050405020304" pitchFamily="18" charset="0"/>
              </a:rPr>
              <a:t>, scikit-learn, Matplotlib</a:t>
            </a:r>
            <a:r>
              <a:rPr lang="en-US" sz="1800" b="1" u="none" strike="noStrike" kern="100" dirty="0">
                <a:solidFill>
                  <a:srgbClr val="002060"/>
                </a:solidFill>
                <a:effectLst/>
                <a:uFill>
                  <a:solidFill>
                    <a:srgbClr val="000000"/>
                  </a:solidFill>
                </a:uFill>
                <a:latin typeface="Gill Sans MT" panose="020B0502020104020203" pitchFamily="34" charset="0"/>
                <a:ea typeface="Gill Sans MT" panose="020B0502020104020203" pitchFamily="34" charset="0"/>
                <a:cs typeface="Gill Sans MT" panose="020B0502020104020203" pitchFamily="34" charset="0"/>
              </a:rPr>
              <a:t>.</a:t>
            </a:r>
            <a:endParaRPr lang="en-US" sz="1800" u="none" strike="noStrike" kern="100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Gill Sans MT" panose="020B0502020104020203" pitchFamily="34" charset="0"/>
              <a:ea typeface="Gill Sans MT" panose="020B0502020104020203" pitchFamily="34" charset="0"/>
              <a:cs typeface="Gill Sans MT" panose="020B0502020104020203" pitchFamily="34" charset="0"/>
            </a:endParaRPr>
          </a:p>
          <a:p>
            <a:pPr fontAlgn="base">
              <a:lnSpc>
                <a:spcPct val="170000"/>
              </a:lnSpc>
              <a:buClr>
                <a:srgbClr val="B71E42"/>
              </a:buClr>
              <a:buSzPts val="2400"/>
            </a:pPr>
            <a:endParaRPr lang="en-US" sz="1800" u="none" strike="noStrike" kern="100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89359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4337408" y="1882907"/>
            <a:ext cx="4735708" cy="738019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3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</a:t>
            </a:r>
            <a:r>
              <a:rPr lang="en-US" sz="3300" b="1" dirty="0"/>
              <a:t>: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877" y="39756"/>
            <a:ext cx="11698333" cy="149563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0EC2DE8-499F-A72E-CD85-44920E05A53F}"/>
              </a:ext>
            </a:extLst>
          </p:cNvPr>
          <p:cNvSpPr txBox="1"/>
          <p:nvPr/>
        </p:nvSpPr>
        <p:spPr>
          <a:xfrm>
            <a:off x="1408813" y="2810787"/>
            <a:ext cx="8649586" cy="2907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lnSpc>
                <a:spcPct val="170000"/>
              </a:lnSpc>
              <a:buClr>
                <a:srgbClr val="B71E42"/>
              </a:buClr>
              <a:buSzPts val="2400"/>
            </a:pPr>
            <a:r>
              <a:rPr lang="en-US" sz="1800" b="1" u="none" strike="noStrike" kern="1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PROPOSED MODELS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DenseNet-201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EfficientNet-B4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ResNet-50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Ensemble Model (combination of DenseNet-201, EfficientNet-B4, and ResNet-50)</a:t>
            </a:r>
          </a:p>
          <a:p>
            <a:pPr fontAlgn="base">
              <a:lnSpc>
                <a:spcPct val="170000"/>
              </a:lnSpc>
              <a:buClr>
                <a:srgbClr val="B71E42"/>
              </a:buClr>
              <a:buSzPts val="2400"/>
            </a:pPr>
            <a:endParaRPr lang="en-US" sz="1800" u="none" strike="noStrike" kern="100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93792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4026737" y="1819661"/>
            <a:ext cx="4812463" cy="57358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 of the research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877" y="39756"/>
            <a:ext cx="11698333" cy="14956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EA40035-B803-8A84-D1BA-23763F139B1E}"/>
              </a:ext>
            </a:extLst>
          </p:cNvPr>
          <p:cNvSpPr txBox="1"/>
          <p:nvPr/>
        </p:nvSpPr>
        <p:spPr>
          <a:xfrm>
            <a:off x="812800" y="2833511"/>
            <a:ext cx="3621177" cy="2547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A4C3D1-5310-A9B1-D355-FEBBE836860B}"/>
              </a:ext>
            </a:extLst>
          </p:cNvPr>
          <p:cNvSpPr txBox="1"/>
          <p:nvPr/>
        </p:nvSpPr>
        <p:spPr>
          <a:xfrm>
            <a:off x="812800" y="2677515"/>
            <a:ext cx="965966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study uses only chest X-ray images from the NIH dataset for pneumonia detection.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learning-based CNN models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particularly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DenseNet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architecture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are applied for multi-label disease classification.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research addresses the challenge of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detecting pneumonia among multiple thoracic diseases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present in a single image.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preprocessing techniques such as resizing and normalization are included to improve model performance.</a:t>
            </a:r>
          </a:p>
        </p:txBody>
      </p:sp>
    </p:spTree>
    <p:extLst>
      <p:ext uri="{BB962C8B-B14F-4D97-AF65-F5344CB8AC3E}">
        <p14:creationId xmlns:p14="http://schemas.microsoft.com/office/powerpoint/2010/main" val="12138584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1732934" y="2409889"/>
            <a:ext cx="9144000" cy="247998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Timeline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Gantt chart.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877" y="39756"/>
            <a:ext cx="11698333" cy="149563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DFCB88B-92C4-DF7F-1452-91F9259005F7}"/>
              </a:ext>
            </a:extLst>
          </p:cNvPr>
          <p:cNvSpPr/>
          <p:nvPr/>
        </p:nvSpPr>
        <p:spPr>
          <a:xfrm>
            <a:off x="2046941" y="3343735"/>
            <a:ext cx="8511362" cy="3092269"/>
          </a:xfrm>
          <a:prstGeom prst="rect">
            <a:avLst/>
          </a:prstGeo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530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4747876" y="1645891"/>
            <a:ext cx="2331437" cy="598188"/>
          </a:xfrm>
          <a:prstGeom prst="rect">
            <a:avLst/>
          </a:prstGeom>
        </p:spPr>
        <p:txBody>
          <a:bodyPr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2800" u="sng" dirty="0"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References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877" y="39756"/>
            <a:ext cx="11698333" cy="149563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94DDC07-F511-6E11-1573-761C578956D3}"/>
              </a:ext>
            </a:extLst>
          </p:cNvPr>
          <p:cNvSpPr txBox="1"/>
          <p:nvPr/>
        </p:nvSpPr>
        <p:spPr>
          <a:xfrm>
            <a:off x="785812" y="2354581"/>
            <a:ext cx="10255567" cy="4752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Kermany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al., 2020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Kermany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D. S., Zhang, K., &amp;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Goldbaum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 (2020). 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Labeled Optical Coherence Tomography (OCT) and Chest X-Ray Images for Classification.</a:t>
            </a:r>
          </a:p>
          <a:p>
            <a:pPr marL="342900" indent="-342900">
              <a:buFont typeface="+mj-lt"/>
              <a:buAutoNum type="arabicPeriod"/>
            </a:pPr>
            <a:endParaRPr lang="en-US" sz="1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RSNA Pneumonia Dataset, 2021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Radiological Society of North America (RSNA). 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RSNA Pneumonia Detection Challenge Dataset.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Available on Kaggle.</a:t>
            </a:r>
          </a:p>
          <a:p>
            <a:pPr marL="342900" indent="-342900">
              <a:buFont typeface="+mj-lt"/>
              <a:buAutoNum type="arabicPeriod"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Kaggle Chest X-ray Pneumonia Dataset, 2020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Mooney,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P.</a:t>
            </a:r>
            <a:r>
              <a:rPr lang="en-US" sz="1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Chest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X-Ray Images (Pneumonia).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Kaggle Dataset.</a:t>
            </a:r>
          </a:p>
          <a:p>
            <a:pPr marL="342900" indent="-342900">
              <a:buFont typeface="+mj-lt"/>
              <a:buAutoNum type="arabicPeriod"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MobileNet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-based Lightweight Model, 2021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Howard, A. G., et al. </a:t>
            </a:r>
            <a:r>
              <a:rPr lang="en-US" sz="1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MobileNets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Efficient Convolutional Neural Networks for Mobile Vision Applications.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Guangzhou Women and Children’s Medical Center Dataset, 2022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Kermany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D. S., et al. 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Identifying Medical Diagnoses and Treatable Diseases by Image-Based Deep Learning</a:t>
            </a:r>
            <a:r>
              <a:rPr lang="en-US" sz="1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endParaRPr lang="en-US" sz="1200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Wang, X. et al. 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(2017). ChestX-ray8: Large-scale chest X-ray dataset for multi-disease classification. CVPR 2017.</a:t>
            </a:r>
            <a:endParaRPr lang="en-US" sz="1200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endParaRPr lang="en-US" sz="1200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09000"/>
              </a:lnSpc>
              <a:spcBef>
                <a:spcPts val="0"/>
              </a:spcBef>
              <a:spcAft>
                <a:spcPts val="87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200" b="1" dirty="0" err="1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Vosowiec</a:t>
            </a:r>
            <a:r>
              <a:rPr lang="en-US" sz="1200" b="1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, J.</a:t>
            </a:r>
            <a:r>
              <a:rPr lang="en-US" sz="1200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 (2023). Comparative analysis of deep learning cooperation in pneumonia detection with class activation mapping (CAM) for disease localization without manual annotations. </a:t>
            </a:r>
            <a:r>
              <a:rPr lang="en-US" sz="1200" i="1" dirty="0" err="1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ResearchGate</a:t>
            </a:r>
            <a:r>
              <a:rPr lang="en-US" sz="1200" dirty="0" smtClean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.</a:t>
            </a:r>
          </a:p>
          <a:p>
            <a:pPr marL="342900" marR="0" lvl="0" indent="-342900" algn="just">
              <a:lnSpc>
                <a:spcPct val="109000"/>
              </a:lnSpc>
              <a:spcBef>
                <a:spcPts val="0"/>
              </a:spcBef>
              <a:spcAft>
                <a:spcPts val="87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200" b="1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Liang, G., &amp; Zheng, L.</a:t>
            </a:r>
            <a:r>
              <a:rPr lang="en-US" sz="1200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 (2019). A transfer learning method with deep convolutional neural network for pneumonia diagnosis. </a:t>
            </a:r>
            <a:r>
              <a:rPr lang="en-US" sz="1200" i="1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IEEE Access</a:t>
            </a:r>
            <a:r>
              <a:rPr lang="en-US" sz="1200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.</a:t>
            </a:r>
            <a:endParaRPr lang="en-US" sz="12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09000"/>
              </a:lnSpc>
              <a:spcBef>
                <a:spcPts val="0"/>
              </a:spcBef>
              <a:spcAft>
                <a:spcPts val="870"/>
              </a:spcAft>
              <a:buFont typeface="+mj-lt"/>
              <a:buAutoNum type="arabicPeriod"/>
              <a:tabLst>
                <a:tab pos="457200" algn="l"/>
              </a:tabLst>
            </a:pPr>
            <a:endParaRPr lang="en-US" sz="1200" dirty="0" smtClean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75489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270</TotalTime>
  <Words>485</Words>
  <Application>Microsoft Office PowerPoint</Application>
  <PresentationFormat>Widescreen</PresentationFormat>
  <Paragraphs>137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MS Gothic</vt:lpstr>
      <vt:lpstr>Arial</vt:lpstr>
      <vt:lpstr>Calibri</vt:lpstr>
      <vt:lpstr>Calibri Light</vt:lpstr>
      <vt:lpstr>Cambria</vt:lpstr>
      <vt:lpstr>Gill Sans MT</vt:lpstr>
      <vt:lpstr>Times New Roman</vt:lpstr>
      <vt:lpstr>Wingdings</vt:lpstr>
      <vt:lpstr>Office Theme</vt:lpstr>
      <vt:lpstr>THESIS TITLE: Pneumonia Detection from Chest X-ray using Deep Learning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Dr. Kamal Uddin Sarker</dc:creator>
  <cp:lastModifiedBy>Student</cp:lastModifiedBy>
  <cp:revision>17</cp:revision>
  <dcterms:created xsi:type="dcterms:W3CDTF">2025-12-23T05:34:39Z</dcterms:created>
  <dcterms:modified xsi:type="dcterms:W3CDTF">2026-01-21T08:04:45Z</dcterms:modified>
</cp:coreProperties>
</file>