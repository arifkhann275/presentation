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otham Bold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Arimo" charset="1" panose="020B0604020202020204"/>
      <p:regular r:id="rId19"/>
    </p:embeddedFont>
    <p:embeddedFont>
      <p:font typeface="Open Sans 1" charset="1" panose="020B0606030504020204"/>
      <p:regular r:id="rId20"/>
    </p:embeddedFont>
    <p:embeddedFont>
      <p:font typeface="Ekush" charset="1" panose="02000500000000000000"/>
      <p:regular r:id="rId21"/>
    </p:embeddedFont>
    <p:embeddedFont>
      <p:font typeface="Nunito" charset="1" panose="00000000000000000000"/>
      <p:regular r:id="rId22"/>
    </p:embeddedFont>
    <p:embeddedFont>
      <p:font typeface="Gotham" charset="1" panose="00000000000000000000"/>
      <p:regular r:id="rId23"/>
    </p:embeddedFont>
    <p:embeddedFont>
      <p:font typeface="Open Sans 2" charset="1" panose="00000000000000000000"/>
      <p:regular r:id="rId24"/>
    </p:embeddedFont>
    <p:embeddedFont>
      <p:font typeface="Telegraf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17" Target="../media/image2.png" Type="http://schemas.openxmlformats.org/officeDocument/2006/relationships/image"/><Relationship Id="rId18" Target="../media/image3.svg" Type="http://schemas.openxmlformats.org/officeDocument/2006/relationships/image"/><Relationship Id="rId19" Target="../media/image1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2.png" Type="http://schemas.openxmlformats.org/officeDocument/2006/relationships/image"/><Relationship Id="rId15" Target="../media/image3.svg" Type="http://schemas.openxmlformats.org/officeDocument/2006/relationships/image"/><Relationship Id="rId16" Target="../media/image1.pn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2.png" Type="http://schemas.openxmlformats.org/officeDocument/2006/relationships/image"/><Relationship Id="rId14" Target="../media/image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media/image44.png" Type="http://schemas.openxmlformats.org/officeDocument/2006/relationships/image"/><Relationship Id="rId20" Target="../media/image59.svg" Type="http://schemas.openxmlformats.org/officeDocument/2006/relationships/image"/><Relationship Id="rId21" Target="../media/image60.png" Type="http://schemas.openxmlformats.org/officeDocument/2006/relationships/image"/><Relationship Id="rId22" Target="../media/image61.svg" Type="http://schemas.openxmlformats.org/officeDocument/2006/relationships/image"/><Relationship Id="rId23" Target="../media/image62.png" Type="http://schemas.openxmlformats.org/officeDocument/2006/relationships/image"/><Relationship Id="rId24" Target="../media/image63.svg" Type="http://schemas.openxmlformats.org/officeDocument/2006/relationships/image"/><Relationship Id="rId25" Target="../media/image1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74.png" Type="http://schemas.openxmlformats.org/officeDocument/2006/relationships/image"/><Relationship Id="rId14" Target="../media/image75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76.png" Type="http://schemas.openxmlformats.org/officeDocument/2006/relationships/image"/><Relationship Id="rId18" Target="../media/image77.svg" Type="http://schemas.openxmlformats.org/officeDocument/2006/relationships/image"/><Relationship Id="rId19" Target="../media/image78.png" Type="http://schemas.openxmlformats.org/officeDocument/2006/relationships/image"/><Relationship Id="rId2" Target="../media/image17.png" Type="http://schemas.openxmlformats.org/officeDocument/2006/relationships/image"/><Relationship Id="rId20" Target="../media/image79.svg" Type="http://schemas.openxmlformats.org/officeDocument/2006/relationships/image"/><Relationship Id="rId21" Target="../media/image80.png" Type="http://schemas.openxmlformats.org/officeDocument/2006/relationships/image"/><Relationship Id="rId22" Target="../media/image81.svg" Type="http://schemas.openxmlformats.org/officeDocument/2006/relationships/image"/><Relationship Id="rId23" Target="../media/image2.png" Type="http://schemas.openxmlformats.org/officeDocument/2006/relationships/image"/><Relationship Id="rId24" Target="../media/image3.svg" Type="http://schemas.openxmlformats.org/officeDocument/2006/relationships/image"/><Relationship Id="rId25" Target="../media/image1.pn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sv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14" Target="../media/image94.png" Type="http://schemas.openxmlformats.org/officeDocument/2006/relationships/image"/><Relationship Id="rId15" Target="../media/image95.svg" Type="http://schemas.openxmlformats.org/officeDocument/2006/relationships/image"/><Relationship Id="rId16" Target="../media/image96.png" Type="http://schemas.openxmlformats.org/officeDocument/2006/relationships/image"/><Relationship Id="rId17" Target="../media/image97.svg" Type="http://schemas.openxmlformats.org/officeDocument/2006/relationships/image"/><Relationship Id="rId18" Target="../media/image2.png" Type="http://schemas.openxmlformats.org/officeDocument/2006/relationships/image"/><Relationship Id="rId19" Target="../media/image3.svg" Type="http://schemas.openxmlformats.org/officeDocument/2006/relationships/image"/><Relationship Id="rId2" Target="../media/image82.png" Type="http://schemas.openxmlformats.org/officeDocument/2006/relationships/image"/><Relationship Id="rId20" Target="../media/image1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8.png" Type="http://schemas.openxmlformats.org/officeDocument/2006/relationships/image"/><Relationship Id="rId9" Target="../media/image8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6738" y="2457900"/>
            <a:ext cx="15355524" cy="203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b="true" sz="5100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BORDER SURVEILLANCE</a:t>
            </a:r>
          </a:p>
          <a:p>
            <a:pPr algn="l">
              <a:lnSpc>
                <a:spcPts val="5304"/>
              </a:lnSpc>
            </a:pPr>
            <a:r>
              <a:rPr lang="en-US" b="true" sz="5100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       SYSTEM</a:t>
            </a:r>
          </a:p>
          <a:p>
            <a:pPr algn="l">
              <a:lnSpc>
                <a:spcPts val="5304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16558" y="5907934"/>
            <a:ext cx="6000750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2 ID: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2223081071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87635" y="6553644"/>
            <a:ext cx="6520361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2 Name: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Arif Khan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74404" y="4399857"/>
            <a:ext cx="6317769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1 ID: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2223081070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83460" y="5048250"/>
            <a:ext cx="10302080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1 Name: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Mahmudul Hasan Khan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286500" y="7699110"/>
            <a:ext cx="3021266" cy="604057"/>
            <a:chOff x="0" y="0"/>
            <a:chExt cx="203266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660" cy="406400"/>
            </a:xfrm>
            <a:custGeom>
              <a:avLst/>
              <a:gdLst/>
              <a:ahLst/>
              <a:cxnLst/>
              <a:rect r="r" b="b" t="t" l="l"/>
              <a:pathLst>
                <a:path h="406400" w="2032660">
                  <a:moveTo>
                    <a:pt x="1829460" y="0"/>
                  </a:moveTo>
                  <a:cubicBezTo>
                    <a:pt x="1941684" y="0"/>
                    <a:pt x="2032660" y="90976"/>
                    <a:pt x="2032660" y="203200"/>
                  </a:cubicBezTo>
                  <a:cubicBezTo>
                    <a:pt x="2032660" y="315424"/>
                    <a:pt x="1941684" y="406400"/>
                    <a:pt x="18294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E94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3266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286500" y="7642175"/>
            <a:ext cx="3021266" cy="122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b="true" sz="3453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Supervisor</a:t>
            </a:r>
          </a:p>
          <a:p>
            <a:pPr algn="ctr">
              <a:lnSpc>
                <a:spcPts val="483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451207" y="8907907"/>
            <a:ext cx="2793217" cy="104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4731"/>
                </a:solidFill>
                <a:latin typeface="Arimo"/>
                <a:ea typeface="Arimo"/>
                <a:cs typeface="Arimo"/>
                <a:sym typeface="Arimo"/>
              </a:rPr>
              <a:t>           Lecturer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004731"/>
                </a:solidFill>
                <a:latin typeface="Arimo"/>
                <a:ea typeface="Arimo"/>
                <a:cs typeface="Arimo"/>
                <a:sym typeface="Arimo"/>
              </a:rPr>
              <a:t>       Dept of CSE</a:t>
            </a:r>
          </a:p>
          <a:p>
            <a:pPr algn="l">
              <a:lnSpc>
                <a:spcPts val="2755"/>
              </a:lnSpc>
            </a:pPr>
            <a:r>
              <a:rPr lang="en-US" sz="2119">
                <a:solidFill>
                  <a:srgbClr val="004731"/>
                </a:solidFill>
                <a:latin typeface="Open Sans 1"/>
                <a:ea typeface="Open Sans 1"/>
                <a:cs typeface="Open Sans 1"/>
                <a:sym typeface="Open Sans 1"/>
              </a:rPr>
              <a:t>   </a:t>
            </a:r>
            <a:r>
              <a:rPr lang="en-US" sz="2119">
                <a:solidFill>
                  <a:srgbClr val="004731"/>
                </a:solidFill>
                <a:latin typeface="Open Sans 1"/>
                <a:ea typeface="Open Sans 1"/>
                <a:cs typeface="Open Sans 1"/>
                <a:sym typeface="Open Sans 1"/>
              </a:rPr>
              <a:t>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0" y="8550817"/>
            <a:ext cx="2818406" cy="41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58">
                <a:solidFill>
                  <a:srgbClr val="00BF63"/>
                </a:solidFill>
                <a:latin typeface="Ekush"/>
                <a:ea typeface="Ekush"/>
                <a:cs typeface="Ekush"/>
                <a:sym typeface="Ekush"/>
              </a:rPr>
              <a:t>SHEBIKA RANI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633892" y="-1159293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326251" y="3148988"/>
            <a:ext cx="6456660" cy="3989023"/>
          </a:xfrm>
          <a:custGeom>
            <a:avLst/>
            <a:gdLst/>
            <a:ahLst/>
            <a:cxnLst/>
            <a:rect r="r" b="b" t="t" l="l"/>
            <a:pathLst>
              <a:path h="3989023" w="6456660">
                <a:moveTo>
                  <a:pt x="0" y="0"/>
                </a:moveTo>
                <a:lnTo>
                  <a:pt x="6456660" y="0"/>
                </a:lnTo>
                <a:lnTo>
                  <a:pt x="6456660" y="3989024"/>
                </a:lnTo>
                <a:lnTo>
                  <a:pt x="0" y="3989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56" t="-6838" r="0" b="-69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0100" y="2777524"/>
            <a:ext cx="6129564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55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100" y="4096732"/>
            <a:ext cx="10131859" cy="177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725">
                <a:solidFill>
                  <a:srgbClr val="021E47"/>
                </a:solidFill>
                <a:latin typeface="Nunito"/>
                <a:ea typeface="Nunito"/>
                <a:cs typeface="Nunito"/>
                <a:sym typeface="Nunito"/>
              </a:rPr>
              <a:t>Border surveillance is a critical requirement for national security and defense systems. Traditional border monitoring methods depend largely on human patrols and fixed surveillance infrastructure, which are costly, inefficient, and vulnerable to human error.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2943" y="6994114"/>
            <a:ext cx="10124004" cy="142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725">
                <a:solidFill>
                  <a:srgbClr val="021E47"/>
                </a:solidFill>
                <a:latin typeface="Nunito"/>
                <a:ea typeface="Nunito"/>
                <a:cs typeface="Nunito"/>
                <a:sym typeface="Nunito"/>
              </a:rPr>
              <a:t> This research proposes an Autonomous Border Surveillance System that uses heuristic optimization and graph-based algorithms to enable intelligent, energy-efficient, and adaptive drone navigation in border areas.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6658" y="7442812"/>
            <a:ext cx="12958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Figure 1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6445" y="7958451"/>
            <a:ext cx="343197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 www.csm.tech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5025423"/>
            <a:ext cx="1876329" cy="1793389"/>
          </a:xfrm>
          <a:custGeom>
            <a:avLst/>
            <a:gdLst/>
            <a:ahLst/>
            <a:cxnLst/>
            <a:rect r="r" b="b" t="t" l="l"/>
            <a:pathLst>
              <a:path h="1793389" w="1876329">
                <a:moveTo>
                  <a:pt x="0" y="0"/>
                </a:moveTo>
                <a:lnTo>
                  <a:pt x="1876329" y="0"/>
                </a:lnTo>
                <a:lnTo>
                  <a:pt x="1876329" y="1793389"/>
                </a:lnTo>
                <a:lnTo>
                  <a:pt x="0" y="1793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35000" y="5093845"/>
            <a:ext cx="1804742" cy="1724967"/>
          </a:xfrm>
          <a:custGeom>
            <a:avLst/>
            <a:gdLst/>
            <a:ahLst/>
            <a:cxnLst/>
            <a:rect r="r" b="b" t="t" l="l"/>
            <a:pathLst>
              <a:path h="1724967" w="1804742">
                <a:moveTo>
                  <a:pt x="0" y="0"/>
                </a:moveTo>
                <a:lnTo>
                  <a:pt x="1804742" y="0"/>
                </a:lnTo>
                <a:lnTo>
                  <a:pt x="1804742" y="1724967"/>
                </a:lnTo>
                <a:lnTo>
                  <a:pt x="0" y="17249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39190" y="5748989"/>
            <a:ext cx="1818949" cy="1738546"/>
          </a:xfrm>
          <a:custGeom>
            <a:avLst/>
            <a:gdLst/>
            <a:ahLst/>
            <a:cxnLst/>
            <a:rect r="r" b="b" t="t" l="l"/>
            <a:pathLst>
              <a:path h="1738546" w="1818949">
                <a:moveTo>
                  <a:pt x="0" y="0"/>
                </a:moveTo>
                <a:lnTo>
                  <a:pt x="1818949" y="0"/>
                </a:lnTo>
                <a:lnTo>
                  <a:pt x="1818949" y="1738546"/>
                </a:lnTo>
                <a:lnTo>
                  <a:pt x="0" y="17385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33500" y="7239575"/>
            <a:ext cx="4246049" cy="7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Drone-Based Border Surveillance Using Real-Time Object Detection with Yolo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7294" y="7693282"/>
            <a:ext cx="4503746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Energy-aware Multi-UAV Coverage Mission Planning (Feb 2024)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4947" y="7110077"/>
            <a:ext cx="4456332" cy="7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Energy-Efficient Meta-Heuristic Path Planning (Applied Sciences 2024)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8397919"/>
            <a:ext cx="3730975" cy="69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Predefined waypoints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Fixed return path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threat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6500" y="8553738"/>
            <a:ext cx="5113206" cy="11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Energy estimate matches 97% with real flight data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Proposed method energy-wise competitive</a:t>
            </a:r>
          </a:p>
          <a:p>
            <a:pPr algn="ctr">
              <a:lnSpc>
                <a:spcPts val="187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69291" y="8336804"/>
            <a:ext cx="4136159" cy="69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Path optimality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Energy consumption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Convergence speed</a:t>
            </a:r>
          </a:p>
        </p:txBody>
      </p:sp>
      <p:sp>
        <p:nvSpPr>
          <p:cNvPr name="AutoShape 13" id="13"/>
          <p:cNvSpPr/>
          <p:nvPr/>
        </p:nvSpPr>
        <p:spPr>
          <a:xfrm>
            <a:off x="0" y="6693778"/>
            <a:ext cx="18288000" cy="1652158"/>
          </a:xfrm>
          <a:prstGeom prst="line">
            <a:avLst/>
          </a:prstGeom>
          <a:ln cap="flat" w="19050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956891" y="5231089"/>
            <a:ext cx="606816" cy="606816"/>
          </a:xfrm>
          <a:custGeom>
            <a:avLst/>
            <a:gdLst/>
            <a:ahLst/>
            <a:cxnLst/>
            <a:rect r="r" b="b" t="t" l="l"/>
            <a:pathLst>
              <a:path h="606816" w="606816">
                <a:moveTo>
                  <a:pt x="0" y="0"/>
                </a:moveTo>
                <a:lnTo>
                  <a:pt x="606816" y="0"/>
                </a:lnTo>
                <a:lnTo>
                  <a:pt x="606816" y="606816"/>
                </a:lnTo>
                <a:lnTo>
                  <a:pt x="0" y="606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07537" y="5347183"/>
            <a:ext cx="497676" cy="459106"/>
          </a:xfrm>
          <a:custGeom>
            <a:avLst/>
            <a:gdLst/>
            <a:ahLst/>
            <a:cxnLst/>
            <a:rect r="r" b="b" t="t" l="l"/>
            <a:pathLst>
              <a:path h="459106" w="497676">
                <a:moveTo>
                  <a:pt x="0" y="0"/>
                </a:moveTo>
                <a:lnTo>
                  <a:pt x="497676" y="0"/>
                </a:lnTo>
                <a:lnTo>
                  <a:pt x="497676" y="459105"/>
                </a:lnTo>
                <a:lnTo>
                  <a:pt x="0" y="4591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06741" y="5930845"/>
            <a:ext cx="471616" cy="486202"/>
          </a:xfrm>
          <a:custGeom>
            <a:avLst/>
            <a:gdLst/>
            <a:ahLst/>
            <a:cxnLst/>
            <a:rect r="r" b="b" t="t" l="l"/>
            <a:pathLst>
              <a:path h="486202" w="471616">
                <a:moveTo>
                  <a:pt x="0" y="0"/>
                </a:moveTo>
                <a:lnTo>
                  <a:pt x="471617" y="0"/>
                </a:lnTo>
                <a:lnTo>
                  <a:pt x="471617" y="486203"/>
                </a:lnTo>
                <a:lnTo>
                  <a:pt x="0" y="4862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53000" y="3075086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BACKGROUND STUDY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358712" y="11605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0" y="2183755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0" y="90363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246328" y="901697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12381" y="8600350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086" y="8969678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454664" y="6595299"/>
            <a:ext cx="2591686" cy="2282713"/>
            <a:chOff x="0" y="0"/>
            <a:chExt cx="691144" cy="608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19369" y="6964626"/>
            <a:ext cx="2591686" cy="2282713"/>
            <a:chOff x="0" y="0"/>
            <a:chExt cx="691144" cy="608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454664" y="4426696"/>
            <a:ext cx="3050101" cy="2424812"/>
          </a:xfrm>
          <a:custGeom>
            <a:avLst/>
            <a:gdLst/>
            <a:ahLst/>
            <a:cxnLst/>
            <a:rect r="r" b="b" t="t" l="l"/>
            <a:pathLst>
              <a:path h="2424812" w="3050101">
                <a:moveTo>
                  <a:pt x="0" y="0"/>
                </a:moveTo>
                <a:lnTo>
                  <a:pt x="3050101" y="0"/>
                </a:lnTo>
                <a:lnTo>
                  <a:pt x="3050101" y="2424811"/>
                </a:lnTo>
                <a:lnTo>
                  <a:pt x="0" y="24248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19369" y="4796023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21967" y="8742241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664250" y="6737190"/>
            <a:ext cx="2591686" cy="2282713"/>
            <a:chOff x="0" y="0"/>
            <a:chExt cx="691144" cy="6087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664250" y="4568587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5" y="0"/>
                </a:lnTo>
                <a:lnTo>
                  <a:pt x="3040955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35664" y="4862746"/>
            <a:ext cx="633885" cy="501561"/>
          </a:xfrm>
          <a:custGeom>
            <a:avLst/>
            <a:gdLst/>
            <a:ahLst/>
            <a:cxnLst/>
            <a:rect r="r" b="b" t="t" l="l"/>
            <a:pathLst>
              <a:path h="501561" w="633885">
                <a:moveTo>
                  <a:pt x="0" y="0"/>
                </a:moveTo>
                <a:lnTo>
                  <a:pt x="633885" y="0"/>
                </a:lnTo>
                <a:lnTo>
                  <a:pt x="633885" y="501561"/>
                </a:lnTo>
                <a:lnTo>
                  <a:pt x="0" y="501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00369" y="5177023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1" y="0"/>
                </a:lnTo>
                <a:lnTo>
                  <a:pt x="556611" y="556612"/>
                </a:lnTo>
                <a:lnTo>
                  <a:pt x="0" y="556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13727" y="5291683"/>
            <a:ext cx="155315" cy="154150"/>
          </a:xfrm>
          <a:custGeom>
            <a:avLst/>
            <a:gdLst/>
            <a:ahLst/>
            <a:cxnLst/>
            <a:rect r="r" b="b" t="t" l="l"/>
            <a:pathLst>
              <a:path h="154150" w="155315">
                <a:moveTo>
                  <a:pt x="0" y="0"/>
                </a:moveTo>
                <a:lnTo>
                  <a:pt x="155315" y="0"/>
                </a:lnTo>
                <a:lnTo>
                  <a:pt x="155315" y="154150"/>
                </a:lnTo>
                <a:lnTo>
                  <a:pt x="0" y="154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02967" y="4949587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2" y="0"/>
                </a:lnTo>
                <a:lnTo>
                  <a:pt x="556612" y="556611"/>
                </a:lnTo>
                <a:lnTo>
                  <a:pt x="0" y="556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286250" y="2754872"/>
            <a:ext cx="93345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26972" y="5734791"/>
            <a:ext cx="3074819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Limited Monitoring Capability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17580" y="6354971"/>
            <a:ext cx="2444532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Lack of Adaptability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46848" y="6080935"/>
            <a:ext cx="1821039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Energy Constraints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30249" y="7253549"/>
            <a:ext cx="2251357" cy="11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1"/>
              </a:lnSpc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visualization and mission monitoring tools are often insufficient.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9784" y="7498974"/>
            <a:ext cx="2351420" cy="11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1"/>
              </a:lnSpc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they cannot change their path when a new no-fly zone or threat appears suddenly.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30086" y="7241518"/>
            <a:ext cx="2318133" cy="148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Many systems fail to calculate the point of no return, causing drones to run out of battery before reaching the base station.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2700000">
            <a:off x="16295874" y="471618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3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2700000">
            <a:off x="-1224173" y="7526382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1" y="0"/>
                </a:lnTo>
                <a:lnTo>
                  <a:pt x="3258581" y="3258581"/>
                </a:lnTo>
                <a:lnTo>
                  <a:pt x="0" y="32585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3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80541" y="5250725"/>
            <a:ext cx="4908918" cy="4804603"/>
          </a:xfrm>
          <a:custGeom>
            <a:avLst/>
            <a:gdLst/>
            <a:ahLst/>
            <a:cxnLst/>
            <a:rect r="r" b="b" t="t" l="l"/>
            <a:pathLst>
              <a:path h="4804603" w="4908918">
                <a:moveTo>
                  <a:pt x="0" y="0"/>
                </a:moveTo>
                <a:lnTo>
                  <a:pt x="4908918" y="0"/>
                </a:lnTo>
                <a:lnTo>
                  <a:pt x="4908918" y="4804603"/>
                </a:lnTo>
                <a:lnTo>
                  <a:pt x="0" y="480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57898" y="6276672"/>
            <a:ext cx="2667000" cy="504118"/>
            <a:chOff x="0" y="0"/>
            <a:chExt cx="702420" cy="1327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60530" y="9409517"/>
            <a:ext cx="2667000" cy="504118"/>
            <a:chOff x="0" y="0"/>
            <a:chExt cx="702420" cy="132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57898" y="7367810"/>
            <a:ext cx="2667000" cy="504118"/>
            <a:chOff x="0" y="0"/>
            <a:chExt cx="702420" cy="132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57898" y="8388664"/>
            <a:ext cx="2667000" cy="504118"/>
            <a:chOff x="0" y="0"/>
            <a:chExt cx="702420" cy="132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518322" y="5626577"/>
            <a:ext cx="668848" cy="612832"/>
          </a:xfrm>
          <a:custGeom>
            <a:avLst/>
            <a:gdLst/>
            <a:ahLst/>
            <a:cxnLst/>
            <a:rect r="r" b="b" t="t" l="l"/>
            <a:pathLst>
              <a:path h="612832" w="668848">
                <a:moveTo>
                  <a:pt x="0" y="0"/>
                </a:moveTo>
                <a:lnTo>
                  <a:pt x="668847" y="0"/>
                </a:lnTo>
                <a:lnTo>
                  <a:pt x="668847" y="612831"/>
                </a:lnTo>
                <a:lnTo>
                  <a:pt x="0" y="612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71133" y="6239408"/>
            <a:ext cx="505515" cy="541382"/>
          </a:xfrm>
          <a:custGeom>
            <a:avLst/>
            <a:gdLst/>
            <a:ahLst/>
            <a:cxnLst/>
            <a:rect r="r" b="b" t="t" l="l"/>
            <a:pathLst>
              <a:path h="541382" w="505515">
                <a:moveTo>
                  <a:pt x="0" y="0"/>
                </a:moveTo>
                <a:lnTo>
                  <a:pt x="505515" y="0"/>
                </a:lnTo>
                <a:lnTo>
                  <a:pt x="505515" y="541382"/>
                </a:lnTo>
                <a:lnTo>
                  <a:pt x="0" y="541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84407" y="8290727"/>
            <a:ext cx="584483" cy="511422"/>
          </a:xfrm>
          <a:custGeom>
            <a:avLst/>
            <a:gdLst/>
            <a:ahLst/>
            <a:cxnLst/>
            <a:rect r="r" b="b" t="t" l="l"/>
            <a:pathLst>
              <a:path h="511422" w="584483">
                <a:moveTo>
                  <a:pt x="0" y="0"/>
                </a:moveTo>
                <a:lnTo>
                  <a:pt x="584482" y="0"/>
                </a:lnTo>
                <a:lnTo>
                  <a:pt x="584482" y="511422"/>
                </a:lnTo>
                <a:lnTo>
                  <a:pt x="0" y="511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94618" y="8997671"/>
            <a:ext cx="552515" cy="552515"/>
          </a:xfrm>
          <a:custGeom>
            <a:avLst/>
            <a:gdLst/>
            <a:ahLst/>
            <a:cxnLst/>
            <a:rect r="r" b="b" t="t" l="l"/>
            <a:pathLst>
              <a:path h="552515" w="552515">
                <a:moveTo>
                  <a:pt x="0" y="0"/>
                </a:moveTo>
                <a:lnTo>
                  <a:pt x="552515" y="0"/>
                </a:lnTo>
                <a:lnTo>
                  <a:pt x="552515" y="552515"/>
                </a:lnTo>
                <a:lnTo>
                  <a:pt x="0" y="552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23133" y="7085960"/>
            <a:ext cx="563700" cy="563700"/>
          </a:xfrm>
          <a:custGeom>
            <a:avLst/>
            <a:gdLst/>
            <a:ahLst/>
            <a:cxnLst/>
            <a:rect r="r" b="b" t="t" l="l"/>
            <a:pathLst>
              <a:path h="563700" w="563700">
                <a:moveTo>
                  <a:pt x="0" y="0"/>
                </a:moveTo>
                <a:lnTo>
                  <a:pt x="563700" y="0"/>
                </a:lnTo>
                <a:lnTo>
                  <a:pt x="563700" y="563701"/>
                </a:lnTo>
                <a:lnTo>
                  <a:pt x="0" y="5637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088107" y="3127191"/>
            <a:ext cx="10662387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AIM OF THE RESEARCH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88107" y="6408415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 intelligently plan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88107" y="7499553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Save energy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88107" y="9541260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Area coverage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2700000">
            <a:off x="16299339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2700000">
            <a:off x="-1269921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088107" y="8517799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</a:t>
            </a:r>
            <a:r>
              <a:rPr lang="en-US" b="true" sz="20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afely complete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3086" y="4086201"/>
            <a:ext cx="15580270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The primary aim of this research is to design and simulate an autonomous drone-based border surveillance system that ensures efficient area coverage, energy-aware navigation, and mission safety using heuristic optimization techniques.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5106" y="4065511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877" t="-283791" r="-1042743" b="-2288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8794" y="5249578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-3393253" y="8821554"/>
            <a:ext cx="10484403" cy="972315"/>
            <a:chOff x="0" y="0"/>
            <a:chExt cx="2068384" cy="191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384" cy="191820"/>
            </a:xfrm>
            <a:custGeom>
              <a:avLst/>
              <a:gdLst/>
              <a:ahLst/>
              <a:cxnLst/>
              <a:rect r="r" b="b" t="t" l="l"/>
              <a:pathLst>
                <a:path h="191820" w="2068384">
                  <a:moveTo>
                    <a:pt x="1865184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2068384" y="191820"/>
                  </a:lnTo>
                  <a:lnTo>
                    <a:pt x="1865184" y="0"/>
                  </a:ln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28575"/>
              <a:ext cx="1865184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-1500493" y="9296550"/>
            <a:ext cx="9066258" cy="972315"/>
            <a:chOff x="0" y="0"/>
            <a:chExt cx="1788610" cy="191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8610" cy="191820"/>
            </a:xfrm>
            <a:custGeom>
              <a:avLst/>
              <a:gdLst/>
              <a:ahLst/>
              <a:cxnLst/>
              <a:rect r="r" b="b" t="t" l="l"/>
              <a:pathLst>
                <a:path h="191820" w="1788610">
                  <a:moveTo>
                    <a:pt x="1585410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788610" y="191820"/>
                  </a:lnTo>
                  <a:lnTo>
                    <a:pt x="1585410" y="0"/>
                  </a:ln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28575"/>
              <a:ext cx="1585410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2022021" y="4378596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05709" y="5562663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02482" y="6433645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70"/>
                </a:lnTo>
                <a:lnTo>
                  <a:pt x="0" y="1014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5400000">
            <a:off x="275229" y="9888583"/>
            <a:ext cx="7882191" cy="972315"/>
            <a:chOff x="0" y="0"/>
            <a:chExt cx="1555015" cy="191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4389397" y="6746731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8"/>
                </a:lnTo>
                <a:lnTo>
                  <a:pt x="0" y="388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954606" y="7680534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5400000">
            <a:off x="1527353" y="11135472"/>
            <a:ext cx="7882191" cy="972315"/>
            <a:chOff x="0" y="0"/>
            <a:chExt cx="1555015" cy="191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5641521" y="7993619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011956" y="8995409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400000">
            <a:off x="2640782" y="12450346"/>
            <a:ext cx="7882191" cy="972315"/>
            <a:chOff x="0" y="0"/>
            <a:chExt cx="1555015" cy="1918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5400000">
            <a:off x="6698871" y="9308494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8"/>
                </a:lnTo>
                <a:lnTo>
                  <a:pt x="0" y="388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2700000">
            <a:off x="15898038" y="7390902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845069" y="4375759"/>
            <a:ext cx="432299" cy="394473"/>
          </a:xfrm>
          <a:custGeom>
            <a:avLst/>
            <a:gdLst/>
            <a:ahLst/>
            <a:cxnLst/>
            <a:rect r="r" b="b" t="t" l="l"/>
            <a:pathLst>
              <a:path h="394473" w="432299">
                <a:moveTo>
                  <a:pt x="0" y="0"/>
                </a:moveTo>
                <a:lnTo>
                  <a:pt x="432299" y="0"/>
                </a:lnTo>
                <a:lnTo>
                  <a:pt x="432299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072324" y="5559826"/>
            <a:ext cx="345164" cy="394473"/>
          </a:xfrm>
          <a:custGeom>
            <a:avLst/>
            <a:gdLst/>
            <a:ahLst/>
            <a:cxnLst/>
            <a:rect r="r" b="b" t="t" l="l"/>
            <a:pathLst>
              <a:path h="394473" w="345164">
                <a:moveTo>
                  <a:pt x="0" y="0"/>
                </a:moveTo>
                <a:lnTo>
                  <a:pt x="345164" y="0"/>
                </a:lnTo>
                <a:lnTo>
                  <a:pt x="345164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234785" y="6743894"/>
            <a:ext cx="394473" cy="394473"/>
          </a:xfrm>
          <a:custGeom>
            <a:avLst/>
            <a:gdLst/>
            <a:ahLst/>
            <a:cxnLst/>
            <a:rect r="r" b="b" t="t" l="l"/>
            <a:pathLst>
              <a:path h="394473" w="394473">
                <a:moveTo>
                  <a:pt x="0" y="0"/>
                </a:moveTo>
                <a:lnTo>
                  <a:pt x="394473" y="0"/>
                </a:lnTo>
                <a:lnTo>
                  <a:pt x="394473" y="394472"/>
                </a:lnTo>
                <a:lnTo>
                  <a:pt x="0" y="3944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11021" y="7906340"/>
            <a:ext cx="341712" cy="394473"/>
          </a:xfrm>
          <a:custGeom>
            <a:avLst/>
            <a:gdLst/>
            <a:ahLst/>
            <a:cxnLst/>
            <a:rect r="r" b="b" t="t" l="l"/>
            <a:pathLst>
              <a:path h="394473" w="341712">
                <a:moveTo>
                  <a:pt x="0" y="0"/>
                </a:moveTo>
                <a:lnTo>
                  <a:pt x="341712" y="0"/>
                </a:lnTo>
                <a:lnTo>
                  <a:pt x="341712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40832" y="9306626"/>
            <a:ext cx="394473" cy="394473"/>
          </a:xfrm>
          <a:custGeom>
            <a:avLst/>
            <a:gdLst/>
            <a:ahLst/>
            <a:cxnLst/>
            <a:rect r="r" b="b" t="t" l="l"/>
            <a:pathLst>
              <a:path h="394473" w="394473">
                <a:moveTo>
                  <a:pt x="0" y="0"/>
                </a:moveTo>
                <a:lnTo>
                  <a:pt x="394473" y="0"/>
                </a:lnTo>
                <a:lnTo>
                  <a:pt x="394473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417488" y="4337611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model drone path planning as an energy optimization problem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1877" y="2048469"/>
            <a:ext cx="4910796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2700" y="3238553"/>
            <a:ext cx="8719183" cy="44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3200" b="true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The main objectives of this research are: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81877" y="6722883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apply heuristic optimization algorithms for efficient path planning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23844" y="5489230"/>
            <a:ext cx="7613303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design an energy-aware cost function for navigation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3556" y="8010818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reduce battery consumption during surveillance missions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30906" y="9236030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compare the proposed method with traditional path planning approaches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4854710" y="0"/>
            <a:ext cx="3433290" cy="1705276"/>
          </a:xfrm>
          <a:custGeom>
            <a:avLst/>
            <a:gdLst/>
            <a:ahLst/>
            <a:cxnLst/>
            <a:rect r="r" b="b" t="t" l="l"/>
            <a:pathLst>
              <a:path h="1705276" w="3433290">
                <a:moveTo>
                  <a:pt x="0" y="0"/>
                </a:moveTo>
                <a:lnTo>
                  <a:pt x="3433290" y="0"/>
                </a:lnTo>
                <a:lnTo>
                  <a:pt x="3433290" y="1705276"/>
                </a:lnTo>
                <a:lnTo>
                  <a:pt x="0" y="170527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AutoShape 41" id="41"/>
          <p:cNvSpPr/>
          <p:nvPr/>
        </p:nvSpPr>
        <p:spPr>
          <a:xfrm>
            <a:off x="0" y="183877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6751" y="2777144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REQUIREMENTS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7453" y="753308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57599" y="7096863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51" y="6013908"/>
            <a:ext cx="18288000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453" y="5638469"/>
            <a:ext cx="2880776" cy="2370260"/>
            <a:chOff x="0" y="0"/>
            <a:chExt cx="758723" cy="624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8723" cy="624266"/>
            </a:xfrm>
            <a:custGeom>
              <a:avLst/>
              <a:gdLst/>
              <a:ahLst/>
              <a:cxnLst/>
              <a:rect r="r" b="b" t="t" l="l"/>
              <a:pathLst>
                <a:path h="624266" w="758723">
                  <a:moveTo>
                    <a:pt x="94060" y="0"/>
                  </a:moveTo>
                  <a:lnTo>
                    <a:pt x="664662" y="0"/>
                  </a:lnTo>
                  <a:cubicBezTo>
                    <a:pt x="689609" y="0"/>
                    <a:pt x="713533" y="9910"/>
                    <a:pt x="731173" y="27550"/>
                  </a:cubicBezTo>
                  <a:cubicBezTo>
                    <a:pt x="748813" y="45189"/>
                    <a:pt x="758723" y="69114"/>
                    <a:pt x="758723" y="94060"/>
                  </a:cubicBezTo>
                  <a:lnTo>
                    <a:pt x="758723" y="530205"/>
                  </a:lnTo>
                  <a:cubicBezTo>
                    <a:pt x="758723" y="582154"/>
                    <a:pt x="716611" y="624266"/>
                    <a:pt x="664662" y="624266"/>
                  </a:cubicBezTo>
                  <a:lnTo>
                    <a:pt x="94060" y="624266"/>
                  </a:lnTo>
                  <a:cubicBezTo>
                    <a:pt x="69114" y="624266"/>
                    <a:pt x="45189" y="614356"/>
                    <a:pt x="27550" y="596716"/>
                  </a:cubicBezTo>
                  <a:cubicBezTo>
                    <a:pt x="9910" y="579076"/>
                    <a:pt x="0" y="555152"/>
                    <a:pt x="0" y="530205"/>
                  </a:cubicBezTo>
                  <a:lnTo>
                    <a:pt x="0" y="94060"/>
                  </a:lnTo>
                  <a:cubicBezTo>
                    <a:pt x="0" y="69114"/>
                    <a:pt x="9910" y="45189"/>
                    <a:pt x="27550" y="27550"/>
                  </a:cubicBezTo>
                  <a:cubicBezTo>
                    <a:pt x="45189" y="9910"/>
                    <a:pt x="69114" y="0"/>
                    <a:pt x="9406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758723" cy="595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57599" y="5202247"/>
            <a:ext cx="2878696" cy="2193281"/>
            <a:chOff x="0" y="0"/>
            <a:chExt cx="758175" cy="577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269055" y="6798198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85876" y="6798198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02697" y="7219328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269055" y="4903582"/>
            <a:ext cx="2878696" cy="2193281"/>
            <a:chOff x="0" y="0"/>
            <a:chExt cx="758175" cy="577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85876" y="4903582"/>
            <a:ext cx="2878696" cy="2491945"/>
            <a:chOff x="0" y="0"/>
            <a:chExt cx="758175" cy="6563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8175" cy="656315"/>
            </a:xfrm>
            <a:custGeom>
              <a:avLst/>
              <a:gdLst/>
              <a:ahLst/>
              <a:cxnLst/>
              <a:rect r="r" b="b" t="t" l="l"/>
              <a:pathLst>
                <a:path h="656315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562186"/>
                  </a:lnTo>
                  <a:cubicBezTo>
                    <a:pt x="758175" y="614172"/>
                    <a:pt x="716032" y="656315"/>
                    <a:pt x="664047" y="656315"/>
                  </a:cubicBezTo>
                  <a:lnTo>
                    <a:pt x="94128" y="656315"/>
                  </a:lnTo>
                  <a:cubicBezTo>
                    <a:pt x="69164" y="656315"/>
                    <a:pt x="45222" y="646398"/>
                    <a:pt x="27570" y="628745"/>
                  </a:cubicBezTo>
                  <a:cubicBezTo>
                    <a:pt x="9917" y="611093"/>
                    <a:pt x="0" y="587151"/>
                    <a:pt x="0" y="56218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758175" cy="627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02697" y="5202247"/>
            <a:ext cx="2878696" cy="2193281"/>
            <a:chOff x="0" y="0"/>
            <a:chExt cx="758175" cy="5776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7453" y="527361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157599" y="4837393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269055" y="4538728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385876" y="4538728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502697" y="4837393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06058" y="5436471"/>
            <a:ext cx="353498" cy="403998"/>
          </a:xfrm>
          <a:custGeom>
            <a:avLst/>
            <a:gdLst/>
            <a:ahLst/>
            <a:cxnLst/>
            <a:rect r="r" b="b" t="t" l="l"/>
            <a:pathLst>
              <a:path h="403998" w="353498">
                <a:moveTo>
                  <a:pt x="0" y="0"/>
                </a:moveTo>
                <a:lnTo>
                  <a:pt x="353498" y="0"/>
                </a:lnTo>
                <a:lnTo>
                  <a:pt x="35349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336875" y="4990723"/>
            <a:ext cx="391878" cy="403998"/>
          </a:xfrm>
          <a:custGeom>
            <a:avLst/>
            <a:gdLst/>
            <a:ahLst/>
            <a:cxnLst/>
            <a:rect r="r" b="b" t="t" l="l"/>
            <a:pathLst>
              <a:path h="403998" w="391878">
                <a:moveTo>
                  <a:pt x="0" y="0"/>
                </a:moveTo>
                <a:lnTo>
                  <a:pt x="391877" y="0"/>
                </a:lnTo>
                <a:lnTo>
                  <a:pt x="391877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36211" y="4701583"/>
            <a:ext cx="403998" cy="403998"/>
          </a:xfrm>
          <a:custGeom>
            <a:avLst/>
            <a:gdLst/>
            <a:ahLst/>
            <a:cxnLst/>
            <a:rect r="r" b="b" t="t" l="l"/>
            <a:pathLst>
              <a:path h="403998" w="403998">
                <a:moveTo>
                  <a:pt x="0" y="0"/>
                </a:moveTo>
                <a:lnTo>
                  <a:pt x="403997" y="0"/>
                </a:lnTo>
                <a:lnTo>
                  <a:pt x="403997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541678" y="4701583"/>
            <a:ext cx="432299" cy="394473"/>
          </a:xfrm>
          <a:custGeom>
            <a:avLst/>
            <a:gdLst/>
            <a:ahLst/>
            <a:cxnLst/>
            <a:rect r="r" b="b" t="t" l="l"/>
            <a:pathLst>
              <a:path h="394473" w="432299">
                <a:moveTo>
                  <a:pt x="0" y="0"/>
                </a:moveTo>
                <a:lnTo>
                  <a:pt x="432299" y="0"/>
                </a:lnTo>
                <a:lnTo>
                  <a:pt x="432299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81592" y="5000248"/>
            <a:ext cx="386323" cy="403998"/>
          </a:xfrm>
          <a:custGeom>
            <a:avLst/>
            <a:gdLst/>
            <a:ahLst/>
            <a:cxnLst/>
            <a:rect r="r" b="b" t="t" l="l"/>
            <a:pathLst>
              <a:path h="403998" w="386323">
                <a:moveTo>
                  <a:pt x="0" y="0"/>
                </a:moveTo>
                <a:lnTo>
                  <a:pt x="386323" y="0"/>
                </a:lnTo>
                <a:lnTo>
                  <a:pt x="386323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32717" y="5420289"/>
            <a:ext cx="1855511" cy="4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Data Requirements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05002" y="4945138"/>
            <a:ext cx="1766697" cy="4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Hardware Requirements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47171" y="6151156"/>
            <a:ext cx="2789124" cy="8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Personal computer or laptop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Mobile device for simulation visualization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245845" y="5508634"/>
            <a:ext cx="2901906" cy="168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Programming Language: Python / Java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Google Maps API or equivalent mapping tools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Simulation and visualization libraries</a:t>
            </a:r>
          </a:p>
          <a:p>
            <a:pPr algn="l">
              <a:lnSpc>
                <a:spcPts val="166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316458" y="4632049"/>
            <a:ext cx="2071497" cy="92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Software Requirements</a:t>
            </a:r>
          </a:p>
          <a:p>
            <a:pPr algn="l">
              <a:lnSpc>
                <a:spcPts val="1872"/>
              </a:lnSpc>
            </a:pPr>
          </a:p>
          <a:p>
            <a:pPr algn="l">
              <a:lnSpc>
                <a:spcPts val="1872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390406" y="4675810"/>
            <a:ext cx="1764617" cy="4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Functional Requirements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87015" y="4869733"/>
            <a:ext cx="1764617" cy="69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Non-Functional Requirements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19201" y="5441190"/>
            <a:ext cx="2903986" cy="18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Autonomous coverage path planning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Dynamic obstacle and threat avoidance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Battery monitoring and safe return mechanism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visualization of drone movement and telemetry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93197" y="5722666"/>
            <a:ext cx="2187283" cy="148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Energy efficiency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High reliability and safety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Scalability and flexibility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performance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2700000">
            <a:off x="4934241" y="9037043"/>
            <a:ext cx="5205423" cy="5205423"/>
          </a:xfrm>
          <a:custGeom>
            <a:avLst/>
            <a:gdLst/>
            <a:ahLst/>
            <a:cxnLst/>
            <a:rect r="r" b="b" t="t" l="l"/>
            <a:pathLst>
              <a:path h="5205423" w="5205423">
                <a:moveTo>
                  <a:pt x="0" y="0"/>
                </a:moveTo>
                <a:lnTo>
                  <a:pt x="5205423" y="0"/>
                </a:lnTo>
                <a:lnTo>
                  <a:pt x="5205423" y="5205423"/>
                </a:lnTo>
                <a:lnTo>
                  <a:pt x="0" y="520542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3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509378" y="7749054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5509378" y="5854438"/>
            <a:ext cx="2878696" cy="2193281"/>
            <a:chOff x="0" y="0"/>
            <a:chExt cx="758175" cy="57765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5509378" y="5489584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5676534" y="5652439"/>
            <a:ext cx="403998" cy="403998"/>
          </a:xfrm>
          <a:custGeom>
            <a:avLst/>
            <a:gdLst/>
            <a:ahLst/>
            <a:cxnLst/>
            <a:rect r="r" b="b" t="t" l="l"/>
            <a:pathLst>
              <a:path h="403998" w="403998">
                <a:moveTo>
                  <a:pt x="0" y="0"/>
                </a:moveTo>
                <a:lnTo>
                  <a:pt x="403997" y="0"/>
                </a:lnTo>
                <a:lnTo>
                  <a:pt x="403997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5486168" y="6459490"/>
            <a:ext cx="2901906" cy="168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Programming Language: Python / Java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Google Maps API or equivalent mapping tools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Simulation and visualization libraries</a:t>
            </a:r>
          </a:p>
          <a:p>
            <a:pPr algn="l">
              <a:lnSpc>
                <a:spcPts val="1663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16556781" y="5582905"/>
            <a:ext cx="2071497" cy="92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Software Requirements</a:t>
            </a:r>
          </a:p>
          <a:p>
            <a:pPr algn="l">
              <a:lnSpc>
                <a:spcPts val="1872"/>
              </a:lnSpc>
            </a:pPr>
          </a:p>
          <a:p>
            <a:pPr algn="l">
              <a:lnSpc>
                <a:spcPts val="1872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152239" y="6400272"/>
            <a:ext cx="2789124" cy="10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Simulated border maps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Obstacle and no-fly zone data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Battery consumption parameters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747" y="3374247"/>
            <a:ext cx="9450506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4"/>
              </a:lnSpc>
            </a:pPr>
            <a:r>
              <a:rPr lang="en-US" sz="56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SCOPE OF THE PROJECT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354408" y="4721501"/>
            <a:ext cx="13058742" cy="2135729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2707334" y="3951273"/>
            <a:ext cx="7664781" cy="756558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056059" y="7233017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957890" y="5271099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5628440" y="6899473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676403" y="3298047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79859" y="7136194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2"/>
                </a:lnTo>
                <a:lnTo>
                  <a:pt x="2746443" y="1158152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9881690" y="5174277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5552240" y="6802651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600203" y="3201225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0947" y="7543868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53999" y="5581950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17196" y="7210325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76180" y="3608899"/>
            <a:ext cx="332091" cy="342804"/>
          </a:xfrm>
          <a:custGeom>
            <a:avLst/>
            <a:gdLst/>
            <a:ahLst/>
            <a:cxnLst/>
            <a:rect r="r" b="b" t="t" l="l"/>
            <a:pathLst>
              <a:path h="342804" w="332091">
                <a:moveTo>
                  <a:pt x="0" y="0"/>
                </a:moveTo>
                <a:lnTo>
                  <a:pt x="332091" y="0"/>
                </a:lnTo>
                <a:lnTo>
                  <a:pt x="332091" y="342803"/>
                </a:lnTo>
                <a:lnTo>
                  <a:pt x="0" y="3428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02277" y="7458713"/>
            <a:ext cx="1454082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Data Availability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4069" y="5655547"/>
            <a:ext cx="1612725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Technology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4208" y="7283922"/>
            <a:ext cx="1834475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Functionality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95798" y="3658985"/>
            <a:ext cx="1362529" cy="28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Boundary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700000">
            <a:off x="14275077" y="7859096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075" y="8629293"/>
            <a:ext cx="3971925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User-defined and simulated border environments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24364" y="8372151"/>
            <a:ext cx="3229136" cy="7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Autonomous surveillance, dynamic routing, energy-aware navigation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06087" y="6720080"/>
            <a:ext cx="3670316" cy="83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184"/>
              </a:lnSpc>
              <a:buFont typeface="Arial"/>
              <a:buChar char="•"/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Heuristic optimization</a:t>
            </a:r>
          </a:p>
          <a:p>
            <a:pPr algn="l" marL="453390" indent="-226695" lvl="1">
              <a:lnSpc>
                <a:spcPts val="2184"/>
              </a:lnSpc>
              <a:buFont typeface="Arial"/>
              <a:buChar char="•"/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graph-based algorithms</a:t>
            </a:r>
          </a:p>
          <a:p>
            <a:pPr algn="l" marL="453390" indent="-226695" lvl="1">
              <a:lnSpc>
                <a:spcPts val="2184"/>
              </a:lnSpc>
              <a:buFont typeface="Arial"/>
              <a:buChar char="•"/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map visualization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41421" y="4666656"/>
            <a:ext cx="4121158" cy="110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The research is limited to simulation-based implementation and does not include real drone deployment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D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46115" y="6822500"/>
            <a:ext cx="11824173" cy="11044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746115" y="5886739"/>
            <a:ext cx="11824173" cy="27223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746115" y="4835099"/>
            <a:ext cx="11824173" cy="33614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746115" y="8809901"/>
            <a:ext cx="11824173" cy="9969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746115" y="3841398"/>
            <a:ext cx="11824173" cy="10953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746115" y="7816200"/>
            <a:ext cx="11824173" cy="42994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700475" y="2183644"/>
            <a:ext cx="11824173" cy="4398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31679" y="2885327"/>
            <a:ext cx="3058928" cy="820243"/>
            <a:chOff x="0" y="0"/>
            <a:chExt cx="716932" cy="1922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6932" cy="192243"/>
            </a:xfrm>
            <a:custGeom>
              <a:avLst/>
              <a:gdLst/>
              <a:ahLst/>
              <a:cxnLst/>
              <a:rect r="r" b="b" t="t" l="l"/>
              <a:pathLst>
                <a:path h="192243" w="716932">
                  <a:moveTo>
                    <a:pt x="96122" y="0"/>
                  </a:moveTo>
                  <a:lnTo>
                    <a:pt x="620811" y="0"/>
                  </a:lnTo>
                  <a:cubicBezTo>
                    <a:pt x="646304" y="0"/>
                    <a:pt x="670752" y="10127"/>
                    <a:pt x="688779" y="28153"/>
                  </a:cubicBezTo>
                  <a:cubicBezTo>
                    <a:pt x="706805" y="46180"/>
                    <a:pt x="716932" y="70629"/>
                    <a:pt x="716932" y="96122"/>
                  </a:cubicBezTo>
                  <a:lnTo>
                    <a:pt x="716932" y="96122"/>
                  </a:lnTo>
                  <a:cubicBezTo>
                    <a:pt x="716932" y="149208"/>
                    <a:pt x="673897" y="192243"/>
                    <a:pt x="62081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1693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94032" y="2953344"/>
            <a:ext cx="1643599" cy="776049"/>
            <a:chOff x="0" y="0"/>
            <a:chExt cx="407153" cy="192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7153" cy="192243"/>
            </a:xfrm>
            <a:custGeom>
              <a:avLst/>
              <a:gdLst/>
              <a:ahLst/>
              <a:cxnLst/>
              <a:rect r="r" b="b" t="t" l="l"/>
              <a:pathLst>
                <a:path h="192243" w="407153">
                  <a:moveTo>
                    <a:pt x="96122" y="0"/>
                  </a:moveTo>
                  <a:lnTo>
                    <a:pt x="311031" y="0"/>
                  </a:lnTo>
                  <a:cubicBezTo>
                    <a:pt x="364118" y="0"/>
                    <a:pt x="407153" y="43035"/>
                    <a:pt x="407153" y="96122"/>
                  </a:cubicBezTo>
                  <a:lnTo>
                    <a:pt x="407153" y="96122"/>
                  </a:lnTo>
                  <a:cubicBezTo>
                    <a:pt x="407153" y="121615"/>
                    <a:pt x="397026" y="146064"/>
                    <a:pt x="379000" y="164090"/>
                  </a:cubicBezTo>
                  <a:cubicBezTo>
                    <a:pt x="360973" y="182116"/>
                    <a:pt x="336524" y="192243"/>
                    <a:pt x="31103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0715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94540" y="3950936"/>
            <a:ext cx="1999216" cy="776049"/>
            <a:chOff x="0" y="0"/>
            <a:chExt cx="495246" cy="1922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5247" cy="192243"/>
            </a:xfrm>
            <a:custGeom>
              <a:avLst/>
              <a:gdLst/>
              <a:ahLst/>
              <a:cxnLst/>
              <a:rect r="r" b="b" t="t" l="l"/>
              <a:pathLst>
                <a:path h="192243" w="495247">
                  <a:moveTo>
                    <a:pt x="96122" y="0"/>
                  </a:moveTo>
                  <a:lnTo>
                    <a:pt x="399125" y="0"/>
                  </a:lnTo>
                  <a:cubicBezTo>
                    <a:pt x="452211" y="0"/>
                    <a:pt x="495247" y="43035"/>
                    <a:pt x="495247" y="96122"/>
                  </a:cubicBezTo>
                  <a:lnTo>
                    <a:pt x="495247" y="96122"/>
                  </a:lnTo>
                  <a:cubicBezTo>
                    <a:pt x="495247" y="121615"/>
                    <a:pt x="485119" y="146064"/>
                    <a:pt x="467093" y="164090"/>
                  </a:cubicBezTo>
                  <a:cubicBezTo>
                    <a:pt x="449067" y="182116"/>
                    <a:pt x="424618" y="192243"/>
                    <a:pt x="399125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768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95246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679" y="5100744"/>
            <a:ext cx="3174176" cy="820243"/>
            <a:chOff x="0" y="0"/>
            <a:chExt cx="743943" cy="1922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679" y="8257648"/>
            <a:ext cx="3174176" cy="820243"/>
            <a:chOff x="0" y="0"/>
            <a:chExt cx="743943" cy="1922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679" y="4048470"/>
            <a:ext cx="3071461" cy="820243"/>
            <a:chOff x="0" y="0"/>
            <a:chExt cx="719869" cy="1922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9869" cy="192243"/>
            </a:xfrm>
            <a:custGeom>
              <a:avLst/>
              <a:gdLst/>
              <a:ahLst/>
              <a:cxnLst/>
              <a:rect r="r" b="b" t="t" l="l"/>
              <a:pathLst>
                <a:path h="192243" w="719869">
                  <a:moveTo>
                    <a:pt x="96122" y="0"/>
                  </a:moveTo>
                  <a:lnTo>
                    <a:pt x="623748" y="0"/>
                  </a:lnTo>
                  <a:cubicBezTo>
                    <a:pt x="649241" y="0"/>
                    <a:pt x="673690" y="10127"/>
                    <a:pt x="691716" y="28153"/>
                  </a:cubicBezTo>
                  <a:cubicBezTo>
                    <a:pt x="709742" y="46180"/>
                    <a:pt x="719869" y="70629"/>
                    <a:pt x="719869" y="96122"/>
                  </a:cubicBezTo>
                  <a:lnTo>
                    <a:pt x="719869" y="96122"/>
                  </a:lnTo>
                  <a:cubicBezTo>
                    <a:pt x="719869" y="121615"/>
                    <a:pt x="709742" y="146064"/>
                    <a:pt x="691716" y="164090"/>
                  </a:cubicBezTo>
                  <a:cubicBezTo>
                    <a:pt x="673690" y="182116"/>
                    <a:pt x="649241" y="192243"/>
                    <a:pt x="62374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19869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1679" y="7205374"/>
            <a:ext cx="3174176" cy="820243"/>
            <a:chOff x="0" y="0"/>
            <a:chExt cx="743943" cy="1922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1679" y="6153100"/>
            <a:ext cx="3174176" cy="820243"/>
            <a:chOff x="0" y="0"/>
            <a:chExt cx="743943" cy="1922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83748" y="4944636"/>
            <a:ext cx="3836752" cy="776049"/>
            <a:chOff x="0" y="0"/>
            <a:chExt cx="950442" cy="1922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442" cy="192243"/>
            </a:xfrm>
            <a:custGeom>
              <a:avLst/>
              <a:gdLst/>
              <a:ahLst/>
              <a:cxnLst/>
              <a:rect r="r" b="b" t="t" l="l"/>
              <a:pathLst>
                <a:path h="192243" w="950442">
                  <a:moveTo>
                    <a:pt x="96122" y="0"/>
                  </a:moveTo>
                  <a:lnTo>
                    <a:pt x="854320" y="0"/>
                  </a:lnTo>
                  <a:cubicBezTo>
                    <a:pt x="879813" y="0"/>
                    <a:pt x="904262" y="10127"/>
                    <a:pt x="922288" y="28153"/>
                  </a:cubicBezTo>
                  <a:cubicBezTo>
                    <a:pt x="940315" y="46180"/>
                    <a:pt x="950442" y="70629"/>
                    <a:pt x="950442" y="96122"/>
                  </a:cubicBezTo>
                  <a:lnTo>
                    <a:pt x="950442" y="96122"/>
                  </a:lnTo>
                  <a:cubicBezTo>
                    <a:pt x="950442" y="149208"/>
                    <a:pt x="907407" y="192243"/>
                    <a:pt x="854320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46C0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5044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57066" y="5936913"/>
            <a:ext cx="1879874" cy="776049"/>
            <a:chOff x="0" y="0"/>
            <a:chExt cx="465683" cy="1922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5683" cy="192243"/>
            </a:xfrm>
            <a:custGeom>
              <a:avLst/>
              <a:gdLst/>
              <a:ahLst/>
              <a:cxnLst/>
              <a:rect r="r" b="b" t="t" l="l"/>
              <a:pathLst>
                <a:path h="192243" w="465683">
                  <a:moveTo>
                    <a:pt x="96122" y="0"/>
                  </a:moveTo>
                  <a:lnTo>
                    <a:pt x="369561" y="0"/>
                  </a:lnTo>
                  <a:cubicBezTo>
                    <a:pt x="395054" y="0"/>
                    <a:pt x="419503" y="10127"/>
                    <a:pt x="437530" y="28153"/>
                  </a:cubicBezTo>
                  <a:cubicBezTo>
                    <a:pt x="455556" y="46180"/>
                    <a:pt x="465683" y="70629"/>
                    <a:pt x="465683" y="96122"/>
                  </a:cubicBezTo>
                  <a:lnTo>
                    <a:pt x="465683" y="96122"/>
                  </a:lnTo>
                  <a:cubicBezTo>
                    <a:pt x="465683" y="149208"/>
                    <a:pt x="422648" y="192243"/>
                    <a:pt x="36956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BC5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6568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018341" y="7921107"/>
            <a:ext cx="1689495" cy="776049"/>
            <a:chOff x="0" y="0"/>
            <a:chExt cx="418522" cy="1922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8522" cy="192243"/>
            </a:xfrm>
            <a:custGeom>
              <a:avLst/>
              <a:gdLst/>
              <a:ahLst/>
              <a:cxnLst/>
              <a:rect r="r" b="b" t="t" l="l"/>
              <a:pathLst>
                <a:path h="192243" w="418522">
                  <a:moveTo>
                    <a:pt x="96122" y="0"/>
                  </a:moveTo>
                  <a:lnTo>
                    <a:pt x="322401" y="0"/>
                  </a:lnTo>
                  <a:cubicBezTo>
                    <a:pt x="375487" y="0"/>
                    <a:pt x="418522" y="43035"/>
                    <a:pt x="418522" y="96122"/>
                  </a:cubicBezTo>
                  <a:lnTo>
                    <a:pt x="418522" y="96122"/>
                  </a:lnTo>
                  <a:cubicBezTo>
                    <a:pt x="418522" y="121615"/>
                    <a:pt x="408395" y="146064"/>
                    <a:pt x="390369" y="164090"/>
                  </a:cubicBezTo>
                  <a:cubicBezTo>
                    <a:pt x="372343" y="182116"/>
                    <a:pt x="347894" y="192243"/>
                    <a:pt x="32240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57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852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64322" y="6978239"/>
            <a:ext cx="1954019" cy="776049"/>
            <a:chOff x="0" y="0"/>
            <a:chExt cx="484050" cy="1922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4050" cy="192243"/>
            </a:xfrm>
            <a:custGeom>
              <a:avLst/>
              <a:gdLst/>
              <a:ahLst/>
              <a:cxnLst/>
              <a:rect r="r" b="b" t="t" l="l"/>
              <a:pathLst>
                <a:path h="192243" w="484050">
                  <a:moveTo>
                    <a:pt x="96122" y="0"/>
                  </a:moveTo>
                  <a:lnTo>
                    <a:pt x="387929" y="0"/>
                  </a:lnTo>
                  <a:cubicBezTo>
                    <a:pt x="413422" y="0"/>
                    <a:pt x="437871" y="10127"/>
                    <a:pt x="455897" y="28153"/>
                  </a:cubicBezTo>
                  <a:cubicBezTo>
                    <a:pt x="473923" y="46180"/>
                    <a:pt x="484050" y="70629"/>
                    <a:pt x="484050" y="96122"/>
                  </a:cubicBezTo>
                  <a:lnTo>
                    <a:pt x="484050" y="96122"/>
                  </a:lnTo>
                  <a:cubicBezTo>
                    <a:pt x="484050" y="121615"/>
                    <a:pt x="473923" y="146064"/>
                    <a:pt x="455897" y="164090"/>
                  </a:cubicBezTo>
                  <a:cubicBezTo>
                    <a:pt x="437871" y="182116"/>
                    <a:pt x="413422" y="192243"/>
                    <a:pt x="387929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CD78C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84050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08295" y="3025574"/>
            <a:ext cx="2723036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51CFBD"/>
                </a:solidFill>
                <a:latin typeface="Telegraf Bold"/>
                <a:ea typeface="Telegraf Bold"/>
                <a:cs typeface="Telegraf Bold"/>
                <a:sym typeface="Telegraf Bold"/>
              </a:rPr>
              <a:t>Literature Review and Problem Analysis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72410" y="4239848"/>
            <a:ext cx="2809073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FF7685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Design and Architecture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0960" y="5245128"/>
            <a:ext cx="2537706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46C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Algorithm Implementation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7001" y="7327637"/>
            <a:ext cx="2763532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717EF2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Testing and Performance Evaluation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0960" y="8378042"/>
            <a:ext cx="2497087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CFC658"/>
                </a:solidFill>
                <a:latin typeface="Telegraf Bold"/>
                <a:ea typeface="Telegraf Bold"/>
                <a:cs typeface="Telegraf Bold"/>
                <a:sym typeface="Telegraf Bold"/>
              </a:rPr>
              <a:t>Documentation and Thesis Writing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19464" y="6301986"/>
            <a:ext cx="3107501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46C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Simulation and Visualization Development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00960" y="2009027"/>
            <a:ext cx="2311074" cy="551796"/>
            <a:chOff x="0" y="0"/>
            <a:chExt cx="572500" cy="1366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2500" cy="136691"/>
            </a:xfrm>
            <a:custGeom>
              <a:avLst/>
              <a:gdLst/>
              <a:ahLst/>
              <a:cxnLst/>
              <a:rect r="r" b="b" t="t" l="l"/>
              <a:pathLst>
                <a:path h="136691" w="572500">
                  <a:moveTo>
                    <a:pt x="68346" y="0"/>
                  </a:moveTo>
                  <a:lnTo>
                    <a:pt x="504155" y="0"/>
                  </a:lnTo>
                  <a:cubicBezTo>
                    <a:pt x="522281" y="0"/>
                    <a:pt x="539665" y="7201"/>
                    <a:pt x="552482" y="20018"/>
                  </a:cubicBezTo>
                  <a:cubicBezTo>
                    <a:pt x="565299" y="32835"/>
                    <a:pt x="572500" y="50219"/>
                    <a:pt x="572500" y="68346"/>
                  </a:cubicBezTo>
                  <a:lnTo>
                    <a:pt x="572500" y="68346"/>
                  </a:lnTo>
                  <a:cubicBezTo>
                    <a:pt x="572500" y="106092"/>
                    <a:pt x="541901" y="136691"/>
                    <a:pt x="504155" y="136691"/>
                  </a:cubicBezTo>
                  <a:lnTo>
                    <a:pt x="68346" y="136691"/>
                  </a:lnTo>
                  <a:cubicBezTo>
                    <a:pt x="50219" y="136691"/>
                    <a:pt x="32835" y="129490"/>
                    <a:pt x="20018" y="116673"/>
                  </a:cubicBezTo>
                  <a:cubicBezTo>
                    <a:pt x="7201" y="103856"/>
                    <a:pt x="0" y="86472"/>
                    <a:pt x="0" y="68346"/>
                  </a:cubicBezTo>
                  <a:lnTo>
                    <a:pt x="0" y="68346"/>
                  </a:lnTo>
                  <a:cubicBezTo>
                    <a:pt x="0" y="50219"/>
                    <a:pt x="7201" y="32835"/>
                    <a:pt x="20018" y="20018"/>
                  </a:cubicBezTo>
                  <a:cubicBezTo>
                    <a:pt x="32835" y="7201"/>
                    <a:pt x="50219" y="0"/>
                    <a:pt x="68346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72500" cy="13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51476" y="2106021"/>
            <a:ext cx="1210042" cy="37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6"/>
              </a:lnSpc>
              <a:spcBef>
                <a:spcPct val="0"/>
              </a:spcBef>
            </a:pPr>
            <a:r>
              <a:rPr lang="en-US" b="true" sz="2596" spc="-64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TASKS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271435" y="2009027"/>
            <a:ext cx="12436401" cy="551796"/>
            <a:chOff x="0" y="0"/>
            <a:chExt cx="3080750" cy="1366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80750" cy="136691"/>
            </a:xfrm>
            <a:custGeom>
              <a:avLst/>
              <a:gdLst/>
              <a:ahLst/>
              <a:cxnLst/>
              <a:rect r="r" b="b" t="t" l="l"/>
              <a:pathLst>
                <a:path h="136691" w="3080750">
                  <a:moveTo>
                    <a:pt x="62252" y="0"/>
                  </a:moveTo>
                  <a:lnTo>
                    <a:pt x="3018498" y="0"/>
                  </a:lnTo>
                  <a:cubicBezTo>
                    <a:pt x="3052879" y="0"/>
                    <a:pt x="3080750" y="27871"/>
                    <a:pt x="3080750" y="62252"/>
                  </a:cubicBezTo>
                  <a:lnTo>
                    <a:pt x="3080750" y="74439"/>
                  </a:lnTo>
                  <a:cubicBezTo>
                    <a:pt x="3080750" y="108820"/>
                    <a:pt x="3052879" y="136691"/>
                    <a:pt x="3018498" y="136691"/>
                  </a:cubicBezTo>
                  <a:lnTo>
                    <a:pt x="62252" y="136691"/>
                  </a:lnTo>
                  <a:cubicBezTo>
                    <a:pt x="27871" y="136691"/>
                    <a:pt x="0" y="108820"/>
                    <a:pt x="0" y="74439"/>
                  </a:cubicBezTo>
                  <a:lnTo>
                    <a:pt x="0" y="62252"/>
                  </a:lnTo>
                  <a:cubicBezTo>
                    <a:pt x="0" y="27871"/>
                    <a:pt x="27871" y="0"/>
                    <a:pt x="6225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080750" cy="13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4528696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285552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042407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99262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556118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312973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017392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-7</a:t>
            </a:r>
          </a:p>
        </p:txBody>
      </p:sp>
      <p:sp>
        <p:nvSpPr>
          <p:cNvPr name="AutoShape 65" id="65"/>
          <p:cNvSpPr/>
          <p:nvPr/>
        </p:nvSpPr>
        <p:spPr>
          <a:xfrm>
            <a:off x="4700519" y="2819994"/>
            <a:ext cx="11824173" cy="10953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5054940" y="190293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GANTT CHART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930973" y="1066800"/>
            <a:ext cx="8382000" cy="41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3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Time 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392404" y="4494452"/>
            <a:ext cx="2443162" cy="4114800"/>
          </a:xfrm>
          <a:custGeom>
            <a:avLst/>
            <a:gdLst/>
            <a:ahLst/>
            <a:cxnLst/>
            <a:rect r="r" b="b" t="t" l="l"/>
            <a:pathLst>
              <a:path h="4114800" w="2443162">
                <a:moveTo>
                  <a:pt x="0" y="0"/>
                </a:moveTo>
                <a:lnTo>
                  <a:pt x="2443163" y="0"/>
                </a:lnTo>
                <a:lnTo>
                  <a:pt x="24431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1500" y="4059539"/>
            <a:ext cx="8382000" cy="150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sz="5600" b="true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Do you have </a:t>
            </a:r>
            <a:r>
              <a:rPr lang="en-US" sz="5600" b="true">
                <a:solidFill>
                  <a:srgbClr val="46C0FF"/>
                </a:solidFill>
                <a:latin typeface="Gotham Bold"/>
                <a:ea typeface="Gotham Bold"/>
                <a:cs typeface="Gotham Bold"/>
                <a:sym typeface="Gotham Bold"/>
              </a:rPr>
              <a:t>Any Questions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DAG9bsWWnNs</dc:identifier>
  <dcterms:modified xsi:type="dcterms:W3CDTF">2011-08-01T06:04:30Z</dcterms:modified>
  <cp:revision>1</cp:revision>
  <dc:title>Blue and Yellow Geometric Product Development Flow Presentation</dc:title>
</cp:coreProperties>
</file>