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Inter Italics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Poppins" panose="020B0604020202020204" charset="0"/>
      <p:regular r:id="rId19"/>
    </p:embeddedFont>
    <p:embeddedFont>
      <p:font typeface="Inter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Inter Medium" panose="020B0604020202020204" charset="0"/>
      <p:regular r:id="rId25"/>
    </p:embeddedFont>
    <p:embeddedFont>
      <p:font typeface="Poppins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jpe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.png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30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25.png"/><Relationship Id="rId12" Type="http://schemas.openxmlformats.org/officeDocument/2006/relationships/image" Target="../media/image39.png"/><Relationship Id="rId2" Type="http://schemas.openxmlformats.org/officeDocument/2006/relationships/image" Target="../media/image7.png"/><Relationship Id="rId16" Type="http://schemas.openxmlformats.org/officeDocument/2006/relationships/image" Target="../media/image4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image" Target="../media/image27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27.png"/><Relationship Id="rId4" Type="http://schemas.openxmlformats.org/officeDocument/2006/relationships/image" Target="../media/image45.png"/><Relationship Id="rId9" Type="http://schemas.openxmlformats.org/officeDocument/2006/relationships/image" Target="../media/image2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image" Target="../media/image7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59.png"/><Relationship Id="rId10" Type="http://schemas.openxmlformats.org/officeDocument/2006/relationships/image" Target="../media/image27.png"/><Relationship Id="rId19" Type="http://schemas.openxmlformats.org/officeDocument/2006/relationships/image" Target="../media/image63.png"/><Relationship Id="rId4" Type="http://schemas.openxmlformats.org/officeDocument/2006/relationships/image" Target="../media/image51.png"/><Relationship Id="rId9" Type="http://schemas.openxmlformats.org/officeDocument/2006/relationships/image" Target="../media/image26.jpeg"/><Relationship Id="rId1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72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0.png"/><Relationship Id="rId5" Type="http://schemas.openxmlformats.org/officeDocument/2006/relationships/image" Target="../media/image67.png"/><Relationship Id="rId15" Type="http://schemas.openxmlformats.org/officeDocument/2006/relationships/image" Target="../media/image74.png"/><Relationship Id="rId10" Type="http://schemas.openxmlformats.org/officeDocument/2006/relationships/image" Target="../media/image27.png"/><Relationship Id="rId4" Type="http://schemas.openxmlformats.org/officeDocument/2006/relationships/image" Target="../media/image66.png"/><Relationship Id="rId9" Type="http://schemas.openxmlformats.org/officeDocument/2006/relationships/image" Target="../media/image26.jpeg"/><Relationship Id="rId1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5.png"/><Relationship Id="rId7" Type="http://schemas.openxmlformats.org/officeDocument/2006/relationships/image" Target="../media/image26.jpeg"/><Relationship Id="rId12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80.png"/><Relationship Id="rId5" Type="http://schemas.openxmlformats.org/officeDocument/2006/relationships/image" Target="../media/image77.png"/><Relationship Id="rId10" Type="http://schemas.openxmlformats.org/officeDocument/2006/relationships/image" Target="../media/image79.png"/><Relationship Id="rId4" Type="http://schemas.openxmlformats.org/officeDocument/2006/relationships/image" Target="../media/image76.png"/><Relationship Id="rId9" Type="http://schemas.openxmlformats.org/officeDocument/2006/relationships/image" Target="../media/image7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88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8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6.jpeg"/><Relationship Id="rId5" Type="http://schemas.openxmlformats.org/officeDocument/2006/relationships/image" Target="../media/image83.png"/><Relationship Id="rId10" Type="http://schemas.openxmlformats.org/officeDocument/2006/relationships/image" Target="../media/image27.png"/><Relationship Id="rId4" Type="http://schemas.openxmlformats.org/officeDocument/2006/relationships/image" Target="../media/image82.png"/><Relationship Id="rId9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9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94.png"/><Relationship Id="rId5" Type="http://schemas.openxmlformats.org/officeDocument/2006/relationships/image" Target="../media/image26.jpeg"/><Relationship Id="rId10" Type="http://schemas.openxmlformats.org/officeDocument/2006/relationships/image" Target="../media/image93.png"/><Relationship Id="rId4" Type="http://schemas.openxmlformats.org/officeDocument/2006/relationships/image" Target="../media/image25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98.png"/><Relationship Id="rId7" Type="http://schemas.openxmlformats.org/officeDocument/2006/relationships/image" Target="../media/image26.jpeg"/><Relationship Id="rId12" Type="http://schemas.openxmlformats.org/officeDocument/2006/relationships/image" Target="../media/image10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103.png"/><Relationship Id="rId5" Type="http://schemas.openxmlformats.org/officeDocument/2006/relationships/image" Target="../media/image100.png"/><Relationship Id="rId10" Type="http://schemas.openxmlformats.org/officeDocument/2006/relationships/image" Target="../media/image102.png"/><Relationship Id="rId4" Type="http://schemas.openxmlformats.org/officeDocument/2006/relationships/image" Target="../media/image99.png"/><Relationship Id="rId9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6.png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10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459075" y="564356"/>
            <a:ext cx="2114550" cy="414338"/>
            <a:chOff x="0" y="0"/>
            <a:chExt cx="2819400" cy="5524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819400" cy="552450"/>
            </a:xfrm>
            <a:custGeom>
              <a:avLst/>
              <a:gdLst/>
              <a:ahLst/>
              <a:cxnLst/>
              <a:rect l="l" t="t" r="r" b="b"/>
              <a:pathLst>
                <a:path w="2819400" h="552450">
                  <a:moveTo>
                    <a:pt x="0" y="0"/>
                  </a:moveTo>
                  <a:lnTo>
                    <a:pt x="2819400" y="0"/>
                  </a:lnTo>
                  <a:lnTo>
                    <a:pt x="28194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724" b="-172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5206898"/>
            <a:ext cx="15001875" cy="1971675"/>
            <a:chOff x="0" y="0"/>
            <a:chExt cx="20002500" cy="26289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0002500" cy="2628900"/>
            </a:xfrm>
            <a:custGeom>
              <a:avLst/>
              <a:gdLst/>
              <a:ahLst/>
              <a:cxnLst/>
              <a:rect l="l" t="t" r="r" b="b"/>
              <a:pathLst>
                <a:path w="20002500" h="2628900">
                  <a:moveTo>
                    <a:pt x="0" y="0"/>
                  </a:moveTo>
                  <a:lnTo>
                    <a:pt x="20002500" y="0"/>
                  </a:lnTo>
                  <a:lnTo>
                    <a:pt x="2000250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2" b="-36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587788" y="9558118"/>
            <a:ext cx="985838" cy="300038"/>
            <a:chOff x="0" y="0"/>
            <a:chExt cx="1314450" cy="4000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80" b="-238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400956"/>
            <a:ext cx="16859250" cy="457200"/>
            <a:chOff x="0" y="0"/>
            <a:chExt cx="22479000" cy="6096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2479000" cy="609600"/>
            </a:xfrm>
            <a:custGeom>
              <a:avLst/>
              <a:gdLst/>
              <a:ahLst/>
              <a:cxnLst/>
              <a:rect l="l" t="t" r="r" b="b"/>
              <a:pathLst>
                <a:path w="22479000" h="609600">
                  <a:moveTo>
                    <a:pt x="0" y="0"/>
                  </a:moveTo>
                  <a:lnTo>
                    <a:pt x="22479000" y="0"/>
                  </a:lnTo>
                  <a:lnTo>
                    <a:pt x="22479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62" b="-156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14375" y="3446335"/>
            <a:ext cx="15001875" cy="65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AUTONOMOUS BORDER SURVEILLANCE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4375" y="4348829"/>
            <a:ext cx="15001875" cy="358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800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An Energy Efficiency Drone Simulation Path Planning Using Heuristic Optimization &amp; Game Theory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375" y="9600981"/>
            <a:ext cx="257175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Dept. of CSE · Uttara University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58312" y="9600981"/>
            <a:ext cx="11572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Session: 2026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 · Excellence in Higher Education and Research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5850" y="5497411"/>
            <a:ext cx="7185898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1">
                <a:solidFill>
                  <a:srgbClr val="93C5FD"/>
                </a:solidFill>
                <a:latin typeface="Inter Bold"/>
                <a:ea typeface="Inter Bold"/>
                <a:cs typeface="Inter Bold"/>
                <a:sym typeface="Inter Bold"/>
              </a:rPr>
              <a:t>PRESENTED BY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5850" y="5821261"/>
            <a:ext cx="6843712" cy="27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Mahmudul Hasan Khan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5850" y="6092723"/>
            <a:ext cx="68437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ID: 2223081070 · B.Sc. in CSE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5850" y="6392761"/>
            <a:ext cx="6843712" cy="27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Arif Khan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5850" y="6664223"/>
            <a:ext cx="68437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ID: 2223081071 · B.Sc. in CSE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01062" y="5497411"/>
            <a:ext cx="7185898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1">
                <a:solidFill>
                  <a:srgbClr val="93C5FD"/>
                </a:solidFill>
                <a:latin typeface="Inter Bold"/>
                <a:ea typeface="Inter Bold"/>
                <a:cs typeface="Inter Bold"/>
                <a:sym typeface="Inter Bold"/>
              </a:rPr>
              <a:t>SUPERVISED BY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01062" y="5821261"/>
            <a:ext cx="6843712" cy="27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Shebika Rani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1062" y="6092723"/>
            <a:ext cx="68437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Lecturer, Department of CSE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1062" y="6307036"/>
            <a:ext cx="68437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Uttara University, Dhaka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4279106"/>
            <a:ext cx="3200400" cy="1460897"/>
            <a:chOff x="0" y="0"/>
            <a:chExt cx="4267200" cy="1947862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7" b="-36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129088" y="4279106"/>
            <a:ext cx="3200400" cy="1460897"/>
            <a:chOff x="0" y="0"/>
            <a:chExt cx="4267200" cy="1947862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7" b="-36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543800" y="4279106"/>
            <a:ext cx="3200400" cy="1460897"/>
            <a:chOff x="0" y="0"/>
            <a:chExt cx="4267200" cy="1947862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7" b="-36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958512" y="4279106"/>
            <a:ext cx="3200400" cy="1460897"/>
            <a:chOff x="0" y="0"/>
            <a:chExt cx="4267200" cy="1947862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7" b="-36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4373225" y="4279106"/>
            <a:ext cx="3200400" cy="1460897"/>
            <a:chOff x="0" y="0"/>
            <a:chExt cx="4267200" cy="1947862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7" b="-36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14375" y="5954316"/>
            <a:ext cx="3200400" cy="1460897"/>
            <a:chOff x="0" y="0"/>
            <a:chExt cx="4267200" cy="1947862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67" b="-369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4129088" y="5954316"/>
            <a:ext cx="3200400" cy="1460897"/>
            <a:chOff x="0" y="0"/>
            <a:chExt cx="4267200" cy="1947862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7" b="-36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7543800" y="5954316"/>
            <a:ext cx="3200400" cy="1460897"/>
            <a:chOff x="0" y="0"/>
            <a:chExt cx="4267200" cy="1947862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67" b="-369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0958512" y="5954316"/>
            <a:ext cx="3200400" cy="1460897"/>
            <a:chOff x="0" y="0"/>
            <a:chExt cx="4267200" cy="1947862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7" b="-36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4373225" y="5954316"/>
            <a:ext cx="3200400" cy="1460897"/>
            <a:chOff x="0" y="0"/>
            <a:chExt cx="4267200" cy="1947862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7" b="-369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2000250" y="4521994"/>
            <a:ext cx="628650" cy="628650"/>
            <a:chOff x="0" y="0"/>
            <a:chExt cx="838200" cy="8382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1136" b="-1136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5414962" y="4521994"/>
            <a:ext cx="628650" cy="628650"/>
            <a:chOff x="0" y="0"/>
            <a:chExt cx="838200" cy="83820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136" b="-1136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8829675" y="4521994"/>
            <a:ext cx="628650" cy="628650"/>
            <a:chOff x="0" y="0"/>
            <a:chExt cx="838200" cy="8382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136" b="-1136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2244388" y="4521994"/>
            <a:ext cx="628650" cy="628650"/>
            <a:chOff x="0" y="0"/>
            <a:chExt cx="838200" cy="8382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136" b="-1136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5659100" y="4521994"/>
            <a:ext cx="628650" cy="628650"/>
            <a:chOff x="0" y="0"/>
            <a:chExt cx="838200" cy="83820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1136" b="-1136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2000250" y="6197203"/>
            <a:ext cx="628650" cy="628650"/>
            <a:chOff x="0" y="0"/>
            <a:chExt cx="838200" cy="838200"/>
          </a:xfrm>
        </p:grpSpPr>
        <p:sp>
          <p:nvSpPr>
            <p:cNvPr id="37" name="Freeform 37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1136" b="-1136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5414962" y="6197203"/>
            <a:ext cx="628650" cy="628650"/>
            <a:chOff x="0" y="0"/>
            <a:chExt cx="838200" cy="838200"/>
          </a:xfrm>
        </p:grpSpPr>
        <p:sp>
          <p:nvSpPr>
            <p:cNvPr id="39" name="Freeform 39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t="-1136" b="-1136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8829675" y="6197203"/>
            <a:ext cx="628650" cy="628650"/>
            <a:chOff x="0" y="0"/>
            <a:chExt cx="838200" cy="838200"/>
          </a:xfrm>
        </p:grpSpPr>
        <p:sp>
          <p:nvSpPr>
            <p:cNvPr id="41" name="Freeform 41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t="-1136" b="-1136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2244388" y="6197203"/>
            <a:ext cx="628650" cy="628650"/>
            <a:chOff x="0" y="0"/>
            <a:chExt cx="838200" cy="838200"/>
          </a:xfrm>
        </p:grpSpPr>
        <p:sp>
          <p:nvSpPr>
            <p:cNvPr id="43" name="Freeform 43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t="-1136" b="-1136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15659100" y="6197203"/>
            <a:ext cx="628650" cy="628650"/>
            <a:chOff x="0" y="0"/>
            <a:chExt cx="838200" cy="838200"/>
          </a:xfrm>
        </p:grpSpPr>
        <p:sp>
          <p:nvSpPr>
            <p:cNvPr id="45" name="Freeform 45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t="-1136" b="-1136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47" name="Freeform 47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1000125" y="9644062"/>
            <a:ext cx="2528888" cy="214312"/>
            <a:chOff x="0" y="0"/>
            <a:chExt cx="3371850" cy="28575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371850" cy="285750"/>
            </a:xfrm>
            <a:custGeom>
              <a:avLst/>
              <a:gdLst/>
              <a:ahLst/>
              <a:cxnLst/>
              <a:rect l="l" t="t" r="r" b="b"/>
              <a:pathLst>
                <a:path w="3371850" h="285750">
                  <a:moveTo>
                    <a:pt x="0" y="0"/>
                  </a:moveTo>
                  <a:lnTo>
                    <a:pt x="3371850" y="0"/>
                  </a:lnTo>
                  <a:lnTo>
                    <a:pt x="33718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21">
                <a:alphaModFix amt="0"/>
              </a:blip>
              <a:stretch>
                <a:fillRect t="-179923" b="-17992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33718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Uttara University FYP Defense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9822656" y="9644062"/>
            <a:ext cx="7858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Overview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6902112" y="9644062"/>
            <a:ext cx="6715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54" name="Freeform 54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714375" y="9665494"/>
            <a:ext cx="171450" cy="171450"/>
            <a:chOff x="0" y="0"/>
            <a:chExt cx="228600" cy="228600"/>
          </a:xfrm>
        </p:grpSpPr>
        <p:sp>
          <p:nvSpPr>
            <p:cNvPr id="56" name="Freeform 56" descr="image.png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t="-4166" b="-4166"/>
              </a:stretch>
            </a:blipFill>
          </p:spPr>
        </p:sp>
      </p:grpSp>
      <p:sp>
        <p:nvSpPr>
          <p:cNvPr id="57" name="TextBox 57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350169" y="5245894"/>
            <a:ext cx="1928812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Introduction &amp; Context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922044" y="5245894"/>
            <a:ext cx="1614488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272462" y="5245894"/>
            <a:ext cx="1743075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Research Objectives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830050" y="5245894"/>
            <a:ext cx="1457325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951869" y="5245894"/>
            <a:ext cx="2043112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Proposed Methodology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50181" y="6921103"/>
            <a:ext cx="1728788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764881" y="6921103"/>
            <a:ext cx="1928812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Implementation Details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65331" y="6921103"/>
            <a:ext cx="1557338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Results &amp; Analysis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744325" y="6921103"/>
            <a:ext cx="1628775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Comparative Study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851856" y="6921103"/>
            <a:ext cx="2243138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Conclusion &amp; Future Work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Outline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394031" y="3132534"/>
            <a:ext cx="8179594" cy="5429250"/>
            <a:chOff x="0" y="0"/>
            <a:chExt cx="10906125" cy="72390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906125" cy="7239000"/>
            </a:xfrm>
            <a:custGeom>
              <a:avLst/>
              <a:gdLst/>
              <a:ahLst/>
              <a:cxnLst/>
              <a:rect l="l" t="t" r="r" b="b"/>
              <a:pathLst>
                <a:path w="10906125" h="7239000">
                  <a:moveTo>
                    <a:pt x="0" y="0"/>
                  </a:moveTo>
                  <a:lnTo>
                    <a:pt x="10906125" y="0"/>
                  </a:lnTo>
                  <a:lnTo>
                    <a:pt x="10906125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7" b="-8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644062"/>
            <a:ext cx="1771650" cy="214312"/>
            <a:chOff x="0" y="0"/>
            <a:chExt cx="2362200" cy="2857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62200" cy="285750"/>
            </a:xfrm>
            <a:custGeom>
              <a:avLst/>
              <a:gdLst/>
              <a:ahLst/>
              <a:cxnLst/>
              <a:rect l="l" t="t" r="r" b="b"/>
              <a:pathLst>
                <a:path w="2362200" h="285750">
                  <a:moveTo>
                    <a:pt x="0" y="0"/>
                  </a:moveTo>
                  <a:lnTo>
                    <a:pt x="2362200" y="0"/>
                  </a:lnTo>
                  <a:lnTo>
                    <a:pt x="23622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11076" b="-11107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23622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01 — INTRODUCTION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136731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87825" y="9644062"/>
            <a:ext cx="68580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4425" y="3613547"/>
            <a:ext cx="777954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Critical Defense Requirement: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Border surveillance is essential for national security, preventing illegal crossings, smuggling, and hostile incursions across vast, harsh terrains.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4425" y="4749403"/>
            <a:ext cx="777954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Limitations of Traditional Systems: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Foot patrols and static CCTV towers are expensive, slow, geographically restricted, and highly prone to human fatigue or blind spots.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4425" y="5885259"/>
            <a:ext cx="777954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The UAV Solution: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Unmanned Aerial Vehicles (UAVs) provide rapid mobility and aerial coverage, but encounter severe battery constraints and predictable flight paths.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4425" y="7021116"/>
            <a:ext cx="777954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Our Proposal: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 Autonomous System combining physics-based energy optimization (OWT-A*), Game-Theoretic security (SSE), and a Smart Multi Relay System (SMRS) for continuous coverage.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408319" y="3146822"/>
            <a:ext cx="8151019" cy="5400675"/>
            <a:chOff x="0" y="0"/>
            <a:chExt cx="10868025" cy="72009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10868025" cy="7200900"/>
            </a:xfrm>
            <a:custGeom>
              <a:avLst/>
              <a:gdLst/>
              <a:ahLst/>
              <a:cxnLst/>
              <a:rect l="l" t="t" r="r" b="b"/>
              <a:pathLst>
                <a:path w="10868025" h="7200900">
                  <a:moveTo>
                    <a:pt x="0" y="0"/>
                  </a:moveTo>
                  <a:lnTo>
                    <a:pt x="10868025" y="0"/>
                  </a:lnTo>
                  <a:lnTo>
                    <a:pt x="10868025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76" b="-176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01 — Introduction &amp;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Background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14375" y="3689747"/>
            <a:ext cx="228600" cy="228600"/>
            <a:chOff x="0" y="0"/>
            <a:chExt cx="304800" cy="3048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714375" y="4825603"/>
            <a:ext cx="228600" cy="228600"/>
            <a:chOff x="0" y="0"/>
            <a:chExt cx="304800" cy="30480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714375" y="5961459"/>
            <a:ext cx="228600" cy="228600"/>
            <a:chOff x="0" y="0"/>
            <a:chExt cx="304800" cy="3048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714375" y="7097316"/>
            <a:ext cx="228600" cy="228600"/>
            <a:chOff x="0" y="0"/>
            <a:chExt cx="304800" cy="3048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9472613" y="8672512"/>
            <a:ext cx="1521618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https://static.tildacdn.one/tild6665-6132-4164-b839-363933336639/MA_border5_1.jpg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72613" y="8972550"/>
            <a:ext cx="1521618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microavia.com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4938112"/>
            <a:ext cx="5429250" cy="3175397"/>
            <a:chOff x="0" y="0"/>
            <a:chExt cx="7239000" cy="4233862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239000" cy="4233799"/>
            </a:xfrm>
            <a:custGeom>
              <a:avLst/>
              <a:gdLst/>
              <a:ahLst/>
              <a:cxnLst/>
              <a:rect l="l" t="t" r="r" b="b"/>
              <a:pathLst>
                <a:path w="7239000" h="4233799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8" b="-17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429375" y="4938112"/>
            <a:ext cx="5429250" cy="3175397"/>
            <a:chOff x="0" y="0"/>
            <a:chExt cx="7239000" cy="4233862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239000" cy="4233799"/>
            </a:xfrm>
            <a:custGeom>
              <a:avLst/>
              <a:gdLst/>
              <a:ahLst/>
              <a:cxnLst/>
              <a:rect l="l" t="t" r="r" b="b"/>
              <a:pathLst>
                <a:path w="7239000" h="4233799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68" b="-17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144375" y="4938112"/>
            <a:ext cx="5429250" cy="3175397"/>
            <a:chOff x="0" y="0"/>
            <a:chExt cx="7239000" cy="4233862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7239000" cy="4233799"/>
            </a:xfrm>
            <a:custGeom>
              <a:avLst/>
              <a:gdLst/>
              <a:ahLst/>
              <a:cxnLst/>
              <a:rect l="l" t="t" r="r" b="b"/>
              <a:pathLst>
                <a:path w="7239000" h="4233799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68" b="-17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14375" y="9644062"/>
            <a:ext cx="2386012" cy="214312"/>
            <a:chOff x="0" y="0"/>
            <a:chExt cx="3181350" cy="2857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81350" cy="285750"/>
            </a:xfrm>
            <a:custGeom>
              <a:avLst/>
              <a:gdLst/>
              <a:ahLst/>
              <a:cxnLst/>
              <a:rect l="l" t="t" r="r" b="b"/>
              <a:pathLst>
                <a:path w="3181350" h="285750">
                  <a:moveTo>
                    <a:pt x="0" y="0"/>
                  </a:moveTo>
                  <a:lnTo>
                    <a:pt x="3181350" y="0"/>
                  </a:lnTo>
                  <a:lnTo>
                    <a:pt x="31813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66933" b="-16693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31813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02 — PROBLEM STATEMENT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443912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87825" y="9644062"/>
            <a:ext cx="68580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42988" y="5309587"/>
            <a:ext cx="628650" cy="628650"/>
            <a:chOff x="0" y="0"/>
            <a:chExt cx="838200" cy="8382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1136" b="-1136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042988" y="6119212"/>
            <a:ext cx="5010626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Unrealistic Battery Models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2988" y="6619275"/>
            <a:ext cx="4772025" cy="11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Existing path-planning studies rely on static, linear battery equations that fail under dynamic 3D wind drag, climb elevation, and payload avionics power loss.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757988" y="5309587"/>
            <a:ext cx="628650" cy="628650"/>
            <a:chOff x="0" y="0"/>
            <a:chExt cx="838200" cy="8382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136" b="-1136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2449175" y="6090637"/>
            <a:ext cx="5010626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Predictable Patrol Patterns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58700" y="6619275"/>
            <a:ext cx="4772025" cy="1104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Drone fly fixed schedule. Fixed or cyclic patrolling schedules allow hostile intruders to observe patterns, predict surveillance gaps, and bypass border security effortlessly.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472988" y="5309587"/>
            <a:ext cx="628650" cy="628650"/>
            <a:chOff x="0" y="0"/>
            <a:chExt cx="838200" cy="8382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136" b="-1136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6730500" y="6090637"/>
            <a:ext cx="5010626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Lack of Relay &amp; Handoff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30500" y="6558585"/>
            <a:ext cx="4772025" cy="138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Most existing systems use static, pre-computed paths. Single-drone deployments create complete surveillance blackouts when returning to base for recharging, lacking dynamic multi-UAV relay handoffs.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193006" y="5481037"/>
            <a:ext cx="328612" cy="285750"/>
            <a:chOff x="0" y="0"/>
            <a:chExt cx="438150" cy="3810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438150" cy="381000"/>
            </a:xfrm>
            <a:custGeom>
              <a:avLst/>
              <a:gdLst/>
              <a:ahLst/>
              <a:cxnLst/>
              <a:rect l="l" t="t" r="r" b="b"/>
              <a:pathLst>
                <a:path w="438150" h="38100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313" b="-313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6929438" y="5481037"/>
            <a:ext cx="285750" cy="285750"/>
            <a:chOff x="0" y="0"/>
            <a:chExt cx="381000" cy="38100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2500" b="-2500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2608719" y="5481037"/>
            <a:ext cx="357188" cy="285750"/>
            <a:chOff x="0" y="0"/>
            <a:chExt cx="476250" cy="381000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479" b="-480"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714375" y="2202056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02 — Problem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Statement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740" y="1337990"/>
            <a:ext cx="4140872" cy="232924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612994" y="3718632"/>
            <a:ext cx="334149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Fig: </a:t>
            </a:r>
            <a:r>
              <a:rPr lang="en-US" sz="1200" dirty="0"/>
              <a:t>DJI M30 </a:t>
            </a:r>
            <a:r>
              <a:rPr lang="en-US" sz="1200" dirty="0" smtClean="0"/>
              <a:t>Series</a:t>
            </a:r>
          </a:p>
          <a:p>
            <a:pPr algn="ctr">
              <a:lnSpc>
                <a:spcPts val="1957"/>
              </a:lnSpc>
            </a:pPr>
            <a:r>
              <a:rPr lang="en-US" sz="1200" dirty="0"/>
              <a:t>Sources: www.youtube.com/watch?v=1ucIm6g9llg</a:t>
            </a:r>
          </a:p>
          <a:p>
            <a:pPr algn="ctr">
              <a:lnSpc>
                <a:spcPts val="1957"/>
              </a:lnSpc>
            </a:pPr>
            <a:r>
              <a:rPr lang="en-US" sz="1350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en-US" sz="135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3372745"/>
            <a:ext cx="8251031" cy="2295820"/>
            <a:chOff x="0" y="0"/>
            <a:chExt cx="11001375" cy="3061094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1001375" cy="3061081"/>
            </a:xfrm>
            <a:custGeom>
              <a:avLst/>
              <a:gdLst/>
              <a:ahLst/>
              <a:cxnLst/>
              <a:rect l="l" t="t" r="r" b="b"/>
              <a:pathLst>
                <a:path w="11001375" h="3061081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3" b="-5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322594" y="3372745"/>
            <a:ext cx="8251031" cy="2295820"/>
            <a:chOff x="0" y="0"/>
            <a:chExt cx="11001375" cy="3061094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1001375" cy="3061081"/>
            </a:xfrm>
            <a:custGeom>
              <a:avLst/>
              <a:gdLst/>
              <a:ahLst/>
              <a:cxnLst/>
              <a:rect l="l" t="t" r="r" b="b"/>
              <a:pathLst>
                <a:path w="11001375" h="3061081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3" b="-5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6025753"/>
            <a:ext cx="8251031" cy="2295820"/>
            <a:chOff x="0" y="0"/>
            <a:chExt cx="11001375" cy="3061094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1001375" cy="3061081"/>
            </a:xfrm>
            <a:custGeom>
              <a:avLst/>
              <a:gdLst/>
              <a:ahLst/>
              <a:cxnLst/>
              <a:rect l="l" t="t" r="r" b="b"/>
              <a:pathLst>
                <a:path w="11001375" h="3061081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4" b="-365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322594" y="6025753"/>
            <a:ext cx="8251031" cy="2295820"/>
            <a:chOff x="0" y="0"/>
            <a:chExt cx="11001375" cy="3061094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1001375" cy="3061081"/>
            </a:xfrm>
            <a:custGeom>
              <a:avLst/>
              <a:gdLst/>
              <a:ahLst/>
              <a:cxnLst/>
              <a:rect l="l" t="t" r="r" b="b"/>
              <a:pathLst>
                <a:path w="11001375" h="3061081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4" b="-365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14375" y="9644062"/>
            <a:ext cx="1557338" cy="214312"/>
            <a:chOff x="0" y="0"/>
            <a:chExt cx="2076450" cy="2857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6450" cy="285750"/>
            </a:xfrm>
            <a:custGeom>
              <a:avLst/>
              <a:gdLst/>
              <a:ahLst/>
              <a:cxnLst/>
              <a:rect l="l" t="t" r="r" b="b"/>
              <a:pathLst>
                <a:path w="2076450" h="285750">
                  <a:moveTo>
                    <a:pt x="0" y="0"/>
                  </a:moveTo>
                  <a:lnTo>
                    <a:pt x="2076450" y="0"/>
                  </a:lnTo>
                  <a:lnTo>
                    <a:pt x="20764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91591" b="-9159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0764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03 — OBJECTIVES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036719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02112" y="9644062"/>
            <a:ext cx="6715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42988" y="3744220"/>
            <a:ext cx="7593806" cy="500062"/>
            <a:chOff x="0" y="0"/>
            <a:chExt cx="10125075" cy="6667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25074" cy="666750"/>
            </a:xfrm>
            <a:custGeom>
              <a:avLst/>
              <a:gdLst/>
              <a:ahLst/>
              <a:cxnLst/>
              <a:rect l="l" t="t" r="r" b="b"/>
              <a:pathLst>
                <a:path w="10125074" h="666750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45894" b="-24589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B499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644062" y="4502439"/>
            <a:ext cx="7593806" cy="82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Formulate a comprehensive 3D energy consumption model (OWT-A*) accounting for aerodynamic wind drag (wind}), vertical elevation climb (climb), and avionics power draw.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651206" y="3744220"/>
            <a:ext cx="7593806" cy="500062"/>
            <a:chOff x="0" y="0"/>
            <a:chExt cx="10125075" cy="6667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25074" cy="666750"/>
            </a:xfrm>
            <a:custGeom>
              <a:avLst/>
              <a:gdLst/>
              <a:ahLst/>
              <a:cxnLst/>
              <a:rect l="l" t="t" r="r" b="b"/>
              <a:pathLst>
                <a:path w="10125074" h="666750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45894" b="-245894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0B98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57300" y="6967090"/>
            <a:ext cx="7593806" cy="88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Strong Stackelberg Equilibrium (SSE) combined with SUQR human adversary models to generate randomized, highly unpredictable patrol paths against rational intruders.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42988" y="6397228"/>
            <a:ext cx="7593806" cy="500062"/>
            <a:chOff x="0" y="0"/>
            <a:chExt cx="10125075" cy="6667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125074" cy="666750"/>
            </a:xfrm>
            <a:custGeom>
              <a:avLst/>
              <a:gdLst/>
              <a:ahLst/>
              <a:cxnLst/>
              <a:rect l="l" t="t" r="r" b="b"/>
              <a:pathLst>
                <a:path w="10125074" h="666750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45894" b="-245894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59E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651206" y="6397228"/>
            <a:ext cx="7593806" cy="500062"/>
            <a:chOff x="0" y="0"/>
            <a:chExt cx="10125075" cy="6667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125074" cy="666750"/>
            </a:xfrm>
            <a:custGeom>
              <a:avLst/>
              <a:gdLst/>
              <a:ahLst/>
              <a:cxnLst/>
              <a:rect l="l" t="t" r="r" b="b"/>
              <a:pathLst>
                <a:path w="10125074" h="666750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45894" b="-24589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366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651206" y="7106841"/>
            <a:ext cx="7593806" cy="60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 adaptive reinforcement learning to dynamically prioritize high-risk zones, alongside real-time safety override logic when active threats are detected.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65569" y="3830926"/>
            <a:ext cx="459057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Realistic Physics &amp; Two hop system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86290" y="6435328"/>
            <a:ext cx="4455557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Game-Theoretic Patrol Security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54036" y="3782320"/>
            <a:ext cx="474059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Continuous Surveillance System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65569" y="6435328"/>
            <a:ext cx="5085636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Adaptive Threat Learning &amp; Override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03 — Research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2988" y="4226214"/>
            <a:ext cx="7593806" cy="138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 used a automatic handoff system.An automatic handoff system is a technology-driven process that transfers an ongoing active session, call, task, or data connection from one network cell, device, or system to another without requiring manual user intervention or causing a service disruption. create no downtime surveillance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07231" y="3727247"/>
            <a:ext cx="17240038" cy="4331906"/>
            <a:chOff x="0" y="0"/>
            <a:chExt cx="22498050" cy="56530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98050" cy="5653024"/>
            </a:xfrm>
            <a:custGeom>
              <a:avLst/>
              <a:gdLst/>
              <a:ahLst/>
              <a:cxnLst/>
              <a:rect l="l" t="t" r="r" b="b"/>
              <a:pathLst>
                <a:path w="22498050" h="5653024">
                  <a:moveTo>
                    <a:pt x="0" y="0"/>
                  </a:moveTo>
                  <a:lnTo>
                    <a:pt x="22498050" y="0"/>
                  </a:lnTo>
                  <a:lnTo>
                    <a:pt x="22498050" y="5653024"/>
                  </a:lnTo>
                  <a:lnTo>
                    <a:pt x="0" y="5653024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039612"/>
              </p:ext>
            </p:extLst>
          </p:nvPr>
        </p:nvGraphicFramePr>
        <p:xfrm>
          <a:off x="745293" y="3962754"/>
          <a:ext cx="16821150" cy="3585208"/>
        </p:xfrm>
        <a:graphic>
          <a:graphicData uri="http://schemas.openxmlformats.org/drawingml/2006/table">
            <a:tbl>
              <a:tblPr/>
              <a:tblGrid>
                <a:gridCol w="3700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8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360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&amp; Year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Approach &amp; Methodology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Limitation / Gap Addressed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616">
                <a:tc>
                  <a:txBody>
                    <a:bodyPr/>
                    <a:lstStyle/>
                    <a:p>
                      <a:pPr algn="ctr">
                        <a:lnSpc>
                          <a:spcPts val="1821"/>
                        </a:lnSpc>
                        <a:defRPr/>
                      </a:pPr>
                      <a:r>
                        <a:rPr lang="en-US" sz="1518" b="1" dirty="0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Multi-UAV Coverage Path Planning: A Distributed Online Cooperation Method(2023)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Divided this area into n groups, Monitoring within their own groups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Uses linear battery models; create holes in dynamic environments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616">
                <a:tc>
                  <a:txBody>
                    <a:bodyPr/>
                    <a:lstStyle/>
                    <a:p>
                      <a:pPr algn="ctr">
                        <a:lnSpc>
                          <a:spcPts val="1821"/>
                        </a:lnSpc>
                        <a:defRPr/>
                      </a:pPr>
                      <a:r>
                        <a:rPr lang="en-US" sz="1518" b="1" dirty="0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Energy-Efficient Internet of Drones Path-Planning Study Using Meta-Heuristic Algorithms (2024)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Avoiding obstacles and using the least amount of energy, Increases the stability and convergence speed of the drone's path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Lacks game-theoretic security against adversaries observing patrol routines. Not effective dynamic obstacles 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616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Border Patrol Using Multiple Unmanned Aerial Vehicles Based on Stackelberg Security Game (2023)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Used Stackelberg Security Game (SSG),Target high-value zone first. Moving many possible paths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Lack of Real-time </a:t>
                      </a:r>
                      <a:r>
                        <a:rPr lang="en-US" sz="1518" dirty="0" err="1" smtClean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Adaptivity</a:t>
                      </a:r>
                      <a:r>
                        <a:rPr lang="en-US" sz="1518" dirty="0" smtClean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518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 Battery Constraint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714375" y="9644062"/>
            <a:ext cx="2228850" cy="214312"/>
            <a:chOff x="0" y="0"/>
            <a:chExt cx="2971800" cy="2857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71800" cy="285750"/>
            </a:xfrm>
            <a:custGeom>
              <a:avLst/>
              <a:gdLst/>
              <a:ahLst/>
              <a:cxnLst/>
              <a:rect l="l" t="t" r="r" b="b"/>
              <a:pathLst>
                <a:path w="2971800" h="285750">
                  <a:moveTo>
                    <a:pt x="0" y="0"/>
                  </a:moveTo>
                  <a:lnTo>
                    <a:pt x="2971800" y="0"/>
                  </a:lnTo>
                  <a:lnTo>
                    <a:pt x="29718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2644" b="-15264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9718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04 — LITERATURE REVIEW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365331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887825" y="9644062"/>
            <a:ext cx="68580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721519" y="7938487"/>
            <a:ext cx="3705816" cy="14288"/>
            <a:chOff x="0" y="0"/>
            <a:chExt cx="4941087" cy="190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941062" cy="19050"/>
            </a:xfrm>
            <a:custGeom>
              <a:avLst/>
              <a:gdLst/>
              <a:ahLst/>
              <a:cxnLst/>
              <a:rect l="l" t="t" r="r" b="b"/>
              <a:pathLst>
                <a:path w="4941062" h="19050">
                  <a:moveTo>
                    <a:pt x="0" y="0"/>
                  </a:moveTo>
                  <a:lnTo>
                    <a:pt x="4941062" y="0"/>
                  </a:lnTo>
                  <a:lnTo>
                    <a:pt x="49410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4427334" y="7938487"/>
            <a:ext cx="6401019" cy="14288"/>
            <a:chOff x="0" y="0"/>
            <a:chExt cx="8534692" cy="190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534654" cy="19050"/>
            </a:xfrm>
            <a:custGeom>
              <a:avLst/>
              <a:gdLst/>
              <a:ahLst/>
              <a:cxnLst/>
              <a:rect l="l" t="t" r="r" b="b"/>
              <a:pathLst>
                <a:path w="8534654" h="19050">
                  <a:moveTo>
                    <a:pt x="0" y="0"/>
                  </a:moveTo>
                  <a:lnTo>
                    <a:pt x="8534654" y="0"/>
                  </a:lnTo>
                  <a:lnTo>
                    <a:pt x="85346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0828363" y="7938487"/>
            <a:ext cx="6738118" cy="14288"/>
            <a:chOff x="0" y="0"/>
            <a:chExt cx="8984158" cy="1905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984107" cy="19050"/>
            </a:xfrm>
            <a:custGeom>
              <a:avLst/>
              <a:gdLst/>
              <a:ahLst/>
              <a:cxnLst/>
              <a:rect l="l" t="t" r="r" b="b"/>
              <a:pathLst>
                <a:path w="8984107" h="19050">
                  <a:moveTo>
                    <a:pt x="0" y="0"/>
                  </a:moveTo>
                  <a:lnTo>
                    <a:pt x="8984107" y="0"/>
                  </a:lnTo>
                  <a:lnTo>
                    <a:pt x="89841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919530" y="2088651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 dirty="0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04 — Literature Review &amp; </a:t>
            </a:r>
            <a:r>
              <a:rPr lang="en-US" sz="3375" b="1" dirty="0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Gaps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869" y="0"/>
            <a:ext cx="18288000" cy="10287000"/>
            <a:chOff x="123825" y="162521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123825" y="162521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81186" y="4431468"/>
            <a:ext cx="3754041" cy="2831382"/>
            <a:chOff x="0" y="0"/>
            <a:chExt cx="5005388" cy="3775177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005324" cy="3775202"/>
            </a:xfrm>
            <a:custGeom>
              <a:avLst/>
              <a:gdLst/>
              <a:ahLst/>
              <a:cxnLst/>
              <a:rect l="l" t="t" r="r" b="b"/>
              <a:pathLst>
                <a:path w="5005324" h="3775202">
                  <a:moveTo>
                    <a:pt x="0" y="0"/>
                  </a:moveTo>
                  <a:lnTo>
                    <a:pt x="5005324" y="0"/>
                  </a:lnTo>
                  <a:lnTo>
                    <a:pt x="5005324" y="3775202"/>
                  </a:lnTo>
                  <a:lnTo>
                    <a:pt x="0" y="377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1" r="-1" b="-16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501183" y="4381795"/>
            <a:ext cx="3754041" cy="3079852"/>
            <a:chOff x="0" y="0"/>
            <a:chExt cx="5005388" cy="4106469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005324" cy="4106418"/>
            </a:xfrm>
            <a:custGeom>
              <a:avLst/>
              <a:gdLst/>
              <a:ahLst/>
              <a:cxnLst/>
              <a:rect l="l" t="t" r="r" b="b"/>
              <a:pathLst>
                <a:path w="5005324" h="4106418">
                  <a:moveTo>
                    <a:pt x="0" y="0"/>
                  </a:moveTo>
                  <a:lnTo>
                    <a:pt x="5005324" y="0"/>
                  </a:lnTo>
                  <a:lnTo>
                    <a:pt x="5005324" y="4106418"/>
                  </a:lnTo>
                  <a:lnTo>
                    <a:pt x="0" y="410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5" r="-1" b="-9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135166" y="4465844"/>
            <a:ext cx="3754041" cy="2831382"/>
            <a:chOff x="0" y="0"/>
            <a:chExt cx="5005388" cy="3775177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005324" cy="3775202"/>
            </a:xfrm>
            <a:custGeom>
              <a:avLst/>
              <a:gdLst/>
              <a:ahLst/>
              <a:cxnLst/>
              <a:rect l="l" t="t" r="r" b="b"/>
              <a:pathLst>
                <a:path w="5005324" h="3775202">
                  <a:moveTo>
                    <a:pt x="0" y="0"/>
                  </a:moveTo>
                  <a:lnTo>
                    <a:pt x="5005324" y="0"/>
                  </a:lnTo>
                  <a:lnTo>
                    <a:pt x="5005324" y="3775202"/>
                  </a:lnTo>
                  <a:lnTo>
                    <a:pt x="0" y="377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" r="-2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776257" y="4291808"/>
            <a:ext cx="3754041" cy="3079852"/>
            <a:chOff x="0" y="0"/>
            <a:chExt cx="5005388" cy="4106469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005324" cy="4106418"/>
            </a:xfrm>
            <a:custGeom>
              <a:avLst/>
              <a:gdLst/>
              <a:ahLst/>
              <a:cxnLst/>
              <a:rect l="l" t="t" r="r" b="b"/>
              <a:pathLst>
                <a:path w="5005324" h="4106418">
                  <a:moveTo>
                    <a:pt x="0" y="0"/>
                  </a:moveTo>
                  <a:lnTo>
                    <a:pt x="5005324" y="0"/>
                  </a:lnTo>
                  <a:lnTo>
                    <a:pt x="5005324" y="4106418"/>
                  </a:lnTo>
                  <a:lnTo>
                    <a:pt x="0" y="410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85" r="-1" b="-286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14375" y="9644062"/>
            <a:ext cx="1843088" cy="214312"/>
            <a:chOff x="0" y="0"/>
            <a:chExt cx="2457450" cy="2857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57450" cy="285750"/>
            </a:xfrm>
            <a:custGeom>
              <a:avLst/>
              <a:gdLst/>
              <a:ahLst/>
              <a:cxnLst/>
              <a:rect l="l" t="t" r="r" b="b"/>
              <a:pathLst>
                <a:path w="2457450" h="285750">
                  <a:moveTo>
                    <a:pt x="0" y="0"/>
                  </a:moveTo>
                  <a:lnTo>
                    <a:pt x="2457450" y="0"/>
                  </a:lnTo>
                  <a:lnTo>
                    <a:pt x="24574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4574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05 — METHODOLOGY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179594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02112" y="9644062"/>
            <a:ext cx="6715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4682728" y="5704284"/>
            <a:ext cx="185738" cy="285750"/>
            <a:chOff x="0" y="0"/>
            <a:chExt cx="247650" cy="3810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82" r="-1282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9051131" y="5704284"/>
            <a:ext cx="185738" cy="285750"/>
            <a:chOff x="0" y="0"/>
            <a:chExt cx="247650" cy="38100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82" r="-1282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3419534" y="5704284"/>
            <a:ext cx="185738" cy="285750"/>
            <a:chOff x="0" y="0"/>
            <a:chExt cx="247650" cy="3810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282" r="-1282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277066" y="4802829"/>
            <a:ext cx="628650" cy="628650"/>
            <a:chOff x="0" y="0"/>
            <a:chExt cx="838200" cy="8382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965568" y="5688654"/>
            <a:ext cx="3251654" cy="35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Environment &amp; Physics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2988" y="6160141"/>
            <a:ext cx="3096816" cy="773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 3D SRTM terrain mesh with dynamic wind vector attributes into OWT-A* physics engine.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1063873" y="4753270"/>
            <a:ext cx="628650" cy="628650"/>
            <a:chOff x="0" y="0"/>
            <a:chExt cx="838200" cy="8382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9752376" y="5639095"/>
            <a:ext cx="325165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Game Theory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29795" y="6110583"/>
            <a:ext cx="3096816" cy="102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 Bayesian Stackelberg Security Games (SSE) &amp; SUQR model to calculate optimal randomized patrol mixed strategies.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697856" y="4837319"/>
            <a:ext cx="628650" cy="628650"/>
            <a:chOff x="0" y="0"/>
            <a:chExt cx="838200" cy="838200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5386359" y="5723144"/>
            <a:ext cx="325165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SMRS Framework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463778" y="6194631"/>
            <a:ext cx="3096816" cy="773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Smart Multi Relay System to handle automated drone handoffs and battery-threshold return loops.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5382275" y="4678709"/>
            <a:ext cx="628650" cy="628650"/>
            <a:chOff x="0" y="0"/>
            <a:chExt cx="838200" cy="838200"/>
          </a:xfrm>
        </p:grpSpPr>
        <p:sp>
          <p:nvSpPr>
            <p:cNvPr id="44" name="Freeform 44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14070778" y="5564534"/>
            <a:ext cx="3251654" cy="35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4. Route Execution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148197" y="6036021"/>
            <a:ext cx="3096816" cy="97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use Markov Chain to convert the Stackelberg coverage strategy into a practical flight path that the drone can follow.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2412797" y="4974279"/>
            <a:ext cx="357188" cy="285750"/>
            <a:chOff x="0" y="0"/>
            <a:chExt cx="476250" cy="381000"/>
          </a:xfrm>
        </p:grpSpPr>
        <p:sp>
          <p:nvSpPr>
            <p:cNvPr id="48" name="Freeform 48" descr="image.png"/>
            <p:cNvSpPr/>
            <p:nvPr/>
          </p:nvSpPr>
          <p:spPr>
            <a:xfrm>
              <a:off x="0" y="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t="-479" b="-480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11229342" y="4924720"/>
            <a:ext cx="257175" cy="285750"/>
            <a:chOff x="0" y="0"/>
            <a:chExt cx="342900" cy="381000"/>
          </a:xfrm>
        </p:grpSpPr>
        <p:sp>
          <p:nvSpPr>
            <p:cNvPr id="50" name="Freeform 50" descr="image.png"/>
            <p:cNvSpPr/>
            <p:nvPr/>
          </p:nvSpPr>
          <p:spPr>
            <a:xfrm>
              <a:off x="0" y="0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62" r="-266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6869306" y="5008769"/>
            <a:ext cx="285750" cy="285750"/>
            <a:chOff x="0" y="0"/>
            <a:chExt cx="381000" cy="381000"/>
          </a:xfrm>
        </p:grpSpPr>
        <p:sp>
          <p:nvSpPr>
            <p:cNvPr id="52" name="Freeform 52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15553725" y="4850159"/>
            <a:ext cx="285750" cy="285750"/>
            <a:chOff x="0" y="0"/>
            <a:chExt cx="381000" cy="381000"/>
          </a:xfrm>
        </p:grpSpPr>
        <p:sp>
          <p:nvSpPr>
            <p:cNvPr id="54" name="Freeform 54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sp>
        <p:nvSpPr>
          <p:cNvPr id="55" name="TextBox 55"/>
          <p:cNvSpPr txBox="1"/>
          <p:nvPr/>
        </p:nvSpPr>
        <p:spPr>
          <a:xfrm>
            <a:off x="735806" y="1633290"/>
            <a:ext cx="7465219" cy="56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05 — Research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3768328"/>
            <a:ext cx="16859250" cy="600075"/>
            <a:chOff x="0" y="0"/>
            <a:chExt cx="22479000" cy="8001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479000" cy="800100"/>
            </a:xfrm>
            <a:custGeom>
              <a:avLst/>
              <a:gdLst/>
              <a:ahLst/>
              <a:cxnLst/>
              <a:rect l="l" t="t" r="r" b="b"/>
              <a:pathLst>
                <a:path w="22479000" h="8001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90" b="-119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14375" y="4954191"/>
            <a:ext cx="16859250" cy="600075"/>
            <a:chOff x="0" y="0"/>
            <a:chExt cx="22479000" cy="8001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22479000" cy="800100"/>
            </a:xfrm>
            <a:custGeom>
              <a:avLst/>
              <a:gdLst/>
              <a:ahLst/>
              <a:cxnLst/>
              <a:rect l="l" t="t" r="r" b="b"/>
              <a:pathLst>
                <a:path w="22479000" h="8001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190" b="-119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6140053"/>
            <a:ext cx="16859250" cy="600075"/>
            <a:chOff x="0" y="0"/>
            <a:chExt cx="22479000" cy="8001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2479000" cy="800100"/>
            </a:xfrm>
            <a:custGeom>
              <a:avLst/>
              <a:gdLst/>
              <a:ahLst/>
              <a:cxnLst/>
              <a:rect l="l" t="t" r="r" b="b"/>
              <a:pathLst>
                <a:path w="22479000" h="8001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90" b="-119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14375" y="7325916"/>
            <a:ext cx="16859250" cy="600075"/>
            <a:chOff x="0" y="0"/>
            <a:chExt cx="22479000" cy="8001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2479000" cy="800100"/>
            </a:xfrm>
            <a:custGeom>
              <a:avLst/>
              <a:gdLst/>
              <a:ahLst/>
              <a:cxnLst/>
              <a:rect l="l" t="t" r="r" b="b"/>
              <a:pathLst>
                <a:path w="22479000" h="8001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190" b="-119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14375" y="9644062"/>
            <a:ext cx="1900238" cy="214312"/>
            <a:chOff x="0" y="0"/>
            <a:chExt cx="2533650" cy="2857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33650" cy="285750"/>
            </a:xfrm>
            <a:custGeom>
              <a:avLst/>
              <a:gdLst/>
              <a:ahLst/>
              <a:cxnLst/>
              <a:rect l="l" t="t" r="r" b="b"/>
              <a:pathLst>
                <a:path w="2533650" h="285750">
                  <a:moveTo>
                    <a:pt x="0" y="0"/>
                  </a:moveTo>
                  <a:lnTo>
                    <a:pt x="2533650" y="0"/>
                  </a:lnTo>
                  <a:lnTo>
                    <a:pt x="25336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22767" b="-12276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5336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06 — SYSTEM DESIGN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201025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887825" y="9644062"/>
            <a:ext cx="68580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8238" y="3954066"/>
            <a:ext cx="30194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1E40AF"/>
                </a:solidFill>
                <a:latin typeface="Inter Bold"/>
                <a:ea typeface="Inter Bold"/>
                <a:cs typeface="Inter Bold"/>
                <a:sym typeface="Inter Bold"/>
              </a:rPr>
              <a:t>1. Environment &amp; Inputs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43412" y="3954066"/>
            <a:ext cx="1283017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3D SRTM Digital Elevation Data + Real-Time Wind Speed/Direction Vector Field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065419" y="4568428"/>
            <a:ext cx="157162" cy="200025"/>
            <a:chOff x="0" y="0"/>
            <a:chExt cx="209550" cy="2667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r="-909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119188" y="5139928"/>
            <a:ext cx="303847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166534"/>
                </a:solidFill>
                <a:latin typeface="Inter Bold"/>
                <a:ea typeface="Inter Bold"/>
                <a:cs typeface="Inter Bold"/>
                <a:sym typeface="Inter Bold"/>
              </a:rPr>
              <a:t>2. Physics &amp; Energy Engine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43412" y="5139928"/>
            <a:ext cx="578703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OWT-A* Cost Function: Wind Drag  + Climb Cost + Avionics Power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065419" y="5754291"/>
            <a:ext cx="157162" cy="200025"/>
            <a:chOff x="0" y="0"/>
            <a:chExt cx="209550" cy="2667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r="-909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138238" y="6325791"/>
            <a:ext cx="30194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854D0E"/>
                </a:solidFill>
                <a:latin typeface="Inter Bold"/>
                <a:ea typeface="Inter Bold"/>
                <a:cs typeface="Inter Bold"/>
                <a:sym typeface="Inter Bold"/>
              </a:rPr>
              <a:t>3. Game-Theoretic Intelligence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43412" y="6325791"/>
            <a:ext cx="10342662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Bayesian Stackelberg Security Game (SSE) + SUQR Bounded Rationality Attacker Predictor (Utility= (P1 * V1) + (P2+V2))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065419" y="6940153"/>
            <a:ext cx="157162" cy="200025"/>
            <a:chOff x="0" y="0"/>
            <a:chExt cx="209550" cy="2667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r="-909"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1138238" y="7511653"/>
            <a:ext cx="30194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6B21A8"/>
                </a:solidFill>
                <a:latin typeface="Inter Bold"/>
                <a:ea typeface="Inter Bold"/>
                <a:cs typeface="Inter Bold"/>
                <a:sym typeface="Inter Bold"/>
              </a:rPr>
              <a:t>4. SMRS Control &amp; Pathing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43412" y="7511653"/>
            <a:ext cx="1283017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Markov Chain Route Generator + Autonomous Multi-UAV Relay-Handoff Protocol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14412" y="3982641"/>
            <a:ext cx="185738" cy="185738"/>
            <a:chOff x="0" y="0"/>
            <a:chExt cx="247650" cy="247650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846" b="-3846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1014412" y="5168503"/>
            <a:ext cx="157162" cy="185738"/>
            <a:chOff x="0" y="0"/>
            <a:chExt cx="209550" cy="247650"/>
          </a:xfrm>
        </p:grpSpPr>
        <p:sp>
          <p:nvSpPr>
            <p:cNvPr id="42" name="Freeform 42" descr="image.png"/>
            <p:cNvSpPr/>
            <p:nvPr/>
          </p:nvSpPr>
          <p:spPr>
            <a:xfrm>
              <a:off x="0" y="0"/>
              <a:ext cx="209550" cy="247650"/>
            </a:xfrm>
            <a:custGeom>
              <a:avLst/>
              <a:gdLst/>
              <a:ahLst/>
              <a:cxnLst/>
              <a:rect l="l" t="t" r="r" b="b"/>
              <a:pathLst>
                <a:path w="209550" h="2476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3846" b="-3846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014412" y="6354366"/>
            <a:ext cx="185738" cy="185738"/>
            <a:chOff x="0" y="0"/>
            <a:chExt cx="247650" cy="247650"/>
          </a:xfrm>
        </p:grpSpPr>
        <p:sp>
          <p:nvSpPr>
            <p:cNvPr id="44" name="Freeform 44" descr="image.png"/>
            <p:cNvSpPr/>
            <p:nvPr/>
          </p:nvSpPr>
          <p:spPr>
            <a:xfrm>
              <a:off x="0" y="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3846" b="-3846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014412" y="7540228"/>
            <a:ext cx="185738" cy="185738"/>
            <a:chOff x="0" y="0"/>
            <a:chExt cx="247650" cy="247650"/>
          </a:xfrm>
        </p:grpSpPr>
        <p:sp>
          <p:nvSpPr>
            <p:cNvPr id="46" name="Freeform 46" descr="image.png"/>
            <p:cNvSpPr/>
            <p:nvPr/>
          </p:nvSpPr>
          <p:spPr>
            <a:xfrm>
              <a:off x="0" y="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3846" b="-3846"/>
              </a:stretch>
            </a:blipFill>
          </p:spPr>
        </p:sp>
      </p:grpSp>
      <p:sp>
        <p:nvSpPr>
          <p:cNvPr id="47" name="TextBox 47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06 — System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4735640"/>
            <a:ext cx="8179594" cy="2508799"/>
            <a:chOff x="0" y="0"/>
            <a:chExt cx="10906125" cy="3345066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906125" cy="3345053"/>
            </a:xfrm>
            <a:custGeom>
              <a:avLst/>
              <a:gdLst/>
              <a:ahLst/>
              <a:cxnLst/>
              <a:rect l="l" t="t" r="r" b="b"/>
              <a:pathLst>
                <a:path w="10906125" h="3345053">
                  <a:moveTo>
                    <a:pt x="0" y="0"/>
                  </a:moveTo>
                  <a:lnTo>
                    <a:pt x="10906125" y="0"/>
                  </a:lnTo>
                  <a:lnTo>
                    <a:pt x="10906125" y="3345053"/>
                  </a:lnTo>
                  <a:lnTo>
                    <a:pt x="0" y="3345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56" b="-35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394031" y="4711303"/>
            <a:ext cx="8179594" cy="1743075"/>
            <a:chOff x="0" y="0"/>
            <a:chExt cx="10906125" cy="23241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0906125" cy="2324100"/>
            </a:xfrm>
            <a:custGeom>
              <a:avLst/>
              <a:gdLst/>
              <a:ahLst/>
              <a:cxnLst/>
              <a:rect l="l" t="t" r="r" b="b"/>
              <a:pathLst>
                <a:path w="10906125" h="2324100">
                  <a:moveTo>
                    <a:pt x="0" y="0"/>
                  </a:moveTo>
                  <a:lnTo>
                    <a:pt x="10906125" y="0"/>
                  </a:lnTo>
                  <a:lnTo>
                    <a:pt x="10906125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14375" y="9644062"/>
            <a:ext cx="2000250" cy="214312"/>
            <a:chOff x="0" y="0"/>
            <a:chExt cx="2667000" cy="2857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67000" cy="285750"/>
            </a:xfrm>
            <a:custGeom>
              <a:avLst/>
              <a:gdLst/>
              <a:ahLst/>
              <a:cxnLst/>
              <a:rect l="l" t="t" r="r" b="b"/>
              <a:pathLst>
                <a:path w="2667000" h="285750">
                  <a:moveTo>
                    <a:pt x="0" y="0"/>
                  </a:moveTo>
                  <a:lnTo>
                    <a:pt x="2667000" y="0"/>
                  </a:lnTo>
                  <a:lnTo>
                    <a:pt x="26670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6670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07 — IMPLEMENTATION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251031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887825" y="9644062"/>
            <a:ext cx="68580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4375" y="4278440"/>
            <a:ext cx="858856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B499D"/>
                </a:solidFill>
                <a:latin typeface="Inter Bold"/>
                <a:ea typeface="Inter Bold"/>
                <a:cs typeface="Inter Bold"/>
                <a:sym typeface="Inter Bold"/>
              </a:rPr>
              <a:t>Energy Physics Formulations (OWT-A*)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4031" y="4254103"/>
            <a:ext cx="858856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B499D"/>
                </a:solidFill>
                <a:latin typeface="Inter Bold"/>
                <a:ea typeface="Inter Bold"/>
                <a:cs typeface="Inter Bold"/>
                <a:sym typeface="Inter Bold"/>
              </a:rPr>
              <a:t>Tools &amp; Execution Logic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94081" y="6578203"/>
            <a:ext cx="7779544" cy="36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Environment Grid: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30×30 SRTM Elevation Grid.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94081" y="7071122"/>
            <a:ext cx="7779544" cy="36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 dirty="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Stack:</a:t>
            </a:r>
            <a:r>
              <a:rPr lang="en-US" sz="1687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Python 3.11, </a:t>
            </a:r>
            <a:r>
              <a:rPr lang="en-US" sz="1687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NumPy</a:t>
            </a:r>
            <a:r>
              <a:rPr lang="en-US" sz="1687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87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Pygame</a:t>
            </a:r>
            <a:r>
              <a:rPr lang="en-US" sz="1687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GUI.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7275" y="5035677"/>
            <a:ext cx="210026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Wind Drag Power Cost: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57275" y="5287937"/>
            <a:ext cx="2450754" cy="269234"/>
            <a:chOff x="0" y="0"/>
            <a:chExt cx="3267672" cy="358978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3267710" cy="359029"/>
            </a:xfrm>
            <a:custGeom>
              <a:avLst/>
              <a:gdLst/>
              <a:ahLst/>
              <a:cxnLst/>
              <a:rect l="l" t="t" r="r" b="b"/>
              <a:pathLst>
                <a:path w="3267710" h="359029">
                  <a:moveTo>
                    <a:pt x="0" y="0"/>
                  </a:moveTo>
                  <a:lnTo>
                    <a:pt x="3267710" y="0"/>
                  </a:lnTo>
                  <a:lnTo>
                    <a:pt x="3267710" y="359029"/>
                  </a:lnTo>
                  <a:lnTo>
                    <a:pt x="0" y="359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275" r="1" b="-261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1057275" y="5728621"/>
            <a:ext cx="2143125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 Elevation Climb Energy: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57275" y="6014371"/>
            <a:ext cx="1767850" cy="228600"/>
            <a:chOff x="0" y="0"/>
            <a:chExt cx="2357133" cy="304800"/>
          </a:xfrm>
        </p:grpSpPr>
        <p:sp>
          <p:nvSpPr>
            <p:cNvPr id="30" name="Freeform 30" descr="image.png"/>
            <p:cNvSpPr/>
            <p:nvPr/>
          </p:nvSpPr>
          <p:spPr>
            <a:xfrm>
              <a:off x="0" y="0"/>
              <a:ext cx="2357120" cy="304800"/>
            </a:xfrm>
            <a:custGeom>
              <a:avLst/>
              <a:gdLst/>
              <a:ahLst/>
              <a:cxnLst/>
              <a:rect l="l" t="t" r="r" b="b"/>
              <a:pathLst>
                <a:path w="2357120" h="304800">
                  <a:moveTo>
                    <a:pt x="0" y="0"/>
                  </a:moveTo>
                  <a:lnTo>
                    <a:pt x="2357120" y="0"/>
                  </a:lnTo>
                  <a:lnTo>
                    <a:pt x="235712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012" b="-3008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1057275" y="6414421"/>
            <a:ext cx="212883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 Total Mechanical Work: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57275" y="6665338"/>
            <a:ext cx="1717843" cy="336204"/>
            <a:chOff x="0" y="0"/>
            <a:chExt cx="2290458" cy="448272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2290445" cy="448310"/>
            </a:xfrm>
            <a:custGeom>
              <a:avLst/>
              <a:gdLst/>
              <a:ahLst/>
              <a:cxnLst/>
              <a:rect l="l" t="t" r="r" b="b"/>
              <a:pathLst>
                <a:path w="2290445" h="448310">
                  <a:moveTo>
                    <a:pt x="0" y="0"/>
                  </a:moveTo>
                  <a:lnTo>
                    <a:pt x="2290445" y="0"/>
                  </a:lnTo>
                  <a:lnTo>
                    <a:pt x="2290445" y="448310"/>
                  </a:lnTo>
                  <a:lnTo>
                    <a:pt x="0" y="448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2784" b="-2776"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07 — Implementation &amp;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Physics Energy Model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394031" y="6654403"/>
            <a:ext cx="228600" cy="228600"/>
            <a:chOff x="0" y="0"/>
            <a:chExt cx="304800" cy="3048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9394031" y="7147322"/>
            <a:ext cx="228600" cy="228600"/>
            <a:chOff x="0" y="0"/>
            <a:chExt cx="304800" cy="30480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4898" y="5526191"/>
            <a:ext cx="17907161" cy="10287000"/>
            <a:chOff x="0" y="0"/>
            <a:chExt cx="23876215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3876215" cy="13716000"/>
            </a:xfrm>
            <a:custGeom>
              <a:avLst/>
              <a:gdLst/>
              <a:ahLst/>
              <a:cxnLst/>
              <a:rect l="l" t="t" r="r" b="b"/>
              <a:pathLst>
                <a:path w="23876215" h="13716000">
                  <a:moveTo>
                    <a:pt x="0" y="0"/>
                  </a:moveTo>
                  <a:lnTo>
                    <a:pt x="23876215" y="0"/>
                  </a:lnTo>
                  <a:lnTo>
                    <a:pt x="2387621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63" r="-106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618759" y="8201112"/>
            <a:ext cx="2900755" cy="841958"/>
            <a:chOff x="0" y="0"/>
            <a:chExt cx="7088251" cy="20574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088251" cy="2057400"/>
            </a:xfrm>
            <a:custGeom>
              <a:avLst/>
              <a:gdLst/>
              <a:ahLst/>
              <a:cxnLst/>
              <a:rect l="l" t="t" r="r" b="b"/>
              <a:pathLst>
                <a:path w="7088251" h="2057400">
                  <a:moveTo>
                    <a:pt x="0" y="0"/>
                  </a:moveTo>
                  <a:lnTo>
                    <a:pt x="7088251" y="0"/>
                  </a:lnTo>
                  <a:lnTo>
                    <a:pt x="7088251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94" r="-59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672185" y="8201112"/>
            <a:ext cx="2900755" cy="841958"/>
            <a:chOff x="0" y="0"/>
            <a:chExt cx="7088251" cy="20574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088251" cy="2057400"/>
            </a:xfrm>
            <a:custGeom>
              <a:avLst/>
              <a:gdLst/>
              <a:ahLst/>
              <a:cxnLst/>
              <a:rect l="l" t="t" r="r" b="b"/>
              <a:pathLst>
                <a:path w="7088251" h="2057400">
                  <a:moveTo>
                    <a:pt x="0" y="0"/>
                  </a:moveTo>
                  <a:lnTo>
                    <a:pt x="7088251" y="0"/>
                  </a:lnTo>
                  <a:lnTo>
                    <a:pt x="7088251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4" r="-59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725611" y="8201112"/>
            <a:ext cx="2900755" cy="841958"/>
            <a:chOff x="0" y="0"/>
            <a:chExt cx="7088251" cy="20574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7088251" cy="2057400"/>
            </a:xfrm>
            <a:custGeom>
              <a:avLst/>
              <a:gdLst/>
              <a:ahLst/>
              <a:cxnLst/>
              <a:rect l="l" t="t" r="r" b="b"/>
              <a:pathLst>
                <a:path w="7088251" h="2057400">
                  <a:moveTo>
                    <a:pt x="0" y="0"/>
                  </a:moveTo>
                  <a:lnTo>
                    <a:pt x="7088251" y="0"/>
                  </a:lnTo>
                  <a:lnTo>
                    <a:pt x="7088251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94" r="-59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-319052" y="5511039"/>
            <a:ext cx="9820239" cy="4240180"/>
            <a:chOff x="0" y="0"/>
            <a:chExt cx="22479000" cy="9705975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2479000" cy="9705975"/>
            </a:xfrm>
            <a:custGeom>
              <a:avLst/>
              <a:gdLst/>
              <a:ahLst/>
              <a:cxnLst/>
              <a:rect l="l" t="t" r="r" b="b"/>
              <a:pathLst>
                <a:path w="22479000" h="9705975">
                  <a:moveTo>
                    <a:pt x="0" y="0"/>
                  </a:moveTo>
                  <a:lnTo>
                    <a:pt x="22479000" y="0"/>
                  </a:lnTo>
                  <a:lnTo>
                    <a:pt x="22479000" y="9705975"/>
                  </a:lnTo>
                  <a:lnTo>
                    <a:pt x="0" y="9705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9" b="-4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14375" y="9644062"/>
            <a:ext cx="1257300" cy="214312"/>
            <a:chOff x="0" y="0"/>
            <a:chExt cx="1676400" cy="2857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76400" cy="285750"/>
            </a:xfrm>
            <a:custGeom>
              <a:avLst/>
              <a:gdLst/>
              <a:ahLst/>
              <a:cxnLst/>
              <a:rect l="l" t="t" r="r" b="b"/>
              <a:pathLst>
                <a:path w="1676400" h="285750">
                  <a:moveTo>
                    <a:pt x="0" y="0"/>
                  </a:moveTo>
                  <a:lnTo>
                    <a:pt x="1676400" y="0"/>
                  </a:lnTo>
                  <a:lnTo>
                    <a:pt x="16764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64312" b="-6431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6764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08 — RESULTS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900988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30688" y="9644062"/>
            <a:ext cx="64293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63796" y="8330185"/>
            <a:ext cx="2610679" cy="35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2209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69%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63796" y="8768485"/>
            <a:ext cx="2610679" cy="12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"/>
              </a:lnSpc>
            </a:pPr>
            <a:r>
              <a:rPr lang="en-US" sz="766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Area Coverage (283 Steps)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17222" y="8330185"/>
            <a:ext cx="2610679" cy="35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2209" b="1">
                <a:solidFill>
                  <a:srgbClr val="166534"/>
                </a:solidFill>
                <a:latin typeface="Poppins Bold"/>
                <a:ea typeface="Poppins Bold"/>
                <a:cs typeface="Poppins Bold"/>
                <a:sym typeface="Poppins Bold"/>
              </a:rPr>
              <a:t>18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17222" y="8768485"/>
            <a:ext cx="2610679" cy="12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"/>
              </a:lnSpc>
            </a:pPr>
            <a:r>
              <a:rPr lang="en-US" sz="766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Threats Intercepted (SMRS)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870648" y="8330185"/>
            <a:ext cx="2610679" cy="35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2209" b="1">
                <a:solidFill>
                  <a:srgbClr val="6B21A8"/>
                </a:solidFill>
                <a:latin typeface="Poppins Bold"/>
                <a:ea typeface="Poppins Bold"/>
                <a:cs typeface="Poppins Bold"/>
                <a:sym typeface="Poppins Bold"/>
              </a:rPr>
              <a:t>+3.62%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870648" y="8768485"/>
            <a:ext cx="2610679" cy="12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"/>
              </a:lnSpc>
            </a:pPr>
            <a:r>
              <a:rPr lang="en-US" sz="766">
                <a:solidFill>
                  <a:srgbClr val="581C87"/>
                </a:solidFill>
                <a:latin typeface="Inter"/>
                <a:ea typeface="Inter"/>
                <a:cs typeface="Inter"/>
                <a:sym typeface="Inter"/>
              </a:rPr>
              <a:t>Detection Rate Gain via Adaptive Game Theory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08 — Results &amp;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Analysis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0" y="2483644"/>
            <a:ext cx="11620500" cy="3921761"/>
            <a:chOff x="0" y="0"/>
            <a:chExt cx="2997381" cy="101157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997381" cy="1011575"/>
            </a:xfrm>
            <a:custGeom>
              <a:avLst/>
              <a:gdLst/>
              <a:ahLst/>
              <a:cxnLst/>
              <a:rect l="l" t="t" r="r" b="b"/>
              <a:pathLst>
                <a:path w="2997381" h="1011575">
                  <a:moveTo>
                    <a:pt x="11326" y="0"/>
                  </a:moveTo>
                  <a:lnTo>
                    <a:pt x="2986056" y="0"/>
                  </a:lnTo>
                  <a:cubicBezTo>
                    <a:pt x="2989059" y="0"/>
                    <a:pt x="2991940" y="1193"/>
                    <a:pt x="2994064" y="3317"/>
                  </a:cubicBezTo>
                  <a:cubicBezTo>
                    <a:pt x="2996188" y="5441"/>
                    <a:pt x="2997381" y="8322"/>
                    <a:pt x="2997381" y="11326"/>
                  </a:cubicBezTo>
                  <a:lnTo>
                    <a:pt x="2997381" y="1000250"/>
                  </a:lnTo>
                  <a:cubicBezTo>
                    <a:pt x="2997381" y="1006505"/>
                    <a:pt x="2992311" y="1011575"/>
                    <a:pt x="2986056" y="1011575"/>
                  </a:cubicBezTo>
                  <a:lnTo>
                    <a:pt x="11326" y="1011575"/>
                  </a:lnTo>
                  <a:cubicBezTo>
                    <a:pt x="5071" y="1011575"/>
                    <a:pt x="0" y="1006505"/>
                    <a:pt x="0" y="1000250"/>
                  </a:cubicBezTo>
                  <a:lnTo>
                    <a:pt x="0" y="11326"/>
                  </a:lnTo>
                  <a:cubicBezTo>
                    <a:pt x="0" y="5071"/>
                    <a:pt x="5071" y="0"/>
                    <a:pt x="11326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997381" cy="1011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4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148816" y="2585039"/>
            <a:ext cx="11297537" cy="3662534"/>
          </a:xfrm>
          <a:custGeom>
            <a:avLst/>
            <a:gdLst/>
            <a:ahLst/>
            <a:cxnLst/>
            <a:rect l="l" t="t" r="r" b="b"/>
            <a:pathLst>
              <a:path w="11297537" h="3662534">
                <a:moveTo>
                  <a:pt x="0" y="0"/>
                </a:moveTo>
                <a:lnTo>
                  <a:pt x="11297537" y="0"/>
                </a:lnTo>
                <a:lnTo>
                  <a:pt x="11297537" y="3662533"/>
                </a:lnTo>
                <a:lnTo>
                  <a:pt x="0" y="3662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11" r="-527"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526568" y="6530589"/>
            <a:ext cx="7765554" cy="342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Fig-1: Comparison simulation (SMRS vs Greedy vs GPS vs ACO) 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2663905" y="2642943"/>
            <a:ext cx="5325167" cy="1923794"/>
            <a:chOff x="0" y="0"/>
            <a:chExt cx="1555244" cy="56185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55244" cy="561854"/>
            </a:xfrm>
            <a:custGeom>
              <a:avLst/>
              <a:gdLst/>
              <a:ahLst/>
              <a:cxnLst/>
              <a:rect l="l" t="t" r="r" b="b"/>
              <a:pathLst>
                <a:path w="1555244" h="561854">
                  <a:moveTo>
                    <a:pt x="24715" y="0"/>
                  </a:moveTo>
                  <a:lnTo>
                    <a:pt x="1530528" y="0"/>
                  </a:lnTo>
                  <a:cubicBezTo>
                    <a:pt x="1537083" y="0"/>
                    <a:pt x="1543370" y="2604"/>
                    <a:pt x="1548005" y="7239"/>
                  </a:cubicBezTo>
                  <a:cubicBezTo>
                    <a:pt x="1552640" y="11874"/>
                    <a:pt x="1555244" y="18160"/>
                    <a:pt x="1555244" y="24715"/>
                  </a:cubicBezTo>
                  <a:lnTo>
                    <a:pt x="1555244" y="537139"/>
                  </a:lnTo>
                  <a:cubicBezTo>
                    <a:pt x="1555244" y="543694"/>
                    <a:pt x="1552640" y="549981"/>
                    <a:pt x="1548005" y="554616"/>
                  </a:cubicBezTo>
                  <a:cubicBezTo>
                    <a:pt x="1543370" y="559251"/>
                    <a:pt x="1537083" y="561854"/>
                    <a:pt x="1530528" y="561854"/>
                  </a:cubicBezTo>
                  <a:lnTo>
                    <a:pt x="24715" y="561854"/>
                  </a:lnTo>
                  <a:cubicBezTo>
                    <a:pt x="18160" y="561854"/>
                    <a:pt x="11874" y="559251"/>
                    <a:pt x="7239" y="554616"/>
                  </a:cubicBezTo>
                  <a:cubicBezTo>
                    <a:pt x="2604" y="549981"/>
                    <a:pt x="0" y="543694"/>
                    <a:pt x="0" y="537139"/>
                  </a:cubicBezTo>
                  <a:lnTo>
                    <a:pt x="0" y="24715"/>
                  </a:lnTo>
                  <a:cubicBezTo>
                    <a:pt x="0" y="18160"/>
                    <a:pt x="2604" y="11874"/>
                    <a:pt x="7239" y="7239"/>
                  </a:cubicBezTo>
                  <a:cubicBezTo>
                    <a:pt x="11874" y="2604"/>
                    <a:pt x="18160" y="0"/>
                    <a:pt x="24715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555244" cy="561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4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2780429" y="2797238"/>
            <a:ext cx="5092380" cy="1610130"/>
          </a:xfrm>
          <a:custGeom>
            <a:avLst/>
            <a:gdLst/>
            <a:ahLst/>
            <a:cxnLst/>
            <a:rect l="l" t="t" r="r" b="b"/>
            <a:pathLst>
              <a:path w="5092380" h="1610130">
                <a:moveTo>
                  <a:pt x="0" y="0"/>
                </a:moveTo>
                <a:lnTo>
                  <a:pt x="5092381" y="0"/>
                </a:lnTo>
                <a:lnTo>
                  <a:pt x="5092381" y="1610130"/>
                </a:lnTo>
                <a:lnTo>
                  <a:pt x="0" y="16101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r="-2283" b="-2304"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3096215" y="4724328"/>
            <a:ext cx="4184482" cy="31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171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Fig-2: Average all threat detect steps 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1847612" y="5139932"/>
            <a:ext cx="6347440" cy="1374466"/>
            <a:chOff x="0" y="0"/>
            <a:chExt cx="1853804" cy="4014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853804" cy="401420"/>
            </a:xfrm>
            <a:custGeom>
              <a:avLst/>
              <a:gdLst/>
              <a:ahLst/>
              <a:cxnLst/>
              <a:rect l="l" t="t" r="r" b="b"/>
              <a:pathLst>
                <a:path w="1853804" h="401420">
                  <a:moveTo>
                    <a:pt x="20735" y="0"/>
                  </a:moveTo>
                  <a:lnTo>
                    <a:pt x="1833069" y="0"/>
                  </a:lnTo>
                  <a:cubicBezTo>
                    <a:pt x="1838569" y="0"/>
                    <a:pt x="1843842" y="2185"/>
                    <a:pt x="1847731" y="6073"/>
                  </a:cubicBezTo>
                  <a:cubicBezTo>
                    <a:pt x="1851620" y="9962"/>
                    <a:pt x="1853804" y="15236"/>
                    <a:pt x="1853804" y="20735"/>
                  </a:cubicBezTo>
                  <a:lnTo>
                    <a:pt x="1853804" y="380686"/>
                  </a:lnTo>
                  <a:cubicBezTo>
                    <a:pt x="1853804" y="386185"/>
                    <a:pt x="1851620" y="391459"/>
                    <a:pt x="1847731" y="395347"/>
                  </a:cubicBezTo>
                  <a:cubicBezTo>
                    <a:pt x="1843842" y="399236"/>
                    <a:pt x="1838569" y="401420"/>
                    <a:pt x="1833069" y="401420"/>
                  </a:cubicBezTo>
                  <a:lnTo>
                    <a:pt x="20735" y="401420"/>
                  </a:lnTo>
                  <a:cubicBezTo>
                    <a:pt x="15236" y="401420"/>
                    <a:pt x="9962" y="399236"/>
                    <a:pt x="6073" y="395347"/>
                  </a:cubicBezTo>
                  <a:cubicBezTo>
                    <a:pt x="2185" y="391459"/>
                    <a:pt x="0" y="386185"/>
                    <a:pt x="0" y="380686"/>
                  </a:cubicBezTo>
                  <a:lnTo>
                    <a:pt x="0" y="20735"/>
                  </a:lnTo>
                  <a:cubicBezTo>
                    <a:pt x="0" y="15236"/>
                    <a:pt x="2185" y="9962"/>
                    <a:pt x="6073" y="6073"/>
                  </a:cubicBezTo>
                  <a:cubicBezTo>
                    <a:pt x="9962" y="2185"/>
                    <a:pt x="15236" y="0"/>
                    <a:pt x="20735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853804" cy="401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4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1936979" y="5252087"/>
            <a:ext cx="6168706" cy="1155371"/>
          </a:xfrm>
          <a:custGeom>
            <a:avLst/>
            <a:gdLst/>
            <a:ahLst/>
            <a:cxnLst/>
            <a:rect l="l" t="t" r="r" b="b"/>
            <a:pathLst>
              <a:path w="6168706" h="1155371">
                <a:moveTo>
                  <a:pt x="0" y="0"/>
                </a:moveTo>
                <a:lnTo>
                  <a:pt x="6168707" y="0"/>
                </a:lnTo>
                <a:lnTo>
                  <a:pt x="6168707" y="1155371"/>
                </a:lnTo>
                <a:lnTo>
                  <a:pt x="0" y="11553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799" t="-298999" r="-13133" b="-121784"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3023539" y="6558588"/>
            <a:ext cx="4329835" cy="31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171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Fig-3: Detection % using Game Theory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07231" y="4307900"/>
            <a:ext cx="16873538" cy="3078509"/>
            <a:chOff x="0" y="0"/>
            <a:chExt cx="22498050" cy="41046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98050" cy="4104640"/>
            </a:xfrm>
            <a:custGeom>
              <a:avLst/>
              <a:gdLst/>
              <a:ahLst/>
              <a:cxnLst/>
              <a:rect l="l" t="t" r="r" b="b"/>
              <a:pathLst>
                <a:path w="22498050" h="4104640">
                  <a:moveTo>
                    <a:pt x="0" y="0"/>
                  </a:moveTo>
                  <a:lnTo>
                    <a:pt x="22498050" y="0"/>
                  </a:lnTo>
                  <a:lnTo>
                    <a:pt x="22498050" y="4104640"/>
                  </a:lnTo>
                  <a:lnTo>
                    <a:pt x="0" y="410464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14375" y="4315047"/>
          <a:ext cx="16783050" cy="3048001"/>
        </p:xfrm>
        <a:graphic>
          <a:graphicData uri="http://schemas.openxmlformats.org/drawingml/2006/table">
            <a:tbl>
              <a:tblPr/>
              <a:tblGrid>
                <a:gridCol w="3506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7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6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6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60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599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 / Dimension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Greedy Search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Standard A* / GPS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ACO Benchmark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Proposed SMRS (OWT-A*)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99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3D Wind Physics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Ignored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Ignored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Basic Drag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Full OWT-A* Engine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99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Route Predictability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(Fixed)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Very High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Moderate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Zero (Game Theory SSE)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99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Relay Handoff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Autonomous SMRS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5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Safety Override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Real-Time Threat Logic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714375" y="9644062"/>
            <a:ext cx="1657350" cy="214312"/>
            <a:chOff x="0" y="0"/>
            <a:chExt cx="2209800" cy="2857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9800" cy="285750"/>
            </a:xfrm>
            <a:custGeom>
              <a:avLst/>
              <a:gdLst/>
              <a:ahLst/>
              <a:cxnLst/>
              <a:rect l="l" t="t" r="r" b="b"/>
              <a:pathLst>
                <a:path w="2209800" h="285750">
                  <a:moveTo>
                    <a:pt x="0" y="0"/>
                  </a:moveTo>
                  <a:lnTo>
                    <a:pt x="2209800" y="0"/>
                  </a:lnTo>
                  <a:lnTo>
                    <a:pt x="22098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0684" b="-10068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2098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09 — COMPARISON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122444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973550" y="9644062"/>
            <a:ext cx="600075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21519" y="5535063"/>
            <a:ext cx="3519192" cy="14288"/>
            <a:chOff x="0" y="0"/>
            <a:chExt cx="4692256" cy="190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92269" cy="19050"/>
            </a:xfrm>
            <a:custGeom>
              <a:avLst/>
              <a:gdLst/>
              <a:ahLst/>
              <a:cxnLst/>
              <a:rect l="l" t="t" r="r" b="b"/>
              <a:pathLst>
                <a:path w="4692269" h="19050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4240711" y="5535063"/>
            <a:ext cx="2747220" cy="14288"/>
            <a:chOff x="0" y="0"/>
            <a:chExt cx="3662959" cy="19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62934" cy="19050"/>
            </a:xfrm>
            <a:custGeom>
              <a:avLst/>
              <a:gdLst/>
              <a:ahLst/>
              <a:cxnLst/>
              <a:rect l="l" t="t" r="r" b="b"/>
              <a:pathLst>
                <a:path w="3662934" h="19050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987921" y="5535063"/>
            <a:ext cx="3268713" cy="14288"/>
            <a:chOff x="0" y="0"/>
            <a:chExt cx="4358284" cy="190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58259" cy="19050"/>
            </a:xfrm>
            <a:custGeom>
              <a:avLst/>
              <a:gdLst/>
              <a:ahLst/>
              <a:cxnLst/>
              <a:rect l="l" t="t" r="r" b="b"/>
              <a:pathLst>
                <a:path w="4358259" h="19050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256634" y="5535063"/>
            <a:ext cx="2987869" cy="14288"/>
            <a:chOff x="0" y="0"/>
            <a:chExt cx="3983825" cy="190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983863" cy="19050"/>
            </a:xfrm>
            <a:custGeom>
              <a:avLst/>
              <a:gdLst/>
              <a:ahLst/>
              <a:cxnLst/>
              <a:rect l="l" t="t" r="r" b="b"/>
              <a:pathLst>
                <a:path w="3983863" h="19050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3244512" y="5535063"/>
            <a:ext cx="4321969" cy="14288"/>
            <a:chOff x="0" y="0"/>
            <a:chExt cx="5762625" cy="190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762625" cy="19050"/>
            </a:xfrm>
            <a:custGeom>
              <a:avLst/>
              <a:gdLst/>
              <a:ahLst/>
              <a:cxnLst/>
              <a:rect l="l" t="t" r="r" b="b"/>
              <a:pathLst>
                <a:path w="5762625" h="19050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721519" y="6160818"/>
            <a:ext cx="3519192" cy="14288"/>
            <a:chOff x="0" y="0"/>
            <a:chExt cx="4692256" cy="190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692269" cy="19050"/>
            </a:xfrm>
            <a:custGeom>
              <a:avLst/>
              <a:gdLst/>
              <a:ahLst/>
              <a:cxnLst/>
              <a:rect l="l" t="t" r="r" b="b"/>
              <a:pathLst>
                <a:path w="4692269" h="19050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240711" y="6160818"/>
            <a:ext cx="2747220" cy="14288"/>
            <a:chOff x="0" y="0"/>
            <a:chExt cx="3662959" cy="190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662934" cy="19050"/>
            </a:xfrm>
            <a:custGeom>
              <a:avLst/>
              <a:gdLst/>
              <a:ahLst/>
              <a:cxnLst/>
              <a:rect l="l" t="t" r="r" b="b"/>
              <a:pathLst>
                <a:path w="3662934" h="19050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6987921" y="6160818"/>
            <a:ext cx="3268713" cy="14288"/>
            <a:chOff x="0" y="0"/>
            <a:chExt cx="4358284" cy="190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58259" cy="19050"/>
            </a:xfrm>
            <a:custGeom>
              <a:avLst/>
              <a:gdLst/>
              <a:ahLst/>
              <a:cxnLst/>
              <a:rect l="l" t="t" r="r" b="b"/>
              <a:pathLst>
                <a:path w="4358259" h="19050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0256634" y="6160818"/>
            <a:ext cx="2987869" cy="14288"/>
            <a:chOff x="0" y="0"/>
            <a:chExt cx="3983825" cy="190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983863" cy="19050"/>
            </a:xfrm>
            <a:custGeom>
              <a:avLst/>
              <a:gdLst/>
              <a:ahLst/>
              <a:cxnLst/>
              <a:rect l="l" t="t" r="r" b="b"/>
              <a:pathLst>
                <a:path w="3983863" h="19050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3244512" y="6160818"/>
            <a:ext cx="4321969" cy="14288"/>
            <a:chOff x="0" y="0"/>
            <a:chExt cx="5762625" cy="190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762625" cy="19050"/>
            </a:xfrm>
            <a:custGeom>
              <a:avLst/>
              <a:gdLst/>
              <a:ahLst/>
              <a:cxnLst/>
              <a:rect l="l" t="t" r="r" b="b"/>
              <a:pathLst>
                <a:path w="5762625" h="19050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721519" y="6759321"/>
            <a:ext cx="3519192" cy="14288"/>
            <a:chOff x="0" y="0"/>
            <a:chExt cx="4692256" cy="190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692269" cy="19050"/>
            </a:xfrm>
            <a:custGeom>
              <a:avLst/>
              <a:gdLst/>
              <a:ahLst/>
              <a:cxnLst/>
              <a:rect l="l" t="t" r="r" b="b"/>
              <a:pathLst>
                <a:path w="4692269" h="19050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4240711" y="6759321"/>
            <a:ext cx="2747220" cy="14288"/>
            <a:chOff x="0" y="0"/>
            <a:chExt cx="3662959" cy="1905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62934" cy="19050"/>
            </a:xfrm>
            <a:custGeom>
              <a:avLst/>
              <a:gdLst/>
              <a:ahLst/>
              <a:cxnLst/>
              <a:rect l="l" t="t" r="r" b="b"/>
              <a:pathLst>
                <a:path w="3662934" h="19050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6987921" y="6759321"/>
            <a:ext cx="3268713" cy="14288"/>
            <a:chOff x="0" y="0"/>
            <a:chExt cx="4358284" cy="1905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58259" cy="19050"/>
            </a:xfrm>
            <a:custGeom>
              <a:avLst/>
              <a:gdLst/>
              <a:ahLst/>
              <a:cxnLst/>
              <a:rect l="l" t="t" r="r" b="b"/>
              <a:pathLst>
                <a:path w="4358259" h="19050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0256634" y="6759321"/>
            <a:ext cx="2987869" cy="14288"/>
            <a:chOff x="0" y="0"/>
            <a:chExt cx="3983825" cy="1905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983863" cy="19050"/>
            </a:xfrm>
            <a:custGeom>
              <a:avLst/>
              <a:gdLst/>
              <a:ahLst/>
              <a:cxnLst/>
              <a:rect l="l" t="t" r="r" b="b"/>
              <a:pathLst>
                <a:path w="3983863" h="19050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3244512" y="6759321"/>
            <a:ext cx="4321969" cy="14288"/>
            <a:chOff x="0" y="0"/>
            <a:chExt cx="5762625" cy="1905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762625" cy="19050"/>
            </a:xfrm>
            <a:custGeom>
              <a:avLst/>
              <a:gdLst/>
              <a:ahLst/>
              <a:cxnLst/>
              <a:rect l="l" t="t" r="r" b="b"/>
              <a:pathLst>
                <a:path w="5762625" h="19050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721519" y="7357843"/>
            <a:ext cx="3519192" cy="14288"/>
            <a:chOff x="0" y="0"/>
            <a:chExt cx="4692256" cy="1905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692269" cy="19050"/>
            </a:xfrm>
            <a:custGeom>
              <a:avLst/>
              <a:gdLst/>
              <a:ahLst/>
              <a:cxnLst/>
              <a:rect l="l" t="t" r="r" b="b"/>
              <a:pathLst>
                <a:path w="4692269" h="19050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4240711" y="7357843"/>
            <a:ext cx="2747220" cy="14288"/>
            <a:chOff x="0" y="0"/>
            <a:chExt cx="3662959" cy="1905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662934" cy="19050"/>
            </a:xfrm>
            <a:custGeom>
              <a:avLst/>
              <a:gdLst/>
              <a:ahLst/>
              <a:cxnLst/>
              <a:rect l="l" t="t" r="r" b="b"/>
              <a:pathLst>
                <a:path w="3662934" h="19050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6987921" y="7357843"/>
            <a:ext cx="3268713" cy="14288"/>
            <a:chOff x="0" y="0"/>
            <a:chExt cx="4358284" cy="1905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358259" cy="19050"/>
            </a:xfrm>
            <a:custGeom>
              <a:avLst/>
              <a:gdLst/>
              <a:ahLst/>
              <a:cxnLst/>
              <a:rect l="l" t="t" r="r" b="b"/>
              <a:pathLst>
                <a:path w="4358259" h="19050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0256634" y="7357843"/>
            <a:ext cx="2987869" cy="14288"/>
            <a:chOff x="0" y="0"/>
            <a:chExt cx="3983825" cy="1905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983863" cy="19050"/>
            </a:xfrm>
            <a:custGeom>
              <a:avLst/>
              <a:gdLst/>
              <a:ahLst/>
              <a:cxnLst/>
              <a:rect l="l" t="t" r="r" b="b"/>
              <a:pathLst>
                <a:path w="3983863" h="19050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3244512" y="7357843"/>
            <a:ext cx="4321969" cy="14288"/>
            <a:chOff x="0" y="0"/>
            <a:chExt cx="5762625" cy="1905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762625" cy="19050"/>
            </a:xfrm>
            <a:custGeom>
              <a:avLst/>
              <a:gdLst/>
              <a:ahLst/>
              <a:cxnLst/>
              <a:rect l="l" t="t" r="r" b="b"/>
              <a:pathLst>
                <a:path w="5762625" h="19050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5614321" y="5158007"/>
            <a:ext cx="142875" cy="192881"/>
            <a:chOff x="0" y="0"/>
            <a:chExt cx="190500" cy="257175"/>
          </a:xfrm>
        </p:grpSpPr>
        <p:sp>
          <p:nvSpPr>
            <p:cNvPr id="61" name="Freeform 61" descr="image.png"/>
            <p:cNvSpPr/>
            <p:nvPr/>
          </p:nvSpPr>
          <p:spPr>
            <a:xfrm>
              <a:off x="0" y="0"/>
              <a:ext cx="190500" cy="257175"/>
            </a:xfrm>
            <a:custGeom>
              <a:avLst/>
              <a:gdLst/>
              <a:ahLst/>
              <a:cxnLst/>
              <a:rect l="l" t="t" r="r" b="b"/>
              <a:pathLst>
                <a:path w="190500" h="257175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503" b="-508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8251590" y="5143500"/>
            <a:ext cx="142875" cy="192881"/>
            <a:chOff x="0" y="0"/>
            <a:chExt cx="190500" cy="257175"/>
          </a:xfrm>
        </p:grpSpPr>
        <p:sp>
          <p:nvSpPr>
            <p:cNvPr id="63" name="Freeform 63" descr="image.png"/>
            <p:cNvSpPr/>
            <p:nvPr/>
          </p:nvSpPr>
          <p:spPr>
            <a:xfrm>
              <a:off x="0" y="0"/>
              <a:ext cx="190500" cy="257175"/>
            </a:xfrm>
            <a:custGeom>
              <a:avLst/>
              <a:gdLst/>
              <a:ahLst/>
              <a:cxnLst/>
              <a:rect l="l" t="t" r="r" b="b"/>
              <a:pathLst>
                <a:path w="190500" h="257175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03" b="-508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16005729" y="5143500"/>
            <a:ext cx="171450" cy="192881"/>
            <a:chOff x="0" y="0"/>
            <a:chExt cx="228600" cy="257175"/>
          </a:xfrm>
        </p:grpSpPr>
        <p:sp>
          <p:nvSpPr>
            <p:cNvPr id="65" name="Freeform 65" descr="image.png"/>
            <p:cNvSpPr/>
            <p:nvPr/>
          </p:nvSpPr>
          <p:spPr>
            <a:xfrm>
              <a:off x="0" y="0"/>
              <a:ext cx="228600" cy="257175"/>
            </a:xfrm>
            <a:custGeom>
              <a:avLst/>
              <a:gdLst/>
              <a:ahLst/>
              <a:cxnLst/>
              <a:rect l="l" t="t" r="r" b="b"/>
              <a:pathLst>
                <a:path w="228600" h="257175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283" b="-1279"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13244512" y="5730326"/>
            <a:ext cx="2286000" cy="297132"/>
            <a:chOff x="0" y="0"/>
            <a:chExt cx="3048000" cy="396176"/>
          </a:xfrm>
        </p:grpSpPr>
        <p:sp>
          <p:nvSpPr>
            <p:cNvPr id="67" name="Freeform 67" descr="image.png"/>
            <p:cNvSpPr/>
            <p:nvPr/>
          </p:nvSpPr>
          <p:spPr>
            <a:xfrm>
              <a:off x="0" y="0"/>
              <a:ext cx="3048000" cy="396240"/>
            </a:xfrm>
            <a:custGeom>
              <a:avLst/>
              <a:gdLst/>
              <a:ahLst/>
              <a:cxnLst/>
              <a:rect l="l" t="t" r="r" b="b"/>
              <a:pathLst>
                <a:path w="3048000" h="396240">
                  <a:moveTo>
                    <a:pt x="0" y="0"/>
                  </a:moveTo>
                  <a:lnTo>
                    <a:pt x="3048000" y="0"/>
                  </a:lnTo>
                  <a:lnTo>
                    <a:pt x="304800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564" b="-2548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5482357" y="6382274"/>
            <a:ext cx="142875" cy="192881"/>
            <a:chOff x="0" y="0"/>
            <a:chExt cx="190500" cy="257175"/>
          </a:xfrm>
        </p:grpSpPr>
        <p:sp>
          <p:nvSpPr>
            <p:cNvPr id="69" name="Freeform 69" descr="image.png"/>
            <p:cNvSpPr/>
            <p:nvPr/>
          </p:nvSpPr>
          <p:spPr>
            <a:xfrm>
              <a:off x="0" y="0"/>
              <a:ext cx="190500" cy="257175"/>
            </a:xfrm>
            <a:custGeom>
              <a:avLst/>
              <a:gdLst/>
              <a:ahLst/>
              <a:cxnLst/>
              <a:rect l="l" t="t" r="r" b="b"/>
              <a:pathLst>
                <a:path w="190500" h="257175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033" r="-3039"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8622278" y="6382274"/>
            <a:ext cx="142875" cy="192881"/>
            <a:chOff x="0" y="0"/>
            <a:chExt cx="190500" cy="257175"/>
          </a:xfrm>
        </p:grpSpPr>
        <p:sp>
          <p:nvSpPr>
            <p:cNvPr id="71" name="Freeform 71" descr="image.png"/>
            <p:cNvSpPr/>
            <p:nvPr/>
          </p:nvSpPr>
          <p:spPr>
            <a:xfrm>
              <a:off x="0" y="0"/>
              <a:ext cx="190500" cy="257175"/>
            </a:xfrm>
            <a:custGeom>
              <a:avLst/>
              <a:gdLst/>
              <a:ahLst/>
              <a:cxnLst/>
              <a:rect l="l" t="t" r="r" b="b"/>
              <a:pathLst>
                <a:path w="190500" h="257175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033" r="-3039"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11222831" y="6382274"/>
            <a:ext cx="142875" cy="192881"/>
            <a:chOff x="0" y="0"/>
            <a:chExt cx="190500" cy="257175"/>
          </a:xfrm>
        </p:grpSpPr>
        <p:sp>
          <p:nvSpPr>
            <p:cNvPr id="73" name="Freeform 73" descr="image.png"/>
            <p:cNvSpPr/>
            <p:nvPr/>
          </p:nvSpPr>
          <p:spPr>
            <a:xfrm>
              <a:off x="0" y="0"/>
              <a:ext cx="190500" cy="257175"/>
            </a:xfrm>
            <a:custGeom>
              <a:avLst/>
              <a:gdLst/>
              <a:ahLst/>
              <a:cxnLst/>
              <a:rect l="l" t="t" r="r" b="b"/>
              <a:pathLst>
                <a:path w="190500" h="257175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033" r="-3039"/>
              </a:stretch>
            </a:blipFill>
          </p:spPr>
        </p:sp>
      </p:grpSp>
      <p:grpSp>
        <p:nvGrpSpPr>
          <p:cNvPr id="74" name="Group 74"/>
          <p:cNvGrpSpPr/>
          <p:nvPr/>
        </p:nvGrpSpPr>
        <p:grpSpPr>
          <a:xfrm>
            <a:off x="16005729" y="6285045"/>
            <a:ext cx="171450" cy="192881"/>
            <a:chOff x="0" y="0"/>
            <a:chExt cx="228600" cy="257175"/>
          </a:xfrm>
        </p:grpSpPr>
        <p:sp>
          <p:nvSpPr>
            <p:cNvPr id="75" name="Freeform 75" descr="image.png"/>
            <p:cNvSpPr/>
            <p:nvPr/>
          </p:nvSpPr>
          <p:spPr>
            <a:xfrm>
              <a:off x="0" y="0"/>
              <a:ext cx="228600" cy="257175"/>
            </a:xfrm>
            <a:custGeom>
              <a:avLst/>
              <a:gdLst/>
              <a:ahLst/>
              <a:cxnLst/>
              <a:rect l="l" t="t" r="r" b="b"/>
              <a:pathLst>
                <a:path w="228600" h="257175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233" r="-2227"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16005729" y="6887908"/>
            <a:ext cx="171450" cy="192881"/>
            <a:chOff x="0" y="0"/>
            <a:chExt cx="228600" cy="257175"/>
          </a:xfrm>
        </p:grpSpPr>
        <p:sp>
          <p:nvSpPr>
            <p:cNvPr id="77" name="Freeform 77" descr="image.png"/>
            <p:cNvSpPr/>
            <p:nvPr/>
          </p:nvSpPr>
          <p:spPr>
            <a:xfrm>
              <a:off x="0" y="0"/>
              <a:ext cx="228600" cy="257175"/>
            </a:xfrm>
            <a:custGeom>
              <a:avLst/>
              <a:gdLst/>
              <a:ahLst/>
              <a:cxnLst/>
              <a:rect l="l" t="t" r="r" b="b"/>
              <a:pathLst>
                <a:path w="228600" h="257175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233" r="-2227"/>
              </a:stretch>
            </a:blipFill>
          </p:spPr>
        </p:sp>
      </p:grpSp>
      <p:sp>
        <p:nvSpPr>
          <p:cNvPr id="78" name="TextBox 78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09 — Comparison &amp;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3579019"/>
            <a:ext cx="8179594" cy="4536281"/>
            <a:chOff x="0" y="0"/>
            <a:chExt cx="10906125" cy="6048375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906125" cy="6048375"/>
            </a:xfrm>
            <a:custGeom>
              <a:avLst/>
              <a:gdLst/>
              <a:ahLst/>
              <a:cxnLst/>
              <a:rect l="l" t="t" r="r" b="b"/>
              <a:pathLst>
                <a:path w="10906125" h="6048375">
                  <a:moveTo>
                    <a:pt x="0" y="0"/>
                  </a:moveTo>
                  <a:lnTo>
                    <a:pt x="10906125" y="0"/>
                  </a:lnTo>
                  <a:lnTo>
                    <a:pt x="10906125" y="6048375"/>
                  </a:lnTo>
                  <a:lnTo>
                    <a:pt x="0" y="6048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5" b="-3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394031" y="3739753"/>
            <a:ext cx="8179594" cy="4214812"/>
            <a:chOff x="0" y="0"/>
            <a:chExt cx="10906125" cy="56197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0906125" cy="5619750"/>
            </a:xfrm>
            <a:custGeom>
              <a:avLst/>
              <a:gdLst/>
              <a:ahLst/>
              <a:cxnLst/>
              <a:rect l="l" t="t" r="r" b="b"/>
              <a:pathLst>
                <a:path w="10906125" h="5619750">
                  <a:moveTo>
                    <a:pt x="0" y="0"/>
                  </a:moveTo>
                  <a:lnTo>
                    <a:pt x="10906125" y="0"/>
                  </a:lnTo>
                  <a:lnTo>
                    <a:pt x="10906125" y="5619750"/>
                  </a:lnTo>
                  <a:lnTo>
                    <a:pt x="0" y="561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5" b="-12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14375" y="9644062"/>
            <a:ext cx="1600200" cy="214312"/>
            <a:chOff x="0" y="0"/>
            <a:chExt cx="2133600" cy="2857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33600" cy="285750"/>
            </a:xfrm>
            <a:custGeom>
              <a:avLst/>
              <a:gdLst/>
              <a:ahLst/>
              <a:cxnLst/>
              <a:rect l="l" t="t" r="r" b="b"/>
              <a:pathLst>
                <a:path w="2133600" h="285750">
                  <a:moveTo>
                    <a:pt x="0" y="0"/>
                  </a:moveTo>
                  <a:lnTo>
                    <a:pt x="2133600" y="0"/>
                  </a:lnTo>
                  <a:lnTo>
                    <a:pt x="21336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95488" b="-9548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1336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10 — CONCLUSION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079581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944975" y="9644062"/>
            <a:ext cx="62865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42988" y="3950494"/>
            <a:ext cx="628650" cy="628650"/>
            <a:chOff x="0" y="0"/>
            <a:chExt cx="838200" cy="8382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042988" y="4760119"/>
            <a:ext cx="7898482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Conclusion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722644" y="4111228"/>
            <a:ext cx="628650" cy="628650"/>
            <a:chOff x="0" y="0"/>
            <a:chExt cx="838200" cy="8382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9722644" y="4920853"/>
            <a:ext cx="7898482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Future Scope &amp; Enhancements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28725" y="4121944"/>
            <a:ext cx="257175" cy="285750"/>
            <a:chOff x="0" y="0"/>
            <a:chExt cx="342900" cy="3810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443038" y="5260181"/>
            <a:ext cx="7122319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Successfully engineered an Autonomous UAV Border Surveillance framework uniting OWT-A* energy physics with Bayesian Stackelberg Security Games (SSE).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43038" y="6338887"/>
            <a:ext cx="7122319" cy="69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SMRS relay-handoff eliminated coverage blackouts during UAV battery depletion.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43038" y="7096125"/>
            <a:ext cx="7122319" cy="69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Achieved 69% area coverage and 18 threat interceptions, outperforming standard ACO and Greedy models.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894094" y="4282678"/>
            <a:ext cx="285750" cy="285750"/>
            <a:chOff x="0" y="0"/>
            <a:chExt cx="381000" cy="3810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10122694" y="5420916"/>
            <a:ext cx="7122319" cy="61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Dynamic Micro-Weather: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Upgrading static wind vectors to live dynamic micro-weather &amp; turbulence models on VIsualization.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22694" y="6178153"/>
            <a:ext cx="7122319" cy="926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Improve Adaptive Learning: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Enable the UAV to adapt its game-theoretic strategy based on changing threats and environmental conditions.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10726" y="7056930"/>
            <a:ext cx="7122319" cy="69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Swarm Deployment: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Expanding SMRS to multi-UAV live swarm field deployment and hardware testing.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4375" y="1738312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10 — Conclusion &amp;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042988" y="5336381"/>
            <a:ext cx="228600" cy="228600"/>
            <a:chOff x="0" y="0"/>
            <a:chExt cx="304800" cy="304800"/>
          </a:xfrm>
        </p:grpSpPr>
        <p:sp>
          <p:nvSpPr>
            <p:cNvPr id="39" name="Freeform 39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042988" y="6415088"/>
            <a:ext cx="228600" cy="228600"/>
            <a:chOff x="0" y="0"/>
            <a:chExt cx="304800" cy="304800"/>
          </a:xfrm>
        </p:grpSpPr>
        <p:sp>
          <p:nvSpPr>
            <p:cNvPr id="41" name="Freeform 41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042988" y="7172325"/>
            <a:ext cx="228600" cy="228600"/>
            <a:chOff x="0" y="0"/>
            <a:chExt cx="304800" cy="304800"/>
          </a:xfrm>
        </p:grpSpPr>
        <p:sp>
          <p:nvSpPr>
            <p:cNvPr id="43" name="Freeform 43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9722644" y="5497116"/>
            <a:ext cx="228600" cy="228600"/>
            <a:chOff x="0" y="0"/>
            <a:chExt cx="304800" cy="304800"/>
          </a:xfrm>
        </p:grpSpPr>
        <p:sp>
          <p:nvSpPr>
            <p:cNvPr id="45" name="Freeform 45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9722644" y="6254353"/>
            <a:ext cx="228600" cy="228600"/>
            <a:chOff x="0" y="0"/>
            <a:chExt cx="304800" cy="304800"/>
          </a:xfrm>
        </p:grpSpPr>
        <p:sp>
          <p:nvSpPr>
            <p:cNvPr id="47" name="Freeform 47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9722644" y="7172325"/>
            <a:ext cx="228600" cy="228600"/>
            <a:chOff x="0" y="0"/>
            <a:chExt cx="304800" cy="304800"/>
          </a:xfrm>
        </p:grpSpPr>
        <p:sp>
          <p:nvSpPr>
            <p:cNvPr id="49" name="Freeform 49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683"/>
            <a:ext cx="18288000" cy="10287000"/>
            <a:chOff x="0" y="-3048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-3048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14375" y="9644062"/>
            <a:ext cx="1500188" cy="214312"/>
            <a:chOff x="0" y="0"/>
            <a:chExt cx="2000250" cy="2857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00250" cy="285750"/>
            </a:xfrm>
            <a:custGeom>
              <a:avLst/>
              <a:gdLst/>
              <a:ahLst/>
              <a:cxnLst/>
              <a:rect l="l" t="t" r="r" b="b"/>
              <a:pathLst>
                <a:path w="2000250" h="285750">
                  <a:moveTo>
                    <a:pt x="0" y="0"/>
                  </a:moveTo>
                  <a:lnTo>
                    <a:pt x="2000250" y="0"/>
                  </a:lnTo>
                  <a:lnTo>
                    <a:pt x="20002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0002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11 — REFERENCES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022431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930688" y="9644062"/>
            <a:ext cx="64293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57250" y="3483582"/>
            <a:ext cx="16573500" cy="29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[1] Di Franco, C., &amp;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Buttazzo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G. (2015). Energy-aware coverage path planning of UAVs.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IEEE International Conference on Robotics and Automation (ICRA)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7157-7162.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7250" y="3966533"/>
            <a:ext cx="16573500" cy="29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[2] Aggarwal, S., &amp; Kumar, N. (2020). Path planning techniques for unmanned aerial vehicles: A review, solutions, and challenges.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Computer Communications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149, 270-299.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7250" y="4460852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[3] Farr, T. G., et al. (2007). The shuttle radar topography mission (SRTM).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Reviews of Geophysics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45(2), RG2004</a:t>
            </a:r>
            <a:r>
              <a:rPr lang="en-US" sz="1405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.(SRTM)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57250" y="4914487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[4]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Lian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F., et al. (2024). WA-LPA*: An Energy-Aware Path-Planning Algorithm for UAVs in Dynamic Wind Environments.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Drones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9(12), 850</a:t>
            </a:r>
            <a:r>
              <a:rPr lang="en-US" sz="1405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.(OWT)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57250" y="5368122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[5]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Basilico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N.,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Gatti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N., &amp;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Amigoni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F. (2009). Leader-follower strategies for robotic patrolling in environments with arbitrary topologies.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IEEE Transactions on Robotics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25(6), 1317-1331</a:t>
            </a:r>
            <a:r>
              <a:rPr lang="en-US" sz="1405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.(SSE)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57250" y="5821757"/>
            <a:ext cx="16573500" cy="245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[6] Yang, R.,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Kiekintveld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C.,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Ordóñez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F.,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Tambe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M., &amp; John, R. (2011). Improving resource allocation strategy against human adversaries in security games.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IJCAI Proceedings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22(1), 458-464</a:t>
            </a:r>
            <a:r>
              <a:rPr lang="en-US" sz="1405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.(</a:t>
            </a:r>
            <a:r>
              <a:rPr lang="en-US" sz="1600" dirty="0"/>
              <a:t>(SUQR)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11 — Key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  <p:sp>
        <p:nvSpPr>
          <p:cNvPr id="25" name="TextBox 15"/>
          <p:cNvSpPr txBox="1"/>
          <p:nvPr/>
        </p:nvSpPr>
        <p:spPr>
          <a:xfrm>
            <a:off x="857250" y="6264300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600" dirty="0" smtClean="0"/>
              <a:t>[7] </a:t>
            </a:r>
            <a:r>
              <a:rPr lang="en-US" sz="1600" dirty="0"/>
              <a:t>Ref: </a:t>
            </a:r>
            <a:r>
              <a:rPr lang="en-US" sz="1600" dirty="0" err="1"/>
              <a:t>Valavanis</a:t>
            </a:r>
            <a:r>
              <a:rPr lang="en-US" sz="1600" dirty="0"/>
              <a:t>, K. P., &amp; </a:t>
            </a:r>
            <a:r>
              <a:rPr lang="en-US" sz="1600" dirty="0" err="1"/>
              <a:t>Vachtsevanos</a:t>
            </a:r>
            <a:r>
              <a:rPr lang="en-US" sz="1600" dirty="0"/>
              <a:t>, G. J. (2015). Handbook of Unmanned Aerial Vehicles (Vol. 1). Springer Publishing Company, Incorporated. (Chapter: UAV Simulation and Visualization). (GUI)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TextBox 15"/>
          <p:cNvSpPr txBox="1"/>
          <p:nvPr/>
        </p:nvSpPr>
        <p:spPr>
          <a:xfrm>
            <a:off x="857250" y="6719658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600" dirty="0" smtClean="0"/>
              <a:t>[8] </a:t>
            </a:r>
            <a:r>
              <a:rPr lang="en-US" sz="1600" dirty="0"/>
              <a:t>Border Patrol Using Multiple Unmanned Aerial Vehicles Based on </a:t>
            </a:r>
            <a:r>
              <a:rPr lang="en-US" sz="1600" dirty="0" err="1"/>
              <a:t>Stackelberg</a:t>
            </a:r>
            <a:r>
              <a:rPr lang="en-US" sz="1600" dirty="0"/>
              <a:t> Security Game (2023)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TextBox 15"/>
          <p:cNvSpPr txBox="1"/>
          <p:nvPr/>
        </p:nvSpPr>
        <p:spPr>
          <a:xfrm>
            <a:off x="857250" y="7171031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600" dirty="0" smtClean="0"/>
              <a:t>[9] </a:t>
            </a:r>
            <a:r>
              <a:rPr lang="en-US" sz="1600" dirty="0"/>
              <a:t>Energy-Efficient Internet of Drones Path-Planning Study Using Meta-Heuristic Algorithms (2024)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714625" y="3954513"/>
            <a:ext cx="12858750" cy="3785292"/>
            <a:chOff x="0" y="0"/>
            <a:chExt cx="17145000" cy="5047056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7145000" cy="5047107"/>
            </a:xfrm>
            <a:custGeom>
              <a:avLst/>
              <a:gdLst/>
              <a:ahLst/>
              <a:cxnLst/>
              <a:rect l="l" t="t" r="r" b="b"/>
              <a:pathLst>
                <a:path w="17145000" h="5047107">
                  <a:moveTo>
                    <a:pt x="0" y="0"/>
                  </a:moveTo>
                  <a:lnTo>
                    <a:pt x="17145000" y="0"/>
                  </a:lnTo>
                  <a:lnTo>
                    <a:pt x="17145000" y="5047107"/>
                  </a:lnTo>
                  <a:lnTo>
                    <a:pt x="0" y="5047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369" r="-6369" b="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644062"/>
            <a:ext cx="2286000" cy="214312"/>
            <a:chOff x="0" y="0"/>
            <a:chExt cx="3048000" cy="2857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48000" cy="285750"/>
            </a:xfrm>
            <a:custGeom>
              <a:avLst/>
              <a:gdLst/>
              <a:ahLst/>
              <a:cxnLst/>
              <a:rect l="l" t="t" r="r" b="b"/>
              <a:pathLst>
                <a:path w="3048000" h="285750">
                  <a:moveTo>
                    <a:pt x="0" y="0"/>
                  </a:moveTo>
                  <a:lnTo>
                    <a:pt x="3048000" y="0"/>
                  </a:lnTo>
                  <a:lnTo>
                    <a:pt x="30480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0480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12 — ACKNOWLEDGEMENT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415338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30688" y="9644062"/>
            <a:ext cx="64293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14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8915400" y="4454576"/>
            <a:ext cx="457200" cy="514350"/>
            <a:chOff x="0" y="0"/>
            <a:chExt cx="609600" cy="6858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388" b="-1388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3157538" y="5097513"/>
            <a:ext cx="11972925" cy="1114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8"/>
              </a:lnSpc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express our deepest gratitude to our honourable supervisor </a:t>
            </a:r>
            <a:r>
              <a:rPr lang="en-US" sz="1800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Shebika Rani</a:t>
            </a: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Lecturer, Department of Computer Science &amp; Engineering, Uttara University, for her invaluable guidance, constant encouragement, and constructive feedback throughout this thesis.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57538" y="6558115"/>
            <a:ext cx="11972925" cy="64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</a:pPr>
            <a:r>
              <a:rPr lang="en-US" sz="163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also extend our sincere appreciation to the Department of CSE, Uttara University, faculty members, lab staff, and our peers and families for their unwavering support.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12 —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Acknowledgement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40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659100" y="564356"/>
            <a:ext cx="1914525" cy="414338"/>
            <a:chOff x="0" y="0"/>
            <a:chExt cx="2552700" cy="5524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552700" cy="552450"/>
            </a:xfrm>
            <a:custGeom>
              <a:avLst/>
              <a:gdLst/>
              <a:ahLst/>
              <a:cxnLst/>
              <a:rect l="l" t="t" r="r" b="b"/>
              <a:pathLst>
                <a:path w="2552700" h="552450">
                  <a:moveTo>
                    <a:pt x="0" y="0"/>
                  </a:moveTo>
                  <a:lnTo>
                    <a:pt x="2552700" y="0"/>
                  </a:lnTo>
                  <a:lnTo>
                    <a:pt x="25527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724" b="-172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122069" y="6229350"/>
            <a:ext cx="8043862" cy="700088"/>
            <a:chOff x="0" y="0"/>
            <a:chExt cx="10725150" cy="9334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725150" cy="933450"/>
            </a:xfrm>
            <a:custGeom>
              <a:avLst/>
              <a:gdLst/>
              <a:ahLst/>
              <a:cxnLst/>
              <a:rect l="l" t="t" r="r" b="b"/>
              <a:pathLst>
                <a:path w="10725150" h="933450">
                  <a:moveTo>
                    <a:pt x="0" y="0"/>
                  </a:moveTo>
                  <a:lnTo>
                    <a:pt x="10725150" y="0"/>
                  </a:lnTo>
                  <a:lnTo>
                    <a:pt x="10725150" y="933450"/>
                  </a:lnTo>
                  <a:lnTo>
                    <a:pt x="0" y="933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8" r="-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587788" y="9558338"/>
            <a:ext cx="985838" cy="300038"/>
            <a:chOff x="0" y="0"/>
            <a:chExt cx="1314450" cy="4000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401175"/>
            <a:ext cx="16859250" cy="457200"/>
            <a:chOff x="0" y="0"/>
            <a:chExt cx="22479000" cy="6096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2479000" cy="609600"/>
            </a:xfrm>
            <a:custGeom>
              <a:avLst/>
              <a:gdLst/>
              <a:ahLst/>
              <a:cxnLst/>
              <a:rect l="l" t="t" r="r" b="b"/>
              <a:pathLst>
                <a:path w="22479000" h="609600">
                  <a:moveTo>
                    <a:pt x="0" y="0"/>
                  </a:moveTo>
                  <a:lnTo>
                    <a:pt x="22479000" y="0"/>
                  </a:lnTo>
                  <a:lnTo>
                    <a:pt x="22479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308646" y="3676650"/>
            <a:ext cx="5670709" cy="14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36656" y="5305425"/>
            <a:ext cx="321468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7DD3FC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 &amp; Discussion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375" y="9601200"/>
            <a:ext cx="248602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 dirty="0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43825" y="9601200"/>
            <a:ext cx="430053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Continuous Autonomous Border Surveillance System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1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1739</Words>
  <Application>Microsoft Office PowerPoint</Application>
  <PresentationFormat>Custom</PresentationFormat>
  <Paragraphs>224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Inter Italics</vt:lpstr>
      <vt:lpstr>Inter Bold</vt:lpstr>
      <vt:lpstr>Poppins</vt:lpstr>
      <vt:lpstr>Inter</vt:lpstr>
      <vt:lpstr>Calibri</vt:lpstr>
      <vt:lpstr>Inter Medium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Border Surveillance Thesis Defense.pptx</dc:title>
  <dc:creator>LAB5220-PC27</dc:creator>
  <cp:lastModifiedBy>Student</cp:lastModifiedBy>
  <cp:revision>5</cp:revision>
  <dcterms:created xsi:type="dcterms:W3CDTF">2006-08-16T00:00:00Z</dcterms:created>
  <dcterms:modified xsi:type="dcterms:W3CDTF">2026-07-22T05:41:49Z</dcterms:modified>
  <dc:identifier>DAHQCf1szVI</dc:identifier>
</cp:coreProperties>
</file>