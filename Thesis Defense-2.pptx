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Inter" charset="1" panose="02000503000000020004"/>
      <p:regular r:id="rId22"/>
    </p:embeddedFont>
    <p:embeddedFont>
      <p:font typeface="Inter Medium" charset="1" panose="02000503000000020004"/>
      <p:regular r:id="rId23"/>
    </p:embeddedFont>
    <p:embeddedFont>
      <p:font typeface="Inter Bold" charset="1" panose="02000503000000020004"/>
      <p:regular r:id="rId24"/>
    </p:embeddedFont>
    <p:embeddedFont>
      <p:font typeface="Poppins" charset="1" panose="00000500000000000000"/>
      <p:regular r:id="rId25"/>
    </p:embeddedFont>
    <p:embeddedFont>
      <p:font typeface="Inter Italics" charset="1" panose="0200050300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18" Target="../media/image23.png" Type="http://schemas.openxmlformats.org/officeDocument/2006/relationships/image"/><Relationship Id="rId19" Target="../media/image24.png" Type="http://schemas.openxmlformats.org/officeDocument/2006/relationships/image"/><Relationship Id="rId2" Target="../media/image7.png" Type="http://schemas.openxmlformats.org/officeDocument/2006/relationships/image"/><Relationship Id="rId20" Target="../media/image25.png" Type="http://schemas.openxmlformats.org/officeDocument/2006/relationships/image"/><Relationship Id="rId21" Target="../media/image26.jpeg" Type="http://schemas.openxmlformats.org/officeDocument/2006/relationships/image"/><Relationship Id="rId22" Target="../media/image27.png" Type="http://schemas.openxmlformats.org/officeDocument/2006/relationships/image"/><Relationship Id="rId23" Target="../media/image28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25.png" Type="http://schemas.openxmlformats.org/officeDocument/2006/relationships/image"/><Relationship Id="rId6" Target="../media/image26.jpeg" Type="http://schemas.openxmlformats.org/officeDocument/2006/relationships/image"/><Relationship Id="rId7" Target="../media/image27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2" Target="../media/image7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25.png" Type="http://schemas.openxmlformats.org/officeDocument/2006/relationships/image"/><Relationship Id="rId8" Target="../media/image26.jpe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7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25.png" Type="http://schemas.openxmlformats.org/officeDocument/2006/relationships/image"/><Relationship Id="rId9" Target="../media/image2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48.png" Type="http://schemas.openxmlformats.org/officeDocument/2006/relationships/image"/><Relationship Id="rId4" Target="../media/image25.png" Type="http://schemas.openxmlformats.org/officeDocument/2006/relationships/image"/><Relationship Id="rId5" Target="../media/image26.jpe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15" Target="../media/image58.png" Type="http://schemas.openxmlformats.org/officeDocument/2006/relationships/image"/><Relationship Id="rId16" Target="../media/image59.png" Type="http://schemas.openxmlformats.org/officeDocument/2006/relationships/image"/><Relationship Id="rId17" Target="../media/image60.png" Type="http://schemas.openxmlformats.org/officeDocument/2006/relationships/image"/><Relationship Id="rId18" Target="../media/image61.png" Type="http://schemas.openxmlformats.org/officeDocument/2006/relationships/image"/><Relationship Id="rId19" Target="../media/image62.png" Type="http://schemas.openxmlformats.org/officeDocument/2006/relationships/image"/><Relationship Id="rId2" Target="../media/image7.png" Type="http://schemas.openxmlformats.org/officeDocument/2006/relationships/image"/><Relationship Id="rId20" Target="../media/image63.png" Type="http://schemas.openxmlformats.org/officeDocument/2006/relationships/image"/><Relationship Id="rId3" Target="../media/image49.pn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png" Type="http://schemas.openxmlformats.org/officeDocument/2006/relationships/image"/><Relationship Id="rId8" Target="../media/image25.png" Type="http://schemas.openxmlformats.org/officeDocument/2006/relationships/image"/><Relationship Id="rId9" Target="../media/image2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69.png" Type="http://schemas.openxmlformats.org/officeDocument/2006/relationships/image"/><Relationship Id="rId12" Target="../media/image70.png" Type="http://schemas.openxmlformats.org/officeDocument/2006/relationships/image"/><Relationship Id="rId13" Target="../media/image71.png" Type="http://schemas.openxmlformats.org/officeDocument/2006/relationships/image"/><Relationship Id="rId14" Target="../media/image72.png" Type="http://schemas.openxmlformats.org/officeDocument/2006/relationships/image"/><Relationship Id="rId15" Target="../media/image73.png" Type="http://schemas.openxmlformats.org/officeDocument/2006/relationships/image"/><Relationship Id="rId2" Target="../media/image7.png" Type="http://schemas.openxmlformats.org/officeDocument/2006/relationships/image"/><Relationship Id="rId3" Target="../media/image64.png" Type="http://schemas.openxmlformats.org/officeDocument/2006/relationships/image"/><Relationship Id="rId4" Target="../media/image65.png" Type="http://schemas.openxmlformats.org/officeDocument/2006/relationships/image"/><Relationship Id="rId5" Target="../media/image66.png" Type="http://schemas.openxmlformats.org/officeDocument/2006/relationships/image"/><Relationship Id="rId6" Target="../media/image67.png" Type="http://schemas.openxmlformats.org/officeDocument/2006/relationships/image"/><Relationship Id="rId7" Target="../media/image68.png" Type="http://schemas.openxmlformats.org/officeDocument/2006/relationships/image"/><Relationship Id="rId8" Target="../media/image25.png" Type="http://schemas.openxmlformats.org/officeDocument/2006/relationships/image"/><Relationship Id="rId9" Target="../media/image2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79.png" Type="http://schemas.openxmlformats.org/officeDocument/2006/relationships/image"/><Relationship Id="rId12" Target="../media/image32.png" Type="http://schemas.openxmlformats.org/officeDocument/2006/relationships/image"/><Relationship Id="rId2" Target="../media/image7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25.png" Type="http://schemas.openxmlformats.org/officeDocument/2006/relationships/image"/><Relationship Id="rId7" Target="../media/image26.jpeg" Type="http://schemas.openxmlformats.org/officeDocument/2006/relationships/image"/><Relationship Id="rId8" Target="../media/image27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7.png" Type="http://schemas.openxmlformats.org/officeDocument/2006/relationships/image"/><Relationship Id="rId3" Target="../media/image80.pn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84.png" Type="http://schemas.openxmlformats.org/officeDocument/2006/relationships/image"/><Relationship Id="rId8" Target="../media/image25.png" Type="http://schemas.openxmlformats.org/officeDocument/2006/relationships/image"/><Relationship Id="rId9" Target="../media/image2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png" Type="http://schemas.openxmlformats.org/officeDocument/2006/relationships/image"/><Relationship Id="rId12" Target="../media/image91.png" Type="http://schemas.openxmlformats.org/officeDocument/2006/relationships/image"/><Relationship Id="rId13" Target="../media/image92.png" Type="http://schemas.openxmlformats.org/officeDocument/2006/relationships/image"/><Relationship Id="rId14" Target="../media/image93.png" Type="http://schemas.openxmlformats.org/officeDocument/2006/relationships/image"/><Relationship Id="rId2" Target="../media/image7.png" Type="http://schemas.openxmlformats.org/officeDocument/2006/relationships/image"/><Relationship Id="rId3" Target="../media/image85.png" Type="http://schemas.openxmlformats.org/officeDocument/2006/relationships/image"/><Relationship Id="rId4" Target="../media/image25.png" Type="http://schemas.openxmlformats.org/officeDocument/2006/relationships/image"/><Relationship Id="rId5" Target="../media/image26.jpeg" Type="http://schemas.openxmlformats.org/officeDocument/2006/relationships/image"/><Relationship Id="rId6" Target="../media/image27.png" Type="http://schemas.openxmlformats.org/officeDocument/2006/relationships/image"/><Relationship Id="rId7" Target="../media/image86.png" Type="http://schemas.openxmlformats.org/officeDocument/2006/relationships/image"/><Relationship Id="rId8" Target="../media/image87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8.png" Type="http://schemas.openxmlformats.org/officeDocument/2006/relationships/image"/><Relationship Id="rId11" Target="../media/image99.png" Type="http://schemas.openxmlformats.org/officeDocument/2006/relationships/image"/><Relationship Id="rId12" Target="../media/image100.png" Type="http://schemas.openxmlformats.org/officeDocument/2006/relationships/image"/><Relationship Id="rId13" Target="../media/image32.png" Type="http://schemas.openxmlformats.org/officeDocument/2006/relationships/image"/><Relationship Id="rId2" Target="../media/image7.png" Type="http://schemas.openxmlformats.org/officeDocument/2006/relationships/image"/><Relationship Id="rId3" Target="../media/image94.png" Type="http://schemas.openxmlformats.org/officeDocument/2006/relationships/image"/><Relationship Id="rId4" Target="../media/image95.png" Type="http://schemas.openxmlformats.org/officeDocument/2006/relationships/image"/><Relationship Id="rId5" Target="../media/image96.png" Type="http://schemas.openxmlformats.org/officeDocument/2006/relationships/image"/><Relationship Id="rId6" Target="../media/image25.png" Type="http://schemas.openxmlformats.org/officeDocument/2006/relationships/image"/><Relationship Id="rId7" Target="../media/image26.jpeg" Type="http://schemas.openxmlformats.org/officeDocument/2006/relationships/image"/><Relationship Id="rId8" Target="../media/image27.png" Type="http://schemas.openxmlformats.org/officeDocument/2006/relationships/image"/><Relationship Id="rId9" Target="../media/image9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1.png" Type="http://schemas.openxmlformats.org/officeDocument/2006/relationships/image"/><Relationship Id="rId4" Target="../media/image25.png" Type="http://schemas.openxmlformats.org/officeDocument/2006/relationships/image"/><Relationship Id="rId5" Target="../media/image26.jpe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02.png" Type="http://schemas.openxmlformats.org/officeDocument/2006/relationships/image"/><Relationship Id="rId4" Target="../media/image103.png" Type="http://schemas.openxmlformats.org/officeDocument/2006/relationships/image"/><Relationship Id="rId5" Target="../media/image25.png" Type="http://schemas.openxmlformats.org/officeDocument/2006/relationships/image"/><Relationship Id="rId6" Target="../media/image26.jpeg" Type="http://schemas.openxmlformats.org/officeDocument/2006/relationships/image"/><Relationship Id="rId7" Target="../media/image27.png" Type="http://schemas.openxmlformats.org/officeDocument/2006/relationships/image"/><Relationship Id="rId8" Target="../media/image10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5.png" Type="http://schemas.openxmlformats.org/officeDocument/2006/relationships/image"/><Relationship Id="rId4" Target="../media/image106.png" Type="http://schemas.openxmlformats.org/officeDocument/2006/relationships/image"/><Relationship Id="rId5" Target="../media/image107.png" Type="http://schemas.openxmlformats.org/officeDocument/2006/relationships/image"/><Relationship Id="rId6" Target="../media/image108.png" Type="http://schemas.openxmlformats.org/officeDocument/2006/relationships/image"/><Relationship Id="rId7" Target="../media/image10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59075" y="564356"/>
            <a:ext cx="2114550" cy="414338"/>
            <a:chOff x="0" y="0"/>
            <a:chExt cx="2819400" cy="5524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819400" cy="552450"/>
            </a:xfrm>
            <a:custGeom>
              <a:avLst/>
              <a:gdLst/>
              <a:ahLst/>
              <a:cxnLst/>
              <a:rect r="r" b="b" t="t" l="l"/>
              <a:pathLst>
                <a:path h="552450" w="2819400">
                  <a:moveTo>
                    <a:pt x="0" y="0"/>
                  </a:moveTo>
                  <a:lnTo>
                    <a:pt x="2819400" y="0"/>
                  </a:lnTo>
                  <a:lnTo>
                    <a:pt x="28194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24" r="0" b="-172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5206898"/>
            <a:ext cx="15001875" cy="1971675"/>
            <a:chOff x="0" y="0"/>
            <a:chExt cx="20002500" cy="26289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0002500" cy="2628900"/>
            </a:xfrm>
            <a:custGeom>
              <a:avLst/>
              <a:gdLst/>
              <a:ahLst/>
              <a:cxnLst/>
              <a:rect r="r" b="b" t="t" l="l"/>
              <a:pathLst>
                <a:path h="2628900" w="20002500">
                  <a:moveTo>
                    <a:pt x="0" y="0"/>
                  </a:moveTo>
                  <a:lnTo>
                    <a:pt x="20002500" y="0"/>
                  </a:lnTo>
                  <a:lnTo>
                    <a:pt x="20002500" y="2628900"/>
                  </a:lnTo>
                  <a:lnTo>
                    <a:pt x="0" y="2628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2" r="0" b="-36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587788" y="9558118"/>
            <a:ext cx="985838" cy="300038"/>
            <a:chOff x="0" y="0"/>
            <a:chExt cx="1314450" cy="400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380" r="0" b="-238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9400956"/>
            <a:ext cx="16859250" cy="457200"/>
            <a:chOff x="0" y="0"/>
            <a:chExt cx="22479000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47900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562" r="0" b="-156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14375" y="3446335"/>
            <a:ext cx="15001875" cy="65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8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AUTONOMOUS BORDER SURVEILLANCE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4375" y="4348829"/>
            <a:ext cx="15001875" cy="358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800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An Energy Efficiency Drone Simulation Path Planning Using Heuristic Optimization &amp; Game Theory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4375" y="9600981"/>
            <a:ext cx="257175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Dept. of CSE · Uttara University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58312" y="9600981"/>
            <a:ext cx="11572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Session: 2026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 · Excellence in Higher Education and Research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5850" y="5497411"/>
            <a:ext cx="718589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93C5FD"/>
                </a:solidFill>
                <a:latin typeface="Inter Bold"/>
                <a:ea typeface="Inter Bold"/>
                <a:cs typeface="Inter Bold"/>
                <a:sym typeface="Inter Bold"/>
              </a:rPr>
              <a:t>PRESENTED BY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5850" y="5821261"/>
            <a:ext cx="6843712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Mahmudul Hasan Khan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5850" y="6092723"/>
            <a:ext cx="68437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ID: 2223081070 · B.Sc. in CSE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5850" y="6392761"/>
            <a:ext cx="6843712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Arif Khan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5850" y="6664223"/>
            <a:ext cx="68437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ID: 2223081071 · B.Sc. in CSE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01062" y="5497411"/>
            <a:ext cx="718589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5"/>
              </a:lnSpc>
            </a:pPr>
            <a:r>
              <a:rPr lang="en-US" sz="1237" b="true">
                <a:solidFill>
                  <a:srgbClr val="93C5FD"/>
                </a:solidFill>
                <a:latin typeface="Inter Bold"/>
                <a:ea typeface="Inter Bold"/>
                <a:cs typeface="Inter Bold"/>
                <a:sym typeface="Inter Bold"/>
              </a:rPr>
              <a:t>SUPERVISED BY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01062" y="5821261"/>
            <a:ext cx="6843712" cy="27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Shebika Rani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01062" y="6092723"/>
            <a:ext cx="68437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Lecturer, Department of CSE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501062" y="6307036"/>
            <a:ext cx="68437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Uttara University, Dhaka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4279106"/>
            <a:ext cx="3200400" cy="1460897"/>
            <a:chOff x="0" y="0"/>
            <a:chExt cx="4267200" cy="1947862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7" r="0" b="-36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29088" y="4279106"/>
            <a:ext cx="3200400" cy="1460897"/>
            <a:chOff x="0" y="0"/>
            <a:chExt cx="4267200" cy="194786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67" r="0" b="-3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3800" y="4279106"/>
            <a:ext cx="3200400" cy="1460897"/>
            <a:chOff x="0" y="0"/>
            <a:chExt cx="4267200" cy="1947862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67" r="0" b="-3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58512" y="4279106"/>
            <a:ext cx="3200400" cy="1460897"/>
            <a:chOff x="0" y="0"/>
            <a:chExt cx="4267200" cy="1947862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67" r="0" b="-36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373225" y="4279106"/>
            <a:ext cx="3200400" cy="1460897"/>
            <a:chOff x="0" y="0"/>
            <a:chExt cx="4267200" cy="1947862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7" r="0" b="-36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4375" y="5954316"/>
            <a:ext cx="3200400" cy="1460897"/>
            <a:chOff x="0" y="0"/>
            <a:chExt cx="4267200" cy="1947862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67" r="0" b="-36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129088" y="5954316"/>
            <a:ext cx="3200400" cy="1460897"/>
            <a:chOff x="0" y="0"/>
            <a:chExt cx="4267200" cy="1947862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67" r="0" b="-369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543800" y="5954316"/>
            <a:ext cx="3200400" cy="1460897"/>
            <a:chOff x="0" y="0"/>
            <a:chExt cx="4267200" cy="1947862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367" r="0" b="-36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58512" y="5954316"/>
            <a:ext cx="3200400" cy="1460897"/>
            <a:chOff x="0" y="0"/>
            <a:chExt cx="4267200" cy="1947862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67" r="0" b="-369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373225" y="5954316"/>
            <a:ext cx="3200400" cy="1460897"/>
            <a:chOff x="0" y="0"/>
            <a:chExt cx="4267200" cy="1947862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267200" cy="1947799"/>
            </a:xfrm>
            <a:custGeom>
              <a:avLst/>
              <a:gdLst/>
              <a:ahLst/>
              <a:cxnLst/>
              <a:rect r="r" b="b" t="t" l="l"/>
              <a:pathLst>
                <a:path h="1947799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947799"/>
                  </a:lnTo>
                  <a:lnTo>
                    <a:pt x="0" y="1947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67" r="0" b="-3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000250" y="4521994"/>
            <a:ext cx="628650" cy="628650"/>
            <a:chOff x="0" y="0"/>
            <a:chExt cx="838200" cy="8382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36" r="0" b="-113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414962" y="4521994"/>
            <a:ext cx="628650" cy="628650"/>
            <a:chOff x="0" y="0"/>
            <a:chExt cx="838200" cy="8382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136" r="0" b="-1136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829675" y="4521994"/>
            <a:ext cx="628650" cy="628650"/>
            <a:chOff x="0" y="0"/>
            <a:chExt cx="838200" cy="8382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136" r="0" b="-1136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244388" y="4521994"/>
            <a:ext cx="628650" cy="628650"/>
            <a:chOff x="0" y="0"/>
            <a:chExt cx="838200" cy="8382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136" r="0" b="-1136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659100" y="4521994"/>
            <a:ext cx="628650" cy="628650"/>
            <a:chOff x="0" y="0"/>
            <a:chExt cx="838200" cy="8382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136" r="0" b="-113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2000250" y="6197203"/>
            <a:ext cx="628650" cy="628650"/>
            <a:chOff x="0" y="0"/>
            <a:chExt cx="838200" cy="838200"/>
          </a:xfrm>
        </p:grpSpPr>
        <p:sp>
          <p:nvSpPr>
            <p:cNvPr name="Freeform 37" id="37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136" r="0" b="-113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414962" y="6197203"/>
            <a:ext cx="628650" cy="628650"/>
            <a:chOff x="0" y="0"/>
            <a:chExt cx="838200" cy="8382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1136" r="0" b="-1136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829675" y="6197203"/>
            <a:ext cx="628650" cy="628650"/>
            <a:chOff x="0" y="0"/>
            <a:chExt cx="838200" cy="8382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1136" r="0" b="-1136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244388" y="6197203"/>
            <a:ext cx="628650" cy="628650"/>
            <a:chOff x="0" y="0"/>
            <a:chExt cx="838200" cy="8382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136" r="0" b="-113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659100" y="6197203"/>
            <a:ext cx="628650" cy="628650"/>
            <a:chOff x="0" y="0"/>
            <a:chExt cx="838200" cy="83820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1136" r="0" b="-1136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00125" y="9644062"/>
            <a:ext cx="2528888" cy="214312"/>
            <a:chOff x="0" y="0"/>
            <a:chExt cx="3371850" cy="2857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71850" cy="285750"/>
            </a:xfrm>
            <a:custGeom>
              <a:avLst/>
              <a:gdLst/>
              <a:ahLst/>
              <a:cxnLst/>
              <a:rect r="r" b="b" t="t" l="l"/>
              <a:pathLst>
                <a:path h="285750" w="3371850">
                  <a:moveTo>
                    <a:pt x="0" y="0"/>
                  </a:moveTo>
                  <a:lnTo>
                    <a:pt x="3371850" y="0"/>
                  </a:lnTo>
                  <a:lnTo>
                    <a:pt x="33718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21">
                <a:alphaModFix amt="0"/>
              </a:blip>
              <a:stretch>
                <a:fillRect l="0" t="-179923" r="0" b="-17992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37185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Uttara University FYP Defense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822656" y="9644062"/>
            <a:ext cx="7858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Overview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902112" y="9644062"/>
            <a:ext cx="6715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14375" y="9665494"/>
            <a:ext cx="171450" cy="171450"/>
            <a:chOff x="0" y="0"/>
            <a:chExt cx="228600" cy="228600"/>
          </a:xfrm>
        </p:grpSpPr>
        <p:sp>
          <p:nvSpPr>
            <p:cNvPr name="Freeform 56" id="56" descr="image.png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4166" r="0" b="-4166"/>
              </a:stretch>
            </a:blip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50169" y="5245894"/>
            <a:ext cx="1928812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Introduction &amp; Context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922044" y="5245894"/>
            <a:ext cx="1614488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272462" y="5245894"/>
            <a:ext cx="1743075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Research Objectives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830050" y="5245894"/>
            <a:ext cx="1457325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Literature Review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951869" y="5245894"/>
            <a:ext cx="2043112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Proposed Methodology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50181" y="6921103"/>
            <a:ext cx="1728788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764881" y="6921103"/>
            <a:ext cx="1928812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Implementation Details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365331" y="6921103"/>
            <a:ext cx="1557338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Results &amp; Analysis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744325" y="6921103"/>
            <a:ext cx="1628775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Comparative Study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851856" y="6921103"/>
            <a:ext cx="2243138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Conclusion &amp; Future Work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94031" y="3132534"/>
            <a:ext cx="8179594" cy="5429250"/>
            <a:chOff x="0" y="0"/>
            <a:chExt cx="10906125" cy="7239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06125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7" r="0" b="-8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9644062"/>
            <a:ext cx="1771650" cy="214312"/>
            <a:chOff x="0" y="0"/>
            <a:chExt cx="2362200" cy="285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62200" cy="285750"/>
            </a:xfrm>
            <a:custGeom>
              <a:avLst/>
              <a:gdLst/>
              <a:ahLst/>
              <a:cxnLst/>
              <a:rect r="r" b="b" t="t" l="l"/>
              <a:pathLst>
                <a:path h="285750" w="2362200">
                  <a:moveTo>
                    <a:pt x="0" y="0"/>
                  </a:moveTo>
                  <a:lnTo>
                    <a:pt x="2362200" y="0"/>
                  </a:lnTo>
                  <a:lnTo>
                    <a:pt x="23622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1076" r="0" b="-11107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3622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01 — INTRODUCTION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136731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887825" y="9644062"/>
            <a:ext cx="68580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4425" y="3613547"/>
            <a:ext cx="777954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Critical Defense Requirement: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Border surveillance is essential for national security, preventing illegal crossings, smuggling, and hostile incursions across vast, harsh terrains.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4425" y="4749403"/>
            <a:ext cx="777954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Limitations of Traditional Systems: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Foot patrols and static CCTV towers are expensive, slow, geographically restricted, and highly prone to human fatigue or blind spots.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4425" y="5885259"/>
            <a:ext cx="777954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The UAV Solution: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Unmanned Aerial Vehicles (UAVs) provide rapid mobility and aerial coverage, but encounter severe battery constraints and predictable flight paths.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4425" y="7021116"/>
            <a:ext cx="777954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Our Proposal: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 Autonomous System combining physics-based energy optimization (OWT-A*), Game-Theoretic security (SSE), and a Smart Multi Relay System (SMRS) for continuous coverage.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08319" y="3146822"/>
            <a:ext cx="8151019" cy="5400675"/>
            <a:chOff x="0" y="0"/>
            <a:chExt cx="10868025" cy="72009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0868025" cy="7200900"/>
            </a:xfrm>
            <a:custGeom>
              <a:avLst/>
              <a:gdLst/>
              <a:ahLst/>
              <a:cxnLst/>
              <a:rect r="r" b="b" t="t" l="l"/>
              <a:pathLst>
                <a:path h="7200900" w="10868025">
                  <a:moveTo>
                    <a:pt x="0" y="0"/>
                  </a:moveTo>
                  <a:lnTo>
                    <a:pt x="10868025" y="0"/>
                  </a:lnTo>
                  <a:lnTo>
                    <a:pt x="10868025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76" r="0" b="-176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01 — Introduction &amp;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Background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14375" y="3689747"/>
            <a:ext cx="228600" cy="228600"/>
            <a:chOff x="0" y="0"/>
            <a:chExt cx="304800" cy="3048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14375" y="4825603"/>
            <a:ext cx="228600" cy="228600"/>
            <a:chOff x="0" y="0"/>
            <a:chExt cx="304800" cy="3048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14375" y="5961459"/>
            <a:ext cx="228600" cy="228600"/>
            <a:chOff x="0" y="0"/>
            <a:chExt cx="304800" cy="3048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14375" y="7097316"/>
            <a:ext cx="228600" cy="228600"/>
            <a:chOff x="0" y="0"/>
            <a:chExt cx="304800" cy="3048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472613" y="8672512"/>
            <a:ext cx="1521618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https://static.tildacdn.one/tild6665-6132-4164-b839-363933336639/MA_border5_1.jpg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72613" y="8972550"/>
            <a:ext cx="1521618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microavia.com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4938112"/>
            <a:ext cx="5429250" cy="3175397"/>
            <a:chOff x="0" y="0"/>
            <a:chExt cx="7239000" cy="4233862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239000" cy="4233799"/>
            </a:xfrm>
            <a:custGeom>
              <a:avLst/>
              <a:gdLst/>
              <a:ahLst/>
              <a:cxnLst/>
              <a:rect r="r" b="b" t="t" l="l"/>
              <a:pathLst>
                <a:path h="4233799" w="7239000">
                  <a:moveTo>
                    <a:pt x="0" y="0"/>
                  </a:moveTo>
                  <a:lnTo>
                    <a:pt x="7239000" y="0"/>
                  </a:lnTo>
                  <a:lnTo>
                    <a:pt x="7239000" y="4233799"/>
                  </a:lnTo>
                  <a:lnTo>
                    <a:pt x="0" y="423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8" r="0" b="-17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29375" y="4938112"/>
            <a:ext cx="5429250" cy="3175397"/>
            <a:chOff x="0" y="0"/>
            <a:chExt cx="7239000" cy="4233862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239000" cy="4233799"/>
            </a:xfrm>
            <a:custGeom>
              <a:avLst/>
              <a:gdLst/>
              <a:ahLst/>
              <a:cxnLst/>
              <a:rect r="r" b="b" t="t" l="l"/>
              <a:pathLst>
                <a:path h="4233799" w="7239000">
                  <a:moveTo>
                    <a:pt x="0" y="0"/>
                  </a:moveTo>
                  <a:lnTo>
                    <a:pt x="7239000" y="0"/>
                  </a:lnTo>
                  <a:lnTo>
                    <a:pt x="7239000" y="4233799"/>
                  </a:lnTo>
                  <a:lnTo>
                    <a:pt x="0" y="423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68" r="0" b="-17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44375" y="4938112"/>
            <a:ext cx="5429250" cy="3175397"/>
            <a:chOff x="0" y="0"/>
            <a:chExt cx="7239000" cy="4233862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239000" cy="4233799"/>
            </a:xfrm>
            <a:custGeom>
              <a:avLst/>
              <a:gdLst/>
              <a:ahLst/>
              <a:cxnLst/>
              <a:rect r="r" b="b" t="t" l="l"/>
              <a:pathLst>
                <a:path h="4233799" w="7239000">
                  <a:moveTo>
                    <a:pt x="0" y="0"/>
                  </a:moveTo>
                  <a:lnTo>
                    <a:pt x="7239000" y="0"/>
                  </a:lnTo>
                  <a:lnTo>
                    <a:pt x="7239000" y="4233799"/>
                  </a:lnTo>
                  <a:lnTo>
                    <a:pt x="0" y="4233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8" r="0" b="-17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4375" y="9644062"/>
            <a:ext cx="2386012" cy="214312"/>
            <a:chOff x="0" y="0"/>
            <a:chExt cx="3181350" cy="2857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81350" cy="285750"/>
            </a:xfrm>
            <a:custGeom>
              <a:avLst/>
              <a:gdLst/>
              <a:ahLst/>
              <a:cxnLst/>
              <a:rect r="r" b="b" t="t" l="l"/>
              <a:pathLst>
                <a:path h="285750" w="3181350">
                  <a:moveTo>
                    <a:pt x="0" y="0"/>
                  </a:moveTo>
                  <a:lnTo>
                    <a:pt x="3181350" y="0"/>
                  </a:lnTo>
                  <a:lnTo>
                    <a:pt x="31813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66933" r="0" b="-16693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318135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02 — PROBLEM STATEMENT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443912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87825" y="9644062"/>
            <a:ext cx="68580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42988" y="5309587"/>
            <a:ext cx="628650" cy="628650"/>
            <a:chOff x="0" y="0"/>
            <a:chExt cx="838200" cy="8382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136" r="0" b="-1136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42988" y="6119212"/>
            <a:ext cx="501062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Unrealistic Battery Models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2988" y="6619275"/>
            <a:ext cx="4772025" cy="116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Existing path-planning studies rely on static, linear battery equations that fail under dynamic 3D wind drag, climb elevation, and payload avionics power loss.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757988" y="5309587"/>
            <a:ext cx="628650" cy="628650"/>
            <a:chOff x="0" y="0"/>
            <a:chExt cx="838200" cy="8382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136" r="0" b="-1136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449175" y="6090637"/>
            <a:ext cx="501062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Predictable Patrol Patterns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58700" y="6619275"/>
            <a:ext cx="4772025" cy="110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Drone fly fixed schedule. </a:t>
            </a: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Fixed or cyclic patrolling schedules allow hostile intruders to observe patterns, predict surveillance gaps, and bypass border security effortlessly.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472988" y="5309587"/>
            <a:ext cx="628650" cy="628650"/>
            <a:chOff x="0" y="0"/>
            <a:chExt cx="838200" cy="8382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136" r="0" b="-1136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6730500" y="6090637"/>
            <a:ext cx="501062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Lack of Relay &amp; Handoff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730500" y="6558585"/>
            <a:ext cx="4772025" cy="138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Most existing systems use static, pre-computed paths. </a:t>
            </a: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Single-drone deployments create complete surveillance blackouts when returning to base for recharging, lacking dynamic multi-UAV relay handoffs.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93006" y="5481037"/>
            <a:ext cx="328612" cy="285750"/>
            <a:chOff x="0" y="0"/>
            <a:chExt cx="438150" cy="3810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4381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313" r="0" b="-31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929438" y="5481037"/>
            <a:ext cx="285750" cy="285750"/>
            <a:chOff x="0" y="0"/>
            <a:chExt cx="381000" cy="3810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2500" r="0" b="-250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608719" y="5481037"/>
            <a:ext cx="357188" cy="285750"/>
            <a:chOff x="0" y="0"/>
            <a:chExt cx="476250" cy="3810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479" r="0" b="-48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714375" y="2202056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02 — Problem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Statement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3372745"/>
            <a:ext cx="8251031" cy="2295820"/>
            <a:chOff x="0" y="0"/>
            <a:chExt cx="11001375" cy="306109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1001375" cy="3061081"/>
            </a:xfrm>
            <a:custGeom>
              <a:avLst/>
              <a:gdLst/>
              <a:ahLst/>
              <a:cxnLst/>
              <a:rect r="r" b="b" t="t" l="l"/>
              <a:pathLst>
                <a:path h="3061081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3" r="0" b="-5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22594" y="3372745"/>
            <a:ext cx="8251031" cy="2295820"/>
            <a:chOff x="0" y="0"/>
            <a:chExt cx="11001375" cy="3061094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1001375" cy="3061081"/>
            </a:xfrm>
            <a:custGeom>
              <a:avLst/>
              <a:gdLst/>
              <a:ahLst/>
              <a:cxnLst/>
              <a:rect r="r" b="b" t="t" l="l"/>
              <a:pathLst>
                <a:path h="3061081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3" r="0" b="-5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6025753"/>
            <a:ext cx="8251031" cy="2295820"/>
            <a:chOff x="0" y="0"/>
            <a:chExt cx="11001375" cy="3061094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1001375" cy="3061081"/>
            </a:xfrm>
            <a:custGeom>
              <a:avLst/>
              <a:gdLst/>
              <a:ahLst/>
              <a:cxnLst/>
              <a:rect r="r" b="b" t="t" l="l"/>
              <a:pathLst>
                <a:path h="3061081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64" r="0" b="-36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22594" y="6025753"/>
            <a:ext cx="8251031" cy="2295820"/>
            <a:chOff x="0" y="0"/>
            <a:chExt cx="11001375" cy="306109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1001375" cy="3061081"/>
            </a:xfrm>
            <a:custGeom>
              <a:avLst/>
              <a:gdLst/>
              <a:ahLst/>
              <a:cxnLst/>
              <a:rect r="r" b="b" t="t" l="l"/>
              <a:pathLst>
                <a:path h="3061081" w="11001375">
                  <a:moveTo>
                    <a:pt x="0" y="0"/>
                  </a:moveTo>
                  <a:lnTo>
                    <a:pt x="11001375" y="0"/>
                  </a:lnTo>
                  <a:lnTo>
                    <a:pt x="11001375" y="3061081"/>
                  </a:lnTo>
                  <a:lnTo>
                    <a:pt x="0" y="3061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64" r="0" b="-3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4375" y="9644062"/>
            <a:ext cx="1557338" cy="214312"/>
            <a:chOff x="0" y="0"/>
            <a:chExt cx="2076450" cy="285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6450" cy="285750"/>
            </a:xfrm>
            <a:custGeom>
              <a:avLst/>
              <a:gdLst/>
              <a:ahLst/>
              <a:cxnLst/>
              <a:rect r="r" b="b" t="t" l="l"/>
              <a:pathLst>
                <a:path h="285750" w="2076450">
                  <a:moveTo>
                    <a:pt x="0" y="0"/>
                  </a:moveTo>
                  <a:lnTo>
                    <a:pt x="2076450" y="0"/>
                  </a:lnTo>
                  <a:lnTo>
                    <a:pt x="20764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07645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03 — OBJECTIVES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036719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902112" y="9644062"/>
            <a:ext cx="6715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42988" y="3744220"/>
            <a:ext cx="7593806" cy="500062"/>
            <a:chOff x="0" y="0"/>
            <a:chExt cx="10125075" cy="6667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25074" cy="666750"/>
            </a:xfrm>
            <a:custGeom>
              <a:avLst/>
              <a:gdLst/>
              <a:ahLst/>
              <a:cxnLst/>
              <a:rect r="r" b="b" t="t" l="l"/>
              <a:pathLst>
                <a:path h="666750" w="10125074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45894" r="0" b="-24589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B499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644062" y="4502439"/>
            <a:ext cx="7593806" cy="82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Formulate a comprehensive 3D energy consumption model (OWT-A*) accounting for aerodynamic wind drag (wind}), vertical elevation climb (climb), and avionics power draw.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51206" y="3744220"/>
            <a:ext cx="7593806" cy="500062"/>
            <a:chOff x="0" y="0"/>
            <a:chExt cx="10125075" cy="6667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25074" cy="666750"/>
            </a:xfrm>
            <a:custGeom>
              <a:avLst/>
              <a:gdLst/>
              <a:ahLst/>
              <a:cxnLst/>
              <a:rect r="r" b="b" t="t" l="l"/>
              <a:pathLst>
                <a:path h="666750" w="10125074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45894" r="0" b="-24589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0B98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57300" y="6967090"/>
            <a:ext cx="7593806" cy="88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Strong Stackelberg Equilibrium (SSE) combined with SUQR human adversary models to generate randomized, highly unpredictable patrol paths against rational intruders.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42988" y="6397228"/>
            <a:ext cx="7593806" cy="500062"/>
            <a:chOff x="0" y="0"/>
            <a:chExt cx="10125075" cy="6667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25074" cy="666750"/>
            </a:xfrm>
            <a:custGeom>
              <a:avLst/>
              <a:gdLst/>
              <a:ahLst/>
              <a:cxnLst/>
              <a:rect r="r" b="b" t="t" l="l"/>
              <a:pathLst>
                <a:path h="666750" w="10125074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45894" r="0" b="-24589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9E0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51206" y="6397228"/>
            <a:ext cx="7593806" cy="500062"/>
            <a:chOff x="0" y="0"/>
            <a:chExt cx="10125075" cy="6667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25074" cy="666750"/>
            </a:xfrm>
            <a:custGeom>
              <a:avLst/>
              <a:gdLst/>
              <a:ahLst/>
              <a:cxnLst/>
              <a:rect r="r" b="b" t="t" l="l"/>
              <a:pathLst>
                <a:path h="666750" w="10125074">
                  <a:moveTo>
                    <a:pt x="0" y="0"/>
                  </a:moveTo>
                  <a:lnTo>
                    <a:pt x="10125074" y="0"/>
                  </a:lnTo>
                  <a:lnTo>
                    <a:pt x="10125074" y="666750"/>
                  </a:lnTo>
                  <a:lnTo>
                    <a:pt x="0" y="666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45894" r="0" b="-24589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0125075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6366F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04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651206" y="7106841"/>
            <a:ext cx="7593806" cy="60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Integrate adaptive reinforcement learning to dynamically prioritize high-risk zones, alongside real-time safety override logic when active threats are detected.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65569" y="3830926"/>
            <a:ext cx="4590574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Realistic Physics &amp; Two hop system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86290" y="6435328"/>
            <a:ext cx="4455557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Game-Theoretic Patrol Security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54036" y="3782320"/>
            <a:ext cx="474059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</a:t>
            </a: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tinuous Surveillance System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65569" y="6435328"/>
            <a:ext cx="5085636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Adaptive Threat Learning &amp; Override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03 — Research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42988" y="4226214"/>
            <a:ext cx="7593806" cy="1380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2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 used a automatic handoff system.An automatic handoff system is a technology-driven process that transfers an ongoing active session, call, task, or data connection from one network cell, device, or system to another without requiring manual user intervention or causing a service disruption. create no downtime surveillance system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40731" y="115195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7231" y="3727247"/>
            <a:ext cx="17240038" cy="4331906"/>
            <a:chOff x="0" y="0"/>
            <a:chExt cx="22498050" cy="56530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98050" cy="5653024"/>
            </a:xfrm>
            <a:custGeom>
              <a:avLst/>
              <a:gdLst/>
              <a:ahLst/>
              <a:cxnLst/>
              <a:rect r="r" b="b" t="t" l="l"/>
              <a:pathLst>
                <a:path h="5653024" w="22498050">
                  <a:moveTo>
                    <a:pt x="0" y="0"/>
                  </a:moveTo>
                  <a:lnTo>
                    <a:pt x="22498050" y="0"/>
                  </a:lnTo>
                  <a:lnTo>
                    <a:pt x="22498050" y="5653024"/>
                  </a:lnTo>
                  <a:lnTo>
                    <a:pt x="0" y="5653024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752475" y="3962278"/>
          <a:ext cx="16821150" cy="3585209"/>
        </p:xfrm>
        <a:graphic>
          <a:graphicData uri="http://schemas.openxmlformats.org/drawingml/2006/table">
            <a:tbl>
              <a:tblPr/>
              <a:tblGrid>
                <a:gridCol w="3700581"/>
                <a:gridCol w="6391974"/>
                <a:gridCol w="6728595"/>
              </a:tblGrid>
              <a:tr h="8383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Paper </a:t>
                      </a: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&amp; Year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Approach &amp; Methodology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Limitation / Gap Addressed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</a:tr>
              <a:tr h="9156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 Multi-UAV Coverage Path Planning: A Distributed Online Cooperation Method(2023)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</a:t>
                      </a: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vided this area into n groups, Monitoring within their own groups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Uses linear battery models; create holes in dynamic environments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6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Ene</a:t>
                      </a: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rgy-Efficient Internet of Drones Path-Planning Study Using Meta-Heuristic Algorithms (2024)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voiding obstacles and using the least amount of energy, Increases the stability and convergence speed of the drone's path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Lacks game-theoretic security against adversaries observing patrol routines. Not effective dynamic obstacles 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91561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Border Patrol Us</a:t>
                      </a: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ing Multiple Unmanned Aerial Vehicles Based on Stackelberg Security Game (2023)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Used Stackelberg Security Game (SSG),Targ</a:t>
                      </a: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et high-value zone first. Moving many possible paths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Lack of Real-time Adaptivity, Static Battery Constraint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714375" y="9644062"/>
            <a:ext cx="2228850" cy="214312"/>
            <a:chOff x="0" y="0"/>
            <a:chExt cx="2971800" cy="2857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71800" cy="285750"/>
            </a:xfrm>
            <a:custGeom>
              <a:avLst/>
              <a:gdLst/>
              <a:ahLst/>
              <a:cxnLst/>
              <a:rect r="r" b="b" t="t" l="l"/>
              <a:pathLst>
                <a:path h="285750" w="2971800">
                  <a:moveTo>
                    <a:pt x="0" y="0"/>
                  </a:moveTo>
                  <a:lnTo>
                    <a:pt x="2971800" y="0"/>
                  </a:lnTo>
                  <a:lnTo>
                    <a:pt x="29718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9718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04 — LITERATURE REVIEW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365331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87825" y="9644062"/>
            <a:ext cx="68580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21519" y="5251552"/>
            <a:ext cx="3705816" cy="14288"/>
            <a:chOff x="0" y="0"/>
            <a:chExt cx="4941087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41062" cy="19050"/>
            </a:xfrm>
            <a:custGeom>
              <a:avLst/>
              <a:gdLst/>
              <a:ahLst/>
              <a:cxnLst/>
              <a:rect r="r" b="b" t="t" l="l"/>
              <a:pathLst>
                <a:path h="19050" w="4941062">
                  <a:moveTo>
                    <a:pt x="0" y="0"/>
                  </a:moveTo>
                  <a:lnTo>
                    <a:pt x="4941062" y="0"/>
                  </a:lnTo>
                  <a:lnTo>
                    <a:pt x="49410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427334" y="5251552"/>
            <a:ext cx="6401019" cy="14288"/>
            <a:chOff x="0" y="0"/>
            <a:chExt cx="8534692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34654" cy="19050"/>
            </a:xfrm>
            <a:custGeom>
              <a:avLst/>
              <a:gdLst/>
              <a:ahLst/>
              <a:cxnLst/>
              <a:rect r="r" b="b" t="t" l="l"/>
              <a:pathLst>
                <a:path h="19050" w="8534654">
                  <a:moveTo>
                    <a:pt x="0" y="0"/>
                  </a:moveTo>
                  <a:lnTo>
                    <a:pt x="8534654" y="0"/>
                  </a:lnTo>
                  <a:lnTo>
                    <a:pt x="85346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828363" y="5251552"/>
            <a:ext cx="6738118" cy="14288"/>
            <a:chOff x="0" y="0"/>
            <a:chExt cx="8984158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84107" cy="19050"/>
            </a:xfrm>
            <a:custGeom>
              <a:avLst/>
              <a:gdLst/>
              <a:ahLst/>
              <a:cxnLst/>
              <a:rect r="r" b="b" t="t" l="l"/>
              <a:pathLst>
                <a:path h="19050" w="8984107">
                  <a:moveTo>
                    <a:pt x="0" y="0"/>
                  </a:moveTo>
                  <a:lnTo>
                    <a:pt x="8984107" y="0"/>
                  </a:lnTo>
                  <a:lnTo>
                    <a:pt x="89841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21519" y="6147197"/>
            <a:ext cx="3705816" cy="14288"/>
            <a:chOff x="0" y="0"/>
            <a:chExt cx="4941087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41062" cy="19050"/>
            </a:xfrm>
            <a:custGeom>
              <a:avLst/>
              <a:gdLst/>
              <a:ahLst/>
              <a:cxnLst/>
              <a:rect r="r" b="b" t="t" l="l"/>
              <a:pathLst>
                <a:path h="19050" w="4941062">
                  <a:moveTo>
                    <a:pt x="0" y="0"/>
                  </a:moveTo>
                  <a:lnTo>
                    <a:pt x="4941062" y="0"/>
                  </a:lnTo>
                  <a:lnTo>
                    <a:pt x="49410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427334" y="6147197"/>
            <a:ext cx="6401019" cy="14288"/>
            <a:chOff x="0" y="0"/>
            <a:chExt cx="8534692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534654" cy="19050"/>
            </a:xfrm>
            <a:custGeom>
              <a:avLst/>
              <a:gdLst/>
              <a:ahLst/>
              <a:cxnLst/>
              <a:rect r="r" b="b" t="t" l="l"/>
              <a:pathLst>
                <a:path h="19050" w="8534654">
                  <a:moveTo>
                    <a:pt x="0" y="0"/>
                  </a:moveTo>
                  <a:lnTo>
                    <a:pt x="8534654" y="0"/>
                  </a:lnTo>
                  <a:lnTo>
                    <a:pt x="85346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828363" y="6147197"/>
            <a:ext cx="6738118" cy="14288"/>
            <a:chOff x="0" y="0"/>
            <a:chExt cx="8984158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84107" cy="19050"/>
            </a:xfrm>
            <a:custGeom>
              <a:avLst/>
              <a:gdLst/>
              <a:ahLst/>
              <a:cxnLst/>
              <a:rect r="r" b="b" t="t" l="l"/>
              <a:pathLst>
                <a:path h="19050" w="8984107">
                  <a:moveTo>
                    <a:pt x="0" y="0"/>
                  </a:moveTo>
                  <a:lnTo>
                    <a:pt x="8984107" y="0"/>
                  </a:lnTo>
                  <a:lnTo>
                    <a:pt x="89841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21519" y="7042842"/>
            <a:ext cx="3705816" cy="14288"/>
            <a:chOff x="0" y="0"/>
            <a:chExt cx="4941087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41062" cy="19050"/>
            </a:xfrm>
            <a:custGeom>
              <a:avLst/>
              <a:gdLst/>
              <a:ahLst/>
              <a:cxnLst/>
              <a:rect r="r" b="b" t="t" l="l"/>
              <a:pathLst>
                <a:path h="19050" w="4941062">
                  <a:moveTo>
                    <a:pt x="0" y="0"/>
                  </a:moveTo>
                  <a:lnTo>
                    <a:pt x="4941062" y="0"/>
                  </a:lnTo>
                  <a:lnTo>
                    <a:pt x="49410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427334" y="7042842"/>
            <a:ext cx="6401019" cy="14288"/>
            <a:chOff x="0" y="0"/>
            <a:chExt cx="8534692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34654" cy="19050"/>
            </a:xfrm>
            <a:custGeom>
              <a:avLst/>
              <a:gdLst/>
              <a:ahLst/>
              <a:cxnLst/>
              <a:rect r="r" b="b" t="t" l="l"/>
              <a:pathLst>
                <a:path h="19050" w="8534654">
                  <a:moveTo>
                    <a:pt x="0" y="0"/>
                  </a:moveTo>
                  <a:lnTo>
                    <a:pt x="8534654" y="0"/>
                  </a:lnTo>
                  <a:lnTo>
                    <a:pt x="85346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828363" y="7042842"/>
            <a:ext cx="6738118" cy="14288"/>
            <a:chOff x="0" y="0"/>
            <a:chExt cx="8984158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984107" cy="19050"/>
            </a:xfrm>
            <a:custGeom>
              <a:avLst/>
              <a:gdLst/>
              <a:ahLst/>
              <a:cxnLst/>
              <a:rect r="r" b="b" t="t" l="l"/>
              <a:pathLst>
                <a:path h="19050" w="8984107">
                  <a:moveTo>
                    <a:pt x="0" y="0"/>
                  </a:moveTo>
                  <a:lnTo>
                    <a:pt x="8984107" y="0"/>
                  </a:lnTo>
                  <a:lnTo>
                    <a:pt x="89841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21519" y="7938487"/>
            <a:ext cx="3705816" cy="14288"/>
            <a:chOff x="0" y="0"/>
            <a:chExt cx="4941087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41062" cy="19050"/>
            </a:xfrm>
            <a:custGeom>
              <a:avLst/>
              <a:gdLst/>
              <a:ahLst/>
              <a:cxnLst/>
              <a:rect r="r" b="b" t="t" l="l"/>
              <a:pathLst>
                <a:path h="19050" w="4941062">
                  <a:moveTo>
                    <a:pt x="0" y="0"/>
                  </a:moveTo>
                  <a:lnTo>
                    <a:pt x="4941062" y="0"/>
                  </a:lnTo>
                  <a:lnTo>
                    <a:pt x="494106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427334" y="7938487"/>
            <a:ext cx="6401019" cy="14288"/>
            <a:chOff x="0" y="0"/>
            <a:chExt cx="8534692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34654" cy="19050"/>
            </a:xfrm>
            <a:custGeom>
              <a:avLst/>
              <a:gdLst/>
              <a:ahLst/>
              <a:cxnLst/>
              <a:rect r="r" b="b" t="t" l="l"/>
              <a:pathLst>
                <a:path h="19050" w="8534654">
                  <a:moveTo>
                    <a:pt x="0" y="0"/>
                  </a:moveTo>
                  <a:lnTo>
                    <a:pt x="8534654" y="0"/>
                  </a:lnTo>
                  <a:lnTo>
                    <a:pt x="853465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828363" y="7938487"/>
            <a:ext cx="6738118" cy="14288"/>
            <a:chOff x="0" y="0"/>
            <a:chExt cx="8984158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84107" cy="19050"/>
            </a:xfrm>
            <a:custGeom>
              <a:avLst/>
              <a:gdLst/>
              <a:ahLst/>
              <a:cxnLst/>
              <a:rect r="r" b="b" t="t" l="l"/>
              <a:pathLst>
                <a:path h="19050" w="8984107">
                  <a:moveTo>
                    <a:pt x="0" y="0"/>
                  </a:moveTo>
                  <a:lnTo>
                    <a:pt x="8984107" y="0"/>
                  </a:lnTo>
                  <a:lnTo>
                    <a:pt x="89841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85838" y="2743791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04 — Literature Review &amp;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Gaps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869" y="116529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4431354"/>
            <a:ext cx="3754041" cy="2831382"/>
            <a:chOff x="0" y="0"/>
            <a:chExt cx="5005388" cy="3775177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005324" cy="3775202"/>
            </a:xfrm>
            <a:custGeom>
              <a:avLst/>
              <a:gdLst/>
              <a:ahLst/>
              <a:cxnLst/>
              <a:rect r="r" b="b" t="t" l="l"/>
              <a:pathLst>
                <a:path h="3775202" w="5005324">
                  <a:moveTo>
                    <a:pt x="0" y="0"/>
                  </a:moveTo>
                  <a:lnTo>
                    <a:pt x="5005324" y="0"/>
                  </a:lnTo>
                  <a:lnTo>
                    <a:pt x="5005324" y="3775202"/>
                  </a:lnTo>
                  <a:lnTo>
                    <a:pt x="0" y="3775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1" r="-1" b="-16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01183" y="4381795"/>
            <a:ext cx="3754041" cy="3079852"/>
            <a:chOff x="0" y="0"/>
            <a:chExt cx="5005388" cy="4106469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005324" cy="4106418"/>
            </a:xfrm>
            <a:custGeom>
              <a:avLst/>
              <a:gdLst/>
              <a:ahLst/>
              <a:cxnLst/>
              <a:rect r="r" b="b" t="t" l="l"/>
              <a:pathLst>
                <a:path h="4106418" w="5005324">
                  <a:moveTo>
                    <a:pt x="0" y="0"/>
                  </a:moveTo>
                  <a:lnTo>
                    <a:pt x="5005324" y="0"/>
                  </a:lnTo>
                  <a:lnTo>
                    <a:pt x="5005324" y="4106418"/>
                  </a:lnTo>
                  <a:lnTo>
                    <a:pt x="0" y="410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95" r="-1" b="-9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135166" y="4465844"/>
            <a:ext cx="3754041" cy="2831382"/>
            <a:chOff x="0" y="0"/>
            <a:chExt cx="5005388" cy="3775177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005324" cy="3775202"/>
            </a:xfrm>
            <a:custGeom>
              <a:avLst/>
              <a:gdLst/>
              <a:ahLst/>
              <a:cxnLst/>
              <a:rect r="r" b="b" t="t" l="l"/>
              <a:pathLst>
                <a:path h="3775202" w="5005324">
                  <a:moveTo>
                    <a:pt x="0" y="0"/>
                  </a:moveTo>
                  <a:lnTo>
                    <a:pt x="5005324" y="0"/>
                  </a:lnTo>
                  <a:lnTo>
                    <a:pt x="5005324" y="3775202"/>
                  </a:lnTo>
                  <a:lnTo>
                    <a:pt x="0" y="3775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" t="0" r="-2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19584" y="4307234"/>
            <a:ext cx="3754041" cy="3079852"/>
            <a:chOff x="0" y="0"/>
            <a:chExt cx="5005388" cy="4106469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005324" cy="4106418"/>
            </a:xfrm>
            <a:custGeom>
              <a:avLst/>
              <a:gdLst/>
              <a:ahLst/>
              <a:cxnLst/>
              <a:rect r="r" b="b" t="t" l="l"/>
              <a:pathLst>
                <a:path h="4106418" w="5005324">
                  <a:moveTo>
                    <a:pt x="0" y="0"/>
                  </a:moveTo>
                  <a:lnTo>
                    <a:pt x="5005324" y="0"/>
                  </a:lnTo>
                  <a:lnTo>
                    <a:pt x="5005324" y="4106418"/>
                  </a:lnTo>
                  <a:lnTo>
                    <a:pt x="0" y="410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85" r="-1" b="-28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4375" y="9644062"/>
            <a:ext cx="1843088" cy="214312"/>
            <a:chOff x="0" y="0"/>
            <a:chExt cx="2457450" cy="285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57450" cy="285750"/>
            </a:xfrm>
            <a:custGeom>
              <a:avLst/>
              <a:gdLst/>
              <a:ahLst/>
              <a:cxnLst/>
              <a:rect r="r" b="b" t="t" l="l"/>
              <a:pathLst>
                <a:path h="285750" w="2457450">
                  <a:moveTo>
                    <a:pt x="0" y="0"/>
                  </a:moveTo>
                  <a:lnTo>
                    <a:pt x="2457450" y="0"/>
                  </a:lnTo>
                  <a:lnTo>
                    <a:pt x="24574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5745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05 — METHODOLOGY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179594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902112" y="9644062"/>
            <a:ext cx="67151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682728" y="5704284"/>
            <a:ext cx="185738" cy="285750"/>
            <a:chOff x="0" y="0"/>
            <a:chExt cx="247650" cy="38100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247650" cy="381000"/>
            </a:xfrm>
            <a:custGeom>
              <a:avLst/>
              <a:gdLst/>
              <a:ahLst/>
              <a:cxnLst/>
              <a:rect r="r" b="b" t="t" l="l"/>
              <a:pathLst>
                <a:path h="3810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282" t="0" r="-1282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051131" y="5704284"/>
            <a:ext cx="185738" cy="285750"/>
            <a:chOff x="0" y="0"/>
            <a:chExt cx="247650" cy="381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247650" cy="381000"/>
            </a:xfrm>
            <a:custGeom>
              <a:avLst/>
              <a:gdLst/>
              <a:ahLst/>
              <a:cxnLst/>
              <a:rect r="r" b="b" t="t" l="l"/>
              <a:pathLst>
                <a:path h="3810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282" t="0" r="-1282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419534" y="5704284"/>
            <a:ext cx="185738" cy="285750"/>
            <a:chOff x="0" y="0"/>
            <a:chExt cx="247650" cy="381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247650" cy="381000"/>
            </a:xfrm>
            <a:custGeom>
              <a:avLst/>
              <a:gdLst/>
              <a:ahLst/>
              <a:cxnLst/>
              <a:rect r="r" b="b" t="t" l="l"/>
              <a:pathLst>
                <a:path h="38100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1282" t="0" r="-1282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277066" y="4802829"/>
            <a:ext cx="628650" cy="628650"/>
            <a:chOff x="0" y="0"/>
            <a:chExt cx="838200" cy="8382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65568" y="5688654"/>
            <a:ext cx="3251654" cy="35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1. Environment &amp; Physics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2988" y="6160141"/>
            <a:ext cx="3096816" cy="773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Integrate 3D SRTM terrain mesh with dynamic wind vector attributes into OWT-A* physics engine.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063873" y="4753270"/>
            <a:ext cx="628650" cy="628650"/>
            <a:chOff x="0" y="0"/>
            <a:chExt cx="838200" cy="8382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752376" y="5639095"/>
            <a:ext cx="325165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3. Game Theory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829795" y="6110583"/>
            <a:ext cx="3096816" cy="1022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Apply Bayesian Stackelberg Security Games (SSE) &amp; SUQR model to calculate optimal randomized patrol mixed strategies.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697856" y="4837319"/>
            <a:ext cx="628650" cy="628650"/>
            <a:chOff x="0" y="0"/>
            <a:chExt cx="838200" cy="83820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5386359" y="5723144"/>
            <a:ext cx="325165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2. SMRS Framework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463778" y="6194631"/>
            <a:ext cx="3096816" cy="773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Smart Multi Relay System to handle automated drone handoffs and battery-threshold return loops.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5382275" y="4678709"/>
            <a:ext cx="628650" cy="628650"/>
            <a:chOff x="0" y="0"/>
            <a:chExt cx="838200" cy="83820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4070778" y="5564534"/>
            <a:ext cx="3251654" cy="35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5"/>
              </a:lnSpc>
            </a:pPr>
            <a:r>
              <a:rPr lang="en-US" sz="1687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4. Route Execution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148197" y="6036021"/>
            <a:ext cx="3096816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use Markov Chain to convert the Stackelberg coverage strategy into a practical flight path that the drone can follow.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2412797" y="4974279"/>
            <a:ext cx="357188" cy="285750"/>
            <a:chOff x="0" y="0"/>
            <a:chExt cx="476250" cy="381000"/>
          </a:xfrm>
        </p:grpSpPr>
        <p:sp>
          <p:nvSpPr>
            <p:cNvPr name="Freeform 48" id="48" descr="image.png"/>
            <p:cNvSpPr/>
            <p:nvPr/>
          </p:nvSpPr>
          <p:spPr>
            <a:xfrm flipH="false" flipV="false" rot="0">
              <a:off x="0" y="0"/>
              <a:ext cx="476250" cy="381000"/>
            </a:xfrm>
            <a:custGeom>
              <a:avLst/>
              <a:gdLst/>
              <a:ahLst/>
              <a:cxnLst/>
              <a:rect r="r" b="b" t="t" l="l"/>
              <a:pathLst>
                <a:path h="38100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479" r="0" b="-48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229342" y="4924720"/>
            <a:ext cx="257175" cy="285750"/>
            <a:chOff x="0" y="0"/>
            <a:chExt cx="342900" cy="381000"/>
          </a:xfrm>
        </p:grpSpPr>
        <p:sp>
          <p:nvSpPr>
            <p:cNvPr name="Freeform 50" id="50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262" t="0" r="-266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869306" y="5008769"/>
            <a:ext cx="285750" cy="285750"/>
            <a:chOff x="0" y="0"/>
            <a:chExt cx="381000" cy="381000"/>
          </a:xfrm>
        </p:grpSpPr>
        <p:sp>
          <p:nvSpPr>
            <p:cNvPr name="Freeform 52" id="52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5553725" y="4850159"/>
            <a:ext cx="285750" cy="285750"/>
            <a:chOff x="0" y="0"/>
            <a:chExt cx="381000" cy="381000"/>
          </a:xfrm>
        </p:grpSpPr>
        <p:sp>
          <p:nvSpPr>
            <p:cNvPr name="Freeform 54" id="54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735806" y="1633290"/>
            <a:ext cx="7465219" cy="569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05 — Research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3768328"/>
            <a:ext cx="16859250" cy="600075"/>
            <a:chOff x="0" y="0"/>
            <a:chExt cx="22479000" cy="8001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479000" cy="800100"/>
            </a:xfrm>
            <a:custGeom>
              <a:avLst/>
              <a:gdLst/>
              <a:ahLst/>
              <a:cxnLst/>
              <a:rect r="r" b="b" t="t" l="l"/>
              <a:pathLst>
                <a:path h="800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90" r="0" b="-119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75" y="4954191"/>
            <a:ext cx="16859250" cy="600075"/>
            <a:chOff x="0" y="0"/>
            <a:chExt cx="22479000" cy="8001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2479000" cy="800100"/>
            </a:xfrm>
            <a:custGeom>
              <a:avLst/>
              <a:gdLst/>
              <a:ahLst/>
              <a:cxnLst/>
              <a:rect r="r" b="b" t="t" l="l"/>
              <a:pathLst>
                <a:path h="800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90" r="0" b="-119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6140053"/>
            <a:ext cx="16859250" cy="600075"/>
            <a:chOff x="0" y="0"/>
            <a:chExt cx="22479000" cy="8001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479000" cy="800100"/>
            </a:xfrm>
            <a:custGeom>
              <a:avLst/>
              <a:gdLst/>
              <a:ahLst/>
              <a:cxnLst/>
              <a:rect r="r" b="b" t="t" l="l"/>
              <a:pathLst>
                <a:path h="800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190" r="0" b="-119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4375" y="7325916"/>
            <a:ext cx="16859250" cy="600075"/>
            <a:chOff x="0" y="0"/>
            <a:chExt cx="22479000" cy="8001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2479000" cy="800100"/>
            </a:xfrm>
            <a:custGeom>
              <a:avLst/>
              <a:gdLst/>
              <a:ahLst/>
              <a:cxnLst/>
              <a:rect r="r" b="b" t="t" l="l"/>
              <a:pathLst>
                <a:path h="8001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190" r="0" b="-119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4375" y="9644062"/>
            <a:ext cx="1900238" cy="214312"/>
            <a:chOff x="0" y="0"/>
            <a:chExt cx="2533650" cy="285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33650" cy="285750"/>
            </a:xfrm>
            <a:custGeom>
              <a:avLst/>
              <a:gdLst/>
              <a:ahLst/>
              <a:cxnLst/>
              <a:rect r="r" b="b" t="t" l="l"/>
              <a:pathLst>
                <a:path h="285750" w="2533650">
                  <a:moveTo>
                    <a:pt x="0" y="0"/>
                  </a:moveTo>
                  <a:lnTo>
                    <a:pt x="2533650" y="0"/>
                  </a:lnTo>
                  <a:lnTo>
                    <a:pt x="25336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2767" r="0" b="-12276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53365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06 — SYSTEM DESIGN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201025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87825" y="9644062"/>
            <a:ext cx="68580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8238" y="3954066"/>
            <a:ext cx="30194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E40AF"/>
                </a:solidFill>
                <a:latin typeface="Inter Bold"/>
                <a:ea typeface="Inter Bold"/>
                <a:cs typeface="Inter Bold"/>
                <a:sym typeface="Inter Bold"/>
              </a:rPr>
              <a:t>1. Environment &amp; Inputs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43412" y="3954066"/>
            <a:ext cx="128301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3D SRTM Digital Elevation Data + Real-Time Wind Speed/Direction Vector Field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065419" y="4568428"/>
            <a:ext cx="157162" cy="200025"/>
            <a:chOff x="0" y="0"/>
            <a:chExt cx="209550" cy="2667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09" t="0" r="-909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19188" y="5139928"/>
            <a:ext cx="30384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166534"/>
                </a:solidFill>
                <a:latin typeface="Inter Bold"/>
                <a:ea typeface="Inter Bold"/>
                <a:cs typeface="Inter Bold"/>
                <a:sym typeface="Inter Bold"/>
              </a:rPr>
              <a:t>2. Physics &amp; Energy Engine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443412" y="5139928"/>
            <a:ext cx="5787033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OWT-A* Cost Function: Wind Drag  + Climb Cost + Avionics Power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065419" y="5754291"/>
            <a:ext cx="157162" cy="200025"/>
            <a:chOff x="0" y="0"/>
            <a:chExt cx="209550" cy="266700"/>
          </a:xfrm>
        </p:grpSpPr>
        <p:sp>
          <p:nvSpPr>
            <p:cNvPr name="Freeform 32" id="32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09" t="0" r="-909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38238" y="6325791"/>
            <a:ext cx="30194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854D0E"/>
                </a:solidFill>
                <a:latin typeface="Inter Bold"/>
                <a:ea typeface="Inter Bold"/>
                <a:cs typeface="Inter Bold"/>
                <a:sym typeface="Inter Bold"/>
              </a:rPr>
              <a:t>3. Game-Theoretic Intelligence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443412" y="6325791"/>
            <a:ext cx="1034266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Bayesian Stackelberg Security Game (SSE) + SUQR Bounded Rationality Attacker Predictor (Utility= (P1 * V1) + (P2+V2))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065419" y="6940153"/>
            <a:ext cx="157162" cy="200025"/>
            <a:chOff x="0" y="0"/>
            <a:chExt cx="209550" cy="2667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209550" cy="266700"/>
            </a:xfrm>
            <a:custGeom>
              <a:avLst/>
              <a:gdLst/>
              <a:ahLst/>
              <a:cxnLst/>
              <a:rect r="r" b="b" t="t" l="l"/>
              <a:pathLst>
                <a:path h="26670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909" t="0" r="-909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38238" y="7511653"/>
            <a:ext cx="301942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6B21A8"/>
                </a:solidFill>
                <a:latin typeface="Inter Bold"/>
                <a:ea typeface="Inter Bold"/>
                <a:cs typeface="Inter Bold"/>
                <a:sym typeface="Inter Bold"/>
              </a:rPr>
              <a:t>4. SMRS Control &amp; Pathing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443412" y="7511653"/>
            <a:ext cx="12830175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Markov Chain Route Generator + Autonomous Multi-UAV Relay-Handoff Protocol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14412" y="3982641"/>
            <a:ext cx="185738" cy="185738"/>
            <a:chOff x="0" y="0"/>
            <a:chExt cx="247650" cy="247650"/>
          </a:xfrm>
        </p:grpSpPr>
        <p:sp>
          <p:nvSpPr>
            <p:cNvPr name="Freeform 40" id="40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846" r="0" b="-3846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14412" y="5168503"/>
            <a:ext cx="157162" cy="185738"/>
            <a:chOff x="0" y="0"/>
            <a:chExt cx="209550" cy="247650"/>
          </a:xfrm>
        </p:grpSpPr>
        <p:sp>
          <p:nvSpPr>
            <p:cNvPr name="Freeform 42" id="42" descr="image.png"/>
            <p:cNvSpPr/>
            <p:nvPr/>
          </p:nvSpPr>
          <p:spPr>
            <a:xfrm flipH="false" flipV="false" rot="0">
              <a:off x="0" y="0"/>
              <a:ext cx="209550" cy="247650"/>
            </a:xfrm>
            <a:custGeom>
              <a:avLst/>
              <a:gdLst/>
              <a:ahLst/>
              <a:cxnLst/>
              <a:rect r="r" b="b" t="t" l="l"/>
              <a:pathLst>
                <a:path h="247650" w="209550">
                  <a:moveTo>
                    <a:pt x="0" y="0"/>
                  </a:moveTo>
                  <a:lnTo>
                    <a:pt x="209550" y="0"/>
                  </a:lnTo>
                  <a:lnTo>
                    <a:pt x="2095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3846" r="0" b="-3846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14412" y="6354366"/>
            <a:ext cx="185738" cy="185738"/>
            <a:chOff x="0" y="0"/>
            <a:chExt cx="247650" cy="247650"/>
          </a:xfrm>
        </p:grpSpPr>
        <p:sp>
          <p:nvSpPr>
            <p:cNvPr name="Freeform 44" id="44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3846" r="0" b="-3846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14412" y="7540228"/>
            <a:ext cx="185738" cy="185738"/>
            <a:chOff x="0" y="0"/>
            <a:chExt cx="247650" cy="247650"/>
          </a:xfrm>
        </p:grpSpPr>
        <p:sp>
          <p:nvSpPr>
            <p:cNvPr name="Freeform 46" id="46" descr="image.png"/>
            <p:cNvSpPr/>
            <p:nvPr/>
          </p:nvSpPr>
          <p:spPr>
            <a:xfrm flipH="false" flipV="false" rot="0">
              <a:off x="0" y="0"/>
              <a:ext cx="247650" cy="247650"/>
            </a:xfrm>
            <a:custGeom>
              <a:avLst/>
              <a:gdLst/>
              <a:ahLst/>
              <a:cxnLst/>
              <a:rect r="r" b="b" t="t" l="l"/>
              <a:pathLst>
                <a:path h="247650" w="247650">
                  <a:moveTo>
                    <a:pt x="0" y="0"/>
                  </a:moveTo>
                  <a:lnTo>
                    <a:pt x="247650" y="0"/>
                  </a:lnTo>
                  <a:lnTo>
                    <a:pt x="247650" y="247650"/>
                  </a:lnTo>
                  <a:lnTo>
                    <a:pt x="0" y="2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3846" r="0" b="-3846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06 — System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4735640"/>
            <a:ext cx="8179594" cy="2508799"/>
            <a:chOff x="0" y="0"/>
            <a:chExt cx="10906125" cy="334506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06125" cy="3345053"/>
            </a:xfrm>
            <a:custGeom>
              <a:avLst/>
              <a:gdLst/>
              <a:ahLst/>
              <a:cxnLst/>
              <a:rect r="r" b="b" t="t" l="l"/>
              <a:pathLst>
                <a:path h="3345053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3345053"/>
                  </a:lnTo>
                  <a:lnTo>
                    <a:pt x="0" y="3345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6" r="0" b="-35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94031" y="4711303"/>
            <a:ext cx="8179594" cy="1743075"/>
            <a:chOff x="0" y="0"/>
            <a:chExt cx="10906125" cy="23241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06125" cy="2324100"/>
            </a:xfrm>
            <a:custGeom>
              <a:avLst/>
              <a:gdLst/>
              <a:ahLst/>
              <a:cxnLst/>
              <a:rect r="r" b="b" t="t" l="l"/>
              <a:pathLst>
                <a:path h="2324100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2324100"/>
                  </a:lnTo>
                  <a:lnTo>
                    <a:pt x="0" y="232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65" r="0" b="-36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4375" y="9644062"/>
            <a:ext cx="2000250" cy="214312"/>
            <a:chOff x="0" y="0"/>
            <a:chExt cx="2667000" cy="285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67000" cy="285750"/>
            </a:xfrm>
            <a:custGeom>
              <a:avLst/>
              <a:gdLst/>
              <a:ahLst/>
              <a:cxnLst/>
              <a:rect r="r" b="b" t="t" l="l"/>
              <a:pathLst>
                <a:path h="28575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6670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07 — IMPLEMENTATION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251031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887825" y="9644062"/>
            <a:ext cx="68580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09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4375" y="4278440"/>
            <a:ext cx="858856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B499D"/>
                </a:solidFill>
                <a:latin typeface="Inter Bold"/>
                <a:ea typeface="Inter Bold"/>
                <a:cs typeface="Inter Bold"/>
                <a:sym typeface="Inter Bold"/>
              </a:rPr>
              <a:t>Energy Physics Formulations (OWT-A*)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94031" y="4254103"/>
            <a:ext cx="858856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B499D"/>
                </a:solidFill>
                <a:latin typeface="Inter Bold"/>
                <a:ea typeface="Inter Bold"/>
                <a:cs typeface="Inter Bold"/>
                <a:sym typeface="Inter Bold"/>
              </a:rPr>
              <a:t>Tools &amp; Execution Logic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94081" y="6578203"/>
            <a:ext cx="7779544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Environment Grid: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30×30 SRTM Elevation Grid.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94081" y="7071122"/>
            <a:ext cx="7779544" cy="36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Stack: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Python 3.11, NumPy, Pygame GUI.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7275" y="5035677"/>
            <a:ext cx="2100262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 Wind Drag Power Cost: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57275" y="5287937"/>
            <a:ext cx="2450754" cy="269234"/>
            <a:chOff x="0" y="0"/>
            <a:chExt cx="3267672" cy="358978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267710" cy="359029"/>
            </a:xfrm>
            <a:custGeom>
              <a:avLst/>
              <a:gdLst/>
              <a:ahLst/>
              <a:cxnLst/>
              <a:rect r="r" b="b" t="t" l="l"/>
              <a:pathLst>
                <a:path h="359029" w="3267710">
                  <a:moveTo>
                    <a:pt x="0" y="0"/>
                  </a:moveTo>
                  <a:lnTo>
                    <a:pt x="3267710" y="0"/>
                  </a:lnTo>
                  <a:lnTo>
                    <a:pt x="3267710" y="359029"/>
                  </a:lnTo>
                  <a:lnTo>
                    <a:pt x="0" y="359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75" r="1" b="-261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57275" y="5728621"/>
            <a:ext cx="2143125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 Elevation Climb Energy: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57275" y="6014371"/>
            <a:ext cx="1767850" cy="228600"/>
            <a:chOff x="0" y="0"/>
            <a:chExt cx="2357133" cy="304800"/>
          </a:xfrm>
        </p:grpSpPr>
        <p:sp>
          <p:nvSpPr>
            <p:cNvPr name="Freeform 30" id="30" descr="image.png"/>
            <p:cNvSpPr/>
            <p:nvPr/>
          </p:nvSpPr>
          <p:spPr>
            <a:xfrm flipH="false" flipV="false" rot="0">
              <a:off x="0" y="0"/>
              <a:ext cx="2357120" cy="304800"/>
            </a:xfrm>
            <a:custGeom>
              <a:avLst/>
              <a:gdLst/>
              <a:ahLst/>
              <a:cxnLst/>
              <a:rect r="r" b="b" t="t" l="l"/>
              <a:pathLst>
                <a:path h="304800" w="2357120">
                  <a:moveTo>
                    <a:pt x="0" y="0"/>
                  </a:moveTo>
                  <a:lnTo>
                    <a:pt x="2357120" y="0"/>
                  </a:lnTo>
                  <a:lnTo>
                    <a:pt x="235712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012" r="0" b="-3008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57275" y="6414421"/>
            <a:ext cx="21288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 Total Mechanical Work: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57275" y="6665338"/>
            <a:ext cx="1717843" cy="336204"/>
            <a:chOff x="0" y="0"/>
            <a:chExt cx="2290458" cy="448272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2290445" cy="448310"/>
            </a:xfrm>
            <a:custGeom>
              <a:avLst/>
              <a:gdLst/>
              <a:ahLst/>
              <a:cxnLst/>
              <a:rect r="r" b="b" t="t" l="l"/>
              <a:pathLst>
                <a:path h="448310" w="2290445">
                  <a:moveTo>
                    <a:pt x="0" y="0"/>
                  </a:moveTo>
                  <a:lnTo>
                    <a:pt x="2290445" y="0"/>
                  </a:lnTo>
                  <a:lnTo>
                    <a:pt x="2290445" y="448310"/>
                  </a:lnTo>
                  <a:lnTo>
                    <a:pt x="0" y="448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784" r="0" b="-2776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07 — Implementation &amp;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Physics Energy Model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394031" y="6654403"/>
            <a:ext cx="228600" cy="228600"/>
            <a:chOff x="0" y="0"/>
            <a:chExt cx="304800" cy="3048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394031" y="7147322"/>
            <a:ext cx="228600" cy="228600"/>
            <a:chOff x="0" y="0"/>
            <a:chExt cx="304800" cy="304800"/>
          </a:xfrm>
        </p:grpSpPr>
        <p:sp>
          <p:nvSpPr>
            <p:cNvPr name="Freeform 38" id="38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3796903"/>
            <a:ext cx="5429250" cy="1543050"/>
            <a:chOff x="0" y="0"/>
            <a:chExt cx="7239000" cy="20574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239000" cy="2057400"/>
            </a:xfrm>
            <a:custGeom>
              <a:avLst/>
              <a:gdLst/>
              <a:ahLst/>
              <a:cxnLst/>
              <a:rect r="r" b="b" t="t" l="l"/>
              <a:pathLst>
                <a:path h="2057400" w="7239000">
                  <a:moveTo>
                    <a:pt x="0" y="0"/>
                  </a:moveTo>
                  <a:lnTo>
                    <a:pt x="7239000" y="0"/>
                  </a:lnTo>
                  <a:lnTo>
                    <a:pt x="72390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62" r="0" b="-46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29375" y="3796903"/>
            <a:ext cx="5429250" cy="1543050"/>
            <a:chOff x="0" y="0"/>
            <a:chExt cx="7239000" cy="20574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239000" cy="2057400"/>
            </a:xfrm>
            <a:custGeom>
              <a:avLst/>
              <a:gdLst/>
              <a:ahLst/>
              <a:cxnLst/>
              <a:rect r="r" b="b" t="t" l="l"/>
              <a:pathLst>
                <a:path h="2057400" w="7239000">
                  <a:moveTo>
                    <a:pt x="0" y="0"/>
                  </a:moveTo>
                  <a:lnTo>
                    <a:pt x="7239000" y="0"/>
                  </a:lnTo>
                  <a:lnTo>
                    <a:pt x="72390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62" r="0" b="-46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44375" y="3796903"/>
            <a:ext cx="5429250" cy="1543050"/>
            <a:chOff x="0" y="0"/>
            <a:chExt cx="7239000" cy="2057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239000" cy="2057400"/>
            </a:xfrm>
            <a:custGeom>
              <a:avLst/>
              <a:gdLst/>
              <a:ahLst/>
              <a:cxnLst/>
              <a:rect r="r" b="b" t="t" l="l"/>
              <a:pathLst>
                <a:path h="2057400" w="7239000">
                  <a:moveTo>
                    <a:pt x="0" y="0"/>
                  </a:moveTo>
                  <a:lnTo>
                    <a:pt x="7239000" y="0"/>
                  </a:lnTo>
                  <a:lnTo>
                    <a:pt x="7239000" y="2057400"/>
                  </a:lnTo>
                  <a:lnTo>
                    <a:pt x="0" y="2057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62" r="0" b="-46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9428" y="2297885"/>
            <a:ext cx="17510066" cy="7560490"/>
            <a:chOff x="0" y="0"/>
            <a:chExt cx="22479000" cy="9705975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2479000" cy="9705975"/>
            </a:xfrm>
            <a:custGeom>
              <a:avLst/>
              <a:gdLst/>
              <a:ahLst/>
              <a:cxnLst/>
              <a:rect r="r" b="b" t="t" l="l"/>
              <a:pathLst>
                <a:path h="9705975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9705975"/>
                  </a:lnTo>
                  <a:lnTo>
                    <a:pt x="0" y="9705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9" r="0" b="-4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4375" y="9644062"/>
            <a:ext cx="1257300" cy="214312"/>
            <a:chOff x="0" y="0"/>
            <a:chExt cx="1676400" cy="2857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76400" cy="285750"/>
            </a:xfrm>
            <a:custGeom>
              <a:avLst/>
              <a:gdLst/>
              <a:ahLst/>
              <a:cxnLst/>
              <a:rect r="r" b="b" t="t" l="l"/>
              <a:pathLst>
                <a:path h="28575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4312" r="0" b="-6431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6764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08 — RESULTS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900988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930688" y="9644062"/>
            <a:ext cx="6429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5838" y="4030266"/>
            <a:ext cx="4886325" cy="82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69%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5838" y="4854178"/>
            <a:ext cx="4886325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405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Area Coverage (283 Steps)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00838" y="4030266"/>
            <a:ext cx="4886325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166534"/>
                </a:solidFill>
                <a:latin typeface="Poppins Bold"/>
                <a:ea typeface="Poppins Bold"/>
                <a:cs typeface="Poppins Bold"/>
                <a:sym typeface="Poppins Bold"/>
              </a:rPr>
              <a:t>18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00838" y="4854178"/>
            <a:ext cx="4886325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405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Threats Intercepted (SMRS)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15838" y="4030266"/>
            <a:ext cx="4886325" cy="82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4050" b="true">
                <a:solidFill>
                  <a:srgbClr val="6B21A8"/>
                </a:solidFill>
                <a:latin typeface="Poppins Bold"/>
                <a:ea typeface="Poppins Bold"/>
                <a:cs typeface="Poppins Bold"/>
                <a:sym typeface="Poppins Bold"/>
              </a:rPr>
              <a:t>+3.62%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15838" y="4854178"/>
            <a:ext cx="4886325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sz="1405">
                <a:solidFill>
                  <a:srgbClr val="581C87"/>
                </a:solidFill>
                <a:latin typeface="Inter"/>
                <a:ea typeface="Inter"/>
                <a:cs typeface="Inter"/>
                <a:sym typeface="Inter"/>
              </a:rPr>
              <a:t>Detection Rate Gain via Adaptive Game Theory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08 — Results &amp;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Analysis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7231" y="4307900"/>
            <a:ext cx="16873538" cy="3078509"/>
            <a:chOff x="0" y="0"/>
            <a:chExt cx="22498050" cy="4104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98050" cy="4104640"/>
            </a:xfrm>
            <a:custGeom>
              <a:avLst/>
              <a:gdLst/>
              <a:ahLst/>
              <a:cxnLst/>
              <a:rect r="r" b="b" t="t" l="l"/>
              <a:pathLst>
                <a:path h="4104640" w="22498050">
                  <a:moveTo>
                    <a:pt x="0" y="0"/>
                  </a:moveTo>
                  <a:lnTo>
                    <a:pt x="22498050" y="0"/>
                  </a:lnTo>
                  <a:lnTo>
                    <a:pt x="22498050" y="4104640"/>
                  </a:lnTo>
                  <a:lnTo>
                    <a:pt x="0" y="4104640"/>
                  </a:lnTo>
                </a:path>
              </a:pathLst>
            </a:custGeom>
            <a:solidFill>
              <a:srgbClr val="FFFFFF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714375" y="4315047"/>
          <a:ext cx="16783050" cy="3048000"/>
        </p:xfrm>
        <a:graphic>
          <a:graphicData uri="http://schemas.openxmlformats.org/drawingml/2006/table">
            <a:tbl>
              <a:tblPr/>
              <a:tblGrid>
                <a:gridCol w="3506255"/>
                <a:gridCol w="2737121"/>
                <a:gridCol w="3256698"/>
                <a:gridCol w="2976892"/>
                <a:gridCol w="4306084"/>
              </a:tblGrid>
              <a:tr h="6095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 / Dimension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Greedy Search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Standard A* / GPS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ACO Benchmark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99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Proposed SMRS (OWT-A*)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751"/>
                    </a:solidFill>
                  </a:tcPr>
                </a:tc>
              </a:tr>
              <a:tr h="6095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3D Wind Physics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Ignored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Ignored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Basic Drag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Full OWT-A* Engine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5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Route Predictability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(Fixed)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Very High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Moderate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Zero (Game Theory SSE)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0959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Relay Handoff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Autonomous SMRS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Safety Override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21"/>
                        </a:lnSpc>
                        <a:defRPr/>
                      </a:pPr>
                      <a:r>
                        <a:rPr lang="en-US" sz="1518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Real-Time Threat Logic</a:t>
                      </a:r>
                      <a:endParaRPr lang="en-US" sz="1100"/>
                    </a:p>
                  </a:txBody>
                  <a:tcPr marL="91313" marR="91313" marT="91313" marB="91313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714375" y="9644062"/>
            <a:ext cx="1657350" cy="214312"/>
            <a:chOff x="0" y="0"/>
            <a:chExt cx="2209800" cy="2857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9800" cy="285750"/>
            </a:xfrm>
            <a:custGeom>
              <a:avLst/>
              <a:gdLst/>
              <a:ahLst/>
              <a:cxnLst/>
              <a:rect r="r" b="b" t="t" l="l"/>
              <a:pathLst>
                <a:path h="285750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0684" r="0" b="-10068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2098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09 — COMPARISON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22444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973550" y="9644062"/>
            <a:ext cx="600075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21519" y="5535063"/>
            <a:ext cx="3519192" cy="14288"/>
            <a:chOff x="0" y="0"/>
            <a:chExt cx="4692256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92269" cy="19050"/>
            </a:xfrm>
            <a:custGeom>
              <a:avLst/>
              <a:gdLst/>
              <a:ahLst/>
              <a:cxnLst/>
              <a:rect r="r" b="b" t="t" l="l"/>
              <a:pathLst>
                <a:path h="19050" w="4692269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40711" y="5535063"/>
            <a:ext cx="2747220" cy="14288"/>
            <a:chOff x="0" y="0"/>
            <a:chExt cx="3662959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62934" cy="19050"/>
            </a:xfrm>
            <a:custGeom>
              <a:avLst/>
              <a:gdLst/>
              <a:ahLst/>
              <a:cxnLst/>
              <a:rect r="r" b="b" t="t" l="l"/>
              <a:pathLst>
                <a:path h="19050" w="3662934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87921" y="5535063"/>
            <a:ext cx="3268713" cy="14288"/>
            <a:chOff x="0" y="0"/>
            <a:chExt cx="4358284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58259" cy="19050"/>
            </a:xfrm>
            <a:custGeom>
              <a:avLst/>
              <a:gdLst/>
              <a:ahLst/>
              <a:cxnLst/>
              <a:rect r="r" b="b" t="t" l="l"/>
              <a:pathLst>
                <a:path h="19050" w="4358259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256634" y="5535063"/>
            <a:ext cx="2987869" cy="14288"/>
            <a:chOff x="0" y="0"/>
            <a:chExt cx="3983825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83863" cy="19050"/>
            </a:xfrm>
            <a:custGeom>
              <a:avLst/>
              <a:gdLst/>
              <a:ahLst/>
              <a:cxnLst/>
              <a:rect r="r" b="b" t="t" l="l"/>
              <a:pathLst>
                <a:path h="19050" w="3983863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244512" y="5535063"/>
            <a:ext cx="4321969" cy="14288"/>
            <a:chOff x="0" y="0"/>
            <a:chExt cx="5762625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62625" cy="19050"/>
            </a:xfrm>
            <a:custGeom>
              <a:avLst/>
              <a:gdLst/>
              <a:ahLst/>
              <a:cxnLst/>
              <a:rect r="r" b="b" t="t" l="l"/>
              <a:pathLst>
                <a:path h="19050" w="5762625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21519" y="6160818"/>
            <a:ext cx="3519192" cy="14288"/>
            <a:chOff x="0" y="0"/>
            <a:chExt cx="4692256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92269" cy="19050"/>
            </a:xfrm>
            <a:custGeom>
              <a:avLst/>
              <a:gdLst/>
              <a:ahLst/>
              <a:cxnLst/>
              <a:rect r="r" b="b" t="t" l="l"/>
              <a:pathLst>
                <a:path h="19050" w="4692269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240711" y="6160818"/>
            <a:ext cx="2747220" cy="14288"/>
            <a:chOff x="0" y="0"/>
            <a:chExt cx="3662959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62934" cy="19050"/>
            </a:xfrm>
            <a:custGeom>
              <a:avLst/>
              <a:gdLst/>
              <a:ahLst/>
              <a:cxnLst/>
              <a:rect r="r" b="b" t="t" l="l"/>
              <a:pathLst>
                <a:path h="19050" w="3662934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987921" y="6160818"/>
            <a:ext cx="3268713" cy="14288"/>
            <a:chOff x="0" y="0"/>
            <a:chExt cx="4358284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58259" cy="19050"/>
            </a:xfrm>
            <a:custGeom>
              <a:avLst/>
              <a:gdLst/>
              <a:ahLst/>
              <a:cxnLst/>
              <a:rect r="r" b="b" t="t" l="l"/>
              <a:pathLst>
                <a:path h="19050" w="4358259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256634" y="6160818"/>
            <a:ext cx="2987869" cy="14288"/>
            <a:chOff x="0" y="0"/>
            <a:chExt cx="3983825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83863" cy="19050"/>
            </a:xfrm>
            <a:custGeom>
              <a:avLst/>
              <a:gdLst/>
              <a:ahLst/>
              <a:cxnLst/>
              <a:rect r="r" b="b" t="t" l="l"/>
              <a:pathLst>
                <a:path h="19050" w="3983863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244512" y="6160818"/>
            <a:ext cx="4321969" cy="14288"/>
            <a:chOff x="0" y="0"/>
            <a:chExt cx="5762625" cy="190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62625" cy="19050"/>
            </a:xfrm>
            <a:custGeom>
              <a:avLst/>
              <a:gdLst/>
              <a:ahLst/>
              <a:cxnLst/>
              <a:rect r="r" b="b" t="t" l="l"/>
              <a:pathLst>
                <a:path h="19050" w="5762625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21519" y="6759321"/>
            <a:ext cx="3519192" cy="14288"/>
            <a:chOff x="0" y="0"/>
            <a:chExt cx="4692256" cy="19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92269" cy="19050"/>
            </a:xfrm>
            <a:custGeom>
              <a:avLst/>
              <a:gdLst/>
              <a:ahLst/>
              <a:cxnLst/>
              <a:rect r="r" b="b" t="t" l="l"/>
              <a:pathLst>
                <a:path h="19050" w="4692269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240711" y="6759321"/>
            <a:ext cx="2747220" cy="14288"/>
            <a:chOff x="0" y="0"/>
            <a:chExt cx="3662959" cy="190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62934" cy="19050"/>
            </a:xfrm>
            <a:custGeom>
              <a:avLst/>
              <a:gdLst/>
              <a:ahLst/>
              <a:cxnLst/>
              <a:rect r="r" b="b" t="t" l="l"/>
              <a:pathLst>
                <a:path h="19050" w="3662934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987921" y="6759321"/>
            <a:ext cx="3268713" cy="14288"/>
            <a:chOff x="0" y="0"/>
            <a:chExt cx="4358284" cy="190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58259" cy="19050"/>
            </a:xfrm>
            <a:custGeom>
              <a:avLst/>
              <a:gdLst/>
              <a:ahLst/>
              <a:cxnLst/>
              <a:rect r="r" b="b" t="t" l="l"/>
              <a:pathLst>
                <a:path h="19050" w="4358259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256634" y="6759321"/>
            <a:ext cx="2987869" cy="14288"/>
            <a:chOff x="0" y="0"/>
            <a:chExt cx="3983825" cy="190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83863" cy="19050"/>
            </a:xfrm>
            <a:custGeom>
              <a:avLst/>
              <a:gdLst/>
              <a:ahLst/>
              <a:cxnLst/>
              <a:rect r="r" b="b" t="t" l="l"/>
              <a:pathLst>
                <a:path h="19050" w="3983863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244512" y="6759321"/>
            <a:ext cx="4321969" cy="14288"/>
            <a:chOff x="0" y="0"/>
            <a:chExt cx="5762625" cy="190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762625" cy="19050"/>
            </a:xfrm>
            <a:custGeom>
              <a:avLst/>
              <a:gdLst/>
              <a:ahLst/>
              <a:cxnLst/>
              <a:rect r="r" b="b" t="t" l="l"/>
              <a:pathLst>
                <a:path h="19050" w="5762625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21519" y="7357843"/>
            <a:ext cx="3519192" cy="14288"/>
            <a:chOff x="0" y="0"/>
            <a:chExt cx="4692256" cy="190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692269" cy="19050"/>
            </a:xfrm>
            <a:custGeom>
              <a:avLst/>
              <a:gdLst/>
              <a:ahLst/>
              <a:cxnLst/>
              <a:rect r="r" b="b" t="t" l="l"/>
              <a:pathLst>
                <a:path h="19050" w="4692269">
                  <a:moveTo>
                    <a:pt x="0" y="0"/>
                  </a:moveTo>
                  <a:lnTo>
                    <a:pt x="4692269" y="0"/>
                  </a:lnTo>
                  <a:lnTo>
                    <a:pt x="469226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4240711" y="7357843"/>
            <a:ext cx="2747220" cy="14288"/>
            <a:chOff x="0" y="0"/>
            <a:chExt cx="3662959" cy="190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62934" cy="19050"/>
            </a:xfrm>
            <a:custGeom>
              <a:avLst/>
              <a:gdLst/>
              <a:ahLst/>
              <a:cxnLst/>
              <a:rect r="r" b="b" t="t" l="l"/>
              <a:pathLst>
                <a:path h="19050" w="3662934">
                  <a:moveTo>
                    <a:pt x="0" y="0"/>
                  </a:moveTo>
                  <a:lnTo>
                    <a:pt x="3662934" y="0"/>
                  </a:lnTo>
                  <a:lnTo>
                    <a:pt x="366293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987921" y="7357843"/>
            <a:ext cx="3268713" cy="14288"/>
            <a:chOff x="0" y="0"/>
            <a:chExt cx="4358284" cy="190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58259" cy="19050"/>
            </a:xfrm>
            <a:custGeom>
              <a:avLst/>
              <a:gdLst/>
              <a:ahLst/>
              <a:cxnLst/>
              <a:rect r="r" b="b" t="t" l="l"/>
              <a:pathLst>
                <a:path h="19050" w="4358259">
                  <a:moveTo>
                    <a:pt x="0" y="0"/>
                  </a:moveTo>
                  <a:lnTo>
                    <a:pt x="4358259" y="0"/>
                  </a:lnTo>
                  <a:lnTo>
                    <a:pt x="4358259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256634" y="7357843"/>
            <a:ext cx="2987869" cy="14288"/>
            <a:chOff x="0" y="0"/>
            <a:chExt cx="3983825" cy="190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83863" cy="19050"/>
            </a:xfrm>
            <a:custGeom>
              <a:avLst/>
              <a:gdLst/>
              <a:ahLst/>
              <a:cxnLst/>
              <a:rect r="r" b="b" t="t" l="l"/>
              <a:pathLst>
                <a:path h="19050" w="3983863">
                  <a:moveTo>
                    <a:pt x="0" y="0"/>
                  </a:moveTo>
                  <a:lnTo>
                    <a:pt x="3983863" y="0"/>
                  </a:lnTo>
                  <a:lnTo>
                    <a:pt x="39838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244512" y="7357843"/>
            <a:ext cx="4321969" cy="14288"/>
            <a:chOff x="0" y="0"/>
            <a:chExt cx="5762625" cy="190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762625" cy="19050"/>
            </a:xfrm>
            <a:custGeom>
              <a:avLst/>
              <a:gdLst/>
              <a:ahLst/>
              <a:cxnLst/>
              <a:rect r="r" b="b" t="t" l="l"/>
              <a:pathLst>
                <a:path h="19050" w="5762625">
                  <a:moveTo>
                    <a:pt x="0" y="0"/>
                  </a:moveTo>
                  <a:lnTo>
                    <a:pt x="5762625" y="0"/>
                  </a:lnTo>
                  <a:lnTo>
                    <a:pt x="5762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614321" y="5158007"/>
            <a:ext cx="142875" cy="192881"/>
            <a:chOff x="0" y="0"/>
            <a:chExt cx="190500" cy="257175"/>
          </a:xfrm>
        </p:grpSpPr>
        <p:sp>
          <p:nvSpPr>
            <p:cNvPr name="Freeform 61" id="61" descr="image.png"/>
            <p:cNvSpPr/>
            <p:nvPr/>
          </p:nvSpPr>
          <p:spPr>
            <a:xfrm flipH="false" flipV="false" rot="0">
              <a:off x="0" y="0"/>
              <a:ext cx="190500" cy="257175"/>
            </a:xfrm>
            <a:custGeom>
              <a:avLst/>
              <a:gdLst/>
              <a:ahLst/>
              <a:cxnLst/>
              <a:rect r="r" b="b" t="t" l="l"/>
              <a:pathLst>
                <a:path h="257175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03" r="0" b="-508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51590" y="5143500"/>
            <a:ext cx="142875" cy="192881"/>
            <a:chOff x="0" y="0"/>
            <a:chExt cx="190500" cy="257175"/>
          </a:xfrm>
        </p:grpSpPr>
        <p:sp>
          <p:nvSpPr>
            <p:cNvPr name="Freeform 63" id="63" descr="image.png"/>
            <p:cNvSpPr/>
            <p:nvPr/>
          </p:nvSpPr>
          <p:spPr>
            <a:xfrm flipH="false" flipV="false" rot="0">
              <a:off x="0" y="0"/>
              <a:ext cx="190500" cy="257175"/>
            </a:xfrm>
            <a:custGeom>
              <a:avLst/>
              <a:gdLst/>
              <a:ahLst/>
              <a:cxnLst/>
              <a:rect r="r" b="b" t="t" l="l"/>
              <a:pathLst>
                <a:path h="257175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03" r="0" b="-508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6005729" y="5143500"/>
            <a:ext cx="171450" cy="192881"/>
            <a:chOff x="0" y="0"/>
            <a:chExt cx="228600" cy="257175"/>
          </a:xfrm>
        </p:grpSpPr>
        <p:sp>
          <p:nvSpPr>
            <p:cNvPr name="Freeform 65" id="65" descr="image.png"/>
            <p:cNvSpPr/>
            <p:nvPr/>
          </p:nvSpPr>
          <p:spPr>
            <a:xfrm flipH="false" flipV="false" rot="0">
              <a:off x="0" y="0"/>
              <a:ext cx="228600" cy="257175"/>
            </a:xfrm>
            <a:custGeom>
              <a:avLst/>
              <a:gdLst/>
              <a:ahLst/>
              <a:cxnLst/>
              <a:rect r="r" b="b" t="t" l="l"/>
              <a:pathLst>
                <a:path h="257175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283" r="0" b="-1279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244512" y="5730326"/>
            <a:ext cx="2286000" cy="297132"/>
            <a:chOff x="0" y="0"/>
            <a:chExt cx="3048000" cy="396176"/>
          </a:xfrm>
        </p:grpSpPr>
        <p:sp>
          <p:nvSpPr>
            <p:cNvPr name="Freeform 67" id="67" descr="image.png"/>
            <p:cNvSpPr/>
            <p:nvPr/>
          </p:nvSpPr>
          <p:spPr>
            <a:xfrm flipH="false" flipV="false" rot="0">
              <a:off x="0" y="0"/>
              <a:ext cx="3048000" cy="396240"/>
            </a:xfrm>
            <a:custGeom>
              <a:avLst/>
              <a:gdLst/>
              <a:ahLst/>
              <a:cxnLst/>
              <a:rect r="r" b="b" t="t" l="l"/>
              <a:pathLst>
                <a:path h="39624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564" r="0" b="-2548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482357" y="6382274"/>
            <a:ext cx="142875" cy="192881"/>
            <a:chOff x="0" y="0"/>
            <a:chExt cx="190500" cy="257175"/>
          </a:xfrm>
        </p:grpSpPr>
        <p:sp>
          <p:nvSpPr>
            <p:cNvPr name="Freeform 69" id="69" descr="image.png"/>
            <p:cNvSpPr/>
            <p:nvPr/>
          </p:nvSpPr>
          <p:spPr>
            <a:xfrm flipH="false" flipV="false" rot="0">
              <a:off x="0" y="0"/>
              <a:ext cx="190500" cy="257175"/>
            </a:xfrm>
            <a:custGeom>
              <a:avLst/>
              <a:gdLst/>
              <a:ahLst/>
              <a:cxnLst/>
              <a:rect r="r" b="b" t="t" l="l"/>
              <a:pathLst>
                <a:path h="257175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033" t="0" r="-3039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622278" y="6382274"/>
            <a:ext cx="142875" cy="192881"/>
            <a:chOff x="0" y="0"/>
            <a:chExt cx="190500" cy="257175"/>
          </a:xfrm>
        </p:grpSpPr>
        <p:sp>
          <p:nvSpPr>
            <p:cNvPr name="Freeform 71" id="71" descr="image.png"/>
            <p:cNvSpPr/>
            <p:nvPr/>
          </p:nvSpPr>
          <p:spPr>
            <a:xfrm flipH="false" flipV="false" rot="0">
              <a:off x="0" y="0"/>
              <a:ext cx="190500" cy="257175"/>
            </a:xfrm>
            <a:custGeom>
              <a:avLst/>
              <a:gdLst/>
              <a:ahLst/>
              <a:cxnLst/>
              <a:rect r="r" b="b" t="t" l="l"/>
              <a:pathLst>
                <a:path h="257175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033" t="0" r="-3039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222831" y="6382274"/>
            <a:ext cx="142875" cy="192881"/>
            <a:chOff x="0" y="0"/>
            <a:chExt cx="190500" cy="257175"/>
          </a:xfrm>
        </p:grpSpPr>
        <p:sp>
          <p:nvSpPr>
            <p:cNvPr name="Freeform 73" id="73" descr="image.png"/>
            <p:cNvSpPr/>
            <p:nvPr/>
          </p:nvSpPr>
          <p:spPr>
            <a:xfrm flipH="false" flipV="false" rot="0">
              <a:off x="0" y="0"/>
              <a:ext cx="190500" cy="257175"/>
            </a:xfrm>
            <a:custGeom>
              <a:avLst/>
              <a:gdLst/>
              <a:ahLst/>
              <a:cxnLst/>
              <a:rect r="r" b="b" t="t" l="l"/>
              <a:pathLst>
                <a:path h="257175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033" t="0" r="-3039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6005729" y="6285045"/>
            <a:ext cx="171450" cy="192881"/>
            <a:chOff x="0" y="0"/>
            <a:chExt cx="228600" cy="257175"/>
          </a:xfrm>
        </p:grpSpPr>
        <p:sp>
          <p:nvSpPr>
            <p:cNvPr name="Freeform 75" id="75" descr="image.png"/>
            <p:cNvSpPr/>
            <p:nvPr/>
          </p:nvSpPr>
          <p:spPr>
            <a:xfrm flipH="false" flipV="false" rot="0">
              <a:off x="0" y="0"/>
              <a:ext cx="228600" cy="257175"/>
            </a:xfrm>
            <a:custGeom>
              <a:avLst/>
              <a:gdLst/>
              <a:ahLst/>
              <a:cxnLst/>
              <a:rect r="r" b="b" t="t" l="l"/>
              <a:pathLst>
                <a:path h="257175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233" t="0" r="-2227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6005729" y="6887908"/>
            <a:ext cx="171450" cy="192881"/>
            <a:chOff x="0" y="0"/>
            <a:chExt cx="228600" cy="257175"/>
          </a:xfrm>
        </p:grpSpPr>
        <p:sp>
          <p:nvSpPr>
            <p:cNvPr name="Freeform 77" id="77" descr="image.png"/>
            <p:cNvSpPr/>
            <p:nvPr/>
          </p:nvSpPr>
          <p:spPr>
            <a:xfrm flipH="false" flipV="false" rot="0">
              <a:off x="0" y="0"/>
              <a:ext cx="228600" cy="257175"/>
            </a:xfrm>
            <a:custGeom>
              <a:avLst/>
              <a:gdLst/>
              <a:ahLst/>
              <a:cxnLst/>
              <a:rect r="r" b="b" t="t" l="l"/>
              <a:pathLst>
                <a:path h="257175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57175"/>
                  </a:lnTo>
                  <a:lnTo>
                    <a:pt x="0" y="25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233" t="0" r="-2227" b="0"/>
              </a:stretch>
            </a:blipFill>
          </p:spPr>
        </p:sp>
      </p:grpSp>
      <p:sp>
        <p:nvSpPr>
          <p:cNvPr name="TextBox 78" id="78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09 — Comparison &amp;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Discussion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3579019"/>
            <a:ext cx="8179594" cy="4536281"/>
            <a:chOff x="0" y="0"/>
            <a:chExt cx="10906125" cy="604837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06125" cy="6048375"/>
            </a:xfrm>
            <a:custGeom>
              <a:avLst/>
              <a:gdLst/>
              <a:ahLst/>
              <a:cxnLst/>
              <a:rect r="r" b="b" t="t" l="l"/>
              <a:pathLst>
                <a:path h="6048375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6048375"/>
                  </a:lnTo>
                  <a:lnTo>
                    <a:pt x="0" y="6048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5" r="0" b="-3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94031" y="3739753"/>
            <a:ext cx="8179594" cy="4214812"/>
            <a:chOff x="0" y="0"/>
            <a:chExt cx="10906125" cy="56197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906125" cy="5619750"/>
            </a:xfrm>
            <a:custGeom>
              <a:avLst/>
              <a:gdLst/>
              <a:ahLst/>
              <a:cxnLst/>
              <a:rect r="r" b="b" t="t" l="l"/>
              <a:pathLst>
                <a:path h="5619750" w="10906125">
                  <a:moveTo>
                    <a:pt x="0" y="0"/>
                  </a:moveTo>
                  <a:lnTo>
                    <a:pt x="10906125" y="0"/>
                  </a:lnTo>
                  <a:lnTo>
                    <a:pt x="10906125" y="5619750"/>
                  </a:lnTo>
                  <a:lnTo>
                    <a:pt x="0" y="561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5" r="0" b="-12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14375" y="9644062"/>
            <a:ext cx="1600200" cy="214312"/>
            <a:chOff x="0" y="0"/>
            <a:chExt cx="2133600" cy="285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33600" cy="285750"/>
            </a:xfrm>
            <a:custGeom>
              <a:avLst/>
              <a:gdLst/>
              <a:ahLst/>
              <a:cxnLst/>
              <a:rect r="r" b="b" t="t" l="l"/>
              <a:pathLst>
                <a:path h="28575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5488" r="0" b="-954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336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10 — CONCLUSION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079581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44975" y="9644062"/>
            <a:ext cx="628650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2988" y="3950494"/>
            <a:ext cx="628650" cy="628650"/>
            <a:chOff x="0" y="0"/>
            <a:chExt cx="838200" cy="8382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42988" y="4760119"/>
            <a:ext cx="7898482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Research Conclusion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722644" y="4111228"/>
            <a:ext cx="628650" cy="628650"/>
            <a:chOff x="0" y="0"/>
            <a:chExt cx="838200" cy="8382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838200" cy="838200"/>
            </a:xfrm>
            <a:custGeom>
              <a:avLst/>
              <a:gdLst/>
              <a:ahLst/>
              <a:cxnLst/>
              <a:rect r="r" b="b" t="t" l="l"/>
              <a:pathLst>
                <a:path h="8382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838200"/>
                  </a:lnTo>
                  <a:lnTo>
                    <a:pt x="0" y="83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722644" y="4920853"/>
            <a:ext cx="7898482" cy="404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Future Scope &amp; Enhancements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28725" y="4121944"/>
            <a:ext cx="257175" cy="285750"/>
            <a:chOff x="0" y="0"/>
            <a:chExt cx="342900" cy="381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43038" y="5260181"/>
            <a:ext cx="7122319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Successfully engineered an Autonomous UAV Border Surveillance framework uniting OWT-A* energy physics with Bayesian Stackelberg Security Games (SSE).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3038" y="6338887"/>
            <a:ext cx="7122319" cy="6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SMRS relay-handoff eliminated coverage blackouts during UAV battery depletion.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3038" y="7096125"/>
            <a:ext cx="7122319" cy="6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Achieved 69% area coverage and 18 threat interceptions, outperforming standard ACO and Greedy models.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894094" y="4282678"/>
            <a:ext cx="285750" cy="285750"/>
            <a:chOff x="0" y="0"/>
            <a:chExt cx="381000" cy="3810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122694" y="5420916"/>
            <a:ext cx="7122319" cy="61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Dynamic Micro-Weather: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Upgrading static wind vectors to live dynamic micro-weather &amp; turbulence models on VIsualization.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22694" y="6178153"/>
            <a:ext cx="7122319" cy="926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mprove Adaptive Learning: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Enable the UAV to adapt its game-theoretic strategy based on changing threats and environmental conditions.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10726" y="7056930"/>
            <a:ext cx="7122319" cy="6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</a:pPr>
            <a:r>
              <a:rPr lang="en-US" sz="1687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Swarm Deployment:</a:t>
            </a:r>
            <a:r>
              <a:rPr lang="en-US" sz="1687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Expanding SMRS to multi-UAV live swarm field deployment and hardware testing.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4375" y="1738312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10 — Conclusion &amp;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42988" y="5336381"/>
            <a:ext cx="228600" cy="228600"/>
            <a:chOff x="0" y="0"/>
            <a:chExt cx="304800" cy="304800"/>
          </a:xfrm>
        </p:grpSpPr>
        <p:sp>
          <p:nvSpPr>
            <p:cNvPr name="Freeform 39" id="39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42988" y="6415088"/>
            <a:ext cx="228600" cy="228600"/>
            <a:chOff x="0" y="0"/>
            <a:chExt cx="304800" cy="304800"/>
          </a:xfrm>
        </p:grpSpPr>
        <p:sp>
          <p:nvSpPr>
            <p:cNvPr name="Freeform 41" id="41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42988" y="7172325"/>
            <a:ext cx="228600" cy="228600"/>
            <a:chOff x="0" y="0"/>
            <a:chExt cx="304800" cy="30480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22644" y="5497116"/>
            <a:ext cx="228600" cy="228600"/>
            <a:chOff x="0" y="0"/>
            <a:chExt cx="304800" cy="304800"/>
          </a:xfrm>
        </p:grpSpPr>
        <p:sp>
          <p:nvSpPr>
            <p:cNvPr name="Freeform 45" id="45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722644" y="6254353"/>
            <a:ext cx="228600" cy="228600"/>
            <a:chOff x="0" y="0"/>
            <a:chExt cx="304800" cy="304800"/>
          </a:xfrm>
        </p:grpSpPr>
        <p:sp>
          <p:nvSpPr>
            <p:cNvPr name="Freeform 47" id="47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722644" y="7172325"/>
            <a:ext cx="228600" cy="228600"/>
            <a:chOff x="0" y="0"/>
            <a:chExt cx="304800" cy="304800"/>
          </a:xfrm>
        </p:grpSpPr>
        <p:sp>
          <p:nvSpPr>
            <p:cNvPr name="Freeform 49" id="49" descr="image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75" y="9644062"/>
            <a:ext cx="1500188" cy="214312"/>
            <a:chOff x="0" y="0"/>
            <a:chExt cx="2000250" cy="285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00250" cy="285750"/>
            </a:xfrm>
            <a:custGeom>
              <a:avLst/>
              <a:gdLst/>
              <a:ahLst/>
              <a:cxnLst/>
              <a:rect r="r" b="b" t="t" l="l"/>
              <a:pathLst>
                <a:path h="285750" w="2000250">
                  <a:moveTo>
                    <a:pt x="0" y="0"/>
                  </a:moveTo>
                  <a:lnTo>
                    <a:pt x="2000250" y="0"/>
                  </a:lnTo>
                  <a:lnTo>
                    <a:pt x="200025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0025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11 — REFERENCES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022431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30688" y="9644062"/>
            <a:ext cx="6429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00125" y="4674984"/>
            <a:ext cx="16573500" cy="29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[1] Di Franco, C., &amp; Buttazzo, G. (2015). Energy-aware coverage path planning of UAVs. </a:t>
            </a:r>
            <a:r>
              <a:rPr lang="en-US" sz="1405" i="true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IEEE International Conference on Robotics and Automation (ICRA)</a:t>
            </a: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7157-7162.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0125" y="5076825"/>
            <a:ext cx="16573500" cy="29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[2] Aggarwal, S., &amp; Kumar, N. (2020). Path planning techniques for unmanned aerial vehicles: A review, solutions, and challenges. </a:t>
            </a:r>
            <a:r>
              <a:rPr lang="en-US" sz="1405" i="true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Computer Communications</a:t>
            </a: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149, 270-299.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0125" y="5478656"/>
            <a:ext cx="16573500" cy="29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[3] Farr, T. G., et al. (2007). The shuttle radar topography mission (SRTM). </a:t>
            </a:r>
            <a:r>
              <a:rPr lang="en-US" sz="1405" i="true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Reviews of Geophysics</a:t>
            </a: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45(2), RG2004.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0125" y="5880497"/>
            <a:ext cx="16573500" cy="29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[4] Lian, F., et al. (2024). WA-LPA*: An Energy-Aware Path-Planning Algorithm for UAVs in Dynamic Wind Environments. </a:t>
            </a:r>
            <a:r>
              <a:rPr lang="en-US" sz="1405" i="true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Drones</a:t>
            </a: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9(12), 850.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0125" y="6282328"/>
            <a:ext cx="16573500" cy="29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[5] Basilico, N., Gatti, N., &amp; Amigoni, F. (2009). Leader-follower strategies for robotic patrolling in environments with arbitrary topologies. </a:t>
            </a:r>
            <a:r>
              <a:rPr lang="en-US" sz="1405" i="true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IEEE Transactions on Robotics</a:t>
            </a: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25(6), 1317-1331.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0125" y="6684169"/>
            <a:ext cx="16573500" cy="297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[6] Yang, R., Kiekintveld, C., Ordóñez, F., Tambe, M., &amp; John, R. (2011). Improving resource allocation strategy against human adversaries in security games. </a:t>
            </a:r>
            <a:r>
              <a:rPr lang="en-US" sz="1405" i="true">
                <a:solidFill>
                  <a:srgbClr val="334155"/>
                </a:solidFill>
                <a:latin typeface="Inter Italics"/>
                <a:ea typeface="Inter Italics"/>
                <a:cs typeface="Inter Italics"/>
                <a:sym typeface="Inter Italics"/>
              </a:rPr>
              <a:t>IJCAI Proceedings</a:t>
            </a:r>
            <a:r>
              <a:rPr lang="en-US" sz="140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22(1), 458-464.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11 — Key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587788" y="621506"/>
            <a:ext cx="985838" cy="300038"/>
            <a:chOff x="0" y="0"/>
            <a:chExt cx="1314450" cy="4000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80" r="0" b="-238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14625" y="3954513"/>
            <a:ext cx="12858750" cy="3785292"/>
            <a:chOff x="0" y="0"/>
            <a:chExt cx="17145000" cy="504705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7145000" cy="5047107"/>
            </a:xfrm>
            <a:custGeom>
              <a:avLst/>
              <a:gdLst/>
              <a:ahLst/>
              <a:cxnLst/>
              <a:rect r="r" b="b" t="t" l="l"/>
              <a:pathLst>
                <a:path h="5047107" w="17145000">
                  <a:moveTo>
                    <a:pt x="0" y="0"/>
                  </a:moveTo>
                  <a:lnTo>
                    <a:pt x="17145000" y="0"/>
                  </a:lnTo>
                  <a:lnTo>
                    <a:pt x="17145000" y="5047107"/>
                  </a:lnTo>
                  <a:lnTo>
                    <a:pt x="0" y="5047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369" t="0" r="-6369" b="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75" y="9486900"/>
            <a:ext cx="16859250" cy="371475"/>
            <a:chOff x="0" y="0"/>
            <a:chExt cx="22479000" cy="4953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22479000" cy="495300"/>
            </a:xfrm>
            <a:custGeom>
              <a:avLst/>
              <a:gdLst/>
              <a:ahLst/>
              <a:cxnLst/>
              <a:rect r="r" b="b" t="t" l="l"/>
              <a:pathLst>
                <a:path h="4953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9644062"/>
            <a:ext cx="2286000" cy="214312"/>
            <a:chOff x="0" y="0"/>
            <a:chExt cx="3048000" cy="285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48000" cy="285750"/>
            </a:xfrm>
            <a:custGeom>
              <a:avLst/>
              <a:gdLst/>
              <a:ahLst/>
              <a:cxnLst/>
              <a:rect r="r" b="b" t="t" l="l"/>
              <a:pathLst>
                <a:path h="28575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85750"/>
                  </a:lnTo>
                  <a:lnTo>
                    <a:pt x="0" y="2857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3048000" cy="285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0B499D"/>
                  </a:solidFill>
                  <a:latin typeface="Inter"/>
                  <a:ea typeface="Inter"/>
                  <a:cs typeface="Inter"/>
                  <a:sym typeface="Inter"/>
                </a:rPr>
                <a:t>12 — ACKNOWLEDGEMENT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415338" y="9644062"/>
            <a:ext cx="310038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Department of CSE · Uttara University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30688" y="9644062"/>
            <a:ext cx="6429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Page 14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915400" y="4454576"/>
            <a:ext cx="457200" cy="514350"/>
            <a:chOff x="0" y="0"/>
            <a:chExt cx="609600" cy="6858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609600" cy="685800"/>
            </a:xfrm>
            <a:custGeom>
              <a:avLst/>
              <a:gdLst/>
              <a:ahLst/>
              <a:cxnLst/>
              <a:rect r="r" b="b" t="t" l="l"/>
              <a:pathLst>
                <a:path h="685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88" r="0" b="-1388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157538" y="5097513"/>
            <a:ext cx="11972925" cy="1114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8"/>
              </a:lnSpc>
            </a:pP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express our deepest gratitude to our honourable supervisor </a:t>
            </a:r>
            <a:r>
              <a:rPr lang="en-US" sz="1800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Shebika Rani</a:t>
            </a:r>
            <a:r>
              <a:rPr lang="en-US" sz="18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Lecturer, Department of Computer Science &amp; Engineering, Uttara University, for her invaluable guidance, constant encouragement, and constructive feedback throughout this thesis.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57538" y="6558115"/>
            <a:ext cx="11972925" cy="64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8"/>
              </a:lnSpc>
            </a:pPr>
            <a:r>
              <a:rPr lang="en-US" sz="163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also extend our sincere appreciation to the Department of CSE, Uttara University, faculty members, lab staff, and our peers and families for their unwavering support.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462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b="tru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4375" y="1328738"/>
            <a:ext cx="17573625" cy="592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375" b="true">
                <a:solidFill>
                  <a:srgbClr val="001751"/>
                </a:solidFill>
                <a:latin typeface="Poppins Bold"/>
                <a:ea typeface="Poppins Bold"/>
                <a:cs typeface="Poppins Bold"/>
                <a:sym typeface="Poppins Bold"/>
              </a:rPr>
              <a:t>12 — </a:t>
            </a:r>
            <a:r>
              <a:rPr lang="en-US" sz="3375" b="true">
                <a:solidFill>
                  <a:srgbClr val="0B499D"/>
                </a:solidFill>
                <a:latin typeface="Poppins Bold"/>
                <a:ea typeface="Poppins Bold"/>
                <a:cs typeface="Poppins Bold"/>
                <a:sym typeface="Poppins Bold"/>
              </a:rPr>
              <a:t>Acknowledgement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659100" y="564356"/>
            <a:ext cx="1914525" cy="414338"/>
            <a:chOff x="0" y="0"/>
            <a:chExt cx="2552700" cy="5524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552700" cy="552450"/>
            </a:xfrm>
            <a:custGeom>
              <a:avLst/>
              <a:gdLst/>
              <a:ahLst/>
              <a:cxnLst/>
              <a:rect r="r" b="b" t="t" l="l"/>
              <a:pathLst>
                <a:path h="552450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24" r="0" b="-172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22069" y="6229350"/>
            <a:ext cx="8043862" cy="700088"/>
            <a:chOff x="0" y="0"/>
            <a:chExt cx="10725150" cy="9334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725150" cy="933450"/>
            </a:xfrm>
            <a:custGeom>
              <a:avLst/>
              <a:gdLst/>
              <a:ahLst/>
              <a:cxnLst/>
              <a:rect r="r" b="b" t="t" l="l"/>
              <a:pathLst>
                <a:path h="933450" w="10725150">
                  <a:moveTo>
                    <a:pt x="0" y="0"/>
                  </a:moveTo>
                  <a:lnTo>
                    <a:pt x="10725150" y="0"/>
                  </a:lnTo>
                  <a:lnTo>
                    <a:pt x="10725150" y="933450"/>
                  </a:lnTo>
                  <a:lnTo>
                    <a:pt x="0" y="933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8" t="0" r="-8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587788" y="9558338"/>
            <a:ext cx="985838" cy="300038"/>
            <a:chOff x="0" y="0"/>
            <a:chExt cx="1314450" cy="4000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314450" cy="400050"/>
            </a:xfrm>
            <a:custGeom>
              <a:avLst/>
              <a:gdLst/>
              <a:ahLst/>
              <a:cxnLst/>
              <a:rect r="r" b="b" t="t" l="l"/>
              <a:pathLst>
                <a:path h="40005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4375" y="9401175"/>
            <a:ext cx="16859250" cy="457200"/>
            <a:chOff x="0" y="0"/>
            <a:chExt cx="22479000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2479000" cy="609600"/>
            </a:xfrm>
            <a:custGeom>
              <a:avLst/>
              <a:gdLst/>
              <a:ahLst/>
              <a:cxnLst/>
              <a:rect r="r" b="b" t="t" l="l"/>
              <a:pathLst>
                <a:path h="6096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308646" y="3676650"/>
            <a:ext cx="5670709" cy="142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36656" y="5305425"/>
            <a:ext cx="321468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7DD3FC"/>
                </a:solidFill>
                <a:latin typeface="Inter Medium"/>
                <a:ea typeface="Inter Medium"/>
                <a:cs typeface="Inter Medium"/>
                <a:sym typeface="Inter Medium"/>
              </a:rPr>
              <a:t>Questions &amp; Discussion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4375" y="9601200"/>
            <a:ext cx="2486025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 FYP Defense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43825" y="9601200"/>
            <a:ext cx="4300538" cy="214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Continuous Autonomous Border Surveillance System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14375" y="500062"/>
            <a:ext cx="542925" cy="542925"/>
            <a:chOff x="0" y="0"/>
            <a:chExt cx="723900" cy="7239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723900"/>
                  </a:lnTo>
                  <a:lnTo>
                    <a:pt x="0" y="723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57325" y="533400"/>
            <a:ext cx="566075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5"/>
              </a:lnSpc>
            </a:pPr>
            <a:r>
              <a:rPr lang="en-US" sz="1462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&amp; ENGINEERING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7325" y="819150"/>
            <a:ext cx="566075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93C5FD"/>
                </a:solidFill>
                <a:latin typeface="Inter Medium"/>
                <a:ea typeface="Inter Medium"/>
                <a:cs typeface="Inter Medium"/>
                <a:sym typeface="Inter Medium"/>
              </a:rPr>
              <a:t>Uttara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DAHQCf1szVI</dc:identifier>
  <dcterms:modified xsi:type="dcterms:W3CDTF">2011-08-01T06:04:30Z</dcterms:modified>
  <cp:revision>1</cp:revision>
  <dc:title>Autonomous Border Surveillance Thesis Defense.pptx</dc:title>
</cp:coreProperties>
</file>