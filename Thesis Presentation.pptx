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Gotham Bold" charset="1" panose="00000000000000000000"/>
      <p:regular r:id="rId16"/>
    </p:embeddedFont>
    <p:embeddedFont>
      <p:font typeface="Poppins" charset="1" panose="00000500000000000000"/>
      <p:regular r:id="rId17"/>
    </p:embeddedFont>
    <p:embeddedFont>
      <p:font typeface="Poppins Bold" charset="1" panose="00000800000000000000"/>
      <p:regular r:id="rId18"/>
    </p:embeddedFont>
    <p:embeddedFont>
      <p:font typeface="Nunito" charset="1" panose="00000000000000000000"/>
      <p:regular r:id="rId19"/>
    </p:embeddedFont>
    <p:embeddedFont>
      <p:font typeface="Gotham" charset="1" panose="00000000000000000000"/>
      <p:regular r:id="rId20"/>
    </p:embeddedFont>
    <p:embeddedFont>
      <p:font typeface="Open Sans" charset="1" panose="00000000000000000000"/>
      <p:regular r:id="rId21"/>
    </p:embeddedFont>
    <p:embeddedFont>
      <p:font typeface="Telegraf Bold" charset="1" panose="0000080000000000000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1.png" Type="http://schemas.openxmlformats.org/officeDocument/2006/relationships/image"/><Relationship Id="rId5" Target="../media/image4.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12" Target="../media/image13.png" Type="http://schemas.openxmlformats.org/officeDocument/2006/relationships/image"/><Relationship Id="rId13" Target="../media/image14.svg" Type="http://schemas.openxmlformats.org/officeDocument/2006/relationships/image"/><Relationship Id="rId14" Target="../media/image15.png" Type="http://schemas.openxmlformats.org/officeDocument/2006/relationships/image"/><Relationship Id="rId15" Target="../media/image16.svg" Type="http://schemas.openxmlformats.org/officeDocument/2006/relationships/image"/><Relationship Id="rId16" Target="../media/image1.png" Type="http://schemas.openxmlformats.org/officeDocument/2006/relationships/image"/><Relationship Id="rId2" Target="../media/image2.png" Type="http://schemas.openxmlformats.org/officeDocument/2006/relationships/image"/><Relationship Id="rId3" Target="../media/image3.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svg" Type="http://schemas.openxmlformats.org/officeDocument/2006/relationships/image"/><Relationship Id="rId11" Target="../media/image26.png" Type="http://schemas.openxmlformats.org/officeDocument/2006/relationships/image"/><Relationship Id="rId12" Target="../media/image27.svg" Type="http://schemas.openxmlformats.org/officeDocument/2006/relationships/image"/><Relationship Id="rId13" Target="../media/image28.png" Type="http://schemas.openxmlformats.org/officeDocument/2006/relationships/image"/><Relationship Id="rId14" Target="../media/image29.svg" Type="http://schemas.openxmlformats.org/officeDocument/2006/relationships/image"/><Relationship Id="rId15" Target="../media/image30.png" Type="http://schemas.openxmlformats.org/officeDocument/2006/relationships/image"/><Relationship Id="rId16" Target="../media/image31.svg" Type="http://schemas.openxmlformats.org/officeDocument/2006/relationships/image"/><Relationship Id="rId17" Target="../media/image2.png" Type="http://schemas.openxmlformats.org/officeDocument/2006/relationships/image"/><Relationship Id="rId18" Target="../media/image3.svg" Type="http://schemas.openxmlformats.org/officeDocument/2006/relationships/image"/><Relationship Id="rId19" Target="../media/image1.png" Type="http://schemas.openxmlformats.org/officeDocument/2006/relationships/image"/><Relationship Id="rId2" Target="../media/image17.png" Type="http://schemas.openxmlformats.org/officeDocument/2006/relationships/image"/><Relationship Id="rId3" Target="../media/image18.png" Type="http://schemas.openxmlformats.org/officeDocument/2006/relationships/image"/><Relationship Id="rId4" Target="../media/image19.svg" Type="http://schemas.openxmlformats.org/officeDocument/2006/relationships/image"/><Relationship Id="rId5" Target="../media/image20.png" Type="http://schemas.openxmlformats.org/officeDocument/2006/relationships/image"/><Relationship Id="rId6" Target="../media/image21.svg" Type="http://schemas.openxmlformats.org/officeDocument/2006/relationships/image"/><Relationship Id="rId7" Target="../media/image22.png" Type="http://schemas.openxmlformats.org/officeDocument/2006/relationships/image"/><Relationship Id="rId8" Target="../media/image23.svg" Type="http://schemas.openxmlformats.org/officeDocument/2006/relationships/image"/><Relationship Id="rId9" Target="../media/image2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0.png" Type="http://schemas.openxmlformats.org/officeDocument/2006/relationships/image"/><Relationship Id="rId11" Target="../media/image41.svg" Type="http://schemas.openxmlformats.org/officeDocument/2006/relationships/image"/><Relationship Id="rId12" Target="../media/image42.png" Type="http://schemas.openxmlformats.org/officeDocument/2006/relationships/image"/><Relationship Id="rId13" Target="../media/image43.svg" Type="http://schemas.openxmlformats.org/officeDocument/2006/relationships/image"/><Relationship Id="rId14" Target="../media/image2.png" Type="http://schemas.openxmlformats.org/officeDocument/2006/relationships/image"/><Relationship Id="rId15" Target="../media/image3.svg" Type="http://schemas.openxmlformats.org/officeDocument/2006/relationships/image"/><Relationship Id="rId16" Target="../media/image1.png" Type="http://schemas.openxmlformats.org/officeDocument/2006/relationships/image"/><Relationship Id="rId2" Target="../media/image32.png" Type="http://schemas.openxmlformats.org/officeDocument/2006/relationships/image"/><Relationship Id="rId3" Target="../media/image33.svg" Type="http://schemas.openxmlformats.org/officeDocument/2006/relationships/image"/><Relationship Id="rId4" Target="../media/image34.png" Type="http://schemas.openxmlformats.org/officeDocument/2006/relationships/image"/><Relationship Id="rId5" Target="../media/image35.svg" Type="http://schemas.openxmlformats.org/officeDocument/2006/relationships/image"/><Relationship Id="rId6" Target="../media/image36.png" Type="http://schemas.openxmlformats.org/officeDocument/2006/relationships/image"/><Relationship Id="rId7" Target="../media/image37.svg" Type="http://schemas.openxmlformats.org/officeDocument/2006/relationships/image"/><Relationship Id="rId8" Target="../media/image38.png" Type="http://schemas.openxmlformats.org/officeDocument/2006/relationships/image"/><Relationship Id="rId9" Target="../media/image39.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1.svg" Type="http://schemas.openxmlformats.org/officeDocument/2006/relationships/image"/><Relationship Id="rId11" Target="../media/image52.png" Type="http://schemas.openxmlformats.org/officeDocument/2006/relationships/image"/><Relationship Id="rId12" Target="../media/image53.svg" Type="http://schemas.openxmlformats.org/officeDocument/2006/relationships/image"/><Relationship Id="rId13" Target="../media/image2.png" Type="http://schemas.openxmlformats.org/officeDocument/2006/relationships/image"/><Relationship Id="rId14" Target="../media/image3.svg" Type="http://schemas.openxmlformats.org/officeDocument/2006/relationships/image"/><Relationship Id="rId15" Target="../media/image54.png" Type="http://schemas.openxmlformats.org/officeDocument/2006/relationships/image"/><Relationship Id="rId16" Target="../media/image55.svg" Type="http://schemas.openxmlformats.org/officeDocument/2006/relationships/image"/><Relationship Id="rId17" Target="../media/image56.png" Type="http://schemas.openxmlformats.org/officeDocument/2006/relationships/image"/><Relationship Id="rId18" Target="../media/image57.svg" Type="http://schemas.openxmlformats.org/officeDocument/2006/relationships/image"/><Relationship Id="rId19" Target="../media/image58.png" Type="http://schemas.openxmlformats.org/officeDocument/2006/relationships/image"/><Relationship Id="rId2" Target="../media/image44.png" Type="http://schemas.openxmlformats.org/officeDocument/2006/relationships/image"/><Relationship Id="rId20" Target="../media/image59.svg" Type="http://schemas.openxmlformats.org/officeDocument/2006/relationships/image"/><Relationship Id="rId21" Target="../media/image60.png" Type="http://schemas.openxmlformats.org/officeDocument/2006/relationships/image"/><Relationship Id="rId22" Target="../media/image61.svg" Type="http://schemas.openxmlformats.org/officeDocument/2006/relationships/image"/><Relationship Id="rId23" Target="../media/image62.png" Type="http://schemas.openxmlformats.org/officeDocument/2006/relationships/image"/><Relationship Id="rId24" Target="../media/image63.svg" Type="http://schemas.openxmlformats.org/officeDocument/2006/relationships/image"/><Relationship Id="rId25" Target="../media/image1.png" Type="http://schemas.openxmlformats.org/officeDocument/2006/relationships/image"/><Relationship Id="rId3" Target="../media/image45.svg" Type="http://schemas.openxmlformats.org/officeDocument/2006/relationships/image"/><Relationship Id="rId4" Target="../media/image46.png" Type="http://schemas.openxmlformats.org/officeDocument/2006/relationships/image"/><Relationship Id="rId5" Target="../media/image47.svg" Type="http://schemas.openxmlformats.org/officeDocument/2006/relationships/image"/><Relationship Id="rId6" Target="../media/image17.png" Type="http://schemas.openxmlformats.org/officeDocument/2006/relationships/image"/><Relationship Id="rId7" Target="../media/image48.png" Type="http://schemas.openxmlformats.org/officeDocument/2006/relationships/image"/><Relationship Id="rId8" Target="../media/image49.svg" Type="http://schemas.openxmlformats.org/officeDocument/2006/relationships/image"/><Relationship Id="rId9" Target="../media/image50.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1.svg" Type="http://schemas.openxmlformats.org/officeDocument/2006/relationships/image"/><Relationship Id="rId11" Target="../media/image72.png" Type="http://schemas.openxmlformats.org/officeDocument/2006/relationships/image"/><Relationship Id="rId12" Target="../media/image73.svg" Type="http://schemas.openxmlformats.org/officeDocument/2006/relationships/image"/><Relationship Id="rId13" Target="../media/image74.png" Type="http://schemas.openxmlformats.org/officeDocument/2006/relationships/image"/><Relationship Id="rId14" Target="../media/image75.svg" Type="http://schemas.openxmlformats.org/officeDocument/2006/relationships/image"/><Relationship Id="rId15" Target="../media/image15.png" Type="http://schemas.openxmlformats.org/officeDocument/2006/relationships/image"/><Relationship Id="rId16" Target="../media/image16.svg" Type="http://schemas.openxmlformats.org/officeDocument/2006/relationships/image"/><Relationship Id="rId17" Target="../media/image76.png" Type="http://schemas.openxmlformats.org/officeDocument/2006/relationships/image"/><Relationship Id="rId18" Target="../media/image77.svg" Type="http://schemas.openxmlformats.org/officeDocument/2006/relationships/image"/><Relationship Id="rId19" Target="../media/image78.png" Type="http://schemas.openxmlformats.org/officeDocument/2006/relationships/image"/><Relationship Id="rId2" Target="../media/image17.png" Type="http://schemas.openxmlformats.org/officeDocument/2006/relationships/image"/><Relationship Id="rId20" Target="../media/image79.svg" Type="http://schemas.openxmlformats.org/officeDocument/2006/relationships/image"/><Relationship Id="rId21" Target="../media/image80.png" Type="http://schemas.openxmlformats.org/officeDocument/2006/relationships/image"/><Relationship Id="rId22" Target="../media/image81.svg" Type="http://schemas.openxmlformats.org/officeDocument/2006/relationships/image"/><Relationship Id="rId23" Target="../media/image2.png" Type="http://schemas.openxmlformats.org/officeDocument/2006/relationships/image"/><Relationship Id="rId24" Target="../media/image3.svg" Type="http://schemas.openxmlformats.org/officeDocument/2006/relationships/image"/><Relationship Id="rId25" Target="../media/image1.png" Type="http://schemas.openxmlformats.org/officeDocument/2006/relationships/image"/><Relationship Id="rId3" Target="../media/image64.png" Type="http://schemas.openxmlformats.org/officeDocument/2006/relationships/image"/><Relationship Id="rId4" Target="../media/image65.svg" Type="http://schemas.openxmlformats.org/officeDocument/2006/relationships/image"/><Relationship Id="rId5" Target="../media/image66.png" Type="http://schemas.openxmlformats.org/officeDocument/2006/relationships/image"/><Relationship Id="rId6" Target="../media/image67.svg" Type="http://schemas.openxmlformats.org/officeDocument/2006/relationships/image"/><Relationship Id="rId7" Target="../media/image68.png" Type="http://schemas.openxmlformats.org/officeDocument/2006/relationships/image"/><Relationship Id="rId8" Target="../media/image69.svg" Type="http://schemas.openxmlformats.org/officeDocument/2006/relationships/image"/><Relationship Id="rId9" Target="../media/image70.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0.png" Type="http://schemas.openxmlformats.org/officeDocument/2006/relationships/image"/><Relationship Id="rId11" Target="../media/image91.svg" Type="http://schemas.openxmlformats.org/officeDocument/2006/relationships/image"/><Relationship Id="rId12" Target="../media/image92.png" Type="http://schemas.openxmlformats.org/officeDocument/2006/relationships/image"/><Relationship Id="rId13" Target="../media/image93.svg" Type="http://schemas.openxmlformats.org/officeDocument/2006/relationships/image"/><Relationship Id="rId14" Target="../media/image94.png" Type="http://schemas.openxmlformats.org/officeDocument/2006/relationships/image"/><Relationship Id="rId15" Target="../media/image95.svg" Type="http://schemas.openxmlformats.org/officeDocument/2006/relationships/image"/><Relationship Id="rId16" Target="../media/image96.png" Type="http://schemas.openxmlformats.org/officeDocument/2006/relationships/image"/><Relationship Id="rId17" Target="../media/image97.svg" Type="http://schemas.openxmlformats.org/officeDocument/2006/relationships/image"/><Relationship Id="rId18" Target="../media/image2.png" Type="http://schemas.openxmlformats.org/officeDocument/2006/relationships/image"/><Relationship Id="rId19" Target="../media/image3.svg" Type="http://schemas.openxmlformats.org/officeDocument/2006/relationships/image"/><Relationship Id="rId2" Target="../media/image82.png" Type="http://schemas.openxmlformats.org/officeDocument/2006/relationships/image"/><Relationship Id="rId20" Target="../media/image1.png" Type="http://schemas.openxmlformats.org/officeDocument/2006/relationships/image"/><Relationship Id="rId3" Target="../media/image83.svg" Type="http://schemas.openxmlformats.org/officeDocument/2006/relationships/image"/><Relationship Id="rId4" Target="../media/image84.png" Type="http://schemas.openxmlformats.org/officeDocument/2006/relationships/image"/><Relationship Id="rId5" Target="../media/image85.svg" Type="http://schemas.openxmlformats.org/officeDocument/2006/relationships/image"/><Relationship Id="rId6" Target="../media/image86.png" Type="http://schemas.openxmlformats.org/officeDocument/2006/relationships/image"/><Relationship Id="rId7" Target="../media/image87.svg" Type="http://schemas.openxmlformats.org/officeDocument/2006/relationships/image"/><Relationship Id="rId8" Target="../media/image88.png" Type="http://schemas.openxmlformats.org/officeDocument/2006/relationships/image"/><Relationship Id="rId9" Target="../media/image89.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98.png" Type="http://schemas.openxmlformats.org/officeDocument/2006/relationships/image"/><Relationship Id="rId5" Target="../media/image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3F6FC"/>
        </a:solidFill>
      </p:bgPr>
    </p:bg>
    <p:spTree>
      <p:nvGrpSpPr>
        <p:cNvPr id="1" name=""/>
        <p:cNvGrpSpPr/>
        <p:nvPr/>
      </p:nvGrpSpPr>
      <p:grpSpPr>
        <a:xfrm>
          <a:off x="0" y="0"/>
          <a:ext cx="0" cy="0"/>
          <a:chOff x="0" y="0"/>
          <a:chExt cx="0" cy="0"/>
        </a:xfrm>
      </p:grpSpPr>
      <p:sp>
        <p:nvSpPr>
          <p:cNvPr name="Freeform 2" id="2"/>
          <p:cNvSpPr/>
          <p:nvPr/>
        </p:nvSpPr>
        <p:spPr>
          <a:xfrm flipH="false" flipV="false" rot="0">
            <a:off x="14358712" y="0"/>
            <a:ext cx="3929288" cy="1951633"/>
          </a:xfrm>
          <a:custGeom>
            <a:avLst/>
            <a:gdLst/>
            <a:ahLst/>
            <a:cxnLst/>
            <a:rect r="r" b="b" t="t" l="l"/>
            <a:pathLst>
              <a:path h="1951633" w="3929288">
                <a:moveTo>
                  <a:pt x="0" y="0"/>
                </a:moveTo>
                <a:lnTo>
                  <a:pt x="3929288" y="0"/>
                </a:lnTo>
                <a:lnTo>
                  <a:pt x="3929288" y="1951633"/>
                </a:lnTo>
                <a:lnTo>
                  <a:pt x="0" y="1951633"/>
                </a:lnTo>
                <a:lnTo>
                  <a:pt x="0" y="0"/>
                </a:lnTo>
                <a:close/>
              </a:path>
            </a:pathLst>
          </a:custGeom>
          <a:blipFill>
            <a:blip r:embed="rId2"/>
            <a:stretch>
              <a:fillRect l="0" t="0" r="0" b="0"/>
            </a:stretch>
          </a:blipFill>
        </p:spPr>
      </p:sp>
      <p:sp>
        <p:nvSpPr>
          <p:cNvPr name="TextBox 3" id="3"/>
          <p:cNvSpPr txBox="true"/>
          <p:nvPr/>
        </p:nvSpPr>
        <p:spPr>
          <a:xfrm rot="0">
            <a:off x="1028700" y="2626762"/>
            <a:ext cx="15355524" cy="2237768"/>
          </a:xfrm>
          <a:prstGeom prst="rect">
            <a:avLst/>
          </a:prstGeom>
        </p:spPr>
        <p:txBody>
          <a:bodyPr anchor="t" rtlCol="false" tIns="0" lIns="0" bIns="0" rIns="0">
            <a:spAutoFit/>
          </a:bodyPr>
          <a:lstStyle/>
          <a:p>
            <a:pPr algn="l">
              <a:lnSpc>
                <a:spcPts val="5824"/>
              </a:lnSpc>
            </a:pPr>
            <a:r>
              <a:rPr lang="en-US" b="true" sz="5600">
                <a:solidFill>
                  <a:srgbClr val="00BF63"/>
                </a:solidFill>
                <a:latin typeface="Gotham Bold"/>
                <a:ea typeface="Gotham Bold"/>
                <a:cs typeface="Gotham Bold"/>
                <a:sym typeface="Gotham Bold"/>
              </a:rPr>
              <a:t>AUTONOMOUS BORDER SURVEILLANCE</a:t>
            </a:r>
          </a:p>
          <a:p>
            <a:pPr algn="l">
              <a:lnSpc>
                <a:spcPts val="5824"/>
              </a:lnSpc>
            </a:pPr>
            <a:r>
              <a:rPr lang="en-US" b="true" sz="5600">
                <a:solidFill>
                  <a:srgbClr val="00BF63"/>
                </a:solidFill>
                <a:latin typeface="Gotham Bold"/>
                <a:ea typeface="Gotham Bold"/>
                <a:cs typeface="Gotham Bold"/>
                <a:sym typeface="Gotham Bold"/>
              </a:rPr>
              <a:t>                         SYSTEM</a:t>
            </a:r>
          </a:p>
          <a:p>
            <a:pPr algn="l">
              <a:lnSpc>
                <a:spcPts val="5824"/>
              </a:lnSpc>
            </a:pPr>
          </a:p>
        </p:txBody>
      </p:sp>
      <p:sp>
        <p:nvSpPr>
          <p:cNvPr name="AutoShape 4" id="4"/>
          <p:cNvSpPr/>
          <p:nvPr/>
        </p:nvSpPr>
        <p:spPr>
          <a:xfrm>
            <a:off x="0" y="2172150"/>
            <a:ext cx="18288000" cy="0"/>
          </a:xfrm>
          <a:prstGeom prst="line">
            <a:avLst/>
          </a:prstGeom>
          <a:ln cap="flat" w="38100">
            <a:solidFill>
              <a:srgbClr val="000000"/>
            </a:solidFill>
            <a:prstDash val="solid"/>
            <a:headEnd type="none" len="sm" w="sm"/>
            <a:tailEnd type="none" len="sm" w="sm"/>
          </a:ln>
        </p:spPr>
      </p:sp>
      <p:sp>
        <p:nvSpPr>
          <p:cNvPr name="TextBox 5" id="5"/>
          <p:cNvSpPr txBox="true"/>
          <p:nvPr/>
        </p:nvSpPr>
        <p:spPr>
          <a:xfrm rot="0">
            <a:off x="0" y="78758"/>
            <a:ext cx="12755695" cy="683242"/>
          </a:xfrm>
          <a:prstGeom prst="rect">
            <a:avLst/>
          </a:prstGeom>
        </p:spPr>
        <p:txBody>
          <a:bodyPr anchor="t" rtlCol="false" tIns="0" lIns="0" bIns="0" rIns="0">
            <a:spAutoFit/>
          </a:bodyPr>
          <a:lstStyle/>
          <a:p>
            <a:pPr algn="ctr">
              <a:lnSpc>
                <a:spcPts val="5394"/>
              </a:lnSpc>
            </a:pPr>
            <a:r>
              <a:rPr lang="en-US" sz="3853">
                <a:solidFill>
                  <a:srgbClr val="000000"/>
                </a:solidFill>
                <a:latin typeface="Poppins"/>
                <a:ea typeface="Poppins"/>
                <a:cs typeface="Poppins"/>
                <a:sym typeface="Poppins"/>
              </a:rPr>
              <a:t>Department of Computer Science and Engineering</a:t>
            </a:r>
          </a:p>
        </p:txBody>
      </p:sp>
      <p:sp>
        <p:nvSpPr>
          <p:cNvPr name="TextBox 6" id="6"/>
          <p:cNvSpPr txBox="true"/>
          <p:nvPr/>
        </p:nvSpPr>
        <p:spPr>
          <a:xfrm rot="0">
            <a:off x="-246328" y="890092"/>
            <a:ext cx="4246828" cy="566354"/>
          </a:xfrm>
          <a:prstGeom prst="rect">
            <a:avLst/>
          </a:prstGeom>
        </p:spPr>
        <p:txBody>
          <a:bodyPr anchor="t" rtlCol="false" tIns="0" lIns="0" bIns="0" rIns="0">
            <a:spAutoFit/>
          </a:bodyPr>
          <a:lstStyle/>
          <a:p>
            <a:pPr algn="ctr">
              <a:lnSpc>
                <a:spcPts val="4480"/>
              </a:lnSpc>
            </a:pPr>
            <a:r>
              <a:rPr lang="en-US" sz="3200">
                <a:solidFill>
                  <a:srgbClr val="000000"/>
                </a:solidFill>
                <a:latin typeface="Poppins"/>
                <a:ea typeface="Poppins"/>
                <a:cs typeface="Poppins"/>
                <a:sym typeface="Poppins"/>
              </a:rPr>
              <a:t>Uttara University</a:t>
            </a:r>
          </a:p>
        </p:txBody>
      </p:sp>
      <p:sp>
        <p:nvSpPr>
          <p:cNvPr name="TextBox 7" id="7"/>
          <p:cNvSpPr txBox="true"/>
          <p:nvPr/>
        </p:nvSpPr>
        <p:spPr>
          <a:xfrm rot="0">
            <a:off x="4691423" y="7021588"/>
            <a:ext cx="6000750" cy="683242"/>
          </a:xfrm>
          <a:prstGeom prst="rect">
            <a:avLst/>
          </a:prstGeom>
        </p:spPr>
        <p:txBody>
          <a:bodyPr anchor="t" rtlCol="false" tIns="0" lIns="0" bIns="0" rIns="0">
            <a:spAutoFit/>
          </a:bodyPr>
          <a:lstStyle/>
          <a:p>
            <a:pPr algn="ctr">
              <a:lnSpc>
                <a:spcPts val="5394"/>
              </a:lnSpc>
            </a:pPr>
            <a:r>
              <a:rPr lang="en-US" sz="3853">
                <a:solidFill>
                  <a:srgbClr val="000000"/>
                </a:solidFill>
                <a:latin typeface="Poppins"/>
                <a:ea typeface="Poppins"/>
                <a:cs typeface="Poppins"/>
                <a:sym typeface="Poppins"/>
              </a:rPr>
              <a:t>Student 2 ID: </a:t>
            </a:r>
            <a:r>
              <a:rPr lang="en-US" sz="3853" b="true">
                <a:solidFill>
                  <a:srgbClr val="000000"/>
                </a:solidFill>
                <a:latin typeface="Poppins Bold"/>
                <a:ea typeface="Poppins Bold"/>
                <a:cs typeface="Poppins Bold"/>
                <a:sym typeface="Poppins Bold"/>
              </a:rPr>
              <a:t>2223081071</a:t>
            </a:r>
          </a:p>
        </p:txBody>
      </p:sp>
      <p:sp>
        <p:nvSpPr>
          <p:cNvPr name="TextBox 8" id="8"/>
          <p:cNvSpPr txBox="true"/>
          <p:nvPr/>
        </p:nvSpPr>
        <p:spPr>
          <a:xfrm rot="0">
            <a:off x="4691423" y="7885646"/>
            <a:ext cx="6520361" cy="683242"/>
          </a:xfrm>
          <a:prstGeom prst="rect">
            <a:avLst/>
          </a:prstGeom>
        </p:spPr>
        <p:txBody>
          <a:bodyPr anchor="t" rtlCol="false" tIns="0" lIns="0" bIns="0" rIns="0">
            <a:spAutoFit/>
          </a:bodyPr>
          <a:lstStyle/>
          <a:p>
            <a:pPr algn="ctr">
              <a:lnSpc>
                <a:spcPts val="5394"/>
              </a:lnSpc>
            </a:pPr>
            <a:r>
              <a:rPr lang="en-US" sz="3853">
                <a:solidFill>
                  <a:srgbClr val="000000"/>
                </a:solidFill>
                <a:latin typeface="Poppins"/>
                <a:ea typeface="Poppins"/>
                <a:cs typeface="Poppins"/>
                <a:sym typeface="Poppins"/>
              </a:rPr>
              <a:t>Student 2 Name: </a:t>
            </a:r>
            <a:r>
              <a:rPr lang="en-US" sz="3853" b="true">
                <a:solidFill>
                  <a:srgbClr val="000000"/>
                </a:solidFill>
                <a:latin typeface="Poppins Bold"/>
                <a:ea typeface="Poppins Bold"/>
                <a:cs typeface="Poppins Bold"/>
                <a:sym typeface="Poppins Bold"/>
              </a:rPr>
              <a:t>Arif Khan</a:t>
            </a:r>
          </a:p>
        </p:txBody>
      </p:sp>
      <p:sp>
        <p:nvSpPr>
          <p:cNvPr name="TextBox 9" id="9"/>
          <p:cNvSpPr txBox="true"/>
          <p:nvPr/>
        </p:nvSpPr>
        <p:spPr>
          <a:xfrm rot="0">
            <a:off x="4516558" y="5045505"/>
            <a:ext cx="6317769" cy="683242"/>
          </a:xfrm>
          <a:prstGeom prst="rect">
            <a:avLst/>
          </a:prstGeom>
        </p:spPr>
        <p:txBody>
          <a:bodyPr anchor="t" rtlCol="false" tIns="0" lIns="0" bIns="0" rIns="0">
            <a:spAutoFit/>
          </a:bodyPr>
          <a:lstStyle/>
          <a:p>
            <a:pPr algn="ctr">
              <a:lnSpc>
                <a:spcPts val="5394"/>
              </a:lnSpc>
            </a:pPr>
            <a:r>
              <a:rPr lang="en-US" sz="3853">
                <a:solidFill>
                  <a:srgbClr val="000000"/>
                </a:solidFill>
                <a:latin typeface="Poppins"/>
                <a:ea typeface="Poppins"/>
                <a:cs typeface="Poppins"/>
                <a:sym typeface="Poppins"/>
              </a:rPr>
              <a:t>Student 1 ID: </a:t>
            </a:r>
            <a:r>
              <a:rPr lang="en-US" sz="3853" b="true">
                <a:solidFill>
                  <a:srgbClr val="000000"/>
                </a:solidFill>
                <a:latin typeface="Poppins Bold"/>
                <a:ea typeface="Poppins Bold"/>
                <a:cs typeface="Poppins Bold"/>
                <a:sym typeface="Poppins Bold"/>
              </a:rPr>
              <a:t>2223081070</a:t>
            </a:r>
          </a:p>
        </p:txBody>
      </p:sp>
      <p:sp>
        <p:nvSpPr>
          <p:cNvPr name="TextBox 10" id="10"/>
          <p:cNvSpPr txBox="true"/>
          <p:nvPr/>
        </p:nvSpPr>
        <p:spPr>
          <a:xfrm rot="0">
            <a:off x="4516558" y="5823997"/>
            <a:ext cx="10302080" cy="683242"/>
          </a:xfrm>
          <a:prstGeom prst="rect">
            <a:avLst/>
          </a:prstGeom>
        </p:spPr>
        <p:txBody>
          <a:bodyPr anchor="t" rtlCol="false" tIns="0" lIns="0" bIns="0" rIns="0">
            <a:spAutoFit/>
          </a:bodyPr>
          <a:lstStyle/>
          <a:p>
            <a:pPr algn="ctr">
              <a:lnSpc>
                <a:spcPts val="5394"/>
              </a:lnSpc>
            </a:pPr>
            <a:r>
              <a:rPr lang="en-US" sz="3853">
                <a:solidFill>
                  <a:srgbClr val="000000"/>
                </a:solidFill>
                <a:latin typeface="Poppins"/>
                <a:ea typeface="Poppins"/>
                <a:cs typeface="Poppins"/>
                <a:sym typeface="Poppins"/>
              </a:rPr>
              <a:t>Student 1 Name: </a:t>
            </a:r>
            <a:r>
              <a:rPr lang="en-US" sz="3853" b="true">
                <a:solidFill>
                  <a:srgbClr val="000000"/>
                </a:solidFill>
                <a:latin typeface="Poppins Bold"/>
                <a:ea typeface="Poppins Bold"/>
                <a:cs typeface="Poppins Bold"/>
                <a:sym typeface="Poppins Bold"/>
              </a:rPr>
              <a:t>Mahmudul Hasan Khan</a:t>
            </a:r>
          </a:p>
        </p:txBody>
      </p:sp>
      <p:sp>
        <p:nvSpPr>
          <p:cNvPr name="TextBox 11" id="11"/>
          <p:cNvSpPr txBox="true"/>
          <p:nvPr/>
        </p:nvSpPr>
        <p:spPr>
          <a:xfrm rot="0">
            <a:off x="4516558" y="9082775"/>
            <a:ext cx="6695227" cy="683242"/>
          </a:xfrm>
          <a:prstGeom prst="rect">
            <a:avLst/>
          </a:prstGeom>
        </p:spPr>
        <p:txBody>
          <a:bodyPr anchor="t" rtlCol="false" tIns="0" lIns="0" bIns="0" rIns="0">
            <a:spAutoFit/>
          </a:bodyPr>
          <a:lstStyle/>
          <a:p>
            <a:pPr algn="ctr">
              <a:lnSpc>
                <a:spcPts val="5394"/>
              </a:lnSpc>
            </a:pPr>
            <a:r>
              <a:rPr lang="en-US" sz="3853">
                <a:solidFill>
                  <a:srgbClr val="0CC0DF"/>
                </a:solidFill>
                <a:latin typeface="Poppins"/>
                <a:ea typeface="Poppins"/>
                <a:cs typeface="Poppins"/>
                <a:sym typeface="Poppins"/>
              </a:rPr>
              <a:t>Supervisor:  </a:t>
            </a:r>
            <a:r>
              <a:rPr lang="en-US" b="true" sz="3853">
                <a:solidFill>
                  <a:srgbClr val="0CC0DF"/>
                </a:solidFill>
                <a:latin typeface="Poppins Bold"/>
                <a:ea typeface="Poppins Bold"/>
                <a:cs typeface="Poppins Bold"/>
                <a:sym typeface="Poppins Bold"/>
              </a:rPr>
              <a:t>Shebika Rani</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3F6FC"/>
        </a:solidFill>
      </p:bgPr>
    </p:bg>
    <p:spTree>
      <p:nvGrpSpPr>
        <p:cNvPr id="1" name=""/>
        <p:cNvGrpSpPr/>
        <p:nvPr/>
      </p:nvGrpSpPr>
      <p:grpSpPr>
        <a:xfrm>
          <a:off x="0" y="0"/>
          <a:ext cx="0" cy="0"/>
          <a:chOff x="0" y="0"/>
          <a:chExt cx="0" cy="0"/>
        </a:xfrm>
      </p:grpSpPr>
      <p:sp>
        <p:nvSpPr>
          <p:cNvPr name="Freeform 2" id="2"/>
          <p:cNvSpPr/>
          <p:nvPr/>
        </p:nvSpPr>
        <p:spPr>
          <a:xfrm flipH="false" flipV="false" rot="2700000">
            <a:off x="14633892" y="-1159293"/>
            <a:ext cx="3258582" cy="3258582"/>
          </a:xfrm>
          <a:custGeom>
            <a:avLst/>
            <a:gdLst/>
            <a:ahLst/>
            <a:cxnLst/>
            <a:rect r="r" b="b" t="t" l="l"/>
            <a:pathLst>
              <a:path h="3258582" w="3258582">
                <a:moveTo>
                  <a:pt x="0" y="0"/>
                </a:moveTo>
                <a:lnTo>
                  <a:pt x="3258582" y="0"/>
                </a:lnTo>
                <a:lnTo>
                  <a:pt x="3258582" y="3258582"/>
                </a:lnTo>
                <a:lnTo>
                  <a:pt x="0" y="3258582"/>
                </a:lnTo>
                <a:lnTo>
                  <a:pt x="0" y="0"/>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358712" y="0"/>
            <a:ext cx="3929288" cy="1951633"/>
          </a:xfrm>
          <a:custGeom>
            <a:avLst/>
            <a:gdLst/>
            <a:ahLst/>
            <a:cxnLst/>
            <a:rect r="r" b="b" t="t" l="l"/>
            <a:pathLst>
              <a:path h="1951633" w="3929288">
                <a:moveTo>
                  <a:pt x="0" y="0"/>
                </a:moveTo>
                <a:lnTo>
                  <a:pt x="3929288" y="0"/>
                </a:lnTo>
                <a:lnTo>
                  <a:pt x="3929288" y="1951633"/>
                </a:lnTo>
                <a:lnTo>
                  <a:pt x="0" y="1951633"/>
                </a:lnTo>
                <a:lnTo>
                  <a:pt x="0" y="0"/>
                </a:lnTo>
                <a:close/>
              </a:path>
            </a:pathLst>
          </a:custGeom>
          <a:blipFill>
            <a:blip r:embed="rId4"/>
            <a:stretch>
              <a:fillRect l="0" t="0" r="0" b="0"/>
            </a:stretch>
          </a:blipFill>
        </p:spPr>
      </p:sp>
      <p:sp>
        <p:nvSpPr>
          <p:cNvPr name="AutoShape 4" id="4"/>
          <p:cNvSpPr/>
          <p:nvPr/>
        </p:nvSpPr>
        <p:spPr>
          <a:xfrm>
            <a:off x="0" y="2172150"/>
            <a:ext cx="18288000" cy="0"/>
          </a:xfrm>
          <a:prstGeom prst="line">
            <a:avLst/>
          </a:prstGeom>
          <a:ln cap="flat" w="38100">
            <a:solidFill>
              <a:srgbClr val="000000"/>
            </a:solidFill>
            <a:prstDash val="solid"/>
            <a:headEnd type="none" len="sm" w="sm"/>
            <a:tailEnd type="none" len="sm" w="sm"/>
          </a:ln>
        </p:spPr>
      </p:sp>
      <p:sp>
        <p:nvSpPr>
          <p:cNvPr name="Freeform 5" id="5"/>
          <p:cNvSpPr/>
          <p:nvPr/>
        </p:nvSpPr>
        <p:spPr>
          <a:xfrm flipH="false" flipV="false" rot="0">
            <a:off x="10931959" y="2610279"/>
            <a:ext cx="7635389" cy="3744093"/>
          </a:xfrm>
          <a:custGeom>
            <a:avLst/>
            <a:gdLst/>
            <a:ahLst/>
            <a:cxnLst/>
            <a:rect r="r" b="b" t="t" l="l"/>
            <a:pathLst>
              <a:path h="3744093" w="7635389">
                <a:moveTo>
                  <a:pt x="0" y="0"/>
                </a:moveTo>
                <a:lnTo>
                  <a:pt x="7635389" y="0"/>
                </a:lnTo>
                <a:lnTo>
                  <a:pt x="7635389" y="3744092"/>
                </a:lnTo>
                <a:lnTo>
                  <a:pt x="0" y="3744092"/>
                </a:lnTo>
                <a:lnTo>
                  <a:pt x="0" y="0"/>
                </a:lnTo>
                <a:close/>
              </a:path>
            </a:pathLst>
          </a:custGeom>
          <a:blipFill>
            <a:blip r:embed="rId5"/>
            <a:stretch>
              <a:fillRect l="0" t="0" r="0" b="0"/>
            </a:stretch>
          </a:blipFill>
        </p:spPr>
      </p:sp>
      <p:sp>
        <p:nvSpPr>
          <p:cNvPr name="TextBox 6" id="6"/>
          <p:cNvSpPr txBox="true"/>
          <p:nvPr/>
        </p:nvSpPr>
        <p:spPr>
          <a:xfrm rot="0">
            <a:off x="800100" y="2777524"/>
            <a:ext cx="6129564" cy="770984"/>
          </a:xfrm>
          <a:prstGeom prst="rect">
            <a:avLst/>
          </a:prstGeom>
        </p:spPr>
        <p:txBody>
          <a:bodyPr anchor="t" rtlCol="false" tIns="0" lIns="0" bIns="0" rIns="0">
            <a:spAutoFit/>
          </a:bodyPr>
          <a:lstStyle/>
          <a:p>
            <a:pPr algn="l">
              <a:lnSpc>
                <a:spcPts val="5823"/>
              </a:lnSpc>
            </a:pPr>
            <a:r>
              <a:rPr lang="en-US" sz="5599" b="true">
                <a:solidFill>
                  <a:srgbClr val="021E47"/>
                </a:solidFill>
                <a:latin typeface="Gotham Bold"/>
                <a:ea typeface="Gotham Bold"/>
                <a:cs typeface="Gotham Bold"/>
                <a:sym typeface="Gotham Bold"/>
              </a:rPr>
              <a:t>INTRODUCTION</a:t>
            </a:r>
          </a:p>
        </p:txBody>
      </p:sp>
      <p:sp>
        <p:nvSpPr>
          <p:cNvPr name="TextBox 7" id="7"/>
          <p:cNvSpPr txBox="true"/>
          <p:nvPr/>
        </p:nvSpPr>
        <p:spPr>
          <a:xfrm rot="0">
            <a:off x="800100" y="4096732"/>
            <a:ext cx="10131859" cy="2484029"/>
          </a:xfrm>
          <a:prstGeom prst="rect">
            <a:avLst/>
          </a:prstGeom>
        </p:spPr>
        <p:txBody>
          <a:bodyPr anchor="t" rtlCol="false" tIns="0" lIns="0" bIns="0" rIns="0">
            <a:spAutoFit/>
          </a:bodyPr>
          <a:lstStyle/>
          <a:p>
            <a:pPr algn="l">
              <a:lnSpc>
                <a:spcPts val="2834"/>
              </a:lnSpc>
            </a:pPr>
            <a:r>
              <a:rPr lang="en-US" sz="2725">
                <a:solidFill>
                  <a:srgbClr val="021E47"/>
                </a:solidFill>
                <a:latin typeface="Nunito"/>
                <a:ea typeface="Nunito"/>
                <a:cs typeface="Nunito"/>
                <a:sym typeface="Nunito"/>
              </a:rPr>
              <a:t>Border surveillance is a critical requirement for national security and defense systems. Traditional border monitoring methods depend largely on human patrols and fixed surveillance infrastructure, which are costly, inefficient, and vulnerable to human error. These systems also lack the ability to respond quickly to dynamic threats such as unauthorized crossings or sudden restricted zones.</a:t>
            </a:r>
          </a:p>
        </p:txBody>
      </p:sp>
      <p:sp>
        <p:nvSpPr>
          <p:cNvPr name="TextBox 8" id="8"/>
          <p:cNvSpPr txBox="true"/>
          <p:nvPr/>
        </p:nvSpPr>
        <p:spPr>
          <a:xfrm rot="0">
            <a:off x="800100" y="6914135"/>
            <a:ext cx="15925800" cy="1779245"/>
          </a:xfrm>
          <a:prstGeom prst="rect">
            <a:avLst/>
          </a:prstGeom>
        </p:spPr>
        <p:txBody>
          <a:bodyPr anchor="t" rtlCol="false" tIns="0" lIns="0" bIns="0" rIns="0">
            <a:spAutoFit/>
          </a:bodyPr>
          <a:lstStyle/>
          <a:p>
            <a:pPr algn="l">
              <a:lnSpc>
                <a:spcPts val="2834"/>
              </a:lnSpc>
            </a:pPr>
            <a:r>
              <a:rPr lang="en-US" sz="2725">
                <a:solidFill>
                  <a:srgbClr val="021E47"/>
                </a:solidFill>
                <a:latin typeface="Nunito"/>
                <a:ea typeface="Nunito"/>
                <a:cs typeface="Nunito"/>
                <a:sym typeface="Nunito"/>
              </a:rPr>
              <a:t>Unmanned Aerial Vehicles (UAVs) offer a flexible and cost-effective alternative for border surveillance. However, UAV operations are limited by battery capacity and static path planning approaches. This research proposes an Autonomous Border Surveillance System that uses heuristic optimization and graph-based algorithms to enable intelligent, energy-efficient, and adaptive drone navigation in border areas.</a:t>
            </a:r>
          </a:p>
        </p:txBody>
      </p:sp>
      <p:sp>
        <p:nvSpPr>
          <p:cNvPr name="TextBox 9" id="9"/>
          <p:cNvSpPr txBox="true"/>
          <p:nvPr/>
        </p:nvSpPr>
        <p:spPr>
          <a:xfrm rot="0">
            <a:off x="0" y="78758"/>
            <a:ext cx="12755695" cy="683242"/>
          </a:xfrm>
          <a:prstGeom prst="rect">
            <a:avLst/>
          </a:prstGeom>
        </p:spPr>
        <p:txBody>
          <a:bodyPr anchor="t" rtlCol="false" tIns="0" lIns="0" bIns="0" rIns="0">
            <a:spAutoFit/>
          </a:bodyPr>
          <a:lstStyle/>
          <a:p>
            <a:pPr algn="ctr">
              <a:lnSpc>
                <a:spcPts val="5394"/>
              </a:lnSpc>
            </a:pPr>
            <a:r>
              <a:rPr lang="en-US" sz="3853">
                <a:solidFill>
                  <a:srgbClr val="000000"/>
                </a:solidFill>
                <a:latin typeface="Poppins"/>
                <a:ea typeface="Poppins"/>
                <a:cs typeface="Poppins"/>
                <a:sym typeface="Poppins"/>
              </a:rPr>
              <a:t>Department of Computer Science and Engineering</a:t>
            </a:r>
          </a:p>
        </p:txBody>
      </p:sp>
      <p:sp>
        <p:nvSpPr>
          <p:cNvPr name="TextBox 10" id="10"/>
          <p:cNvSpPr txBox="true"/>
          <p:nvPr/>
        </p:nvSpPr>
        <p:spPr>
          <a:xfrm rot="0">
            <a:off x="-246328" y="890092"/>
            <a:ext cx="4246828" cy="566354"/>
          </a:xfrm>
          <a:prstGeom prst="rect">
            <a:avLst/>
          </a:prstGeom>
        </p:spPr>
        <p:txBody>
          <a:bodyPr anchor="t" rtlCol="false" tIns="0" lIns="0" bIns="0" rIns="0">
            <a:spAutoFit/>
          </a:bodyPr>
          <a:lstStyle/>
          <a:p>
            <a:pPr algn="ctr">
              <a:lnSpc>
                <a:spcPts val="4480"/>
              </a:lnSpc>
            </a:pPr>
            <a:r>
              <a:rPr lang="en-US" sz="3200">
                <a:solidFill>
                  <a:srgbClr val="000000"/>
                </a:solidFill>
                <a:latin typeface="Poppins"/>
                <a:ea typeface="Poppins"/>
                <a:cs typeface="Poppins"/>
                <a:sym typeface="Poppins"/>
              </a:rPr>
              <a:t>Uttara University</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3F6FC"/>
        </a:solidFill>
      </p:bgPr>
    </p:bg>
    <p:spTree>
      <p:nvGrpSpPr>
        <p:cNvPr id="1" name=""/>
        <p:cNvGrpSpPr/>
        <p:nvPr/>
      </p:nvGrpSpPr>
      <p:grpSpPr>
        <a:xfrm>
          <a:off x="0" y="0"/>
          <a:ext cx="0" cy="0"/>
          <a:chOff x="0" y="0"/>
          <a:chExt cx="0" cy="0"/>
        </a:xfrm>
      </p:grpSpPr>
      <p:sp>
        <p:nvSpPr>
          <p:cNvPr name="Freeform 2" id="2"/>
          <p:cNvSpPr/>
          <p:nvPr/>
        </p:nvSpPr>
        <p:spPr>
          <a:xfrm flipH="false" flipV="false" rot="2700000">
            <a:off x="16299339" y="8162409"/>
            <a:ext cx="3258582" cy="3258582"/>
          </a:xfrm>
          <a:custGeom>
            <a:avLst/>
            <a:gdLst/>
            <a:ahLst/>
            <a:cxnLst/>
            <a:rect r="r" b="b" t="t" l="l"/>
            <a:pathLst>
              <a:path h="3258582" w="3258582">
                <a:moveTo>
                  <a:pt x="0" y="0"/>
                </a:moveTo>
                <a:lnTo>
                  <a:pt x="3258582" y="0"/>
                </a:lnTo>
                <a:lnTo>
                  <a:pt x="3258582" y="3258582"/>
                </a:lnTo>
                <a:lnTo>
                  <a:pt x="0" y="3258582"/>
                </a:lnTo>
                <a:lnTo>
                  <a:pt x="0" y="0"/>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2700000">
            <a:off x="-1269921" y="8162409"/>
            <a:ext cx="3258582" cy="3258582"/>
          </a:xfrm>
          <a:custGeom>
            <a:avLst/>
            <a:gdLst/>
            <a:ahLst/>
            <a:cxnLst/>
            <a:rect r="r" b="b" t="t" l="l"/>
            <a:pathLst>
              <a:path h="3258582" w="3258582">
                <a:moveTo>
                  <a:pt x="0" y="0"/>
                </a:moveTo>
                <a:lnTo>
                  <a:pt x="3258582" y="0"/>
                </a:lnTo>
                <a:lnTo>
                  <a:pt x="3258582" y="3258582"/>
                </a:lnTo>
                <a:lnTo>
                  <a:pt x="0" y="3258582"/>
                </a:lnTo>
                <a:lnTo>
                  <a:pt x="0" y="0"/>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2286000" y="5025423"/>
            <a:ext cx="1876329" cy="1793389"/>
          </a:xfrm>
          <a:custGeom>
            <a:avLst/>
            <a:gdLst/>
            <a:ahLst/>
            <a:cxnLst/>
            <a:rect r="r" b="b" t="t" l="l"/>
            <a:pathLst>
              <a:path h="1793389" w="1876329">
                <a:moveTo>
                  <a:pt x="0" y="0"/>
                </a:moveTo>
                <a:lnTo>
                  <a:pt x="1876329" y="0"/>
                </a:lnTo>
                <a:lnTo>
                  <a:pt x="1876329" y="1793389"/>
                </a:lnTo>
                <a:lnTo>
                  <a:pt x="0" y="1793389"/>
                </a:lnTo>
                <a:lnTo>
                  <a:pt x="0" y="0"/>
                </a:lnTo>
                <a:close/>
              </a:path>
            </a:pathLst>
          </a:custGeom>
          <a:blipFill>
            <a:blip r:embed="rId4">
              <a:extLst>
                <a:ext uri="{96DAC541-7B7A-43D3-8B79-37D633B846F1}">
                  <asvg:svgBlip xmlns:asvg="http://schemas.microsoft.com/office/drawing/2016/SVG/main" r:embed="rId5"/>
                </a:ext>
              </a:extLst>
            </a:blip>
            <a:stretch>
              <a:fillRect l="0" t="0" r="-470624" b="0"/>
            </a:stretch>
          </a:blipFill>
        </p:spPr>
      </p:sp>
      <p:sp>
        <p:nvSpPr>
          <p:cNvPr name="Freeform 5" id="5"/>
          <p:cNvSpPr/>
          <p:nvPr/>
        </p:nvSpPr>
        <p:spPr>
          <a:xfrm flipH="false" flipV="false" rot="0">
            <a:off x="13335000" y="5093845"/>
            <a:ext cx="1804742" cy="1724967"/>
          </a:xfrm>
          <a:custGeom>
            <a:avLst/>
            <a:gdLst/>
            <a:ahLst/>
            <a:cxnLst/>
            <a:rect r="r" b="b" t="t" l="l"/>
            <a:pathLst>
              <a:path h="1724967" w="1804742">
                <a:moveTo>
                  <a:pt x="0" y="0"/>
                </a:moveTo>
                <a:lnTo>
                  <a:pt x="1804742" y="0"/>
                </a:lnTo>
                <a:lnTo>
                  <a:pt x="1804742" y="1724967"/>
                </a:lnTo>
                <a:lnTo>
                  <a:pt x="0" y="1724967"/>
                </a:lnTo>
                <a:lnTo>
                  <a:pt x="0" y="0"/>
                </a:lnTo>
                <a:close/>
              </a:path>
            </a:pathLst>
          </a:custGeom>
          <a:blipFill>
            <a:blip r:embed="rId6">
              <a:extLst>
                <a:ext uri="{96DAC541-7B7A-43D3-8B79-37D633B846F1}">
                  <asvg:svgBlip xmlns:asvg="http://schemas.microsoft.com/office/drawing/2016/SVG/main" r:embed="rId7"/>
                </a:ext>
              </a:extLst>
            </a:blip>
            <a:stretch>
              <a:fillRect l="0" t="0" r="-470624" b="0"/>
            </a:stretch>
          </a:blipFill>
        </p:spPr>
      </p:sp>
      <p:sp>
        <p:nvSpPr>
          <p:cNvPr name="Freeform 6" id="6"/>
          <p:cNvSpPr/>
          <p:nvPr/>
        </p:nvSpPr>
        <p:spPr>
          <a:xfrm flipH="false" flipV="false" rot="0">
            <a:off x="7839190" y="5748989"/>
            <a:ext cx="1818949" cy="1738546"/>
          </a:xfrm>
          <a:custGeom>
            <a:avLst/>
            <a:gdLst/>
            <a:ahLst/>
            <a:cxnLst/>
            <a:rect r="r" b="b" t="t" l="l"/>
            <a:pathLst>
              <a:path h="1738546" w="1818949">
                <a:moveTo>
                  <a:pt x="0" y="0"/>
                </a:moveTo>
                <a:lnTo>
                  <a:pt x="1818949" y="0"/>
                </a:lnTo>
                <a:lnTo>
                  <a:pt x="1818949" y="1738546"/>
                </a:lnTo>
                <a:lnTo>
                  <a:pt x="0" y="1738546"/>
                </a:lnTo>
                <a:lnTo>
                  <a:pt x="0" y="0"/>
                </a:lnTo>
                <a:close/>
              </a:path>
            </a:pathLst>
          </a:custGeom>
          <a:blipFill>
            <a:blip r:embed="rId8">
              <a:extLst>
                <a:ext uri="{96DAC541-7B7A-43D3-8B79-37D633B846F1}">
                  <asvg:svgBlip xmlns:asvg="http://schemas.microsoft.com/office/drawing/2016/SVG/main" r:embed="rId9"/>
                </a:ext>
              </a:extLst>
            </a:blip>
            <a:stretch>
              <a:fillRect l="0" t="0" r="-470624" b="0"/>
            </a:stretch>
          </a:blipFill>
        </p:spPr>
      </p:sp>
      <p:sp>
        <p:nvSpPr>
          <p:cNvPr name="TextBox 7" id="7"/>
          <p:cNvSpPr txBox="true"/>
          <p:nvPr/>
        </p:nvSpPr>
        <p:spPr>
          <a:xfrm rot="0">
            <a:off x="1333500" y="7239575"/>
            <a:ext cx="4246049" cy="783491"/>
          </a:xfrm>
          <a:prstGeom prst="rect">
            <a:avLst/>
          </a:prstGeom>
        </p:spPr>
        <p:txBody>
          <a:bodyPr anchor="t" rtlCol="false" tIns="0" lIns="0" bIns="0" rIns="0">
            <a:spAutoFit/>
          </a:bodyPr>
          <a:lstStyle/>
          <a:p>
            <a:pPr algn="ctr">
              <a:lnSpc>
                <a:spcPts val="2080"/>
              </a:lnSpc>
            </a:pPr>
            <a:r>
              <a:rPr lang="en-US" sz="2000" b="true">
                <a:solidFill>
                  <a:srgbClr val="021E47"/>
                </a:solidFill>
                <a:latin typeface="Gotham Bold"/>
                <a:ea typeface="Gotham Bold"/>
                <a:cs typeface="Gotham Bold"/>
                <a:sym typeface="Gotham Bold"/>
              </a:rPr>
              <a:t>Autonomous Drone-Based Border Surveillance Using Real-Time Object Detection with Yolo</a:t>
            </a:r>
          </a:p>
        </p:txBody>
      </p:sp>
      <p:sp>
        <p:nvSpPr>
          <p:cNvPr name="TextBox 8" id="8"/>
          <p:cNvSpPr txBox="true"/>
          <p:nvPr/>
        </p:nvSpPr>
        <p:spPr>
          <a:xfrm rot="0">
            <a:off x="6507294" y="7693282"/>
            <a:ext cx="4503746" cy="526349"/>
          </a:xfrm>
          <a:prstGeom prst="rect">
            <a:avLst/>
          </a:prstGeom>
        </p:spPr>
        <p:txBody>
          <a:bodyPr anchor="t" rtlCol="false" tIns="0" lIns="0" bIns="0" rIns="0">
            <a:spAutoFit/>
          </a:bodyPr>
          <a:lstStyle/>
          <a:p>
            <a:pPr algn="ctr">
              <a:lnSpc>
                <a:spcPts val="2080"/>
              </a:lnSpc>
            </a:pPr>
            <a:r>
              <a:rPr lang="en-US" sz="2000" b="true">
                <a:solidFill>
                  <a:srgbClr val="021E47"/>
                </a:solidFill>
                <a:latin typeface="Gotham Bold"/>
                <a:ea typeface="Gotham Bold"/>
                <a:cs typeface="Gotham Bold"/>
                <a:sym typeface="Gotham Bold"/>
              </a:rPr>
              <a:t>Energy-aware Multi-UAV Coverage Mission Planning (Feb 2024)</a:t>
            </a:r>
          </a:p>
        </p:txBody>
      </p:sp>
      <p:sp>
        <p:nvSpPr>
          <p:cNvPr name="TextBox 9" id="9"/>
          <p:cNvSpPr txBox="true"/>
          <p:nvPr/>
        </p:nvSpPr>
        <p:spPr>
          <a:xfrm rot="0">
            <a:off x="12064947" y="7110077"/>
            <a:ext cx="4456332" cy="783491"/>
          </a:xfrm>
          <a:prstGeom prst="rect">
            <a:avLst/>
          </a:prstGeom>
        </p:spPr>
        <p:txBody>
          <a:bodyPr anchor="t" rtlCol="false" tIns="0" lIns="0" bIns="0" rIns="0">
            <a:spAutoFit/>
          </a:bodyPr>
          <a:lstStyle/>
          <a:p>
            <a:pPr algn="ctr">
              <a:lnSpc>
                <a:spcPts val="2080"/>
              </a:lnSpc>
            </a:pPr>
            <a:r>
              <a:rPr lang="en-US" sz="2000" b="true">
                <a:solidFill>
                  <a:srgbClr val="021E47"/>
                </a:solidFill>
                <a:latin typeface="Gotham Bold"/>
                <a:ea typeface="Gotham Bold"/>
                <a:cs typeface="Gotham Bold"/>
                <a:sym typeface="Gotham Bold"/>
              </a:rPr>
              <a:t>Energy-Efficient Meta-Heuristic Path Planning (Applied Sciences 2024)</a:t>
            </a:r>
          </a:p>
        </p:txBody>
      </p:sp>
      <p:sp>
        <p:nvSpPr>
          <p:cNvPr name="TextBox 10" id="10"/>
          <p:cNvSpPr txBox="true"/>
          <p:nvPr/>
        </p:nvSpPr>
        <p:spPr>
          <a:xfrm rot="0">
            <a:off x="1333500" y="8397919"/>
            <a:ext cx="3730975" cy="693602"/>
          </a:xfrm>
          <a:prstGeom prst="rect">
            <a:avLst/>
          </a:prstGeom>
        </p:spPr>
        <p:txBody>
          <a:bodyPr anchor="t" rtlCol="false" tIns="0" lIns="0" bIns="0" rIns="0">
            <a:spAutoFit/>
          </a:bodyPr>
          <a:lstStyle/>
          <a:p>
            <a:pPr algn="ctr" marL="388618" indent="-194309" lvl="1">
              <a:lnSpc>
                <a:spcPts val="1871"/>
              </a:lnSpc>
              <a:buFont typeface="Arial"/>
              <a:buChar char="•"/>
            </a:pPr>
            <a:r>
              <a:rPr lang="en-US" sz="1799">
                <a:solidFill>
                  <a:srgbClr val="021E47"/>
                </a:solidFill>
                <a:latin typeface="Gotham"/>
                <a:ea typeface="Gotham"/>
                <a:cs typeface="Gotham"/>
                <a:sym typeface="Gotham"/>
              </a:rPr>
              <a:t>Predefined waypoints</a:t>
            </a:r>
          </a:p>
          <a:p>
            <a:pPr algn="ctr" marL="388618" indent="-194309" lvl="1">
              <a:lnSpc>
                <a:spcPts val="1871"/>
              </a:lnSpc>
              <a:buFont typeface="Arial"/>
              <a:buChar char="•"/>
            </a:pPr>
            <a:r>
              <a:rPr lang="en-US" sz="1799">
                <a:solidFill>
                  <a:srgbClr val="021E47"/>
                </a:solidFill>
                <a:latin typeface="Gotham"/>
                <a:ea typeface="Gotham"/>
                <a:cs typeface="Gotham"/>
                <a:sym typeface="Gotham"/>
              </a:rPr>
              <a:t>Fixed return path</a:t>
            </a:r>
          </a:p>
          <a:p>
            <a:pPr algn="ctr" marL="388618" indent="-194309" lvl="1">
              <a:lnSpc>
                <a:spcPts val="1871"/>
              </a:lnSpc>
              <a:buFont typeface="Arial"/>
              <a:buChar char="•"/>
            </a:pPr>
            <a:r>
              <a:rPr lang="en-US" sz="1799">
                <a:solidFill>
                  <a:srgbClr val="021E47"/>
                </a:solidFill>
                <a:latin typeface="Gotham"/>
                <a:ea typeface="Gotham"/>
                <a:cs typeface="Gotham"/>
                <a:sym typeface="Gotham"/>
              </a:rPr>
              <a:t>Real-time threat detection</a:t>
            </a:r>
          </a:p>
        </p:txBody>
      </p:sp>
      <p:sp>
        <p:nvSpPr>
          <p:cNvPr name="TextBox 11" id="11"/>
          <p:cNvSpPr txBox="true"/>
          <p:nvPr/>
        </p:nvSpPr>
        <p:spPr>
          <a:xfrm rot="0">
            <a:off x="6286500" y="8553738"/>
            <a:ext cx="5113206" cy="1150670"/>
          </a:xfrm>
          <a:prstGeom prst="rect">
            <a:avLst/>
          </a:prstGeom>
        </p:spPr>
        <p:txBody>
          <a:bodyPr anchor="t" rtlCol="false" tIns="0" lIns="0" bIns="0" rIns="0">
            <a:spAutoFit/>
          </a:bodyPr>
          <a:lstStyle/>
          <a:p>
            <a:pPr algn="ctr" marL="388618" indent="-194309" lvl="1">
              <a:lnSpc>
                <a:spcPts val="1871"/>
              </a:lnSpc>
              <a:buFont typeface="Arial"/>
              <a:buChar char="•"/>
            </a:pPr>
            <a:r>
              <a:rPr lang="en-US" sz="1799">
                <a:solidFill>
                  <a:srgbClr val="021E47"/>
                </a:solidFill>
                <a:latin typeface="Gotham"/>
                <a:ea typeface="Gotham"/>
                <a:cs typeface="Gotham"/>
                <a:sym typeface="Gotham"/>
              </a:rPr>
              <a:t>Energy estimate matches 97% with real flight data</a:t>
            </a:r>
          </a:p>
          <a:p>
            <a:pPr algn="ctr" marL="388618" indent="-194309" lvl="1">
              <a:lnSpc>
                <a:spcPts val="1871"/>
              </a:lnSpc>
              <a:buFont typeface="Arial"/>
              <a:buChar char="•"/>
            </a:pPr>
            <a:r>
              <a:rPr lang="en-US" sz="1799">
                <a:solidFill>
                  <a:srgbClr val="021E47"/>
                </a:solidFill>
                <a:latin typeface="Gotham"/>
                <a:ea typeface="Gotham"/>
                <a:cs typeface="Gotham"/>
                <a:sym typeface="Gotham"/>
              </a:rPr>
              <a:t>Proposed method energy-wise competitive</a:t>
            </a:r>
          </a:p>
          <a:p>
            <a:pPr algn="ctr">
              <a:lnSpc>
                <a:spcPts val="1871"/>
              </a:lnSpc>
            </a:pPr>
          </a:p>
        </p:txBody>
      </p:sp>
      <p:sp>
        <p:nvSpPr>
          <p:cNvPr name="TextBox 12" id="12"/>
          <p:cNvSpPr txBox="true"/>
          <p:nvPr/>
        </p:nvSpPr>
        <p:spPr>
          <a:xfrm rot="0">
            <a:off x="12169291" y="8336804"/>
            <a:ext cx="4136159" cy="693602"/>
          </a:xfrm>
          <a:prstGeom prst="rect">
            <a:avLst/>
          </a:prstGeom>
        </p:spPr>
        <p:txBody>
          <a:bodyPr anchor="t" rtlCol="false" tIns="0" lIns="0" bIns="0" rIns="0">
            <a:spAutoFit/>
          </a:bodyPr>
          <a:lstStyle/>
          <a:p>
            <a:pPr algn="ctr" marL="388618" indent="-194309" lvl="1">
              <a:lnSpc>
                <a:spcPts val="1871"/>
              </a:lnSpc>
              <a:buFont typeface="Arial"/>
              <a:buChar char="•"/>
            </a:pPr>
            <a:r>
              <a:rPr lang="en-US" sz="1799">
                <a:solidFill>
                  <a:srgbClr val="021E47"/>
                </a:solidFill>
                <a:latin typeface="Gotham"/>
                <a:ea typeface="Gotham"/>
                <a:cs typeface="Gotham"/>
                <a:sym typeface="Gotham"/>
              </a:rPr>
              <a:t>Path optimality</a:t>
            </a:r>
          </a:p>
          <a:p>
            <a:pPr algn="ctr" marL="388618" indent="-194309" lvl="1">
              <a:lnSpc>
                <a:spcPts val="1871"/>
              </a:lnSpc>
              <a:buFont typeface="Arial"/>
              <a:buChar char="•"/>
            </a:pPr>
            <a:r>
              <a:rPr lang="en-US" sz="1799">
                <a:solidFill>
                  <a:srgbClr val="021E47"/>
                </a:solidFill>
                <a:latin typeface="Gotham"/>
                <a:ea typeface="Gotham"/>
                <a:cs typeface="Gotham"/>
                <a:sym typeface="Gotham"/>
              </a:rPr>
              <a:t>Energy consumption</a:t>
            </a:r>
          </a:p>
          <a:p>
            <a:pPr algn="ctr" marL="388618" indent="-194309" lvl="1">
              <a:lnSpc>
                <a:spcPts val="1871"/>
              </a:lnSpc>
              <a:buFont typeface="Arial"/>
              <a:buChar char="•"/>
            </a:pPr>
            <a:r>
              <a:rPr lang="en-US" sz="1799">
                <a:solidFill>
                  <a:srgbClr val="021E47"/>
                </a:solidFill>
                <a:latin typeface="Gotham"/>
                <a:ea typeface="Gotham"/>
                <a:cs typeface="Gotham"/>
                <a:sym typeface="Gotham"/>
              </a:rPr>
              <a:t>Convergence speed</a:t>
            </a:r>
          </a:p>
        </p:txBody>
      </p:sp>
      <p:sp>
        <p:nvSpPr>
          <p:cNvPr name="AutoShape 13" id="13"/>
          <p:cNvSpPr/>
          <p:nvPr/>
        </p:nvSpPr>
        <p:spPr>
          <a:xfrm>
            <a:off x="0" y="6693778"/>
            <a:ext cx="18288000" cy="1652158"/>
          </a:xfrm>
          <a:prstGeom prst="line">
            <a:avLst/>
          </a:prstGeom>
          <a:ln cap="flat" w="19050">
            <a:solidFill>
              <a:srgbClr val="021E47"/>
            </a:solidFill>
            <a:prstDash val="lgDash"/>
            <a:headEnd type="none" len="sm" w="sm"/>
            <a:tailEnd type="none" len="sm" w="sm"/>
          </a:ln>
        </p:spPr>
      </p:sp>
      <p:sp>
        <p:nvSpPr>
          <p:cNvPr name="Freeform 14" id="14"/>
          <p:cNvSpPr/>
          <p:nvPr/>
        </p:nvSpPr>
        <p:spPr>
          <a:xfrm flipH="false" flipV="false" rot="0">
            <a:off x="2956891" y="5231089"/>
            <a:ext cx="606816" cy="606816"/>
          </a:xfrm>
          <a:custGeom>
            <a:avLst/>
            <a:gdLst/>
            <a:ahLst/>
            <a:cxnLst/>
            <a:rect r="r" b="b" t="t" l="l"/>
            <a:pathLst>
              <a:path h="606816" w="606816">
                <a:moveTo>
                  <a:pt x="0" y="0"/>
                </a:moveTo>
                <a:lnTo>
                  <a:pt x="606816" y="0"/>
                </a:lnTo>
                <a:lnTo>
                  <a:pt x="606816" y="606816"/>
                </a:lnTo>
                <a:lnTo>
                  <a:pt x="0" y="60681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5" id="15"/>
          <p:cNvSpPr/>
          <p:nvPr/>
        </p:nvSpPr>
        <p:spPr>
          <a:xfrm flipH="false" flipV="false" rot="0">
            <a:off x="14007537" y="5347183"/>
            <a:ext cx="497676" cy="459106"/>
          </a:xfrm>
          <a:custGeom>
            <a:avLst/>
            <a:gdLst/>
            <a:ahLst/>
            <a:cxnLst/>
            <a:rect r="r" b="b" t="t" l="l"/>
            <a:pathLst>
              <a:path h="459106" w="497676">
                <a:moveTo>
                  <a:pt x="0" y="0"/>
                </a:moveTo>
                <a:lnTo>
                  <a:pt x="497676" y="0"/>
                </a:lnTo>
                <a:lnTo>
                  <a:pt x="497676" y="459105"/>
                </a:lnTo>
                <a:lnTo>
                  <a:pt x="0" y="459105"/>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6" id="16"/>
          <p:cNvSpPr/>
          <p:nvPr/>
        </p:nvSpPr>
        <p:spPr>
          <a:xfrm flipH="false" flipV="false" rot="0">
            <a:off x="8506741" y="5930845"/>
            <a:ext cx="471616" cy="486202"/>
          </a:xfrm>
          <a:custGeom>
            <a:avLst/>
            <a:gdLst/>
            <a:ahLst/>
            <a:cxnLst/>
            <a:rect r="r" b="b" t="t" l="l"/>
            <a:pathLst>
              <a:path h="486202" w="471616">
                <a:moveTo>
                  <a:pt x="0" y="0"/>
                </a:moveTo>
                <a:lnTo>
                  <a:pt x="471617" y="0"/>
                </a:lnTo>
                <a:lnTo>
                  <a:pt x="471617" y="486203"/>
                </a:lnTo>
                <a:lnTo>
                  <a:pt x="0" y="486203"/>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17" id="17"/>
          <p:cNvSpPr txBox="true"/>
          <p:nvPr/>
        </p:nvSpPr>
        <p:spPr>
          <a:xfrm rot="0">
            <a:off x="4953000" y="3075086"/>
            <a:ext cx="8382000" cy="770984"/>
          </a:xfrm>
          <a:prstGeom prst="rect">
            <a:avLst/>
          </a:prstGeom>
        </p:spPr>
        <p:txBody>
          <a:bodyPr anchor="t" rtlCol="false" tIns="0" lIns="0" bIns="0" rIns="0">
            <a:spAutoFit/>
          </a:bodyPr>
          <a:lstStyle/>
          <a:p>
            <a:pPr algn="ctr">
              <a:lnSpc>
                <a:spcPts val="5824"/>
              </a:lnSpc>
            </a:pPr>
            <a:r>
              <a:rPr lang="en-US" b="true" sz="5600">
                <a:solidFill>
                  <a:srgbClr val="021E47"/>
                </a:solidFill>
                <a:latin typeface="Gotham Bold"/>
                <a:ea typeface="Gotham Bold"/>
                <a:cs typeface="Gotham Bold"/>
                <a:sym typeface="Gotham Bold"/>
              </a:rPr>
              <a:t>BACKGROUND STUDY</a:t>
            </a:r>
          </a:p>
        </p:txBody>
      </p:sp>
      <p:sp>
        <p:nvSpPr>
          <p:cNvPr name="Freeform 18" id="18"/>
          <p:cNvSpPr/>
          <p:nvPr/>
        </p:nvSpPr>
        <p:spPr>
          <a:xfrm flipH="false" flipV="false" rot="0">
            <a:off x="14358712" y="11605"/>
            <a:ext cx="3929288" cy="1951633"/>
          </a:xfrm>
          <a:custGeom>
            <a:avLst/>
            <a:gdLst/>
            <a:ahLst/>
            <a:cxnLst/>
            <a:rect r="r" b="b" t="t" l="l"/>
            <a:pathLst>
              <a:path h="1951633" w="3929288">
                <a:moveTo>
                  <a:pt x="0" y="0"/>
                </a:moveTo>
                <a:lnTo>
                  <a:pt x="3929288" y="0"/>
                </a:lnTo>
                <a:lnTo>
                  <a:pt x="3929288" y="1951633"/>
                </a:lnTo>
                <a:lnTo>
                  <a:pt x="0" y="1951633"/>
                </a:lnTo>
                <a:lnTo>
                  <a:pt x="0" y="0"/>
                </a:lnTo>
                <a:close/>
              </a:path>
            </a:pathLst>
          </a:custGeom>
          <a:blipFill>
            <a:blip r:embed="rId16"/>
            <a:stretch>
              <a:fillRect l="0" t="0" r="0" b="0"/>
            </a:stretch>
          </a:blipFill>
        </p:spPr>
      </p:sp>
      <p:sp>
        <p:nvSpPr>
          <p:cNvPr name="AutoShape 19" id="19"/>
          <p:cNvSpPr/>
          <p:nvPr/>
        </p:nvSpPr>
        <p:spPr>
          <a:xfrm>
            <a:off x="0" y="2183755"/>
            <a:ext cx="18288000" cy="0"/>
          </a:xfrm>
          <a:prstGeom prst="line">
            <a:avLst/>
          </a:prstGeom>
          <a:ln cap="flat" w="38100">
            <a:solidFill>
              <a:srgbClr val="000000"/>
            </a:solidFill>
            <a:prstDash val="solid"/>
            <a:headEnd type="none" len="sm" w="sm"/>
            <a:tailEnd type="none" len="sm" w="sm"/>
          </a:ln>
        </p:spPr>
      </p:sp>
      <p:sp>
        <p:nvSpPr>
          <p:cNvPr name="TextBox 20" id="20"/>
          <p:cNvSpPr txBox="true"/>
          <p:nvPr/>
        </p:nvSpPr>
        <p:spPr>
          <a:xfrm rot="0">
            <a:off x="0" y="90363"/>
            <a:ext cx="12755695" cy="683242"/>
          </a:xfrm>
          <a:prstGeom prst="rect">
            <a:avLst/>
          </a:prstGeom>
        </p:spPr>
        <p:txBody>
          <a:bodyPr anchor="t" rtlCol="false" tIns="0" lIns="0" bIns="0" rIns="0">
            <a:spAutoFit/>
          </a:bodyPr>
          <a:lstStyle/>
          <a:p>
            <a:pPr algn="ctr">
              <a:lnSpc>
                <a:spcPts val="5394"/>
              </a:lnSpc>
            </a:pPr>
            <a:r>
              <a:rPr lang="en-US" sz="3853">
                <a:solidFill>
                  <a:srgbClr val="000000"/>
                </a:solidFill>
                <a:latin typeface="Poppins"/>
                <a:ea typeface="Poppins"/>
                <a:cs typeface="Poppins"/>
                <a:sym typeface="Poppins"/>
              </a:rPr>
              <a:t>Department of Computer Science and Engineering</a:t>
            </a:r>
          </a:p>
        </p:txBody>
      </p:sp>
      <p:sp>
        <p:nvSpPr>
          <p:cNvPr name="TextBox 21" id="21"/>
          <p:cNvSpPr txBox="true"/>
          <p:nvPr/>
        </p:nvSpPr>
        <p:spPr>
          <a:xfrm rot="0">
            <a:off x="-246328" y="901697"/>
            <a:ext cx="4246828" cy="566354"/>
          </a:xfrm>
          <a:prstGeom prst="rect">
            <a:avLst/>
          </a:prstGeom>
        </p:spPr>
        <p:txBody>
          <a:bodyPr anchor="t" rtlCol="false" tIns="0" lIns="0" bIns="0" rIns="0">
            <a:spAutoFit/>
          </a:bodyPr>
          <a:lstStyle/>
          <a:p>
            <a:pPr algn="ctr">
              <a:lnSpc>
                <a:spcPts val="4480"/>
              </a:lnSpc>
            </a:pPr>
            <a:r>
              <a:rPr lang="en-US" sz="3200">
                <a:solidFill>
                  <a:srgbClr val="000000"/>
                </a:solidFill>
                <a:latin typeface="Poppins"/>
                <a:ea typeface="Poppins"/>
                <a:cs typeface="Poppins"/>
                <a:sym typeface="Poppins"/>
              </a:rPr>
              <a:t>Uttara University</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3F6FC"/>
        </a:solidFill>
      </p:bgPr>
    </p:bg>
    <p:spTree>
      <p:nvGrpSpPr>
        <p:cNvPr id="1" name=""/>
        <p:cNvGrpSpPr/>
        <p:nvPr/>
      </p:nvGrpSpPr>
      <p:grpSpPr>
        <a:xfrm>
          <a:off x="0" y="0"/>
          <a:ext cx="0" cy="0"/>
          <a:chOff x="0" y="0"/>
          <a:chExt cx="0" cy="0"/>
        </a:xfrm>
      </p:grpSpPr>
      <p:sp>
        <p:nvSpPr>
          <p:cNvPr name="Freeform 2" id="2"/>
          <p:cNvSpPr/>
          <p:nvPr/>
        </p:nvSpPr>
        <p:spPr>
          <a:xfrm flipH="false" flipV="false" rot="0">
            <a:off x="11412381" y="8600350"/>
            <a:ext cx="2676251" cy="555322"/>
          </a:xfrm>
          <a:custGeom>
            <a:avLst/>
            <a:gdLst/>
            <a:ahLst/>
            <a:cxnLst/>
            <a:rect r="r" b="b" t="t" l="l"/>
            <a:pathLst>
              <a:path h="555322" w="2676251">
                <a:moveTo>
                  <a:pt x="0" y="0"/>
                </a:moveTo>
                <a:lnTo>
                  <a:pt x="2676252" y="0"/>
                </a:lnTo>
                <a:lnTo>
                  <a:pt x="2676252" y="555322"/>
                </a:lnTo>
                <a:lnTo>
                  <a:pt x="0" y="555322"/>
                </a:lnTo>
                <a:lnTo>
                  <a:pt x="0" y="0"/>
                </a:lnTo>
                <a:close/>
              </a:path>
            </a:pathLst>
          </a:custGeom>
          <a:blipFill>
            <a:blip r:embed="rId2">
              <a:alphaModFix amt="40000"/>
            </a:blip>
            <a:stretch>
              <a:fillRect l="0" t="0" r="0" b="0"/>
            </a:stretch>
          </a:blipFill>
        </p:spPr>
      </p:sp>
      <p:sp>
        <p:nvSpPr>
          <p:cNvPr name="Freeform 3" id="3"/>
          <p:cNvSpPr/>
          <p:nvPr/>
        </p:nvSpPr>
        <p:spPr>
          <a:xfrm flipH="false" flipV="false" rot="0">
            <a:off x="1877086" y="8969678"/>
            <a:ext cx="2676251" cy="555322"/>
          </a:xfrm>
          <a:custGeom>
            <a:avLst/>
            <a:gdLst/>
            <a:ahLst/>
            <a:cxnLst/>
            <a:rect r="r" b="b" t="t" l="l"/>
            <a:pathLst>
              <a:path h="555322" w="2676251">
                <a:moveTo>
                  <a:pt x="0" y="0"/>
                </a:moveTo>
                <a:lnTo>
                  <a:pt x="2676251" y="0"/>
                </a:lnTo>
                <a:lnTo>
                  <a:pt x="2676251" y="555322"/>
                </a:lnTo>
                <a:lnTo>
                  <a:pt x="0" y="555322"/>
                </a:lnTo>
                <a:lnTo>
                  <a:pt x="0" y="0"/>
                </a:lnTo>
                <a:close/>
              </a:path>
            </a:pathLst>
          </a:custGeom>
          <a:blipFill>
            <a:blip r:embed="rId2">
              <a:alphaModFix amt="40000"/>
            </a:blip>
            <a:stretch>
              <a:fillRect l="0" t="0" r="0" b="0"/>
            </a:stretch>
          </a:blipFill>
        </p:spPr>
      </p:sp>
      <p:grpSp>
        <p:nvGrpSpPr>
          <p:cNvPr name="Group 4" id="4"/>
          <p:cNvGrpSpPr/>
          <p:nvPr/>
        </p:nvGrpSpPr>
        <p:grpSpPr>
          <a:xfrm rot="0">
            <a:off x="11454664" y="6595299"/>
            <a:ext cx="2591686" cy="2282713"/>
            <a:chOff x="0" y="0"/>
            <a:chExt cx="691144" cy="608748"/>
          </a:xfrm>
        </p:grpSpPr>
        <p:sp>
          <p:nvSpPr>
            <p:cNvPr name="Freeform 5" id="5"/>
            <p:cNvSpPr/>
            <p:nvPr/>
          </p:nvSpPr>
          <p:spPr>
            <a:xfrm flipH="false" flipV="false" rot="0">
              <a:off x="0" y="0"/>
              <a:ext cx="691144" cy="608748"/>
            </a:xfrm>
            <a:custGeom>
              <a:avLst/>
              <a:gdLst/>
              <a:ahLst/>
              <a:cxnLst/>
              <a:rect r="r" b="b" t="t" l="l"/>
              <a:pathLst>
                <a:path h="608748" w="691144">
                  <a:moveTo>
                    <a:pt x="59744" y="0"/>
                  </a:moveTo>
                  <a:lnTo>
                    <a:pt x="631400" y="0"/>
                  </a:lnTo>
                  <a:cubicBezTo>
                    <a:pt x="664395" y="0"/>
                    <a:pt x="691144" y="26748"/>
                    <a:pt x="691144" y="59744"/>
                  </a:cubicBezTo>
                  <a:lnTo>
                    <a:pt x="691144" y="549004"/>
                  </a:lnTo>
                  <a:cubicBezTo>
                    <a:pt x="691144" y="581999"/>
                    <a:pt x="664395" y="608748"/>
                    <a:pt x="631400" y="608748"/>
                  </a:cubicBezTo>
                  <a:lnTo>
                    <a:pt x="59744" y="608748"/>
                  </a:lnTo>
                  <a:cubicBezTo>
                    <a:pt x="26748" y="608748"/>
                    <a:pt x="0" y="581999"/>
                    <a:pt x="0" y="549004"/>
                  </a:cubicBezTo>
                  <a:lnTo>
                    <a:pt x="0" y="59744"/>
                  </a:lnTo>
                  <a:cubicBezTo>
                    <a:pt x="0" y="26748"/>
                    <a:pt x="26748" y="0"/>
                    <a:pt x="59744" y="0"/>
                  </a:cubicBezTo>
                  <a:close/>
                </a:path>
              </a:pathLst>
            </a:custGeom>
            <a:solidFill>
              <a:srgbClr val="FCFEFF"/>
            </a:solidFill>
          </p:spPr>
        </p:sp>
        <p:sp>
          <p:nvSpPr>
            <p:cNvPr name="TextBox 6" id="6"/>
            <p:cNvSpPr txBox="true"/>
            <p:nvPr/>
          </p:nvSpPr>
          <p:spPr>
            <a:xfrm>
              <a:off x="0" y="28575"/>
              <a:ext cx="691144" cy="580173"/>
            </a:xfrm>
            <a:prstGeom prst="rect">
              <a:avLst/>
            </a:prstGeom>
          </p:spPr>
          <p:txBody>
            <a:bodyPr anchor="ctr" rtlCol="false" tIns="50800" lIns="50800" bIns="50800" rIns="50800"/>
            <a:lstStyle/>
            <a:p>
              <a:pPr algn="ctr">
                <a:lnSpc>
                  <a:spcPts val="2080"/>
                </a:lnSpc>
              </a:pPr>
            </a:p>
          </p:txBody>
        </p:sp>
      </p:grpSp>
      <p:grpSp>
        <p:nvGrpSpPr>
          <p:cNvPr name="Group 7" id="7"/>
          <p:cNvGrpSpPr/>
          <p:nvPr/>
        </p:nvGrpSpPr>
        <p:grpSpPr>
          <a:xfrm rot="0">
            <a:off x="1919369" y="6964626"/>
            <a:ext cx="2591686" cy="2282713"/>
            <a:chOff x="0" y="0"/>
            <a:chExt cx="691144" cy="608748"/>
          </a:xfrm>
        </p:grpSpPr>
        <p:sp>
          <p:nvSpPr>
            <p:cNvPr name="Freeform 8" id="8"/>
            <p:cNvSpPr/>
            <p:nvPr/>
          </p:nvSpPr>
          <p:spPr>
            <a:xfrm flipH="false" flipV="false" rot="0">
              <a:off x="0" y="0"/>
              <a:ext cx="691144" cy="608748"/>
            </a:xfrm>
            <a:custGeom>
              <a:avLst/>
              <a:gdLst/>
              <a:ahLst/>
              <a:cxnLst/>
              <a:rect r="r" b="b" t="t" l="l"/>
              <a:pathLst>
                <a:path h="608748" w="691144">
                  <a:moveTo>
                    <a:pt x="59744" y="0"/>
                  </a:moveTo>
                  <a:lnTo>
                    <a:pt x="631400" y="0"/>
                  </a:lnTo>
                  <a:cubicBezTo>
                    <a:pt x="664395" y="0"/>
                    <a:pt x="691144" y="26748"/>
                    <a:pt x="691144" y="59744"/>
                  </a:cubicBezTo>
                  <a:lnTo>
                    <a:pt x="691144" y="549004"/>
                  </a:lnTo>
                  <a:cubicBezTo>
                    <a:pt x="691144" y="581999"/>
                    <a:pt x="664395" y="608748"/>
                    <a:pt x="631400" y="608748"/>
                  </a:cubicBezTo>
                  <a:lnTo>
                    <a:pt x="59744" y="608748"/>
                  </a:lnTo>
                  <a:cubicBezTo>
                    <a:pt x="26748" y="608748"/>
                    <a:pt x="0" y="581999"/>
                    <a:pt x="0" y="549004"/>
                  </a:cubicBezTo>
                  <a:lnTo>
                    <a:pt x="0" y="59744"/>
                  </a:lnTo>
                  <a:cubicBezTo>
                    <a:pt x="0" y="26748"/>
                    <a:pt x="26748" y="0"/>
                    <a:pt x="59744" y="0"/>
                  </a:cubicBezTo>
                  <a:close/>
                </a:path>
              </a:pathLst>
            </a:custGeom>
            <a:solidFill>
              <a:srgbClr val="FCFEFF"/>
            </a:solidFill>
          </p:spPr>
        </p:sp>
        <p:sp>
          <p:nvSpPr>
            <p:cNvPr name="TextBox 9" id="9"/>
            <p:cNvSpPr txBox="true"/>
            <p:nvPr/>
          </p:nvSpPr>
          <p:spPr>
            <a:xfrm>
              <a:off x="0" y="28575"/>
              <a:ext cx="691144" cy="580173"/>
            </a:xfrm>
            <a:prstGeom prst="rect">
              <a:avLst/>
            </a:prstGeom>
          </p:spPr>
          <p:txBody>
            <a:bodyPr anchor="ctr" rtlCol="false" tIns="50800" lIns="50800" bIns="50800" rIns="50800"/>
            <a:lstStyle/>
            <a:p>
              <a:pPr algn="ctr">
                <a:lnSpc>
                  <a:spcPts val="2080"/>
                </a:lnSpc>
              </a:pPr>
            </a:p>
          </p:txBody>
        </p:sp>
      </p:grpSp>
      <p:sp>
        <p:nvSpPr>
          <p:cNvPr name="Freeform 10" id="10"/>
          <p:cNvSpPr/>
          <p:nvPr/>
        </p:nvSpPr>
        <p:spPr>
          <a:xfrm flipH="false" flipV="false" rot="0">
            <a:off x="11454664" y="4426696"/>
            <a:ext cx="3050101" cy="2424812"/>
          </a:xfrm>
          <a:custGeom>
            <a:avLst/>
            <a:gdLst/>
            <a:ahLst/>
            <a:cxnLst/>
            <a:rect r="r" b="b" t="t" l="l"/>
            <a:pathLst>
              <a:path h="2424812" w="3050101">
                <a:moveTo>
                  <a:pt x="0" y="0"/>
                </a:moveTo>
                <a:lnTo>
                  <a:pt x="3050101" y="0"/>
                </a:lnTo>
                <a:lnTo>
                  <a:pt x="3050101" y="2424811"/>
                </a:lnTo>
                <a:lnTo>
                  <a:pt x="0" y="2424811"/>
                </a:lnTo>
                <a:lnTo>
                  <a:pt x="0" y="0"/>
                </a:lnTo>
                <a:close/>
              </a:path>
            </a:pathLst>
          </a:custGeom>
          <a:blipFill>
            <a:blip r:embed="rId3">
              <a:extLst>
                <a:ext uri="{96DAC541-7B7A-43D3-8B79-37D633B846F1}">
                  <asvg:svgBlip xmlns:asvg="http://schemas.microsoft.com/office/drawing/2016/SVG/main" r:embed="rId4"/>
                </a:ext>
              </a:extLst>
            </a:blip>
            <a:stretch>
              <a:fillRect l="-778" t="-174030" r="-482105" b="0"/>
            </a:stretch>
          </a:blipFill>
        </p:spPr>
      </p:sp>
      <p:sp>
        <p:nvSpPr>
          <p:cNvPr name="Freeform 11" id="11"/>
          <p:cNvSpPr/>
          <p:nvPr/>
        </p:nvSpPr>
        <p:spPr>
          <a:xfrm flipH="false" flipV="false" rot="0">
            <a:off x="1919369" y="4796023"/>
            <a:ext cx="3040954" cy="2417540"/>
          </a:xfrm>
          <a:custGeom>
            <a:avLst/>
            <a:gdLst/>
            <a:ahLst/>
            <a:cxnLst/>
            <a:rect r="r" b="b" t="t" l="l"/>
            <a:pathLst>
              <a:path h="2417540" w="3040954">
                <a:moveTo>
                  <a:pt x="0" y="0"/>
                </a:moveTo>
                <a:lnTo>
                  <a:pt x="3040954" y="0"/>
                </a:lnTo>
                <a:lnTo>
                  <a:pt x="3040954" y="2417540"/>
                </a:lnTo>
                <a:lnTo>
                  <a:pt x="0" y="2417540"/>
                </a:lnTo>
                <a:lnTo>
                  <a:pt x="0" y="0"/>
                </a:lnTo>
                <a:close/>
              </a:path>
            </a:pathLst>
          </a:custGeom>
          <a:blipFill>
            <a:blip r:embed="rId5">
              <a:extLst>
                <a:ext uri="{96DAC541-7B7A-43D3-8B79-37D633B846F1}">
                  <asvg:svgBlip xmlns:asvg="http://schemas.microsoft.com/office/drawing/2016/SVG/main" r:embed="rId6"/>
                </a:ext>
              </a:extLst>
            </a:blip>
            <a:stretch>
              <a:fillRect l="-778" t="-174030" r="-482105" b="0"/>
            </a:stretch>
          </a:blipFill>
        </p:spPr>
      </p:sp>
      <p:sp>
        <p:nvSpPr>
          <p:cNvPr name="Freeform 12" id="12"/>
          <p:cNvSpPr/>
          <p:nvPr/>
        </p:nvSpPr>
        <p:spPr>
          <a:xfrm flipH="false" flipV="false" rot="0">
            <a:off x="6621967" y="8742241"/>
            <a:ext cx="2676251" cy="555322"/>
          </a:xfrm>
          <a:custGeom>
            <a:avLst/>
            <a:gdLst/>
            <a:ahLst/>
            <a:cxnLst/>
            <a:rect r="r" b="b" t="t" l="l"/>
            <a:pathLst>
              <a:path h="555322" w="2676251">
                <a:moveTo>
                  <a:pt x="0" y="0"/>
                </a:moveTo>
                <a:lnTo>
                  <a:pt x="2676252" y="0"/>
                </a:lnTo>
                <a:lnTo>
                  <a:pt x="2676252" y="555322"/>
                </a:lnTo>
                <a:lnTo>
                  <a:pt x="0" y="555322"/>
                </a:lnTo>
                <a:lnTo>
                  <a:pt x="0" y="0"/>
                </a:lnTo>
                <a:close/>
              </a:path>
            </a:pathLst>
          </a:custGeom>
          <a:blipFill>
            <a:blip r:embed="rId2">
              <a:alphaModFix amt="40000"/>
            </a:blip>
            <a:stretch>
              <a:fillRect l="0" t="0" r="0" b="0"/>
            </a:stretch>
          </a:blipFill>
        </p:spPr>
      </p:sp>
      <p:grpSp>
        <p:nvGrpSpPr>
          <p:cNvPr name="Group 13" id="13"/>
          <p:cNvGrpSpPr/>
          <p:nvPr/>
        </p:nvGrpSpPr>
        <p:grpSpPr>
          <a:xfrm rot="0">
            <a:off x="6664250" y="6737190"/>
            <a:ext cx="2591686" cy="2282713"/>
            <a:chOff x="0" y="0"/>
            <a:chExt cx="691144" cy="608748"/>
          </a:xfrm>
        </p:grpSpPr>
        <p:sp>
          <p:nvSpPr>
            <p:cNvPr name="Freeform 14" id="14"/>
            <p:cNvSpPr/>
            <p:nvPr/>
          </p:nvSpPr>
          <p:spPr>
            <a:xfrm flipH="false" flipV="false" rot="0">
              <a:off x="0" y="0"/>
              <a:ext cx="691144" cy="608748"/>
            </a:xfrm>
            <a:custGeom>
              <a:avLst/>
              <a:gdLst/>
              <a:ahLst/>
              <a:cxnLst/>
              <a:rect r="r" b="b" t="t" l="l"/>
              <a:pathLst>
                <a:path h="608748" w="691144">
                  <a:moveTo>
                    <a:pt x="59744" y="0"/>
                  </a:moveTo>
                  <a:lnTo>
                    <a:pt x="631400" y="0"/>
                  </a:lnTo>
                  <a:cubicBezTo>
                    <a:pt x="664395" y="0"/>
                    <a:pt x="691144" y="26748"/>
                    <a:pt x="691144" y="59744"/>
                  </a:cubicBezTo>
                  <a:lnTo>
                    <a:pt x="691144" y="549004"/>
                  </a:lnTo>
                  <a:cubicBezTo>
                    <a:pt x="691144" y="581999"/>
                    <a:pt x="664395" y="608748"/>
                    <a:pt x="631400" y="608748"/>
                  </a:cubicBezTo>
                  <a:lnTo>
                    <a:pt x="59744" y="608748"/>
                  </a:lnTo>
                  <a:cubicBezTo>
                    <a:pt x="26748" y="608748"/>
                    <a:pt x="0" y="581999"/>
                    <a:pt x="0" y="549004"/>
                  </a:cubicBezTo>
                  <a:lnTo>
                    <a:pt x="0" y="59744"/>
                  </a:lnTo>
                  <a:cubicBezTo>
                    <a:pt x="0" y="26748"/>
                    <a:pt x="26748" y="0"/>
                    <a:pt x="59744" y="0"/>
                  </a:cubicBezTo>
                  <a:close/>
                </a:path>
              </a:pathLst>
            </a:custGeom>
            <a:solidFill>
              <a:srgbClr val="FCFEFF"/>
            </a:solidFill>
          </p:spPr>
        </p:sp>
        <p:sp>
          <p:nvSpPr>
            <p:cNvPr name="TextBox 15" id="15"/>
            <p:cNvSpPr txBox="true"/>
            <p:nvPr/>
          </p:nvSpPr>
          <p:spPr>
            <a:xfrm>
              <a:off x="0" y="28575"/>
              <a:ext cx="691144" cy="580173"/>
            </a:xfrm>
            <a:prstGeom prst="rect">
              <a:avLst/>
            </a:prstGeom>
          </p:spPr>
          <p:txBody>
            <a:bodyPr anchor="ctr" rtlCol="false" tIns="50800" lIns="50800" bIns="50800" rIns="50800"/>
            <a:lstStyle/>
            <a:p>
              <a:pPr algn="ctr">
                <a:lnSpc>
                  <a:spcPts val="2080"/>
                </a:lnSpc>
              </a:pPr>
            </a:p>
          </p:txBody>
        </p:sp>
      </p:grpSp>
      <p:sp>
        <p:nvSpPr>
          <p:cNvPr name="Freeform 16" id="16"/>
          <p:cNvSpPr/>
          <p:nvPr/>
        </p:nvSpPr>
        <p:spPr>
          <a:xfrm flipH="false" flipV="false" rot="0">
            <a:off x="6664250" y="4568587"/>
            <a:ext cx="3040954" cy="2417540"/>
          </a:xfrm>
          <a:custGeom>
            <a:avLst/>
            <a:gdLst/>
            <a:ahLst/>
            <a:cxnLst/>
            <a:rect r="r" b="b" t="t" l="l"/>
            <a:pathLst>
              <a:path h="2417540" w="3040954">
                <a:moveTo>
                  <a:pt x="0" y="0"/>
                </a:moveTo>
                <a:lnTo>
                  <a:pt x="3040955" y="0"/>
                </a:lnTo>
                <a:lnTo>
                  <a:pt x="3040955" y="2417540"/>
                </a:lnTo>
                <a:lnTo>
                  <a:pt x="0" y="2417540"/>
                </a:lnTo>
                <a:lnTo>
                  <a:pt x="0" y="0"/>
                </a:lnTo>
                <a:close/>
              </a:path>
            </a:pathLst>
          </a:custGeom>
          <a:blipFill>
            <a:blip r:embed="rId7">
              <a:extLst>
                <a:ext uri="{96DAC541-7B7A-43D3-8B79-37D633B846F1}">
                  <asvg:svgBlip xmlns:asvg="http://schemas.microsoft.com/office/drawing/2016/SVG/main" r:embed="rId8"/>
                </a:ext>
              </a:extLst>
            </a:blip>
            <a:stretch>
              <a:fillRect l="-778" t="-174030" r="-482105" b="0"/>
            </a:stretch>
          </a:blipFill>
        </p:spPr>
      </p:sp>
      <p:sp>
        <p:nvSpPr>
          <p:cNvPr name="Freeform 17" id="17"/>
          <p:cNvSpPr/>
          <p:nvPr/>
        </p:nvSpPr>
        <p:spPr>
          <a:xfrm flipH="false" flipV="false" rot="0">
            <a:off x="11835664" y="4862746"/>
            <a:ext cx="633885" cy="501561"/>
          </a:xfrm>
          <a:custGeom>
            <a:avLst/>
            <a:gdLst/>
            <a:ahLst/>
            <a:cxnLst/>
            <a:rect r="r" b="b" t="t" l="l"/>
            <a:pathLst>
              <a:path h="501561" w="633885">
                <a:moveTo>
                  <a:pt x="0" y="0"/>
                </a:moveTo>
                <a:lnTo>
                  <a:pt x="633885" y="0"/>
                </a:lnTo>
                <a:lnTo>
                  <a:pt x="633885" y="501561"/>
                </a:lnTo>
                <a:lnTo>
                  <a:pt x="0" y="50156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8" id="18"/>
          <p:cNvSpPr/>
          <p:nvPr/>
        </p:nvSpPr>
        <p:spPr>
          <a:xfrm flipH="false" flipV="false" rot="0">
            <a:off x="2300369" y="5177023"/>
            <a:ext cx="556612" cy="556612"/>
          </a:xfrm>
          <a:custGeom>
            <a:avLst/>
            <a:gdLst/>
            <a:ahLst/>
            <a:cxnLst/>
            <a:rect r="r" b="b" t="t" l="l"/>
            <a:pathLst>
              <a:path h="556612" w="556612">
                <a:moveTo>
                  <a:pt x="0" y="0"/>
                </a:moveTo>
                <a:lnTo>
                  <a:pt x="556611" y="0"/>
                </a:lnTo>
                <a:lnTo>
                  <a:pt x="556611" y="556612"/>
                </a:lnTo>
                <a:lnTo>
                  <a:pt x="0" y="556612"/>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9" id="19"/>
          <p:cNvSpPr/>
          <p:nvPr/>
        </p:nvSpPr>
        <p:spPr>
          <a:xfrm flipH="false" flipV="false" rot="0">
            <a:off x="2413727" y="5291683"/>
            <a:ext cx="155315" cy="154150"/>
          </a:xfrm>
          <a:custGeom>
            <a:avLst/>
            <a:gdLst/>
            <a:ahLst/>
            <a:cxnLst/>
            <a:rect r="r" b="b" t="t" l="l"/>
            <a:pathLst>
              <a:path h="154150" w="155315">
                <a:moveTo>
                  <a:pt x="0" y="0"/>
                </a:moveTo>
                <a:lnTo>
                  <a:pt x="155315" y="0"/>
                </a:lnTo>
                <a:lnTo>
                  <a:pt x="155315" y="154150"/>
                </a:lnTo>
                <a:lnTo>
                  <a:pt x="0" y="154150"/>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20" id="20"/>
          <p:cNvSpPr/>
          <p:nvPr/>
        </p:nvSpPr>
        <p:spPr>
          <a:xfrm flipH="false" flipV="false" rot="0">
            <a:off x="7002967" y="4949587"/>
            <a:ext cx="556612" cy="556612"/>
          </a:xfrm>
          <a:custGeom>
            <a:avLst/>
            <a:gdLst/>
            <a:ahLst/>
            <a:cxnLst/>
            <a:rect r="r" b="b" t="t" l="l"/>
            <a:pathLst>
              <a:path h="556612" w="556612">
                <a:moveTo>
                  <a:pt x="0" y="0"/>
                </a:moveTo>
                <a:lnTo>
                  <a:pt x="556612" y="0"/>
                </a:lnTo>
                <a:lnTo>
                  <a:pt x="556612" y="556611"/>
                </a:lnTo>
                <a:lnTo>
                  <a:pt x="0" y="556611"/>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TextBox 21" id="21"/>
          <p:cNvSpPr txBox="true"/>
          <p:nvPr/>
        </p:nvSpPr>
        <p:spPr>
          <a:xfrm rot="0">
            <a:off x="4286250" y="2754872"/>
            <a:ext cx="9334500" cy="770984"/>
          </a:xfrm>
          <a:prstGeom prst="rect">
            <a:avLst/>
          </a:prstGeom>
        </p:spPr>
        <p:txBody>
          <a:bodyPr anchor="t" rtlCol="false" tIns="0" lIns="0" bIns="0" rIns="0">
            <a:spAutoFit/>
          </a:bodyPr>
          <a:lstStyle/>
          <a:p>
            <a:pPr algn="ctr">
              <a:lnSpc>
                <a:spcPts val="5824"/>
              </a:lnSpc>
            </a:pPr>
            <a:r>
              <a:rPr lang="en-US" b="true" sz="5600">
                <a:solidFill>
                  <a:srgbClr val="021E47"/>
                </a:solidFill>
                <a:latin typeface="Gotham Bold"/>
                <a:ea typeface="Gotham Bold"/>
                <a:cs typeface="Gotham Bold"/>
                <a:sym typeface="Gotham Bold"/>
              </a:rPr>
              <a:t>PROBLEM STATEMENTS </a:t>
            </a:r>
          </a:p>
        </p:txBody>
      </p:sp>
      <p:sp>
        <p:nvSpPr>
          <p:cNvPr name="TextBox 22" id="22"/>
          <p:cNvSpPr txBox="true"/>
          <p:nvPr/>
        </p:nvSpPr>
        <p:spPr>
          <a:xfrm rot="0">
            <a:off x="11526972" y="5734791"/>
            <a:ext cx="3074819" cy="578104"/>
          </a:xfrm>
          <a:prstGeom prst="rect">
            <a:avLst/>
          </a:prstGeom>
        </p:spPr>
        <p:txBody>
          <a:bodyPr anchor="t" rtlCol="false" tIns="0" lIns="0" bIns="0" rIns="0">
            <a:spAutoFit/>
          </a:bodyPr>
          <a:lstStyle/>
          <a:p>
            <a:pPr algn="l">
              <a:lnSpc>
                <a:spcPts val="2287"/>
              </a:lnSpc>
            </a:pPr>
            <a:r>
              <a:rPr lang="en-US" sz="2199" b="true">
                <a:solidFill>
                  <a:srgbClr val="021E47"/>
                </a:solidFill>
                <a:latin typeface="Gotham Bold"/>
                <a:ea typeface="Gotham Bold"/>
                <a:cs typeface="Gotham Bold"/>
                <a:sym typeface="Gotham Bold"/>
              </a:rPr>
              <a:t>Limited Monitoring Capability</a:t>
            </a:r>
          </a:p>
        </p:txBody>
      </p:sp>
      <p:sp>
        <p:nvSpPr>
          <p:cNvPr name="TextBox 23" id="23"/>
          <p:cNvSpPr txBox="true"/>
          <p:nvPr/>
        </p:nvSpPr>
        <p:spPr>
          <a:xfrm rot="0">
            <a:off x="2217580" y="6354971"/>
            <a:ext cx="2444532" cy="578104"/>
          </a:xfrm>
          <a:prstGeom prst="rect">
            <a:avLst/>
          </a:prstGeom>
        </p:spPr>
        <p:txBody>
          <a:bodyPr anchor="t" rtlCol="false" tIns="0" lIns="0" bIns="0" rIns="0">
            <a:spAutoFit/>
          </a:bodyPr>
          <a:lstStyle/>
          <a:p>
            <a:pPr algn="l">
              <a:lnSpc>
                <a:spcPts val="2287"/>
              </a:lnSpc>
            </a:pPr>
            <a:r>
              <a:rPr lang="en-US" sz="2199" b="true">
                <a:solidFill>
                  <a:srgbClr val="021E47"/>
                </a:solidFill>
                <a:latin typeface="Gotham Bold"/>
                <a:ea typeface="Gotham Bold"/>
                <a:cs typeface="Gotham Bold"/>
                <a:sym typeface="Gotham Bold"/>
              </a:rPr>
              <a:t>Lack of Adaptability</a:t>
            </a:r>
          </a:p>
        </p:txBody>
      </p:sp>
      <p:sp>
        <p:nvSpPr>
          <p:cNvPr name="TextBox 24" id="24"/>
          <p:cNvSpPr txBox="true"/>
          <p:nvPr/>
        </p:nvSpPr>
        <p:spPr>
          <a:xfrm rot="0">
            <a:off x="7046848" y="6080935"/>
            <a:ext cx="1821039" cy="578104"/>
          </a:xfrm>
          <a:prstGeom prst="rect">
            <a:avLst/>
          </a:prstGeom>
        </p:spPr>
        <p:txBody>
          <a:bodyPr anchor="t" rtlCol="false" tIns="0" lIns="0" bIns="0" rIns="0">
            <a:spAutoFit/>
          </a:bodyPr>
          <a:lstStyle/>
          <a:p>
            <a:pPr algn="l">
              <a:lnSpc>
                <a:spcPts val="2287"/>
              </a:lnSpc>
            </a:pPr>
            <a:r>
              <a:rPr lang="en-US" sz="2199" b="true">
                <a:solidFill>
                  <a:srgbClr val="FCFEFF"/>
                </a:solidFill>
                <a:latin typeface="Gotham Bold"/>
                <a:ea typeface="Gotham Bold"/>
                <a:cs typeface="Gotham Bold"/>
                <a:sym typeface="Gotham Bold"/>
              </a:rPr>
              <a:t>Energy Constraints</a:t>
            </a:r>
          </a:p>
        </p:txBody>
      </p:sp>
      <p:sp>
        <p:nvSpPr>
          <p:cNvPr name="TextBox 25" id="25"/>
          <p:cNvSpPr txBox="true"/>
          <p:nvPr/>
        </p:nvSpPr>
        <p:spPr>
          <a:xfrm rot="0">
            <a:off x="11630249" y="7253549"/>
            <a:ext cx="2251357" cy="1150670"/>
          </a:xfrm>
          <a:prstGeom prst="rect">
            <a:avLst/>
          </a:prstGeom>
        </p:spPr>
        <p:txBody>
          <a:bodyPr anchor="t" rtlCol="false" tIns="0" lIns="0" bIns="0" rIns="0">
            <a:spAutoFit/>
          </a:bodyPr>
          <a:lstStyle/>
          <a:p>
            <a:pPr algn="just">
              <a:lnSpc>
                <a:spcPts val="1871"/>
              </a:lnSpc>
            </a:pPr>
            <a:r>
              <a:rPr lang="en-US" sz="1799">
                <a:solidFill>
                  <a:srgbClr val="021E47"/>
                </a:solidFill>
                <a:latin typeface="Gotham"/>
                <a:ea typeface="Gotham"/>
                <a:cs typeface="Gotham"/>
                <a:sym typeface="Gotham"/>
              </a:rPr>
              <a:t>Real-time visualization and mission monitoring tools are often insufficient.</a:t>
            </a:r>
          </a:p>
        </p:txBody>
      </p:sp>
      <p:sp>
        <p:nvSpPr>
          <p:cNvPr name="TextBox 26" id="26"/>
          <p:cNvSpPr txBox="true"/>
          <p:nvPr/>
        </p:nvSpPr>
        <p:spPr>
          <a:xfrm rot="0">
            <a:off x="2019784" y="7498974"/>
            <a:ext cx="2351420" cy="1150670"/>
          </a:xfrm>
          <a:prstGeom prst="rect">
            <a:avLst/>
          </a:prstGeom>
        </p:spPr>
        <p:txBody>
          <a:bodyPr anchor="t" rtlCol="false" tIns="0" lIns="0" bIns="0" rIns="0">
            <a:spAutoFit/>
          </a:bodyPr>
          <a:lstStyle/>
          <a:p>
            <a:pPr algn="just">
              <a:lnSpc>
                <a:spcPts val="1871"/>
              </a:lnSpc>
            </a:pPr>
            <a:r>
              <a:rPr lang="en-US" sz="1799">
                <a:solidFill>
                  <a:srgbClr val="021E47"/>
                </a:solidFill>
                <a:latin typeface="Gotham"/>
                <a:ea typeface="Gotham"/>
                <a:cs typeface="Gotham"/>
                <a:sym typeface="Gotham"/>
              </a:rPr>
              <a:t>they cannot change their path when a new no-fly zone or threat appears suddenly.</a:t>
            </a:r>
          </a:p>
        </p:txBody>
      </p:sp>
      <p:sp>
        <p:nvSpPr>
          <p:cNvPr name="TextBox 27" id="27"/>
          <p:cNvSpPr txBox="true"/>
          <p:nvPr/>
        </p:nvSpPr>
        <p:spPr>
          <a:xfrm rot="0">
            <a:off x="6830086" y="7241518"/>
            <a:ext cx="2318133" cy="1480081"/>
          </a:xfrm>
          <a:prstGeom prst="rect">
            <a:avLst/>
          </a:prstGeom>
        </p:spPr>
        <p:txBody>
          <a:bodyPr anchor="t" rtlCol="false" tIns="0" lIns="0" bIns="0" rIns="0">
            <a:spAutoFit/>
          </a:bodyPr>
          <a:lstStyle/>
          <a:p>
            <a:pPr algn="just">
              <a:lnSpc>
                <a:spcPts val="1663"/>
              </a:lnSpc>
            </a:pPr>
            <a:r>
              <a:rPr lang="en-US" sz="1599">
                <a:solidFill>
                  <a:srgbClr val="021E47"/>
                </a:solidFill>
                <a:latin typeface="Gotham"/>
                <a:ea typeface="Gotham"/>
                <a:cs typeface="Gotham"/>
                <a:sym typeface="Gotham"/>
              </a:rPr>
              <a:t>Many systems fail to calculate the point of no return, causing drones to run out of battery before reaching the base station.</a:t>
            </a:r>
          </a:p>
        </p:txBody>
      </p:sp>
      <p:sp>
        <p:nvSpPr>
          <p:cNvPr name="Freeform 28" id="28"/>
          <p:cNvSpPr/>
          <p:nvPr/>
        </p:nvSpPr>
        <p:spPr>
          <a:xfrm flipH="false" flipV="false" rot="2700000">
            <a:off x="16295874" y="4716188"/>
            <a:ext cx="3258582" cy="3258582"/>
          </a:xfrm>
          <a:custGeom>
            <a:avLst/>
            <a:gdLst/>
            <a:ahLst/>
            <a:cxnLst/>
            <a:rect r="r" b="b" t="t" l="l"/>
            <a:pathLst>
              <a:path h="3258582" w="3258582">
                <a:moveTo>
                  <a:pt x="0" y="0"/>
                </a:moveTo>
                <a:lnTo>
                  <a:pt x="3258582" y="0"/>
                </a:lnTo>
                <a:lnTo>
                  <a:pt x="3258582" y="3258582"/>
                </a:lnTo>
                <a:lnTo>
                  <a:pt x="0" y="3258582"/>
                </a:lnTo>
                <a:lnTo>
                  <a:pt x="0" y="0"/>
                </a:lnTo>
                <a:close/>
              </a:path>
            </a:pathLst>
          </a:custGeom>
          <a:blipFill>
            <a:blip r:embed="rId17">
              <a:alphaModFix amt="13000"/>
              <a:extLst>
                <a:ext uri="{96DAC541-7B7A-43D3-8B79-37D633B846F1}">
                  <asvg:svgBlip xmlns:asvg="http://schemas.microsoft.com/office/drawing/2016/SVG/main" r:embed="rId18"/>
                </a:ext>
              </a:extLst>
            </a:blip>
            <a:stretch>
              <a:fillRect l="0" t="0" r="0" b="0"/>
            </a:stretch>
          </a:blipFill>
        </p:spPr>
      </p:sp>
      <p:sp>
        <p:nvSpPr>
          <p:cNvPr name="Freeform 29" id="29"/>
          <p:cNvSpPr/>
          <p:nvPr/>
        </p:nvSpPr>
        <p:spPr>
          <a:xfrm flipH="false" flipV="false" rot="2700000">
            <a:off x="-1224173" y="7526382"/>
            <a:ext cx="3258582" cy="3258582"/>
          </a:xfrm>
          <a:custGeom>
            <a:avLst/>
            <a:gdLst/>
            <a:ahLst/>
            <a:cxnLst/>
            <a:rect r="r" b="b" t="t" l="l"/>
            <a:pathLst>
              <a:path h="3258582" w="3258582">
                <a:moveTo>
                  <a:pt x="0" y="0"/>
                </a:moveTo>
                <a:lnTo>
                  <a:pt x="3258581" y="0"/>
                </a:lnTo>
                <a:lnTo>
                  <a:pt x="3258581" y="3258581"/>
                </a:lnTo>
                <a:lnTo>
                  <a:pt x="0" y="3258581"/>
                </a:lnTo>
                <a:lnTo>
                  <a:pt x="0" y="0"/>
                </a:lnTo>
                <a:close/>
              </a:path>
            </a:pathLst>
          </a:custGeom>
          <a:blipFill>
            <a:blip r:embed="rId17">
              <a:alphaModFix amt="13000"/>
              <a:extLst>
                <a:ext uri="{96DAC541-7B7A-43D3-8B79-37D633B846F1}">
                  <asvg:svgBlip xmlns:asvg="http://schemas.microsoft.com/office/drawing/2016/SVG/main" r:embed="rId18"/>
                </a:ext>
              </a:extLst>
            </a:blip>
            <a:stretch>
              <a:fillRect l="0" t="0" r="0" b="0"/>
            </a:stretch>
          </a:blipFill>
        </p:spPr>
      </p:sp>
      <p:sp>
        <p:nvSpPr>
          <p:cNvPr name="Freeform 30" id="30"/>
          <p:cNvSpPr/>
          <p:nvPr/>
        </p:nvSpPr>
        <p:spPr>
          <a:xfrm flipH="false" flipV="false" rot="0">
            <a:off x="14358712" y="0"/>
            <a:ext cx="3929288" cy="1951633"/>
          </a:xfrm>
          <a:custGeom>
            <a:avLst/>
            <a:gdLst/>
            <a:ahLst/>
            <a:cxnLst/>
            <a:rect r="r" b="b" t="t" l="l"/>
            <a:pathLst>
              <a:path h="1951633" w="3929288">
                <a:moveTo>
                  <a:pt x="0" y="0"/>
                </a:moveTo>
                <a:lnTo>
                  <a:pt x="3929288" y="0"/>
                </a:lnTo>
                <a:lnTo>
                  <a:pt x="3929288" y="1951633"/>
                </a:lnTo>
                <a:lnTo>
                  <a:pt x="0" y="1951633"/>
                </a:lnTo>
                <a:lnTo>
                  <a:pt x="0" y="0"/>
                </a:lnTo>
                <a:close/>
              </a:path>
            </a:pathLst>
          </a:custGeom>
          <a:blipFill>
            <a:blip r:embed="rId19"/>
            <a:stretch>
              <a:fillRect l="0" t="0" r="0" b="0"/>
            </a:stretch>
          </a:blipFill>
        </p:spPr>
      </p:sp>
      <p:sp>
        <p:nvSpPr>
          <p:cNvPr name="AutoShape 31" id="31"/>
          <p:cNvSpPr/>
          <p:nvPr/>
        </p:nvSpPr>
        <p:spPr>
          <a:xfrm>
            <a:off x="0" y="2172150"/>
            <a:ext cx="18288000" cy="0"/>
          </a:xfrm>
          <a:prstGeom prst="line">
            <a:avLst/>
          </a:prstGeom>
          <a:ln cap="flat" w="38100">
            <a:solidFill>
              <a:srgbClr val="000000"/>
            </a:solidFill>
            <a:prstDash val="solid"/>
            <a:headEnd type="none" len="sm" w="sm"/>
            <a:tailEnd type="none" len="sm" w="sm"/>
          </a:ln>
        </p:spPr>
      </p:sp>
      <p:sp>
        <p:nvSpPr>
          <p:cNvPr name="TextBox 32" id="32"/>
          <p:cNvSpPr txBox="true"/>
          <p:nvPr/>
        </p:nvSpPr>
        <p:spPr>
          <a:xfrm rot="0">
            <a:off x="0" y="78758"/>
            <a:ext cx="12755695" cy="683242"/>
          </a:xfrm>
          <a:prstGeom prst="rect">
            <a:avLst/>
          </a:prstGeom>
        </p:spPr>
        <p:txBody>
          <a:bodyPr anchor="t" rtlCol="false" tIns="0" lIns="0" bIns="0" rIns="0">
            <a:spAutoFit/>
          </a:bodyPr>
          <a:lstStyle/>
          <a:p>
            <a:pPr algn="ctr">
              <a:lnSpc>
                <a:spcPts val="5394"/>
              </a:lnSpc>
            </a:pPr>
            <a:r>
              <a:rPr lang="en-US" sz="3853">
                <a:solidFill>
                  <a:srgbClr val="000000"/>
                </a:solidFill>
                <a:latin typeface="Poppins"/>
                <a:ea typeface="Poppins"/>
                <a:cs typeface="Poppins"/>
                <a:sym typeface="Poppins"/>
              </a:rPr>
              <a:t>Department of Computer Science and Engineering</a:t>
            </a:r>
          </a:p>
        </p:txBody>
      </p:sp>
      <p:sp>
        <p:nvSpPr>
          <p:cNvPr name="TextBox 33" id="33"/>
          <p:cNvSpPr txBox="true"/>
          <p:nvPr/>
        </p:nvSpPr>
        <p:spPr>
          <a:xfrm rot="0">
            <a:off x="-246328" y="890092"/>
            <a:ext cx="4246828" cy="566354"/>
          </a:xfrm>
          <a:prstGeom prst="rect">
            <a:avLst/>
          </a:prstGeom>
        </p:spPr>
        <p:txBody>
          <a:bodyPr anchor="t" rtlCol="false" tIns="0" lIns="0" bIns="0" rIns="0">
            <a:spAutoFit/>
          </a:bodyPr>
          <a:lstStyle/>
          <a:p>
            <a:pPr algn="ctr">
              <a:lnSpc>
                <a:spcPts val="4480"/>
              </a:lnSpc>
            </a:pPr>
            <a:r>
              <a:rPr lang="en-US" sz="3200">
                <a:solidFill>
                  <a:srgbClr val="000000"/>
                </a:solidFill>
                <a:latin typeface="Poppins"/>
                <a:ea typeface="Poppins"/>
                <a:cs typeface="Poppins"/>
                <a:sym typeface="Poppins"/>
              </a:rPr>
              <a:t>Uttara University</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3F6FC"/>
        </a:solidFill>
      </p:bgPr>
    </p:bg>
    <p:spTree>
      <p:nvGrpSpPr>
        <p:cNvPr id="1" name=""/>
        <p:cNvGrpSpPr/>
        <p:nvPr/>
      </p:nvGrpSpPr>
      <p:grpSpPr>
        <a:xfrm>
          <a:off x="0" y="0"/>
          <a:ext cx="0" cy="0"/>
          <a:chOff x="0" y="0"/>
          <a:chExt cx="0" cy="0"/>
        </a:xfrm>
      </p:grpSpPr>
      <p:sp>
        <p:nvSpPr>
          <p:cNvPr name="Freeform 2" id="2"/>
          <p:cNvSpPr/>
          <p:nvPr/>
        </p:nvSpPr>
        <p:spPr>
          <a:xfrm flipH="false" flipV="false" rot="0">
            <a:off x="10880541" y="5250725"/>
            <a:ext cx="4908918" cy="4804603"/>
          </a:xfrm>
          <a:custGeom>
            <a:avLst/>
            <a:gdLst/>
            <a:ahLst/>
            <a:cxnLst/>
            <a:rect r="r" b="b" t="t" l="l"/>
            <a:pathLst>
              <a:path h="4804603" w="4908918">
                <a:moveTo>
                  <a:pt x="0" y="0"/>
                </a:moveTo>
                <a:lnTo>
                  <a:pt x="4908918" y="0"/>
                </a:lnTo>
                <a:lnTo>
                  <a:pt x="4908918" y="4804603"/>
                </a:lnTo>
                <a:lnTo>
                  <a:pt x="0" y="480460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2957898" y="6276672"/>
            <a:ext cx="2667000" cy="504118"/>
            <a:chOff x="0" y="0"/>
            <a:chExt cx="702420" cy="132772"/>
          </a:xfrm>
        </p:grpSpPr>
        <p:sp>
          <p:nvSpPr>
            <p:cNvPr name="Freeform 4" id="4"/>
            <p:cNvSpPr/>
            <p:nvPr/>
          </p:nvSpPr>
          <p:spPr>
            <a:xfrm flipH="false" flipV="false" rot="0">
              <a:off x="0" y="0"/>
              <a:ext cx="702420" cy="132772"/>
            </a:xfrm>
            <a:custGeom>
              <a:avLst/>
              <a:gdLst/>
              <a:ahLst/>
              <a:cxnLst/>
              <a:rect r="r" b="b" t="t" l="l"/>
              <a:pathLst>
                <a:path h="132772" w="702420">
                  <a:moveTo>
                    <a:pt x="29029" y="0"/>
                  </a:moveTo>
                  <a:lnTo>
                    <a:pt x="673391" y="0"/>
                  </a:lnTo>
                  <a:cubicBezTo>
                    <a:pt x="689423" y="0"/>
                    <a:pt x="702420" y="12997"/>
                    <a:pt x="702420" y="29029"/>
                  </a:cubicBezTo>
                  <a:lnTo>
                    <a:pt x="702420" y="103743"/>
                  </a:lnTo>
                  <a:cubicBezTo>
                    <a:pt x="702420" y="119775"/>
                    <a:pt x="689423" y="132772"/>
                    <a:pt x="673391" y="132772"/>
                  </a:cubicBezTo>
                  <a:lnTo>
                    <a:pt x="29029" y="132772"/>
                  </a:lnTo>
                  <a:cubicBezTo>
                    <a:pt x="12997" y="132772"/>
                    <a:pt x="0" y="119775"/>
                    <a:pt x="0" y="103743"/>
                  </a:cubicBezTo>
                  <a:lnTo>
                    <a:pt x="0" y="29029"/>
                  </a:lnTo>
                  <a:cubicBezTo>
                    <a:pt x="0" y="12997"/>
                    <a:pt x="12997" y="0"/>
                    <a:pt x="29029" y="0"/>
                  </a:cubicBezTo>
                  <a:close/>
                </a:path>
              </a:pathLst>
            </a:custGeom>
            <a:solidFill>
              <a:srgbClr val="FC8503"/>
            </a:solidFill>
          </p:spPr>
        </p:sp>
        <p:sp>
          <p:nvSpPr>
            <p:cNvPr name="TextBox 5" id="5"/>
            <p:cNvSpPr txBox="true"/>
            <p:nvPr/>
          </p:nvSpPr>
          <p:spPr>
            <a:xfrm>
              <a:off x="0" y="28575"/>
              <a:ext cx="702420" cy="104197"/>
            </a:xfrm>
            <a:prstGeom prst="rect">
              <a:avLst/>
            </a:prstGeom>
          </p:spPr>
          <p:txBody>
            <a:bodyPr anchor="ctr" rtlCol="false" tIns="50800" lIns="50800" bIns="50800" rIns="50800"/>
            <a:lstStyle/>
            <a:p>
              <a:pPr algn="ctr">
                <a:lnSpc>
                  <a:spcPts val="2080"/>
                </a:lnSpc>
              </a:pPr>
            </a:p>
          </p:txBody>
        </p:sp>
      </p:grpSp>
      <p:grpSp>
        <p:nvGrpSpPr>
          <p:cNvPr name="Group 6" id="6"/>
          <p:cNvGrpSpPr/>
          <p:nvPr/>
        </p:nvGrpSpPr>
        <p:grpSpPr>
          <a:xfrm rot="0">
            <a:off x="2960530" y="9409517"/>
            <a:ext cx="2667000" cy="504118"/>
            <a:chOff x="0" y="0"/>
            <a:chExt cx="702420" cy="132772"/>
          </a:xfrm>
        </p:grpSpPr>
        <p:sp>
          <p:nvSpPr>
            <p:cNvPr name="Freeform 7" id="7"/>
            <p:cNvSpPr/>
            <p:nvPr/>
          </p:nvSpPr>
          <p:spPr>
            <a:xfrm flipH="false" flipV="false" rot="0">
              <a:off x="0" y="0"/>
              <a:ext cx="702420" cy="132772"/>
            </a:xfrm>
            <a:custGeom>
              <a:avLst/>
              <a:gdLst/>
              <a:ahLst/>
              <a:cxnLst/>
              <a:rect r="r" b="b" t="t" l="l"/>
              <a:pathLst>
                <a:path h="132772" w="702420">
                  <a:moveTo>
                    <a:pt x="29029" y="0"/>
                  </a:moveTo>
                  <a:lnTo>
                    <a:pt x="673391" y="0"/>
                  </a:lnTo>
                  <a:cubicBezTo>
                    <a:pt x="689423" y="0"/>
                    <a:pt x="702420" y="12997"/>
                    <a:pt x="702420" y="29029"/>
                  </a:cubicBezTo>
                  <a:lnTo>
                    <a:pt x="702420" y="103743"/>
                  </a:lnTo>
                  <a:cubicBezTo>
                    <a:pt x="702420" y="119775"/>
                    <a:pt x="689423" y="132772"/>
                    <a:pt x="673391" y="132772"/>
                  </a:cubicBezTo>
                  <a:lnTo>
                    <a:pt x="29029" y="132772"/>
                  </a:lnTo>
                  <a:cubicBezTo>
                    <a:pt x="12997" y="132772"/>
                    <a:pt x="0" y="119775"/>
                    <a:pt x="0" y="103743"/>
                  </a:cubicBezTo>
                  <a:lnTo>
                    <a:pt x="0" y="29029"/>
                  </a:lnTo>
                  <a:cubicBezTo>
                    <a:pt x="0" y="12997"/>
                    <a:pt x="12997" y="0"/>
                    <a:pt x="29029" y="0"/>
                  </a:cubicBezTo>
                  <a:close/>
                </a:path>
              </a:pathLst>
            </a:custGeom>
            <a:solidFill>
              <a:srgbClr val="021E47"/>
            </a:solidFill>
          </p:spPr>
        </p:sp>
        <p:sp>
          <p:nvSpPr>
            <p:cNvPr name="TextBox 8" id="8"/>
            <p:cNvSpPr txBox="true"/>
            <p:nvPr/>
          </p:nvSpPr>
          <p:spPr>
            <a:xfrm>
              <a:off x="0" y="28575"/>
              <a:ext cx="702420" cy="104197"/>
            </a:xfrm>
            <a:prstGeom prst="rect">
              <a:avLst/>
            </a:prstGeom>
          </p:spPr>
          <p:txBody>
            <a:bodyPr anchor="ctr" rtlCol="false" tIns="50800" lIns="50800" bIns="50800" rIns="50800"/>
            <a:lstStyle/>
            <a:p>
              <a:pPr algn="ctr">
                <a:lnSpc>
                  <a:spcPts val="2080"/>
                </a:lnSpc>
              </a:pPr>
            </a:p>
          </p:txBody>
        </p:sp>
      </p:grpSp>
      <p:grpSp>
        <p:nvGrpSpPr>
          <p:cNvPr name="Group 9" id="9"/>
          <p:cNvGrpSpPr/>
          <p:nvPr/>
        </p:nvGrpSpPr>
        <p:grpSpPr>
          <a:xfrm rot="0">
            <a:off x="2957898" y="7367810"/>
            <a:ext cx="2667000" cy="504118"/>
            <a:chOff x="0" y="0"/>
            <a:chExt cx="702420" cy="132772"/>
          </a:xfrm>
        </p:grpSpPr>
        <p:sp>
          <p:nvSpPr>
            <p:cNvPr name="Freeform 10" id="10"/>
            <p:cNvSpPr/>
            <p:nvPr/>
          </p:nvSpPr>
          <p:spPr>
            <a:xfrm flipH="false" flipV="false" rot="0">
              <a:off x="0" y="0"/>
              <a:ext cx="702420" cy="132772"/>
            </a:xfrm>
            <a:custGeom>
              <a:avLst/>
              <a:gdLst/>
              <a:ahLst/>
              <a:cxnLst/>
              <a:rect r="r" b="b" t="t" l="l"/>
              <a:pathLst>
                <a:path h="132772" w="702420">
                  <a:moveTo>
                    <a:pt x="29029" y="0"/>
                  </a:moveTo>
                  <a:lnTo>
                    <a:pt x="673391" y="0"/>
                  </a:lnTo>
                  <a:cubicBezTo>
                    <a:pt x="689423" y="0"/>
                    <a:pt x="702420" y="12997"/>
                    <a:pt x="702420" y="29029"/>
                  </a:cubicBezTo>
                  <a:lnTo>
                    <a:pt x="702420" y="103743"/>
                  </a:lnTo>
                  <a:cubicBezTo>
                    <a:pt x="702420" y="119775"/>
                    <a:pt x="689423" y="132772"/>
                    <a:pt x="673391" y="132772"/>
                  </a:cubicBezTo>
                  <a:lnTo>
                    <a:pt x="29029" y="132772"/>
                  </a:lnTo>
                  <a:cubicBezTo>
                    <a:pt x="12997" y="132772"/>
                    <a:pt x="0" y="119775"/>
                    <a:pt x="0" y="103743"/>
                  </a:cubicBezTo>
                  <a:lnTo>
                    <a:pt x="0" y="29029"/>
                  </a:lnTo>
                  <a:cubicBezTo>
                    <a:pt x="0" y="12997"/>
                    <a:pt x="12997" y="0"/>
                    <a:pt x="29029" y="0"/>
                  </a:cubicBezTo>
                  <a:close/>
                </a:path>
              </a:pathLst>
            </a:custGeom>
            <a:solidFill>
              <a:srgbClr val="8ECAE6"/>
            </a:solidFill>
          </p:spPr>
        </p:sp>
        <p:sp>
          <p:nvSpPr>
            <p:cNvPr name="TextBox 11" id="11"/>
            <p:cNvSpPr txBox="true"/>
            <p:nvPr/>
          </p:nvSpPr>
          <p:spPr>
            <a:xfrm>
              <a:off x="0" y="28575"/>
              <a:ext cx="702420" cy="104197"/>
            </a:xfrm>
            <a:prstGeom prst="rect">
              <a:avLst/>
            </a:prstGeom>
          </p:spPr>
          <p:txBody>
            <a:bodyPr anchor="ctr" rtlCol="false" tIns="50800" lIns="50800" bIns="50800" rIns="50800"/>
            <a:lstStyle/>
            <a:p>
              <a:pPr algn="ctr">
                <a:lnSpc>
                  <a:spcPts val="2080"/>
                </a:lnSpc>
              </a:pPr>
            </a:p>
          </p:txBody>
        </p:sp>
      </p:grpSp>
      <p:grpSp>
        <p:nvGrpSpPr>
          <p:cNvPr name="Group 12" id="12"/>
          <p:cNvGrpSpPr/>
          <p:nvPr/>
        </p:nvGrpSpPr>
        <p:grpSpPr>
          <a:xfrm rot="0">
            <a:off x="2957898" y="8388664"/>
            <a:ext cx="2667000" cy="504118"/>
            <a:chOff x="0" y="0"/>
            <a:chExt cx="702420" cy="132772"/>
          </a:xfrm>
        </p:grpSpPr>
        <p:sp>
          <p:nvSpPr>
            <p:cNvPr name="Freeform 13" id="13"/>
            <p:cNvSpPr/>
            <p:nvPr/>
          </p:nvSpPr>
          <p:spPr>
            <a:xfrm flipH="false" flipV="false" rot="0">
              <a:off x="0" y="0"/>
              <a:ext cx="702420" cy="132772"/>
            </a:xfrm>
            <a:custGeom>
              <a:avLst/>
              <a:gdLst/>
              <a:ahLst/>
              <a:cxnLst/>
              <a:rect r="r" b="b" t="t" l="l"/>
              <a:pathLst>
                <a:path h="132772" w="702420">
                  <a:moveTo>
                    <a:pt x="29029" y="0"/>
                  </a:moveTo>
                  <a:lnTo>
                    <a:pt x="673391" y="0"/>
                  </a:lnTo>
                  <a:cubicBezTo>
                    <a:pt x="689423" y="0"/>
                    <a:pt x="702420" y="12997"/>
                    <a:pt x="702420" y="29029"/>
                  </a:cubicBezTo>
                  <a:lnTo>
                    <a:pt x="702420" y="103743"/>
                  </a:lnTo>
                  <a:cubicBezTo>
                    <a:pt x="702420" y="119775"/>
                    <a:pt x="689423" y="132772"/>
                    <a:pt x="673391" y="132772"/>
                  </a:cubicBezTo>
                  <a:lnTo>
                    <a:pt x="29029" y="132772"/>
                  </a:lnTo>
                  <a:cubicBezTo>
                    <a:pt x="12997" y="132772"/>
                    <a:pt x="0" y="119775"/>
                    <a:pt x="0" y="103743"/>
                  </a:cubicBezTo>
                  <a:lnTo>
                    <a:pt x="0" y="29029"/>
                  </a:lnTo>
                  <a:cubicBezTo>
                    <a:pt x="0" y="12997"/>
                    <a:pt x="12997" y="0"/>
                    <a:pt x="29029" y="0"/>
                  </a:cubicBezTo>
                  <a:close/>
                </a:path>
              </a:pathLst>
            </a:custGeom>
            <a:solidFill>
              <a:srgbClr val="229EBC"/>
            </a:solidFill>
          </p:spPr>
        </p:sp>
        <p:sp>
          <p:nvSpPr>
            <p:cNvPr name="TextBox 14" id="14"/>
            <p:cNvSpPr txBox="true"/>
            <p:nvPr/>
          </p:nvSpPr>
          <p:spPr>
            <a:xfrm>
              <a:off x="0" y="28575"/>
              <a:ext cx="702420" cy="104197"/>
            </a:xfrm>
            <a:prstGeom prst="rect">
              <a:avLst/>
            </a:prstGeom>
          </p:spPr>
          <p:txBody>
            <a:bodyPr anchor="ctr" rtlCol="false" tIns="50800" lIns="50800" bIns="50800" rIns="50800"/>
            <a:lstStyle/>
            <a:p>
              <a:pPr algn="ctr">
                <a:lnSpc>
                  <a:spcPts val="2080"/>
                </a:lnSpc>
              </a:pPr>
            </a:p>
          </p:txBody>
        </p:sp>
      </p:grpSp>
      <p:sp>
        <p:nvSpPr>
          <p:cNvPr name="Freeform 15" id="15"/>
          <p:cNvSpPr/>
          <p:nvPr/>
        </p:nvSpPr>
        <p:spPr>
          <a:xfrm flipH="false" flipV="false" rot="0">
            <a:off x="12518322" y="5626577"/>
            <a:ext cx="668848" cy="612832"/>
          </a:xfrm>
          <a:custGeom>
            <a:avLst/>
            <a:gdLst/>
            <a:ahLst/>
            <a:cxnLst/>
            <a:rect r="r" b="b" t="t" l="l"/>
            <a:pathLst>
              <a:path h="612832" w="668848">
                <a:moveTo>
                  <a:pt x="0" y="0"/>
                </a:moveTo>
                <a:lnTo>
                  <a:pt x="668847" y="0"/>
                </a:lnTo>
                <a:lnTo>
                  <a:pt x="668847" y="612831"/>
                </a:lnTo>
                <a:lnTo>
                  <a:pt x="0" y="61283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6" id="16"/>
          <p:cNvSpPr/>
          <p:nvPr/>
        </p:nvSpPr>
        <p:spPr>
          <a:xfrm flipH="false" flipV="false" rot="0">
            <a:off x="14371133" y="6239408"/>
            <a:ext cx="505515" cy="541382"/>
          </a:xfrm>
          <a:custGeom>
            <a:avLst/>
            <a:gdLst/>
            <a:ahLst/>
            <a:cxnLst/>
            <a:rect r="r" b="b" t="t" l="l"/>
            <a:pathLst>
              <a:path h="541382" w="505515">
                <a:moveTo>
                  <a:pt x="0" y="0"/>
                </a:moveTo>
                <a:lnTo>
                  <a:pt x="505515" y="0"/>
                </a:lnTo>
                <a:lnTo>
                  <a:pt x="505515" y="541382"/>
                </a:lnTo>
                <a:lnTo>
                  <a:pt x="0" y="54138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7" id="17"/>
          <p:cNvSpPr/>
          <p:nvPr/>
        </p:nvSpPr>
        <p:spPr>
          <a:xfrm flipH="false" flipV="false" rot="0">
            <a:off x="14584407" y="8290727"/>
            <a:ext cx="584483" cy="511422"/>
          </a:xfrm>
          <a:custGeom>
            <a:avLst/>
            <a:gdLst/>
            <a:ahLst/>
            <a:cxnLst/>
            <a:rect r="r" b="b" t="t" l="l"/>
            <a:pathLst>
              <a:path h="511422" w="584483">
                <a:moveTo>
                  <a:pt x="0" y="0"/>
                </a:moveTo>
                <a:lnTo>
                  <a:pt x="584482" y="0"/>
                </a:lnTo>
                <a:lnTo>
                  <a:pt x="584482" y="511422"/>
                </a:lnTo>
                <a:lnTo>
                  <a:pt x="0" y="51142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8" id="18"/>
          <p:cNvSpPr/>
          <p:nvPr/>
        </p:nvSpPr>
        <p:spPr>
          <a:xfrm flipH="false" flipV="false" rot="0">
            <a:off x="12294618" y="8997671"/>
            <a:ext cx="552515" cy="552515"/>
          </a:xfrm>
          <a:custGeom>
            <a:avLst/>
            <a:gdLst/>
            <a:ahLst/>
            <a:cxnLst/>
            <a:rect r="r" b="b" t="t" l="l"/>
            <a:pathLst>
              <a:path h="552515" w="552515">
                <a:moveTo>
                  <a:pt x="0" y="0"/>
                </a:moveTo>
                <a:lnTo>
                  <a:pt x="552515" y="0"/>
                </a:lnTo>
                <a:lnTo>
                  <a:pt x="552515" y="552515"/>
                </a:lnTo>
                <a:lnTo>
                  <a:pt x="0" y="55251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9" id="19"/>
          <p:cNvSpPr/>
          <p:nvPr/>
        </p:nvSpPr>
        <p:spPr>
          <a:xfrm flipH="false" flipV="false" rot="0">
            <a:off x="11323133" y="7085960"/>
            <a:ext cx="563700" cy="563700"/>
          </a:xfrm>
          <a:custGeom>
            <a:avLst/>
            <a:gdLst/>
            <a:ahLst/>
            <a:cxnLst/>
            <a:rect r="r" b="b" t="t" l="l"/>
            <a:pathLst>
              <a:path h="563700" w="563700">
                <a:moveTo>
                  <a:pt x="0" y="0"/>
                </a:moveTo>
                <a:lnTo>
                  <a:pt x="563700" y="0"/>
                </a:lnTo>
                <a:lnTo>
                  <a:pt x="563700" y="563701"/>
                </a:lnTo>
                <a:lnTo>
                  <a:pt x="0" y="563701"/>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20" id="20"/>
          <p:cNvSpPr txBox="true"/>
          <p:nvPr/>
        </p:nvSpPr>
        <p:spPr>
          <a:xfrm rot="0">
            <a:off x="3088107" y="3127191"/>
            <a:ext cx="10662387" cy="770984"/>
          </a:xfrm>
          <a:prstGeom prst="rect">
            <a:avLst/>
          </a:prstGeom>
        </p:spPr>
        <p:txBody>
          <a:bodyPr anchor="t" rtlCol="false" tIns="0" lIns="0" bIns="0" rIns="0">
            <a:spAutoFit/>
          </a:bodyPr>
          <a:lstStyle/>
          <a:p>
            <a:pPr algn="ctr">
              <a:lnSpc>
                <a:spcPts val="5824"/>
              </a:lnSpc>
            </a:pPr>
            <a:r>
              <a:rPr lang="en-US" b="true" sz="5600">
                <a:solidFill>
                  <a:srgbClr val="021E47"/>
                </a:solidFill>
                <a:latin typeface="Gotham Bold"/>
                <a:ea typeface="Gotham Bold"/>
                <a:cs typeface="Gotham Bold"/>
                <a:sym typeface="Gotham Bold"/>
              </a:rPr>
              <a:t>AIM OF THE RESEARCH</a:t>
            </a:r>
          </a:p>
        </p:txBody>
      </p:sp>
      <p:sp>
        <p:nvSpPr>
          <p:cNvPr name="TextBox 21" id="21"/>
          <p:cNvSpPr txBox="true"/>
          <p:nvPr/>
        </p:nvSpPr>
        <p:spPr>
          <a:xfrm rot="0">
            <a:off x="3088107" y="6408415"/>
            <a:ext cx="2406582" cy="269207"/>
          </a:xfrm>
          <a:prstGeom prst="rect">
            <a:avLst/>
          </a:prstGeom>
        </p:spPr>
        <p:txBody>
          <a:bodyPr anchor="t" rtlCol="false" tIns="0" lIns="0" bIns="0" rIns="0">
            <a:spAutoFit/>
          </a:bodyPr>
          <a:lstStyle/>
          <a:p>
            <a:pPr algn="ctr">
              <a:lnSpc>
                <a:spcPts val="2080"/>
              </a:lnSpc>
            </a:pPr>
            <a:r>
              <a:rPr lang="en-US" sz="2000" b="true">
                <a:solidFill>
                  <a:srgbClr val="021E47"/>
                </a:solidFill>
                <a:latin typeface="Gotham Bold"/>
                <a:ea typeface="Gotham Bold"/>
                <a:cs typeface="Gotham Bold"/>
                <a:sym typeface="Gotham Bold"/>
              </a:rPr>
              <a:t> intelligently plan</a:t>
            </a:r>
          </a:p>
        </p:txBody>
      </p:sp>
      <p:sp>
        <p:nvSpPr>
          <p:cNvPr name="TextBox 22" id="22"/>
          <p:cNvSpPr txBox="true"/>
          <p:nvPr/>
        </p:nvSpPr>
        <p:spPr>
          <a:xfrm rot="0">
            <a:off x="3088107" y="7499553"/>
            <a:ext cx="2406582" cy="269207"/>
          </a:xfrm>
          <a:prstGeom prst="rect">
            <a:avLst/>
          </a:prstGeom>
        </p:spPr>
        <p:txBody>
          <a:bodyPr anchor="t" rtlCol="false" tIns="0" lIns="0" bIns="0" rIns="0">
            <a:spAutoFit/>
          </a:bodyPr>
          <a:lstStyle/>
          <a:p>
            <a:pPr algn="ctr">
              <a:lnSpc>
                <a:spcPts val="2080"/>
              </a:lnSpc>
            </a:pPr>
            <a:r>
              <a:rPr lang="en-US" sz="2000" b="true">
                <a:solidFill>
                  <a:srgbClr val="021E47"/>
                </a:solidFill>
                <a:latin typeface="Gotham Bold"/>
                <a:ea typeface="Gotham Bold"/>
                <a:cs typeface="Gotham Bold"/>
                <a:sym typeface="Gotham Bold"/>
              </a:rPr>
              <a:t>Save energy</a:t>
            </a:r>
          </a:p>
        </p:txBody>
      </p:sp>
      <p:sp>
        <p:nvSpPr>
          <p:cNvPr name="TextBox 23" id="23"/>
          <p:cNvSpPr txBox="true"/>
          <p:nvPr/>
        </p:nvSpPr>
        <p:spPr>
          <a:xfrm rot="0">
            <a:off x="3088107" y="9541260"/>
            <a:ext cx="2406582" cy="269207"/>
          </a:xfrm>
          <a:prstGeom prst="rect">
            <a:avLst/>
          </a:prstGeom>
        </p:spPr>
        <p:txBody>
          <a:bodyPr anchor="t" rtlCol="false" tIns="0" lIns="0" bIns="0" rIns="0">
            <a:spAutoFit/>
          </a:bodyPr>
          <a:lstStyle/>
          <a:p>
            <a:pPr algn="ctr">
              <a:lnSpc>
                <a:spcPts val="2080"/>
              </a:lnSpc>
            </a:pPr>
            <a:r>
              <a:rPr lang="en-US" sz="2000" b="true">
                <a:solidFill>
                  <a:srgbClr val="FCFEFF"/>
                </a:solidFill>
                <a:latin typeface="Gotham Bold"/>
                <a:ea typeface="Gotham Bold"/>
                <a:cs typeface="Gotham Bold"/>
                <a:sym typeface="Gotham Bold"/>
              </a:rPr>
              <a:t>Area coverage</a:t>
            </a:r>
          </a:p>
        </p:txBody>
      </p:sp>
      <p:sp>
        <p:nvSpPr>
          <p:cNvPr name="Freeform 24" id="24"/>
          <p:cNvSpPr/>
          <p:nvPr/>
        </p:nvSpPr>
        <p:spPr>
          <a:xfrm flipH="false" flipV="false" rot="2700000">
            <a:off x="16299339" y="-927898"/>
            <a:ext cx="3258582" cy="3258582"/>
          </a:xfrm>
          <a:custGeom>
            <a:avLst/>
            <a:gdLst/>
            <a:ahLst/>
            <a:cxnLst/>
            <a:rect r="r" b="b" t="t" l="l"/>
            <a:pathLst>
              <a:path h="3258582" w="3258582">
                <a:moveTo>
                  <a:pt x="0" y="0"/>
                </a:moveTo>
                <a:lnTo>
                  <a:pt x="3258582" y="0"/>
                </a:lnTo>
                <a:lnTo>
                  <a:pt x="3258582" y="3258582"/>
                </a:lnTo>
                <a:lnTo>
                  <a:pt x="0" y="3258582"/>
                </a:lnTo>
                <a:lnTo>
                  <a:pt x="0" y="0"/>
                </a:lnTo>
                <a:close/>
              </a:path>
            </a:pathLst>
          </a:custGeom>
          <a:blipFill>
            <a:blip r:embed="rId14">
              <a:alphaModFix amt="13000"/>
              <a:extLst>
                <a:ext uri="{96DAC541-7B7A-43D3-8B79-37D633B846F1}">
                  <asvg:svgBlip xmlns:asvg="http://schemas.microsoft.com/office/drawing/2016/SVG/main" r:embed="rId15"/>
                </a:ext>
              </a:extLst>
            </a:blip>
            <a:stretch>
              <a:fillRect l="0" t="0" r="0" b="0"/>
            </a:stretch>
          </a:blipFill>
        </p:spPr>
      </p:sp>
      <p:sp>
        <p:nvSpPr>
          <p:cNvPr name="Freeform 25" id="25"/>
          <p:cNvSpPr/>
          <p:nvPr/>
        </p:nvSpPr>
        <p:spPr>
          <a:xfrm flipH="false" flipV="false" rot="2700000">
            <a:off x="-1269921" y="-927898"/>
            <a:ext cx="3258582" cy="3258582"/>
          </a:xfrm>
          <a:custGeom>
            <a:avLst/>
            <a:gdLst/>
            <a:ahLst/>
            <a:cxnLst/>
            <a:rect r="r" b="b" t="t" l="l"/>
            <a:pathLst>
              <a:path h="3258582" w="3258582">
                <a:moveTo>
                  <a:pt x="0" y="0"/>
                </a:moveTo>
                <a:lnTo>
                  <a:pt x="3258582" y="0"/>
                </a:lnTo>
                <a:lnTo>
                  <a:pt x="3258582" y="3258582"/>
                </a:lnTo>
                <a:lnTo>
                  <a:pt x="0" y="3258582"/>
                </a:lnTo>
                <a:lnTo>
                  <a:pt x="0" y="0"/>
                </a:lnTo>
                <a:close/>
              </a:path>
            </a:pathLst>
          </a:custGeom>
          <a:blipFill>
            <a:blip r:embed="rId14">
              <a:alphaModFix amt="13000"/>
              <a:extLst>
                <a:ext uri="{96DAC541-7B7A-43D3-8B79-37D633B846F1}">
                  <asvg:svgBlip xmlns:asvg="http://schemas.microsoft.com/office/drawing/2016/SVG/main" r:embed="rId15"/>
                </a:ext>
              </a:extLst>
            </a:blip>
            <a:stretch>
              <a:fillRect l="0" t="0" r="0" b="0"/>
            </a:stretch>
          </a:blipFill>
        </p:spPr>
      </p:sp>
      <p:sp>
        <p:nvSpPr>
          <p:cNvPr name="TextBox 26" id="26"/>
          <p:cNvSpPr txBox="true"/>
          <p:nvPr/>
        </p:nvSpPr>
        <p:spPr>
          <a:xfrm rot="0">
            <a:off x="3088107" y="8517799"/>
            <a:ext cx="2406582" cy="269207"/>
          </a:xfrm>
          <a:prstGeom prst="rect">
            <a:avLst/>
          </a:prstGeom>
        </p:spPr>
        <p:txBody>
          <a:bodyPr anchor="t" rtlCol="false" tIns="0" lIns="0" bIns="0" rIns="0">
            <a:spAutoFit/>
          </a:bodyPr>
          <a:lstStyle/>
          <a:p>
            <a:pPr algn="ctr">
              <a:lnSpc>
                <a:spcPts val="2080"/>
              </a:lnSpc>
              <a:spcBef>
                <a:spcPct val="0"/>
              </a:spcBef>
            </a:pPr>
            <a:r>
              <a:rPr lang="en-US" b="true" sz="2000">
                <a:solidFill>
                  <a:srgbClr val="000000"/>
                </a:solidFill>
                <a:latin typeface="Gotham Bold"/>
                <a:ea typeface="Gotham Bold"/>
                <a:cs typeface="Gotham Bold"/>
                <a:sym typeface="Gotham Bold"/>
              </a:rPr>
              <a:t>S</a:t>
            </a:r>
            <a:r>
              <a:rPr lang="en-US" b="true" sz="2000">
                <a:solidFill>
                  <a:srgbClr val="000000"/>
                </a:solidFill>
                <a:latin typeface="Gotham Bold"/>
                <a:ea typeface="Gotham Bold"/>
                <a:cs typeface="Gotham Bold"/>
                <a:sym typeface="Gotham Bold"/>
              </a:rPr>
              <a:t>afely complete</a:t>
            </a:r>
          </a:p>
        </p:txBody>
      </p:sp>
      <p:sp>
        <p:nvSpPr>
          <p:cNvPr name="Freeform 27" id="27"/>
          <p:cNvSpPr/>
          <p:nvPr/>
        </p:nvSpPr>
        <p:spPr>
          <a:xfrm flipH="false" flipV="false" rot="0">
            <a:off x="14358712" y="0"/>
            <a:ext cx="3929288" cy="1951633"/>
          </a:xfrm>
          <a:custGeom>
            <a:avLst/>
            <a:gdLst/>
            <a:ahLst/>
            <a:cxnLst/>
            <a:rect r="r" b="b" t="t" l="l"/>
            <a:pathLst>
              <a:path h="1951633" w="3929288">
                <a:moveTo>
                  <a:pt x="0" y="0"/>
                </a:moveTo>
                <a:lnTo>
                  <a:pt x="3929288" y="0"/>
                </a:lnTo>
                <a:lnTo>
                  <a:pt x="3929288" y="1951633"/>
                </a:lnTo>
                <a:lnTo>
                  <a:pt x="0" y="1951633"/>
                </a:lnTo>
                <a:lnTo>
                  <a:pt x="0" y="0"/>
                </a:lnTo>
                <a:close/>
              </a:path>
            </a:pathLst>
          </a:custGeom>
          <a:blipFill>
            <a:blip r:embed="rId16"/>
            <a:stretch>
              <a:fillRect l="0" t="0" r="0" b="0"/>
            </a:stretch>
          </a:blipFill>
        </p:spPr>
      </p:sp>
      <p:sp>
        <p:nvSpPr>
          <p:cNvPr name="AutoShape 28" id="28"/>
          <p:cNvSpPr/>
          <p:nvPr/>
        </p:nvSpPr>
        <p:spPr>
          <a:xfrm>
            <a:off x="0" y="2172150"/>
            <a:ext cx="18288000" cy="0"/>
          </a:xfrm>
          <a:prstGeom prst="line">
            <a:avLst/>
          </a:prstGeom>
          <a:ln cap="flat" w="38100">
            <a:solidFill>
              <a:srgbClr val="000000"/>
            </a:solidFill>
            <a:prstDash val="solid"/>
            <a:headEnd type="none" len="sm" w="sm"/>
            <a:tailEnd type="none" len="sm" w="sm"/>
          </a:ln>
        </p:spPr>
      </p:sp>
      <p:sp>
        <p:nvSpPr>
          <p:cNvPr name="TextBox 29" id="29"/>
          <p:cNvSpPr txBox="true"/>
          <p:nvPr/>
        </p:nvSpPr>
        <p:spPr>
          <a:xfrm rot="0">
            <a:off x="0" y="78758"/>
            <a:ext cx="12755695" cy="683242"/>
          </a:xfrm>
          <a:prstGeom prst="rect">
            <a:avLst/>
          </a:prstGeom>
        </p:spPr>
        <p:txBody>
          <a:bodyPr anchor="t" rtlCol="false" tIns="0" lIns="0" bIns="0" rIns="0">
            <a:spAutoFit/>
          </a:bodyPr>
          <a:lstStyle/>
          <a:p>
            <a:pPr algn="ctr">
              <a:lnSpc>
                <a:spcPts val="5394"/>
              </a:lnSpc>
            </a:pPr>
            <a:r>
              <a:rPr lang="en-US" sz="3853">
                <a:solidFill>
                  <a:srgbClr val="000000"/>
                </a:solidFill>
                <a:latin typeface="Poppins"/>
                <a:ea typeface="Poppins"/>
                <a:cs typeface="Poppins"/>
                <a:sym typeface="Poppins"/>
              </a:rPr>
              <a:t>Department of Computer Science and Engineering</a:t>
            </a:r>
          </a:p>
        </p:txBody>
      </p:sp>
      <p:sp>
        <p:nvSpPr>
          <p:cNvPr name="TextBox 30" id="30"/>
          <p:cNvSpPr txBox="true"/>
          <p:nvPr/>
        </p:nvSpPr>
        <p:spPr>
          <a:xfrm rot="0">
            <a:off x="-246328" y="890092"/>
            <a:ext cx="4246828" cy="566354"/>
          </a:xfrm>
          <a:prstGeom prst="rect">
            <a:avLst/>
          </a:prstGeom>
        </p:spPr>
        <p:txBody>
          <a:bodyPr anchor="t" rtlCol="false" tIns="0" lIns="0" bIns="0" rIns="0">
            <a:spAutoFit/>
          </a:bodyPr>
          <a:lstStyle/>
          <a:p>
            <a:pPr algn="ctr">
              <a:lnSpc>
                <a:spcPts val="4480"/>
              </a:lnSpc>
            </a:pPr>
            <a:r>
              <a:rPr lang="en-US" sz="3200">
                <a:solidFill>
                  <a:srgbClr val="000000"/>
                </a:solidFill>
                <a:latin typeface="Poppins"/>
                <a:ea typeface="Poppins"/>
                <a:cs typeface="Poppins"/>
                <a:sym typeface="Poppins"/>
              </a:rPr>
              <a:t>Uttara University</a:t>
            </a:r>
          </a:p>
        </p:txBody>
      </p:sp>
      <p:sp>
        <p:nvSpPr>
          <p:cNvPr name="TextBox 31" id="31"/>
          <p:cNvSpPr txBox="true"/>
          <p:nvPr/>
        </p:nvSpPr>
        <p:spPr>
          <a:xfrm rot="0">
            <a:off x="743086" y="4086201"/>
            <a:ext cx="15580270" cy="526349"/>
          </a:xfrm>
          <a:prstGeom prst="rect">
            <a:avLst/>
          </a:prstGeom>
        </p:spPr>
        <p:txBody>
          <a:bodyPr anchor="t" rtlCol="false" tIns="0" lIns="0" bIns="0" rIns="0">
            <a:spAutoFit/>
          </a:bodyPr>
          <a:lstStyle/>
          <a:p>
            <a:pPr algn="ctr">
              <a:lnSpc>
                <a:spcPts val="2080"/>
              </a:lnSpc>
            </a:pPr>
            <a:r>
              <a:rPr lang="en-US" sz="2000">
                <a:solidFill>
                  <a:srgbClr val="021E47"/>
                </a:solidFill>
                <a:latin typeface="Open Sans"/>
                <a:ea typeface="Open Sans"/>
                <a:cs typeface="Open Sans"/>
                <a:sym typeface="Open Sans"/>
              </a:rPr>
              <a:t>The primary aim of this research is to design and simulate an autonomous drone-based border surveillance system that ensures efficient area coverage, energy-aware navigation, and mission safety using heuristic optimization techniques.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3F6FC"/>
        </a:solidFill>
      </p:bgPr>
    </p:bg>
    <p:spTree>
      <p:nvGrpSpPr>
        <p:cNvPr id="1" name=""/>
        <p:cNvGrpSpPr/>
        <p:nvPr/>
      </p:nvGrpSpPr>
      <p:grpSpPr>
        <a:xfrm>
          <a:off x="0" y="0"/>
          <a:ext cx="0" cy="0"/>
          <a:chOff x="0" y="0"/>
          <a:chExt cx="0" cy="0"/>
        </a:xfrm>
      </p:grpSpPr>
      <p:sp>
        <p:nvSpPr>
          <p:cNvPr name="Freeform 2" id="2"/>
          <p:cNvSpPr/>
          <p:nvPr/>
        </p:nvSpPr>
        <p:spPr>
          <a:xfrm flipH="false" flipV="false" rot="0">
            <a:off x="2335106" y="4065511"/>
            <a:ext cx="1642725" cy="1014969"/>
          </a:xfrm>
          <a:custGeom>
            <a:avLst/>
            <a:gdLst/>
            <a:ahLst/>
            <a:cxnLst/>
            <a:rect r="r" b="b" t="t" l="l"/>
            <a:pathLst>
              <a:path h="1014969" w="1642725">
                <a:moveTo>
                  <a:pt x="0" y="0"/>
                </a:moveTo>
                <a:lnTo>
                  <a:pt x="1642725" y="0"/>
                </a:lnTo>
                <a:lnTo>
                  <a:pt x="1642725" y="1014969"/>
                </a:lnTo>
                <a:lnTo>
                  <a:pt x="0" y="1014969"/>
                </a:lnTo>
                <a:lnTo>
                  <a:pt x="0" y="0"/>
                </a:lnTo>
                <a:close/>
              </a:path>
            </a:pathLst>
          </a:custGeom>
          <a:blipFill>
            <a:blip r:embed="rId2">
              <a:extLst>
                <a:ext uri="{96DAC541-7B7A-43D3-8B79-37D633B846F1}">
                  <asvg:svgBlip xmlns:asvg="http://schemas.microsoft.com/office/drawing/2016/SVG/main" r:embed="rId3"/>
                </a:ext>
              </a:extLst>
            </a:blip>
            <a:stretch>
              <a:fillRect l="-44877" t="-283791" r="-1042743" b="-228897"/>
            </a:stretch>
          </a:blipFill>
        </p:spPr>
      </p:sp>
      <p:sp>
        <p:nvSpPr>
          <p:cNvPr name="Freeform 3" id="3"/>
          <p:cNvSpPr/>
          <p:nvPr/>
        </p:nvSpPr>
        <p:spPr>
          <a:xfrm flipH="false" flipV="false" rot="0">
            <a:off x="3518794" y="5249578"/>
            <a:ext cx="1642725" cy="1014969"/>
          </a:xfrm>
          <a:custGeom>
            <a:avLst/>
            <a:gdLst/>
            <a:ahLst/>
            <a:cxnLst/>
            <a:rect r="r" b="b" t="t" l="l"/>
            <a:pathLst>
              <a:path h="1014969" w="1642725">
                <a:moveTo>
                  <a:pt x="0" y="0"/>
                </a:moveTo>
                <a:lnTo>
                  <a:pt x="1642724" y="0"/>
                </a:lnTo>
                <a:lnTo>
                  <a:pt x="1642724" y="1014969"/>
                </a:lnTo>
                <a:lnTo>
                  <a:pt x="0" y="1014969"/>
                </a:lnTo>
                <a:lnTo>
                  <a:pt x="0" y="0"/>
                </a:lnTo>
                <a:close/>
              </a:path>
            </a:pathLst>
          </a:custGeom>
          <a:blipFill>
            <a:blip r:embed="rId4">
              <a:extLst>
                <a:ext uri="{96DAC541-7B7A-43D3-8B79-37D633B846F1}">
                  <asvg:svgBlip xmlns:asvg="http://schemas.microsoft.com/office/drawing/2016/SVG/main" r:embed="rId5"/>
                </a:ext>
              </a:extLst>
            </a:blip>
            <a:stretch>
              <a:fillRect l="-44877" t="-283791" r="-1042743" b="-228897"/>
            </a:stretch>
          </a:blipFill>
        </p:spPr>
      </p:sp>
      <p:grpSp>
        <p:nvGrpSpPr>
          <p:cNvPr name="Group 4" id="4"/>
          <p:cNvGrpSpPr/>
          <p:nvPr/>
        </p:nvGrpSpPr>
        <p:grpSpPr>
          <a:xfrm rot="-5400000">
            <a:off x="-3393253" y="8821554"/>
            <a:ext cx="10484403" cy="972315"/>
            <a:chOff x="0" y="0"/>
            <a:chExt cx="2068384" cy="191820"/>
          </a:xfrm>
        </p:grpSpPr>
        <p:sp>
          <p:nvSpPr>
            <p:cNvPr name="Freeform 5" id="5"/>
            <p:cNvSpPr/>
            <p:nvPr/>
          </p:nvSpPr>
          <p:spPr>
            <a:xfrm flipH="false" flipV="false" rot="0">
              <a:off x="0" y="0"/>
              <a:ext cx="2068384" cy="191820"/>
            </a:xfrm>
            <a:custGeom>
              <a:avLst/>
              <a:gdLst/>
              <a:ahLst/>
              <a:cxnLst/>
              <a:rect r="r" b="b" t="t" l="l"/>
              <a:pathLst>
                <a:path h="191820" w="2068384">
                  <a:moveTo>
                    <a:pt x="1865184" y="0"/>
                  </a:moveTo>
                  <a:lnTo>
                    <a:pt x="0" y="0"/>
                  </a:lnTo>
                  <a:lnTo>
                    <a:pt x="203200" y="191820"/>
                  </a:lnTo>
                  <a:lnTo>
                    <a:pt x="2068384" y="191820"/>
                  </a:lnTo>
                  <a:lnTo>
                    <a:pt x="1865184" y="0"/>
                  </a:lnTo>
                  <a:close/>
                </a:path>
              </a:pathLst>
            </a:custGeom>
            <a:solidFill>
              <a:srgbClr val="FC8503"/>
            </a:solidFill>
          </p:spPr>
        </p:sp>
        <p:sp>
          <p:nvSpPr>
            <p:cNvPr name="TextBox 6" id="6"/>
            <p:cNvSpPr txBox="true"/>
            <p:nvPr/>
          </p:nvSpPr>
          <p:spPr>
            <a:xfrm>
              <a:off x="101600" y="28575"/>
              <a:ext cx="1865184" cy="163245"/>
            </a:xfrm>
            <a:prstGeom prst="rect">
              <a:avLst/>
            </a:prstGeom>
          </p:spPr>
          <p:txBody>
            <a:bodyPr anchor="ctr" rtlCol="false" tIns="50800" lIns="50800" bIns="50800" rIns="50800"/>
            <a:lstStyle/>
            <a:p>
              <a:pPr algn="ctr">
                <a:lnSpc>
                  <a:spcPts val="2080"/>
                </a:lnSpc>
              </a:pPr>
            </a:p>
          </p:txBody>
        </p:sp>
      </p:grpSp>
      <p:grpSp>
        <p:nvGrpSpPr>
          <p:cNvPr name="Group 7" id="7"/>
          <p:cNvGrpSpPr/>
          <p:nvPr/>
        </p:nvGrpSpPr>
        <p:grpSpPr>
          <a:xfrm rot="-5400000">
            <a:off x="-1500493" y="9296550"/>
            <a:ext cx="9066258" cy="972315"/>
            <a:chOff x="0" y="0"/>
            <a:chExt cx="1788610" cy="191820"/>
          </a:xfrm>
        </p:grpSpPr>
        <p:sp>
          <p:nvSpPr>
            <p:cNvPr name="Freeform 8" id="8"/>
            <p:cNvSpPr/>
            <p:nvPr/>
          </p:nvSpPr>
          <p:spPr>
            <a:xfrm flipH="false" flipV="false" rot="0">
              <a:off x="0" y="0"/>
              <a:ext cx="1788610" cy="191820"/>
            </a:xfrm>
            <a:custGeom>
              <a:avLst/>
              <a:gdLst/>
              <a:ahLst/>
              <a:cxnLst/>
              <a:rect r="r" b="b" t="t" l="l"/>
              <a:pathLst>
                <a:path h="191820" w="1788610">
                  <a:moveTo>
                    <a:pt x="1585410" y="0"/>
                  </a:moveTo>
                  <a:lnTo>
                    <a:pt x="0" y="0"/>
                  </a:lnTo>
                  <a:lnTo>
                    <a:pt x="203200" y="191820"/>
                  </a:lnTo>
                  <a:lnTo>
                    <a:pt x="1788610" y="191820"/>
                  </a:lnTo>
                  <a:lnTo>
                    <a:pt x="1585410" y="0"/>
                  </a:lnTo>
                  <a:close/>
                </a:path>
              </a:pathLst>
            </a:custGeom>
            <a:solidFill>
              <a:srgbClr val="FFB706"/>
            </a:solidFill>
          </p:spPr>
        </p:sp>
        <p:sp>
          <p:nvSpPr>
            <p:cNvPr name="TextBox 9" id="9"/>
            <p:cNvSpPr txBox="true"/>
            <p:nvPr/>
          </p:nvSpPr>
          <p:spPr>
            <a:xfrm>
              <a:off x="101600" y="28575"/>
              <a:ext cx="1585410" cy="163245"/>
            </a:xfrm>
            <a:prstGeom prst="rect">
              <a:avLst/>
            </a:prstGeom>
          </p:spPr>
          <p:txBody>
            <a:bodyPr anchor="ctr" rtlCol="false" tIns="50800" lIns="50800" bIns="50800" rIns="50800"/>
            <a:lstStyle/>
            <a:p>
              <a:pPr algn="ctr">
                <a:lnSpc>
                  <a:spcPts val="2080"/>
                </a:lnSpc>
              </a:pPr>
            </a:p>
          </p:txBody>
        </p:sp>
      </p:grpSp>
      <p:sp>
        <p:nvSpPr>
          <p:cNvPr name="Freeform 10" id="10"/>
          <p:cNvSpPr/>
          <p:nvPr/>
        </p:nvSpPr>
        <p:spPr>
          <a:xfrm flipH="false" flipV="false" rot="-5400000">
            <a:off x="2022021" y="4378596"/>
            <a:ext cx="1014969" cy="388799"/>
          </a:xfrm>
          <a:custGeom>
            <a:avLst/>
            <a:gdLst/>
            <a:ahLst/>
            <a:cxnLst/>
            <a:rect r="r" b="b" t="t" l="l"/>
            <a:pathLst>
              <a:path h="388799" w="1014969">
                <a:moveTo>
                  <a:pt x="0" y="0"/>
                </a:moveTo>
                <a:lnTo>
                  <a:pt x="1014969" y="0"/>
                </a:lnTo>
                <a:lnTo>
                  <a:pt x="1014969" y="388799"/>
                </a:lnTo>
                <a:lnTo>
                  <a:pt x="0" y="388799"/>
                </a:lnTo>
                <a:lnTo>
                  <a:pt x="0" y="0"/>
                </a:lnTo>
                <a:close/>
              </a:path>
            </a:pathLst>
          </a:custGeom>
          <a:blipFill>
            <a:blip r:embed="rId6">
              <a:alphaModFix amt="40000"/>
            </a:blip>
            <a:stretch>
              <a:fillRect l="-108011" t="-71408" r="-108424" b="0"/>
            </a:stretch>
          </a:blipFill>
        </p:spPr>
      </p:sp>
      <p:sp>
        <p:nvSpPr>
          <p:cNvPr name="Freeform 11" id="11"/>
          <p:cNvSpPr/>
          <p:nvPr/>
        </p:nvSpPr>
        <p:spPr>
          <a:xfrm flipH="false" flipV="false" rot="-5400000">
            <a:off x="3205709" y="5562663"/>
            <a:ext cx="1014969" cy="388799"/>
          </a:xfrm>
          <a:custGeom>
            <a:avLst/>
            <a:gdLst/>
            <a:ahLst/>
            <a:cxnLst/>
            <a:rect r="r" b="b" t="t" l="l"/>
            <a:pathLst>
              <a:path h="388799" w="1014969">
                <a:moveTo>
                  <a:pt x="0" y="0"/>
                </a:moveTo>
                <a:lnTo>
                  <a:pt x="1014969" y="0"/>
                </a:lnTo>
                <a:lnTo>
                  <a:pt x="1014969" y="388799"/>
                </a:lnTo>
                <a:lnTo>
                  <a:pt x="0" y="388799"/>
                </a:lnTo>
                <a:lnTo>
                  <a:pt x="0" y="0"/>
                </a:lnTo>
                <a:close/>
              </a:path>
            </a:pathLst>
          </a:custGeom>
          <a:blipFill>
            <a:blip r:embed="rId6">
              <a:alphaModFix amt="40000"/>
            </a:blip>
            <a:stretch>
              <a:fillRect l="-108011" t="-71408" r="-108424" b="0"/>
            </a:stretch>
          </a:blipFill>
        </p:spPr>
      </p:sp>
      <p:sp>
        <p:nvSpPr>
          <p:cNvPr name="Freeform 12" id="12"/>
          <p:cNvSpPr/>
          <p:nvPr/>
        </p:nvSpPr>
        <p:spPr>
          <a:xfrm flipH="false" flipV="false" rot="0">
            <a:off x="4702482" y="6433645"/>
            <a:ext cx="1642725" cy="1014969"/>
          </a:xfrm>
          <a:custGeom>
            <a:avLst/>
            <a:gdLst/>
            <a:ahLst/>
            <a:cxnLst/>
            <a:rect r="r" b="b" t="t" l="l"/>
            <a:pathLst>
              <a:path h="1014969" w="1642725">
                <a:moveTo>
                  <a:pt x="0" y="0"/>
                </a:moveTo>
                <a:lnTo>
                  <a:pt x="1642724" y="0"/>
                </a:lnTo>
                <a:lnTo>
                  <a:pt x="1642724" y="1014970"/>
                </a:lnTo>
                <a:lnTo>
                  <a:pt x="0" y="1014970"/>
                </a:lnTo>
                <a:lnTo>
                  <a:pt x="0" y="0"/>
                </a:lnTo>
                <a:close/>
              </a:path>
            </a:pathLst>
          </a:custGeom>
          <a:blipFill>
            <a:blip r:embed="rId7">
              <a:extLst>
                <a:ext uri="{96DAC541-7B7A-43D3-8B79-37D633B846F1}">
                  <asvg:svgBlip xmlns:asvg="http://schemas.microsoft.com/office/drawing/2016/SVG/main" r:embed="rId8"/>
                </a:ext>
              </a:extLst>
            </a:blip>
            <a:stretch>
              <a:fillRect l="-44877" t="-283791" r="-1042743" b="-228897"/>
            </a:stretch>
          </a:blipFill>
        </p:spPr>
      </p:sp>
      <p:grpSp>
        <p:nvGrpSpPr>
          <p:cNvPr name="Group 13" id="13"/>
          <p:cNvGrpSpPr/>
          <p:nvPr/>
        </p:nvGrpSpPr>
        <p:grpSpPr>
          <a:xfrm rot="-5400000">
            <a:off x="275229" y="9888583"/>
            <a:ext cx="7882191" cy="972315"/>
            <a:chOff x="0" y="0"/>
            <a:chExt cx="1555015" cy="191820"/>
          </a:xfrm>
        </p:grpSpPr>
        <p:sp>
          <p:nvSpPr>
            <p:cNvPr name="Freeform 14" id="14"/>
            <p:cNvSpPr/>
            <p:nvPr/>
          </p:nvSpPr>
          <p:spPr>
            <a:xfrm flipH="false" flipV="false" rot="0">
              <a:off x="0" y="0"/>
              <a:ext cx="1555015" cy="191820"/>
            </a:xfrm>
            <a:custGeom>
              <a:avLst/>
              <a:gdLst/>
              <a:ahLst/>
              <a:cxnLst/>
              <a:rect r="r" b="b" t="t" l="l"/>
              <a:pathLst>
                <a:path h="191820" w="1555015">
                  <a:moveTo>
                    <a:pt x="1351815" y="0"/>
                  </a:moveTo>
                  <a:lnTo>
                    <a:pt x="0" y="0"/>
                  </a:lnTo>
                  <a:lnTo>
                    <a:pt x="203200" y="191820"/>
                  </a:lnTo>
                  <a:lnTo>
                    <a:pt x="1555015" y="191820"/>
                  </a:lnTo>
                  <a:lnTo>
                    <a:pt x="1351815" y="0"/>
                  </a:lnTo>
                  <a:close/>
                </a:path>
              </a:pathLst>
            </a:custGeom>
            <a:solidFill>
              <a:srgbClr val="021E47"/>
            </a:solidFill>
          </p:spPr>
        </p:sp>
        <p:sp>
          <p:nvSpPr>
            <p:cNvPr name="TextBox 15" id="15"/>
            <p:cNvSpPr txBox="true"/>
            <p:nvPr/>
          </p:nvSpPr>
          <p:spPr>
            <a:xfrm>
              <a:off x="101600" y="28575"/>
              <a:ext cx="1351815" cy="163245"/>
            </a:xfrm>
            <a:prstGeom prst="rect">
              <a:avLst/>
            </a:prstGeom>
          </p:spPr>
          <p:txBody>
            <a:bodyPr anchor="ctr" rtlCol="false" tIns="50800" lIns="50800" bIns="50800" rIns="50800"/>
            <a:lstStyle/>
            <a:p>
              <a:pPr algn="ctr">
                <a:lnSpc>
                  <a:spcPts val="2080"/>
                </a:lnSpc>
              </a:pPr>
            </a:p>
          </p:txBody>
        </p:sp>
      </p:grpSp>
      <p:sp>
        <p:nvSpPr>
          <p:cNvPr name="Freeform 16" id="16"/>
          <p:cNvSpPr/>
          <p:nvPr/>
        </p:nvSpPr>
        <p:spPr>
          <a:xfrm flipH="false" flipV="false" rot="-5400000">
            <a:off x="4389397" y="6746731"/>
            <a:ext cx="1014969" cy="388799"/>
          </a:xfrm>
          <a:custGeom>
            <a:avLst/>
            <a:gdLst/>
            <a:ahLst/>
            <a:cxnLst/>
            <a:rect r="r" b="b" t="t" l="l"/>
            <a:pathLst>
              <a:path h="388799" w="1014969">
                <a:moveTo>
                  <a:pt x="0" y="0"/>
                </a:moveTo>
                <a:lnTo>
                  <a:pt x="1014969" y="0"/>
                </a:lnTo>
                <a:lnTo>
                  <a:pt x="1014969" y="388798"/>
                </a:lnTo>
                <a:lnTo>
                  <a:pt x="0" y="388798"/>
                </a:lnTo>
                <a:lnTo>
                  <a:pt x="0" y="0"/>
                </a:lnTo>
                <a:close/>
              </a:path>
            </a:pathLst>
          </a:custGeom>
          <a:blipFill>
            <a:blip r:embed="rId6">
              <a:alphaModFix amt="40000"/>
            </a:blip>
            <a:stretch>
              <a:fillRect l="-108011" t="-71408" r="-108424" b="0"/>
            </a:stretch>
          </a:blipFill>
        </p:spPr>
      </p:sp>
      <p:sp>
        <p:nvSpPr>
          <p:cNvPr name="Freeform 17" id="17"/>
          <p:cNvSpPr/>
          <p:nvPr/>
        </p:nvSpPr>
        <p:spPr>
          <a:xfrm flipH="false" flipV="false" rot="0">
            <a:off x="5954606" y="7680534"/>
            <a:ext cx="1642725" cy="1014969"/>
          </a:xfrm>
          <a:custGeom>
            <a:avLst/>
            <a:gdLst/>
            <a:ahLst/>
            <a:cxnLst/>
            <a:rect r="r" b="b" t="t" l="l"/>
            <a:pathLst>
              <a:path h="1014969" w="1642725">
                <a:moveTo>
                  <a:pt x="0" y="0"/>
                </a:moveTo>
                <a:lnTo>
                  <a:pt x="1642725" y="0"/>
                </a:lnTo>
                <a:lnTo>
                  <a:pt x="1642725" y="1014969"/>
                </a:lnTo>
                <a:lnTo>
                  <a:pt x="0" y="1014969"/>
                </a:lnTo>
                <a:lnTo>
                  <a:pt x="0" y="0"/>
                </a:lnTo>
                <a:close/>
              </a:path>
            </a:pathLst>
          </a:custGeom>
          <a:blipFill>
            <a:blip r:embed="rId9">
              <a:extLst>
                <a:ext uri="{96DAC541-7B7A-43D3-8B79-37D633B846F1}">
                  <asvg:svgBlip xmlns:asvg="http://schemas.microsoft.com/office/drawing/2016/SVG/main" r:embed="rId10"/>
                </a:ext>
              </a:extLst>
            </a:blip>
            <a:stretch>
              <a:fillRect l="-44877" t="-283791" r="-1042743" b="-228897"/>
            </a:stretch>
          </a:blipFill>
        </p:spPr>
      </p:sp>
      <p:grpSp>
        <p:nvGrpSpPr>
          <p:cNvPr name="Group 18" id="18"/>
          <p:cNvGrpSpPr/>
          <p:nvPr/>
        </p:nvGrpSpPr>
        <p:grpSpPr>
          <a:xfrm rot="-5400000">
            <a:off x="1527353" y="11135472"/>
            <a:ext cx="7882191" cy="972315"/>
            <a:chOff x="0" y="0"/>
            <a:chExt cx="1555015" cy="191820"/>
          </a:xfrm>
        </p:grpSpPr>
        <p:sp>
          <p:nvSpPr>
            <p:cNvPr name="Freeform 19" id="19"/>
            <p:cNvSpPr/>
            <p:nvPr/>
          </p:nvSpPr>
          <p:spPr>
            <a:xfrm flipH="false" flipV="false" rot="0">
              <a:off x="0" y="0"/>
              <a:ext cx="1555015" cy="191820"/>
            </a:xfrm>
            <a:custGeom>
              <a:avLst/>
              <a:gdLst/>
              <a:ahLst/>
              <a:cxnLst/>
              <a:rect r="r" b="b" t="t" l="l"/>
              <a:pathLst>
                <a:path h="191820" w="1555015">
                  <a:moveTo>
                    <a:pt x="1351815" y="0"/>
                  </a:moveTo>
                  <a:lnTo>
                    <a:pt x="0" y="0"/>
                  </a:lnTo>
                  <a:lnTo>
                    <a:pt x="203200" y="191820"/>
                  </a:lnTo>
                  <a:lnTo>
                    <a:pt x="1555015" y="191820"/>
                  </a:lnTo>
                  <a:lnTo>
                    <a:pt x="1351815" y="0"/>
                  </a:lnTo>
                  <a:close/>
                </a:path>
              </a:pathLst>
            </a:custGeom>
            <a:solidFill>
              <a:srgbClr val="229EBC"/>
            </a:solidFill>
          </p:spPr>
        </p:sp>
        <p:sp>
          <p:nvSpPr>
            <p:cNvPr name="TextBox 20" id="20"/>
            <p:cNvSpPr txBox="true"/>
            <p:nvPr/>
          </p:nvSpPr>
          <p:spPr>
            <a:xfrm>
              <a:off x="101600" y="28575"/>
              <a:ext cx="1351815" cy="163245"/>
            </a:xfrm>
            <a:prstGeom prst="rect">
              <a:avLst/>
            </a:prstGeom>
          </p:spPr>
          <p:txBody>
            <a:bodyPr anchor="ctr" rtlCol="false" tIns="50800" lIns="50800" bIns="50800" rIns="50800"/>
            <a:lstStyle/>
            <a:p>
              <a:pPr algn="ctr">
                <a:lnSpc>
                  <a:spcPts val="2080"/>
                </a:lnSpc>
              </a:pPr>
            </a:p>
          </p:txBody>
        </p:sp>
      </p:grpSp>
      <p:sp>
        <p:nvSpPr>
          <p:cNvPr name="Freeform 21" id="21"/>
          <p:cNvSpPr/>
          <p:nvPr/>
        </p:nvSpPr>
        <p:spPr>
          <a:xfrm flipH="false" flipV="false" rot="-5400000">
            <a:off x="5641521" y="7993619"/>
            <a:ext cx="1014969" cy="388799"/>
          </a:xfrm>
          <a:custGeom>
            <a:avLst/>
            <a:gdLst/>
            <a:ahLst/>
            <a:cxnLst/>
            <a:rect r="r" b="b" t="t" l="l"/>
            <a:pathLst>
              <a:path h="388799" w="1014969">
                <a:moveTo>
                  <a:pt x="0" y="0"/>
                </a:moveTo>
                <a:lnTo>
                  <a:pt x="1014969" y="0"/>
                </a:lnTo>
                <a:lnTo>
                  <a:pt x="1014969" y="388799"/>
                </a:lnTo>
                <a:lnTo>
                  <a:pt x="0" y="388799"/>
                </a:lnTo>
                <a:lnTo>
                  <a:pt x="0" y="0"/>
                </a:lnTo>
                <a:close/>
              </a:path>
            </a:pathLst>
          </a:custGeom>
          <a:blipFill>
            <a:blip r:embed="rId6">
              <a:alphaModFix amt="40000"/>
            </a:blip>
            <a:stretch>
              <a:fillRect l="-108011" t="-71408" r="-108424" b="0"/>
            </a:stretch>
          </a:blipFill>
        </p:spPr>
      </p:sp>
      <p:sp>
        <p:nvSpPr>
          <p:cNvPr name="Freeform 22" id="22"/>
          <p:cNvSpPr/>
          <p:nvPr/>
        </p:nvSpPr>
        <p:spPr>
          <a:xfrm flipH="false" flipV="false" rot="0">
            <a:off x="7011956" y="8995409"/>
            <a:ext cx="1642725" cy="1014969"/>
          </a:xfrm>
          <a:custGeom>
            <a:avLst/>
            <a:gdLst/>
            <a:ahLst/>
            <a:cxnLst/>
            <a:rect r="r" b="b" t="t" l="l"/>
            <a:pathLst>
              <a:path h="1014969" w="1642725">
                <a:moveTo>
                  <a:pt x="0" y="0"/>
                </a:moveTo>
                <a:lnTo>
                  <a:pt x="1642725" y="0"/>
                </a:lnTo>
                <a:lnTo>
                  <a:pt x="1642725" y="1014969"/>
                </a:lnTo>
                <a:lnTo>
                  <a:pt x="0" y="1014969"/>
                </a:lnTo>
                <a:lnTo>
                  <a:pt x="0" y="0"/>
                </a:lnTo>
                <a:close/>
              </a:path>
            </a:pathLst>
          </a:custGeom>
          <a:blipFill>
            <a:blip r:embed="rId11">
              <a:extLst>
                <a:ext uri="{96DAC541-7B7A-43D3-8B79-37D633B846F1}">
                  <asvg:svgBlip xmlns:asvg="http://schemas.microsoft.com/office/drawing/2016/SVG/main" r:embed="rId12"/>
                </a:ext>
              </a:extLst>
            </a:blip>
            <a:stretch>
              <a:fillRect l="-44877" t="-283791" r="-1042743" b="-228897"/>
            </a:stretch>
          </a:blipFill>
        </p:spPr>
      </p:sp>
      <p:grpSp>
        <p:nvGrpSpPr>
          <p:cNvPr name="Group 23" id="23"/>
          <p:cNvGrpSpPr/>
          <p:nvPr/>
        </p:nvGrpSpPr>
        <p:grpSpPr>
          <a:xfrm rot="-5400000">
            <a:off x="2640782" y="12450346"/>
            <a:ext cx="7882191" cy="972315"/>
            <a:chOff x="0" y="0"/>
            <a:chExt cx="1555015" cy="191820"/>
          </a:xfrm>
        </p:grpSpPr>
        <p:sp>
          <p:nvSpPr>
            <p:cNvPr name="Freeform 24" id="24"/>
            <p:cNvSpPr/>
            <p:nvPr/>
          </p:nvSpPr>
          <p:spPr>
            <a:xfrm flipH="false" flipV="false" rot="0">
              <a:off x="0" y="0"/>
              <a:ext cx="1555015" cy="191820"/>
            </a:xfrm>
            <a:custGeom>
              <a:avLst/>
              <a:gdLst/>
              <a:ahLst/>
              <a:cxnLst/>
              <a:rect r="r" b="b" t="t" l="l"/>
              <a:pathLst>
                <a:path h="191820" w="1555015">
                  <a:moveTo>
                    <a:pt x="1351815" y="0"/>
                  </a:moveTo>
                  <a:lnTo>
                    <a:pt x="0" y="0"/>
                  </a:lnTo>
                  <a:lnTo>
                    <a:pt x="203200" y="191820"/>
                  </a:lnTo>
                  <a:lnTo>
                    <a:pt x="1555015" y="191820"/>
                  </a:lnTo>
                  <a:lnTo>
                    <a:pt x="1351815" y="0"/>
                  </a:lnTo>
                  <a:close/>
                </a:path>
              </a:pathLst>
            </a:custGeom>
            <a:solidFill>
              <a:srgbClr val="8ECAE6"/>
            </a:solidFill>
          </p:spPr>
        </p:sp>
        <p:sp>
          <p:nvSpPr>
            <p:cNvPr name="TextBox 25" id="25"/>
            <p:cNvSpPr txBox="true"/>
            <p:nvPr/>
          </p:nvSpPr>
          <p:spPr>
            <a:xfrm>
              <a:off x="101600" y="28575"/>
              <a:ext cx="1351815" cy="163245"/>
            </a:xfrm>
            <a:prstGeom prst="rect">
              <a:avLst/>
            </a:prstGeom>
          </p:spPr>
          <p:txBody>
            <a:bodyPr anchor="ctr" rtlCol="false" tIns="50800" lIns="50800" bIns="50800" rIns="50800"/>
            <a:lstStyle/>
            <a:p>
              <a:pPr algn="ctr">
                <a:lnSpc>
                  <a:spcPts val="2080"/>
                </a:lnSpc>
              </a:pPr>
            </a:p>
          </p:txBody>
        </p:sp>
      </p:grpSp>
      <p:sp>
        <p:nvSpPr>
          <p:cNvPr name="Freeform 26" id="26"/>
          <p:cNvSpPr/>
          <p:nvPr/>
        </p:nvSpPr>
        <p:spPr>
          <a:xfrm flipH="false" flipV="false" rot="-5400000">
            <a:off x="6698871" y="9308494"/>
            <a:ext cx="1014969" cy="388799"/>
          </a:xfrm>
          <a:custGeom>
            <a:avLst/>
            <a:gdLst/>
            <a:ahLst/>
            <a:cxnLst/>
            <a:rect r="r" b="b" t="t" l="l"/>
            <a:pathLst>
              <a:path h="388799" w="1014969">
                <a:moveTo>
                  <a:pt x="0" y="0"/>
                </a:moveTo>
                <a:lnTo>
                  <a:pt x="1014969" y="0"/>
                </a:lnTo>
                <a:lnTo>
                  <a:pt x="1014969" y="388798"/>
                </a:lnTo>
                <a:lnTo>
                  <a:pt x="0" y="388798"/>
                </a:lnTo>
                <a:lnTo>
                  <a:pt x="0" y="0"/>
                </a:lnTo>
                <a:close/>
              </a:path>
            </a:pathLst>
          </a:custGeom>
          <a:blipFill>
            <a:blip r:embed="rId6">
              <a:alphaModFix amt="40000"/>
            </a:blip>
            <a:stretch>
              <a:fillRect l="-108011" t="-71408" r="-108424" b="0"/>
            </a:stretch>
          </a:blipFill>
        </p:spPr>
      </p:sp>
      <p:sp>
        <p:nvSpPr>
          <p:cNvPr name="Freeform 27" id="27"/>
          <p:cNvSpPr/>
          <p:nvPr/>
        </p:nvSpPr>
        <p:spPr>
          <a:xfrm flipH="false" flipV="false" rot="2700000">
            <a:off x="15898038" y="7390902"/>
            <a:ext cx="3258582" cy="3258582"/>
          </a:xfrm>
          <a:custGeom>
            <a:avLst/>
            <a:gdLst/>
            <a:ahLst/>
            <a:cxnLst/>
            <a:rect r="r" b="b" t="t" l="l"/>
            <a:pathLst>
              <a:path h="3258582" w="3258582">
                <a:moveTo>
                  <a:pt x="0" y="0"/>
                </a:moveTo>
                <a:lnTo>
                  <a:pt x="3258582" y="0"/>
                </a:lnTo>
                <a:lnTo>
                  <a:pt x="3258582" y="3258582"/>
                </a:lnTo>
                <a:lnTo>
                  <a:pt x="0" y="3258582"/>
                </a:lnTo>
                <a:lnTo>
                  <a:pt x="0" y="0"/>
                </a:lnTo>
                <a:close/>
              </a:path>
            </a:pathLst>
          </a:custGeom>
          <a:blipFill>
            <a:blip r:embed="rId13">
              <a:alphaModFix amt="13000"/>
              <a:extLst>
                <a:ext uri="{96DAC541-7B7A-43D3-8B79-37D633B846F1}">
                  <asvg:svgBlip xmlns:asvg="http://schemas.microsoft.com/office/drawing/2016/SVG/main" r:embed="rId14"/>
                </a:ext>
              </a:extLst>
            </a:blip>
            <a:stretch>
              <a:fillRect l="0" t="0" r="0" b="0"/>
            </a:stretch>
          </a:blipFill>
        </p:spPr>
      </p:sp>
      <p:sp>
        <p:nvSpPr>
          <p:cNvPr name="Freeform 28" id="28"/>
          <p:cNvSpPr/>
          <p:nvPr/>
        </p:nvSpPr>
        <p:spPr>
          <a:xfrm flipH="false" flipV="false" rot="0">
            <a:off x="2845069" y="4375759"/>
            <a:ext cx="432299" cy="394473"/>
          </a:xfrm>
          <a:custGeom>
            <a:avLst/>
            <a:gdLst/>
            <a:ahLst/>
            <a:cxnLst/>
            <a:rect r="r" b="b" t="t" l="l"/>
            <a:pathLst>
              <a:path h="394473" w="432299">
                <a:moveTo>
                  <a:pt x="0" y="0"/>
                </a:moveTo>
                <a:lnTo>
                  <a:pt x="432299" y="0"/>
                </a:lnTo>
                <a:lnTo>
                  <a:pt x="432299" y="394473"/>
                </a:lnTo>
                <a:lnTo>
                  <a:pt x="0" y="394473"/>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29" id="29"/>
          <p:cNvSpPr/>
          <p:nvPr/>
        </p:nvSpPr>
        <p:spPr>
          <a:xfrm flipH="false" flipV="false" rot="0">
            <a:off x="4072324" y="5559826"/>
            <a:ext cx="345164" cy="394473"/>
          </a:xfrm>
          <a:custGeom>
            <a:avLst/>
            <a:gdLst/>
            <a:ahLst/>
            <a:cxnLst/>
            <a:rect r="r" b="b" t="t" l="l"/>
            <a:pathLst>
              <a:path h="394473" w="345164">
                <a:moveTo>
                  <a:pt x="0" y="0"/>
                </a:moveTo>
                <a:lnTo>
                  <a:pt x="345164" y="0"/>
                </a:lnTo>
                <a:lnTo>
                  <a:pt x="345164" y="394473"/>
                </a:lnTo>
                <a:lnTo>
                  <a:pt x="0" y="394473"/>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30" id="30"/>
          <p:cNvSpPr/>
          <p:nvPr/>
        </p:nvSpPr>
        <p:spPr>
          <a:xfrm flipH="false" flipV="false" rot="0">
            <a:off x="5234785" y="6743894"/>
            <a:ext cx="394473" cy="394473"/>
          </a:xfrm>
          <a:custGeom>
            <a:avLst/>
            <a:gdLst/>
            <a:ahLst/>
            <a:cxnLst/>
            <a:rect r="r" b="b" t="t" l="l"/>
            <a:pathLst>
              <a:path h="394473" w="394473">
                <a:moveTo>
                  <a:pt x="0" y="0"/>
                </a:moveTo>
                <a:lnTo>
                  <a:pt x="394473" y="0"/>
                </a:lnTo>
                <a:lnTo>
                  <a:pt x="394473" y="394472"/>
                </a:lnTo>
                <a:lnTo>
                  <a:pt x="0" y="394472"/>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Freeform 31" id="31"/>
          <p:cNvSpPr/>
          <p:nvPr/>
        </p:nvSpPr>
        <p:spPr>
          <a:xfrm flipH="false" flipV="false" rot="0">
            <a:off x="6411021" y="7906340"/>
            <a:ext cx="341712" cy="394473"/>
          </a:xfrm>
          <a:custGeom>
            <a:avLst/>
            <a:gdLst/>
            <a:ahLst/>
            <a:cxnLst/>
            <a:rect r="r" b="b" t="t" l="l"/>
            <a:pathLst>
              <a:path h="394473" w="341712">
                <a:moveTo>
                  <a:pt x="0" y="0"/>
                </a:moveTo>
                <a:lnTo>
                  <a:pt x="341712" y="0"/>
                </a:lnTo>
                <a:lnTo>
                  <a:pt x="341712" y="394473"/>
                </a:lnTo>
                <a:lnTo>
                  <a:pt x="0" y="394473"/>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sp>
        <p:nvSpPr>
          <p:cNvPr name="Freeform 32" id="32"/>
          <p:cNvSpPr/>
          <p:nvPr/>
        </p:nvSpPr>
        <p:spPr>
          <a:xfrm flipH="false" flipV="false" rot="0">
            <a:off x="7540832" y="9306626"/>
            <a:ext cx="394473" cy="394473"/>
          </a:xfrm>
          <a:custGeom>
            <a:avLst/>
            <a:gdLst/>
            <a:ahLst/>
            <a:cxnLst/>
            <a:rect r="r" b="b" t="t" l="l"/>
            <a:pathLst>
              <a:path h="394473" w="394473">
                <a:moveTo>
                  <a:pt x="0" y="0"/>
                </a:moveTo>
                <a:lnTo>
                  <a:pt x="394473" y="0"/>
                </a:lnTo>
                <a:lnTo>
                  <a:pt x="394473" y="394473"/>
                </a:lnTo>
                <a:lnTo>
                  <a:pt x="0" y="394473"/>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p:spPr>
      </p:sp>
      <p:sp>
        <p:nvSpPr>
          <p:cNvPr name="TextBox 33" id="33"/>
          <p:cNvSpPr txBox="true"/>
          <p:nvPr/>
        </p:nvSpPr>
        <p:spPr>
          <a:xfrm rot="0">
            <a:off x="4417488" y="4337611"/>
            <a:ext cx="7613303" cy="526349"/>
          </a:xfrm>
          <a:prstGeom prst="rect">
            <a:avLst/>
          </a:prstGeom>
        </p:spPr>
        <p:txBody>
          <a:bodyPr anchor="t" rtlCol="false" tIns="0" lIns="0" bIns="0" rIns="0">
            <a:spAutoFit/>
          </a:bodyPr>
          <a:lstStyle/>
          <a:p>
            <a:pPr algn="l">
              <a:lnSpc>
                <a:spcPts val="2079"/>
              </a:lnSpc>
            </a:pPr>
            <a:r>
              <a:rPr lang="en-US" sz="1999" b="true">
                <a:solidFill>
                  <a:srgbClr val="021E47"/>
                </a:solidFill>
                <a:latin typeface="Gotham Bold"/>
                <a:ea typeface="Gotham Bold"/>
                <a:cs typeface="Gotham Bold"/>
                <a:sym typeface="Gotham Bold"/>
              </a:rPr>
              <a:t>To model drone path planning as an energy optimization problem</a:t>
            </a:r>
          </a:p>
        </p:txBody>
      </p:sp>
      <p:sp>
        <p:nvSpPr>
          <p:cNvPr name="TextBox 34" id="34"/>
          <p:cNvSpPr txBox="true"/>
          <p:nvPr/>
        </p:nvSpPr>
        <p:spPr>
          <a:xfrm rot="0">
            <a:off x="6581877" y="2048469"/>
            <a:ext cx="4910796" cy="770984"/>
          </a:xfrm>
          <a:prstGeom prst="rect">
            <a:avLst/>
          </a:prstGeom>
        </p:spPr>
        <p:txBody>
          <a:bodyPr anchor="t" rtlCol="false" tIns="0" lIns="0" bIns="0" rIns="0">
            <a:spAutoFit/>
          </a:bodyPr>
          <a:lstStyle/>
          <a:p>
            <a:pPr algn="r">
              <a:lnSpc>
                <a:spcPts val="5824"/>
              </a:lnSpc>
            </a:pPr>
            <a:r>
              <a:rPr lang="en-US" b="true" sz="5600">
                <a:solidFill>
                  <a:srgbClr val="021E47"/>
                </a:solidFill>
                <a:latin typeface="Gotham Bold"/>
                <a:ea typeface="Gotham Bold"/>
                <a:cs typeface="Gotham Bold"/>
                <a:sym typeface="Gotham Bold"/>
              </a:rPr>
              <a:t>OBJECTIVES</a:t>
            </a:r>
          </a:p>
        </p:txBody>
      </p:sp>
      <p:sp>
        <p:nvSpPr>
          <p:cNvPr name="TextBox 35" id="35"/>
          <p:cNvSpPr txBox="true"/>
          <p:nvPr/>
        </p:nvSpPr>
        <p:spPr>
          <a:xfrm rot="0">
            <a:off x="622700" y="3238553"/>
            <a:ext cx="8719183" cy="445958"/>
          </a:xfrm>
          <a:prstGeom prst="rect">
            <a:avLst/>
          </a:prstGeom>
        </p:spPr>
        <p:txBody>
          <a:bodyPr anchor="t" rtlCol="false" tIns="0" lIns="0" bIns="0" rIns="0">
            <a:spAutoFit/>
          </a:bodyPr>
          <a:lstStyle/>
          <a:p>
            <a:pPr algn="l">
              <a:lnSpc>
                <a:spcPts val="3328"/>
              </a:lnSpc>
            </a:pPr>
            <a:r>
              <a:rPr lang="en-US" sz="3200" b="true">
                <a:solidFill>
                  <a:srgbClr val="00BF63"/>
                </a:solidFill>
                <a:latin typeface="Gotham Bold"/>
                <a:ea typeface="Gotham Bold"/>
                <a:cs typeface="Gotham Bold"/>
                <a:sym typeface="Gotham Bold"/>
              </a:rPr>
              <a:t>The main objectives of this research are:</a:t>
            </a:r>
          </a:p>
        </p:txBody>
      </p:sp>
      <p:sp>
        <p:nvSpPr>
          <p:cNvPr name="TextBox 36" id="36"/>
          <p:cNvSpPr txBox="true"/>
          <p:nvPr/>
        </p:nvSpPr>
        <p:spPr>
          <a:xfrm rot="0">
            <a:off x="6581877" y="6722883"/>
            <a:ext cx="7613303" cy="526349"/>
          </a:xfrm>
          <a:prstGeom prst="rect">
            <a:avLst/>
          </a:prstGeom>
        </p:spPr>
        <p:txBody>
          <a:bodyPr anchor="t" rtlCol="false" tIns="0" lIns="0" bIns="0" rIns="0">
            <a:spAutoFit/>
          </a:bodyPr>
          <a:lstStyle/>
          <a:p>
            <a:pPr algn="l">
              <a:lnSpc>
                <a:spcPts val="2079"/>
              </a:lnSpc>
            </a:pPr>
            <a:r>
              <a:rPr lang="en-US" sz="1999" b="true">
                <a:solidFill>
                  <a:srgbClr val="021E47"/>
                </a:solidFill>
                <a:latin typeface="Gotham Bold"/>
                <a:ea typeface="Gotham Bold"/>
                <a:cs typeface="Gotham Bold"/>
                <a:sym typeface="Gotham Bold"/>
              </a:rPr>
              <a:t>To apply heuristic optimization algorithms for efficient path planning</a:t>
            </a:r>
          </a:p>
        </p:txBody>
      </p:sp>
      <p:sp>
        <p:nvSpPr>
          <p:cNvPr name="TextBox 37" id="37"/>
          <p:cNvSpPr txBox="true"/>
          <p:nvPr/>
        </p:nvSpPr>
        <p:spPr>
          <a:xfrm rot="0">
            <a:off x="5523844" y="5489230"/>
            <a:ext cx="7613303" cy="269207"/>
          </a:xfrm>
          <a:prstGeom prst="rect">
            <a:avLst/>
          </a:prstGeom>
        </p:spPr>
        <p:txBody>
          <a:bodyPr anchor="t" rtlCol="false" tIns="0" lIns="0" bIns="0" rIns="0">
            <a:spAutoFit/>
          </a:bodyPr>
          <a:lstStyle/>
          <a:p>
            <a:pPr algn="l">
              <a:lnSpc>
                <a:spcPts val="2079"/>
              </a:lnSpc>
            </a:pPr>
            <a:r>
              <a:rPr lang="en-US" sz="1999" b="true">
                <a:solidFill>
                  <a:srgbClr val="021E47"/>
                </a:solidFill>
                <a:latin typeface="Gotham Bold"/>
                <a:ea typeface="Gotham Bold"/>
                <a:cs typeface="Gotham Bold"/>
                <a:sym typeface="Gotham Bold"/>
              </a:rPr>
              <a:t>To design an energy-aware cost function for navigation</a:t>
            </a:r>
          </a:p>
        </p:txBody>
      </p:sp>
      <p:sp>
        <p:nvSpPr>
          <p:cNvPr name="TextBox 38" id="38"/>
          <p:cNvSpPr txBox="true"/>
          <p:nvPr/>
        </p:nvSpPr>
        <p:spPr>
          <a:xfrm rot="0">
            <a:off x="7873556" y="8010818"/>
            <a:ext cx="7613303" cy="526349"/>
          </a:xfrm>
          <a:prstGeom prst="rect">
            <a:avLst/>
          </a:prstGeom>
        </p:spPr>
        <p:txBody>
          <a:bodyPr anchor="t" rtlCol="false" tIns="0" lIns="0" bIns="0" rIns="0">
            <a:spAutoFit/>
          </a:bodyPr>
          <a:lstStyle/>
          <a:p>
            <a:pPr algn="l">
              <a:lnSpc>
                <a:spcPts val="2079"/>
              </a:lnSpc>
            </a:pPr>
            <a:r>
              <a:rPr lang="en-US" sz="1999" b="true">
                <a:solidFill>
                  <a:srgbClr val="021E47"/>
                </a:solidFill>
                <a:latin typeface="Gotham Bold"/>
                <a:ea typeface="Gotham Bold"/>
                <a:cs typeface="Gotham Bold"/>
                <a:sym typeface="Gotham Bold"/>
              </a:rPr>
              <a:t>To reduce battery consumption during surveillance missions</a:t>
            </a:r>
          </a:p>
        </p:txBody>
      </p:sp>
      <p:sp>
        <p:nvSpPr>
          <p:cNvPr name="TextBox 39" id="39"/>
          <p:cNvSpPr txBox="true"/>
          <p:nvPr/>
        </p:nvSpPr>
        <p:spPr>
          <a:xfrm rot="0">
            <a:off x="8930906" y="9236030"/>
            <a:ext cx="7613303" cy="526349"/>
          </a:xfrm>
          <a:prstGeom prst="rect">
            <a:avLst/>
          </a:prstGeom>
        </p:spPr>
        <p:txBody>
          <a:bodyPr anchor="t" rtlCol="false" tIns="0" lIns="0" bIns="0" rIns="0">
            <a:spAutoFit/>
          </a:bodyPr>
          <a:lstStyle/>
          <a:p>
            <a:pPr algn="l">
              <a:lnSpc>
                <a:spcPts val="2079"/>
              </a:lnSpc>
            </a:pPr>
            <a:r>
              <a:rPr lang="en-US" sz="1999" b="true">
                <a:solidFill>
                  <a:srgbClr val="021E47"/>
                </a:solidFill>
                <a:latin typeface="Gotham Bold"/>
                <a:ea typeface="Gotham Bold"/>
                <a:cs typeface="Gotham Bold"/>
                <a:sym typeface="Gotham Bold"/>
              </a:rPr>
              <a:t>To compare the proposed method with traditional path planning approaches</a:t>
            </a:r>
          </a:p>
        </p:txBody>
      </p:sp>
      <p:sp>
        <p:nvSpPr>
          <p:cNvPr name="Freeform 40" id="40"/>
          <p:cNvSpPr/>
          <p:nvPr/>
        </p:nvSpPr>
        <p:spPr>
          <a:xfrm flipH="false" flipV="false" rot="0">
            <a:off x="14854710" y="0"/>
            <a:ext cx="3433290" cy="1705276"/>
          </a:xfrm>
          <a:custGeom>
            <a:avLst/>
            <a:gdLst/>
            <a:ahLst/>
            <a:cxnLst/>
            <a:rect r="r" b="b" t="t" l="l"/>
            <a:pathLst>
              <a:path h="1705276" w="3433290">
                <a:moveTo>
                  <a:pt x="0" y="0"/>
                </a:moveTo>
                <a:lnTo>
                  <a:pt x="3433290" y="0"/>
                </a:lnTo>
                <a:lnTo>
                  <a:pt x="3433290" y="1705276"/>
                </a:lnTo>
                <a:lnTo>
                  <a:pt x="0" y="1705276"/>
                </a:lnTo>
                <a:lnTo>
                  <a:pt x="0" y="0"/>
                </a:lnTo>
                <a:close/>
              </a:path>
            </a:pathLst>
          </a:custGeom>
          <a:blipFill>
            <a:blip r:embed="rId25"/>
            <a:stretch>
              <a:fillRect l="0" t="0" r="0" b="0"/>
            </a:stretch>
          </a:blipFill>
        </p:spPr>
      </p:sp>
      <p:sp>
        <p:nvSpPr>
          <p:cNvPr name="AutoShape 41" id="41"/>
          <p:cNvSpPr/>
          <p:nvPr/>
        </p:nvSpPr>
        <p:spPr>
          <a:xfrm>
            <a:off x="0" y="1838773"/>
            <a:ext cx="18288000" cy="0"/>
          </a:xfrm>
          <a:prstGeom prst="line">
            <a:avLst/>
          </a:prstGeom>
          <a:ln cap="flat" w="38100">
            <a:solidFill>
              <a:srgbClr val="000000"/>
            </a:solidFill>
            <a:prstDash val="solid"/>
            <a:headEnd type="none" len="sm" w="sm"/>
            <a:tailEnd type="none" len="sm" w="sm"/>
          </a:ln>
        </p:spPr>
      </p:sp>
      <p:sp>
        <p:nvSpPr>
          <p:cNvPr name="TextBox 42" id="42"/>
          <p:cNvSpPr txBox="true"/>
          <p:nvPr/>
        </p:nvSpPr>
        <p:spPr>
          <a:xfrm rot="0">
            <a:off x="0" y="78758"/>
            <a:ext cx="12755695" cy="683242"/>
          </a:xfrm>
          <a:prstGeom prst="rect">
            <a:avLst/>
          </a:prstGeom>
        </p:spPr>
        <p:txBody>
          <a:bodyPr anchor="t" rtlCol="false" tIns="0" lIns="0" bIns="0" rIns="0">
            <a:spAutoFit/>
          </a:bodyPr>
          <a:lstStyle/>
          <a:p>
            <a:pPr algn="ctr">
              <a:lnSpc>
                <a:spcPts val="5394"/>
              </a:lnSpc>
            </a:pPr>
            <a:r>
              <a:rPr lang="en-US" sz="3853">
                <a:solidFill>
                  <a:srgbClr val="000000"/>
                </a:solidFill>
                <a:latin typeface="Poppins"/>
                <a:ea typeface="Poppins"/>
                <a:cs typeface="Poppins"/>
                <a:sym typeface="Poppins"/>
              </a:rPr>
              <a:t>Department of Computer Science and Engineering</a:t>
            </a:r>
          </a:p>
        </p:txBody>
      </p:sp>
      <p:sp>
        <p:nvSpPr>
          <p:cNvPr name="TextBox 43" id="43"/>
          <p:cNvSpPr txBox="true"/>
          <p:nvPr/>
        </p:nvSpPr>
        <p:spPr>
          <a:xfrm rot="0">
            <a:off x="-246328" y="890092"/>
            <a:ext cx="4246828" cy="566354"/>
          </a:xfrm>
          <a:prstGeom prst="rect">
            <a:avLst/>
          </a:prstGeom>
        </p:spPr>
        <p:txBody>
          <a:bodyPr anchor="t" rtlCol="false" tIns="0" lIns="0" bIns="0" rIns="0">
            <a:spAutoFit/>
          </a:bodyPr>
          <a:lstStyle/>
          <a:p>
            <a:pPr algn="ctr">
              <a:lnSpc>
                <a:spcPts val="4480"/>
              </a:lnSpc>
            </a:pPr>
            <a:r>
              <a:rPr lang="en-US" sz="3200">
                <a:solidFill>
                  <a:srgbClr val="000000"/>
                </a:solidFill>
                <a:latin typeface="Poppins"/>
                <a:ea typeface="Poppins"/>
                <a:cs typeface="Poppins"/>
                <a:sym typeface="Poppins"/>
              </a:rPr>
              <a:t>Uttara University</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3F6FC"/>
        </a:solidFill>
      </p:bgPr>
    </p:bg>
    <p:spTree>
      <p:nvGrpSpPr>
        <p:cNvPr id="1" name=""/>
        <p:cNvGrpSpPr/>
        <p:nvPr/>
      </p:nvGrpSpPr>
      <p:grpSpPr>
        <a:xfrm>
          <a:off x="0" y="0"/>
          <a:ext cx="0" cy="0"/>
          <a:chOff x="0" y="0"/>
          <a:chExt cx="0" cy="0"/>
        </a:xfrm>
      </p:grpSpPr>
      <p:sp>
        <p:nvSpPr>
          <p:cNvPr name="TextBox 2" id="2"/>
          <p:cNvSpPr txBox="true"/>
          <p:nvPr/>
        </p:nvSpPr>
        <p:spPr>
          <a:xfrm rot="0">
            <a:off x="4956751" y="2777144"/>
            <a:ext cx="8382000" cy="770984"/>
          </a:xfrm>
          <a:prstGeom prst="rect">
            <a:avLst/>
          </a:prstGeom>
        </p:spPr>
        <p:txBody>
          <a:bodyPr anchor="t" rtlCol="false" tIns="0" lIns="0" bIns="0" rIns="0">
            <a:spAutoFit/>
          </a:bodyPr>
          <a:lstStyle/>
          <a:p>
            <a:pPr algn="ctr">
              <a:lnSpc>
                <a:spcPts val="5824"/>
              </a:lnSpc>
            </a:pPr>
            <a:r>
              <a:rPr lang="en-US" b="true" sz="5600">
                <a:solidFill>
                  <a:srgbClr val="021E47"/>
                </a:solidFill>
                <a:latin typeface="Gotham Bold"/>
                <a:ea typeface="Gotham Bold"/>
                <a:cs typeface="Gotham Bold"/>
                <a:sym typeface="Gotham Bold"/>
              </a:rPr>
              <a:t>REQUIREMENTS</a:t>
            </a:r>
          </a:p>
        </p:txBody>
      </p:sp>
      <p:sp>
        <p:nvSpPr>
          <p:cNvPr name="Freeform 3" id="3"/>
          <p:cNvSpPr/>
          <p:nvPr/>
        </p:nvSpPr>
        <p:spPr>
          <a:xfrm flipH="false" flipV="false" rot="0">
            <a:off x="107453" y="7533085"/>
            <a:ext cx="2878696" cy="597329"/>
          </a:xfrm>
          <a:custGeom>
            <a:avLst/>
            <a:gdLst/>
            <a:ahLst/>
            <a:cxnLst/>
            <a:rect r="r" b="b" t="t" l="l"/>
            <a:pathLst>
              <a:path h="597329" w="2878696">
                <a:moveTo>
                  <a:pt x="0" y="0"/>
                </a:moveTo>
                <a:lnTo>
                  <a:pt x="2878696" y="0"/>
                </a:lnTo>
                <a:lnTo>
                  <a:pt x="2878696" y="597330"/>
                </a:lnTo>
                <a:lnTo>
                  <a:pt x="0" y="597330"/>
                </a:lnTo>
                <a:lnTo>
                  <a:pt x="0" y="0"/>
                </a:lnTo>
                <a:close/>
              </a:path>
            </a:pathLst>
          </a:custGeom>
          <a:blipFill>
            <a:blip r:embed="rId2">
              <a:alphaModFix amt="40000"/>
            </a:blip>
            <a:stretch>
              <a:fillRect l="0" t="0" r="0" b="0"/>
            </a:stretch>
          </a:blipFill>
        </p:spPr>
      </p:sp>
      <p:sp>
        <p:nvSpPr>
          <p:cNvPr name="Freeform 4" id="4"/>
          <p:cNvSpPr/>
          <p:nvPr/>
        </p:nvSpPr>
        <p:spPr>
          <a:xfrm flipH="false" flipV="false" rot="0">
            <a:off x="3157599" y="7096863"/>
            <a:ext cx="2878696" cy="597329"/>
          </a:xfrm>
          <a:custGeom>
            <a:avLst/>
            <a:gdLst/>
            <a:ahLst/>
            <a:cxnLst/>
            <a:rect r="r" b="b" t="t" l="l"/>
            <a:pathLst>
              <a:path h="597329" w="2878696">
                <a:moveTo>
                  <a:pt x="0" y="0"/>
                </a:moveTo>
                <a:lnTo>
                  <a:pt x="2878696" y="0"/>
                </a:lnTo>
                <a:lnTo>
                  <a:pt x="2878696" y="597329"/>
                </a:lnTo>
                <a:lnTo>
                  <a:pt x="0" y="597329"/>
                </a:lnTo>
                <a:lnTo>
                  <a:pt x="0" y="0"/>
                </a:lnTo>
                <a:close/>
              </a:path>
            </a:pathLst>
          </a:custGeom>
          <a:blipFill>
            <a:blip r:embed="rId2">
              <a:alphaModFix amt="40000"/>
            </a:blip>
            <a:stretch>
              <a:fillRect l="0" t="0" r="0" b="0"/>
            </a:stretch>
          </a:blipFill>
        </p:spPr>
      </p:sp>
      <p:sp>
        <p:nvSpPr>
          <p:cNvPr name="AutoShape 5" id="5"/>
          <p:cNvSpPr/>
          <p:nvPr/>
        </p:nvSpPr>
        <p:spPr>
          <a:xfrm>
            <a:off x="3751" y="6013908"/>
            <a:ext cx="18288000" cy="0"/>
          </a:xfrm>
          <a:prstGeom prst="line">
            <a:avLst/>
          </a:prstGeom>
          <a:ln cap="flat" w="28575">
            <a:solidFill>
              <a:srgbClr val="021E47"/>
            </a:solidFill>
            <a:prstDash val="lgDash"/>
            <a:headEnd type="none" len="sm" w="sm"/>
            <a:tailEnd type="none" len="sm" w="sm"/>
          </a:ln>
        </p:spPr>
      </p:sp>
      <p:grpSp>
        <p:nvGrpSpPr>
          <p:cNvPr name="Group 6" id="6"/>
          <p:cNvGrpSpPr/>
          <p:nvPr/>
        </p:nvGrpSpPr>
        <p:grpSpPr>
          <a:xfrm rot="0">
            <a:off x="107453" y="5638469"/>
            <a:ext cx="2880776" cy="2370260"/>
            <a:chOff x="0" y="0"/>
            <a:chExt cx="758723" cy="624266"/>
          </a:xfrm>
        </p:grpSpPr>
        <p:sp>
          <p:nvSpPr>
            <p:cNvPr name="Freeform 7" id="7"/>
            <p:cNvSpPr/>
            <p:nvPr/>
          </p:nvSpPr>
          <p:spPr>
            <a:xfrm flipH="false" flipV="false" rot="0">
              <a:off x="0" y="0"/>
              <a:ext cx="758723" cy="624266"/>
            </a:xfrm>
            <a:custGeom>
              <a:avLst/>
              <a:gdLst/>
              <a:ahLst/>
              <a:cxnLst/>
              <a:rect r="r" b="b" t="t" l="l"/>
              <a:pathLst>
                <a:path h="624266" w="758723">
                  <a:moveTo>
                    <a:pt x="94060" y="0"/>
                  </a:moveTo>
                  <a:lnTo>
                    <a:pt x="664662" y="0"/>
                  </a:lnTo>
                  <a:cubicBezTo>
                    <a:pt x="689609" y="0"/>
                    <a:pt x="713533" y="9910"/>
                    <a:pt x="731173" y="27550"/>
                  </a:cubicBezTo>
                  <a:cubicBezTo>
                    <a:pt x="748813" y="45189"/>
                    <a:pt x="758723" y="69114"/>
                    <a:pt x="758723" y="94060"/>
                  </a:cubicBezTo>
                  <a:lnTo>
                    <a:pt x="758723" y="530205"/>
                  </a:lnTo>
                  <a:cubicBezTo>
                    <a:pt x="758723" y="582154"/>
                    <a:pt x="716611" y="624266"/>
                    <a:pt x="664662" y="624266"/>
                  </a:cubicBezTo>
                  <a:lnTo>
                    <a:pt x="94060" y="624266"/>
                  </a:lnTo>
                  <a:cubicBezTo>
                    <a:pt x="69114" y="624266"/>
                    <a:pt x="45189" y="614356"/>
                    <a:pt x="27550" y="596716"/>
                  </a:cubicBezTo>
                  <a:cubicBezTo>
                    <a:pt x="9910" y="579076"/>
                    <a:pt x="0" y="555152"/>
                    <a:pt x="0" y="530205"/>
                  </a:cubicBezTo>
                  <a:lnTo>
                    <a:pt x="0" y="94060"/>
                  </a:lnTo>
                  <a:cubicBezTo>
                    <a:pt x="0" y="69114"/>
                    <a:pt x="9910" y="45189"/>
                    <a:pt x="27550" y="27550"/>
                  </a:cubicBezTo>
                  <a:cubicBezTo>
                    <a:pt x="45189" y="9910"/>
                    <a:pt x="69114" y="0"/>
                    <a:pt x="94060" y="0"/>
                  </a:cubicBezTo>
                  <a:close/>
                </a:path>
              </a:pathLst>
            </a:custGeom>
            <a:solidFill>
              <a:srgbClr val="FCFEFF"/>
            </a:solidFill>
          </p:spPr>
        </p:sp>
        <p:sp>
          <p:nvSpPr>
            <p:cNvPr name="TextBox 8" id="8"/>
            <p:cNvSpPr txBox="true"/>
            <p:nvPr/>
          </p:nvSpPr>
          <p:spPr>
            <a:xfrm>
              <a:off x="0" y="28575"/>
              <a:ext cx="758723" cy="595691"/>
            </a:xfrm>
            <a:prstGeom prst="rect">
              <a:avLst/>
            </a:prstGeom>
          </p:spPr>
          <p:txBody>
            <a:bodyPr anchor="ctr" rtlCol="false" tIns="50800" lIns="50800" bIns="50800" rIns="50800"/>
            <a:lstStyle/>
            <a:p>
              <a:pPr algn="ctr">
                <a:lnSpc>
                  <a:spcPts val="2080"/>
                </a:lnSpc>
              </a:pPr>
            </a:p>
          </p:txBody>
        </p:sp>
      </p:grpSp>
      <p:grpSp>
        <p:nvGrpSpPr>
          <p:cNvPr name="Group 9" id="9"/>
          <p:cNvGrpSpPr/>
          <p:nvPr/>
        </p:nvGrpSpPr>
        <p:grpSpPr>
          <a:xfrm rot="0">
            <a:off x="3157599" y="5202247"/>
            <a:ext cx="2878696" cy="2193281"/>
            <a:chOff x="0" y="0"/>
            <a:chExt cx="758175" cy="577654"/>
          </a:xfrm>
        </p:grpSpPr>
        <p:sp>
          <p:nvSpPr>
            <p:cNvPr name="Freeform 10" id="10"/>
            <p:cNvSpPr/>
            <p:nvPr/>
          </p:nvSpPr>
          <p:spPr>
            <a:xfrm flipH="false" flipV="false" rot="0">
              <a:off x="0" y="0"/>
              <a:ext cx="758175" cy="577654"/>
            </a:xfrm>
            <a:custGeom>
              <a:avLst/>
              <a:gdLst/>
              <a:ahLst/>
              <a:cxnLst/>
              <a:rect r="r" b="b" t="t" l="l"/>
              <a:pathLst>
                <a:path h="577654" w="758175">
                  <a:moveTo>
                    <a:pt x="94128" y="0"/>
                  </a:moveTo>
                  <a:lnTo>
                    <a:pt x="664047" y="0"/>
                  </a:lnTo>
                  <a:cubicBezTo>
                    <a:pt x="689011" y="0"/>
                    <a:pt x="712953" y="9917"/>
                    <a:pt x="730606" y="27570"/>
                  </a:cubicBezTo>
                  <a:cubicBezTo>
                    <a:pt x="748258" y="45222"/>
                    <a:pt x="758175" y="69164"/>
                    <a:pt x="758175" y="94128"/>
                  </a:cubicBezTo>
                  <a:lnTo>
                    <a:pt x="758175" y="483526"/>
                  </a:lnTo>
                  <a:cubicBezTo>
                    <a:pt x="758175" y="535511"/>
                    <a:pt x="716032" y="577654"/>
                    <a:pt x="664047" y="577654"/>
                  </a:cubicBezTo>
                  <a:lnTo>
                    <a:pt x="94128" y="577654"/>
                  </a:lnTo>
                  <a:cubicBezTo>
                    <a:pt x="69164" y="577654"/>
                    <a:pt x="45222" y="567737"/>
                    <a:pt x="27570" y="550085"/>
                  </a:cubicBezTo>
                  <a:cubicBezTo>
                    <a:pt x="9917" y="532432"/>
                    <a:pt x="0" y="508490"/>
                    <a:pt x="0" y="483526"/>
                  </a:cubicBezTo>
                  <a:lnTo>
                    <a:pt x="0" y="94128"/>
                  </a:lnTo>
                  <a:cubicBezTo>
                    <a:pt x="0" y="69164"/>
                    <a:pt x="9917" y="45222"/>
                    <a:pt x="27570" y="27570"/>
                  </a:cubicBezTo>
                  <a:cubicBezTo>
                    <a:pt x="45222" y="9917"/>
                    <a:pt x="69164" y="0"/>
                    <a:pt x="94128" y="0"/>
                  </a:cubicBezTo>
                  <a:close/>
                </a:path>
              </a:pathLst>
            </a:custGeom>
            <a:solidFill>
              <a:srgbClr val="FCFEFF"/>
            </a:solidFill>
          </p:spPr>
        </p:sp>
        <p:sp>
          <p:nvSpPr>
            <p:cNvPr name="TextBox 11" id="11"/>
            <p:cNvSpPr txBox="true"/>
            <p:nvPr/>
          </p:nvSpPr>
          <p:spPr>
            <a:xfrm>
              <a:off x="0" y="28575"/>
              <a:ext cx="758175" cy="549079"/>
            </a:xfrm>
            <a:prstGeom prst="rect">
              <a:avLst/>
            </a:prstGeom>
          </p:spPr>
          <p:txBody>
            <a:bodyPr anchor="ctr" rtlCol="false" tIns="50800" lIns="50800" bIns="50800" rIns="50800"/>
            <a:lstStyle/>
            <a:p>
              <a:pPr algn="ctr">
                <a:lnSpc>
                  <a:spcPts val="2080"/>
                </a:lnSpc>
              </a:pPr>
            </a:p>
          </p:txBody>
        </p:sp>
      </p:grpSp>
      <p:sp>
        <p:nvSpPr>
          <p:cNvPr name="Freeform 12" id="12"/>
          <p:cNvSpPr/>
          <p:nvPr/>
        </p:nvSpPr>
        <p:spPr>
          <a:xfrm flipH="false" flipV="false" rot="0">
            <a:off x="6269055" y="6798198"/>
            <a:ext cx="2878696" cy="597329"/>
          </a:xfrm>
          <a:custGeom>
            <a:avLst/>
            <a:gdLst/>
            <a:ahLst/>
            <a:cxnLst/>
            <a:rect r="r" b="b" t="t" l="l"/>
            <a:pathLst>
              <a:path h="597329" w="2878696">
                <a:moveTo>
                  <a:pt x="0" y="0"/>
                </a:moveTo>
                <a:lnTo>
                  <a:pt x="2878696" y="0"/>
                </a:lnTo>
                <a:lnTo>
                  <a:pt x="2878696" y="597329"/>
                </a:lnTo>
                <a:lnTo>
                  <a:pt x="0" y="597329"/>
                </a:lnTo>
                <a:lnTo>
                  <a:pt x="0" y="0"/>
                </a:lnTo>
                <a:close/>
              </a:path>
            </a:pathLst>
          </a:custGeom>
          <a:blipFill>
            <a:blip r:embed="rId2">
              <a:alphaModFix amt="40000"/>
            </a:blip>
            <a:stretch>
              <a:fillRect l="0" t="0" r="0" b="0"/>
            </a:stretch>
          </a:blipFill>
        </p:spPr>
      </p:sp>
      <p:sp>
        <p:nvSpPr>
          <p:cNvPr name="Freeform 13" id="13"/>
          <p:cNvSpPr/>
          <p:nvPr/>
        </p:nvSpPr>
        <p:spPr>
          <a:xfrm flipH="false" flipV="false" rot="0">
            <a:off x="9385876" y="6798198"/>
            <a:ext cx="2878696" cy="597329"/>
          </a:xfrm>
          <a:custGeom>
            <a:avLst/>
            <a:gdLst/>
            <a:ahLst/>
            <a:cxnLst/>
            <a:rect r="r" b="b" t="t" l="l"/>
            <a:pathLst>
              <a:path h="597329" w="2878696">
                <a:moveTo>
                  <a:pt x="0" y="0"/>
                </a:moveTo>
                <a:lnTo>
                  <a:pt x="2878696" y="0"/>
                </a:lnTo>
                <a:lnTo>
                  <a:pt x="2878696" y="597329"/>
                </a:lnTo>
                <a:lnTo>
                  <a:pt x="0" y="597329"/>
                </a:lnTo>
                <a:lnTo>
                  <a:pt x="0" y="0"/>
                </a:lnTo>
                <a:close/>
              </a:path>
            </a:pathLst>
          </a:custGeom>
          <a:blipFill>
            <a:blip r:embed="rId2">
              <a:alphaModFix amt="40000"/>
            </a:blip>
            <a:stretch>
              <a:fillRect l="0" t="0" r="0" b="0"/>
            </a:stretch>
          </a:blipFill>
        </p:spPr>
      </p:sp>
      <p:sp>
        <p:nvSpPr>
          <p:cNvPr name="Freeform 14" id="14"/>
          <p:cNvSpPr/>
          <p:nvPr/>
        </p:nvSpPr>
        <p:spPr>
          <a:xfrm flipH="false" flipV="false" rot="0">
            <a:off x="12502697" y="7219328"/>
            <a:ext cx="2878696" cy="597329"/>
          </a:xfrm>
          <a:custGeom>
            <a:avLst/>
            <a:gdLst/>
            <a:ahLst/>
            <a:cxnLst/>
            <a:rect r="r" b="b" t="t" l="l"/>
            <a:pathLst>
              <a:path h="597329" w="2878696">
                <a:moveTo>
                  <a:pt x="0" y="0"/>
                </a:moveTo>
                <a:lnTo>
                  <a:pt x="2878696" y="0"/>
                </a:lnTo>
                <a:lnTo>
                  <a:pt x="2878696" y="597330"/>
                </a:lnTo>
                <a:lnTo>
                  <a:pt x="0" y="597330"/>
                </a:lnTo>
                <a:lnTo>
                  <a:pt x="0" y="0"/>
                </a:lnTo>
                <a:close/>
              </a:path>
            </a:pathLst>
          </a:custGeom>
          <a:blipFill>
            <a:blip r:embed="rId2">
              <a:alphaModFix amt="40000"/>
            </a:blip>
            <a:stretch>
              <a:fillRect l="0" t="0" r="0" b="0"/>
            </a:stretch>
          </a:blipFill>
        </p:spPr>
      </p:sp>
      <p:grpSp>
        <p:nvGrpSpPr>
          <p:cNvPr name="Group 15" id="15"/>
          <p:cNvGrpSpPr/>
          <p:nvPr/>
        </p:nvGrpSpPr>
        <p:grpSpPr>
          <a:xfrm rot="0">
            <a:off x="6269055" y="4903582"/>
            <a:ext cx="2878696" cy="2193281"/>
            <a:chOff x="0" y="0"/>
            <a:chExt cx="758175" cy="577654"/>
          </a:xfrm>
        </p:grpSpPr>
        <p:sp>
          <p:nvSpPr>
            <p:cNvPr name="Freeform 16" id="16"/>
            <p:cNvSpPr/>
            <p:nvPr/>
          </p:nvSpPr>
          <p:spPr>
            <a:xfrm flipH="false" flipV="false" rot="0">
              <a:off x="0" y="0"/>
              <a:ext cx="758175" cy="577654"/>
            </a:xfrm>
            <a:custGeom>
              <a:avLst/>
              <a:gdLst/>
              <a:ahLst/>
              <a:cxnLst/>
              <a:rect r="r" b="b" t="t" l="l"/>
              <a:pathLst>
                <a:path h="577654" w="758175">
                  <a:moveTo>
                    <a:pt x="94128" y="0"/>
                  </a:moveTo>
                  <a:lnTo>
                    <a:pt x="664047" y="0"/>
                  </a:lnTo>
                  <a:cubicBezTo>
                    <a:pt x="689011" y="0"/>
                    <a:pt x="712953" y="9917"/>
                    <a:pt x="730606" y="27570"/>
                  </a:cubicBezTo>
                  <a:cubicBezTo>
                    <a:pt x="748258" y="45222"/>
                    <a:pt x="758175" y="69164"/>
                    <a:pt x="758175" y="94128"/>
                  </a:cubicBezTo>
                  <a:lnTo>
                    <a:pt x="758175" y="483526"/>
                  </a:lnTo>
                  <a:cubicBezTo>
                    <a:pt x="758175" y="535511"/>
                    <a:pt x="716032" y="577654"/>
                    <a:pt x="664047" y="577654"/>
                  </a:cubicBezTo>
                  <a:lnTo>
                    <a:pt x="94128" y="577654"/>
                  </a:lnTo>
                  <a:cubicBezTo>
                    <a:pt x="69164" y="577654"/>
                    <a:pt x="45222" y="567737"/>
                    <a:pt x="27570" y="550085"/>
                  </a:cubicBezTo>
                  <a:cubicBezTo>
                    <a:pt x="9917" y="532432"/>
                    <a:pt x="0" y="508490"/>
                    <a:pt x="0" y="483526"/>
                  </a:cubicBezTo>
                  <a:lnTo>
                    <a:pt x="0" y="94128"/>
                  </a:lnTo>
                  <a:cubicBezTo>
                    <a:pt x="0" y="69164"/>
                    <a:pt x="9917" y="45222"/>
                    <a:pt x="27570" y="27570"/>
                  </a:cubicBezTo>
                  <a:cubicBezTo>
                    <a:pt x="45222" y="9917"/>
                    <a:pt x="69164" y="0"/>
                    <a:pt x="94128" y="0"/>
                  </a:cubicBezTo>
                  <a:close/>
                </a:path>
              </a:pathLst>
            </a:custGeom>
            <a:solidFill>
              <a:srgbClr val="FCFEFF"/>
            </a:solidFill>
          </p:spPr>
        </p:sp>
        <p:sp>
          <p:nvSpPr>
            <p:cNvPr name="TextBox 17" id="17"/>
            <p:cNvSpPr txBox="true"/>
            <p:nvPr/>
          </p:nvSpPr>
          <p:spPr>
            <a:xfrm>
              <a:off x="0" y="28575"/>
              <a:ext cx="758175" cy="549079"/>
            </a:xfrm>
            <a:prstGeom prst="rect">
              <a:avLst/>
            </a:prstGeom>
          </p:spPr>
          <p:txBody>
            <a:bodyPr anchor="ctr" rtlCol="false" tIns="50800" lIns="50800" bIns="50800" rIns="50800"/>
            <a:lstStyle/>
            <a:p>
              <a:pPr algn="ctr">
                <a:lnSpc>
                  <a:spcPts val="2080"/>
                </a:lnSpc>
              </a:pPr>
            </a:p>
          </p:txBody>
        </p:sp>
      </p:grpSp>
      <p:grpSp>
        <p:nvGrpSpPr>
          <p:cNvPr name="Group 18" id="18"/>
          <p:cNvGrpSpPr/>
          <p:nvPr/>
        </p:nvGrpSpPr>
        <p:grpSpPr>
          <a:xfrm rot="0">
            <a:off x="9385876" y="4903582"/>
            <a:ext cx="2878696" cy="2491945"/>
            <a:chOff x="0" y="0"/>
            <a:chExt cx="758175" cy="656315"/>
          </a:xfrm>
        </p:grpSpPr>
        <p:sp>
          <p:nvSpPr>
            <p:cNvPr name="Freeform 19" id="19"/>
            <p:cNvSpPr/>
            <p:nvPr/>
          </p:nvSpPr>
          <p:spPr>
            <a:xfrm flipH="false" flipV="false" rot="0">
              <a:off x="0" y="0"/>
              <a:ext cx="758175" cy="656315"/>
            </a:xfrm>
            <a:custGeom>
              <a:avLst/>
              <a:gdLst/>
              <a:ahLst/>
              <a:cxnLst/>
              <a:rect r="r" b="b" t="t" l="l"/>
              <a:pathLst>
                <a:path h="656315" w="758175">
                  <a:moveTo>
                    <a:pt x="94128" y="0"/>
                  </a:moveTo>
                  <a:lnTo>
                    <a:pt x="664047" y="0"/>
                  </a:lnTo>
                  <a:cubicBezTo>
                    <a:pt x="689011" y="0"/>
                    <a:pt x="712953" y="9917"/>
                    <a:pt x="730606" y="27570"/>
                  </a:cubicBezTo>
                  <a:cubicBezTo>
                    <a:pt x="748258" y="45222"/>
                    <a:pt x="758175" y="69164"/>
                    <a:pt x="758175" y="94128"/>
                  </a:cubicBezTo>
                  <a:lnTo>
                    <a:pt x="758175" y="562186"/>
                  </a:lnTo>
                  <a:cubicBezTo>
                    <a:pt x="758175" y="614172"/>
                    <a:pt x="716032" y="656315"/>
                    <a:pt x="664047" y="656315"/>
                  </a:cubicBezTo>
                  <a:lnTo>
                    <a:pt x="94128" y="656315"/>
                  </a:lnTo>
                  <a:cubicBezTo>
                    <a:pt x="69164" y="656315"/>
                    <a:pt x="45222" y="646398"/>
                    <a:pt x="27570" y="628745"/>
                  </a:cubicBezTo>
                  <a:cubicBezTo>
                    <a:pt x="9917" y="611093"/>
                    <a:pt x="0" y="587151"/>
                    <a:pt x="0" y="562186"/>
                  </a:cubicBezTo>
                  <a:lnTo>
                    <a:pt x="0" y="94128"/>
                  </a:lnTo>
                  <a:cubicBezTo>
                    <a:pt x="0" y="69164"/>
                    <a:pt x="9917" y="45222"/>
                    <a:pt x="27570" y="27570"/>
                  </a:cubicBezTo>
                  <a:cubicBezTo>
                    <a:pt x="45222" y="9917"/>
                    <a:pt x="69164" y="0"/>
                    <a:pt x="94128" y="0"/>
                  </a:cubicBezTo>
                  <a:close/>
                </a:path>
              </a:pathLst>
            </a:custGeom>
            <a:solidFill>
              <a:srgbClr val="FCFEFF"/>
            </a:solidFill>
          </p:spPr>
        </p:sp>
        <p:sp>
          <p:nvSpPr>
            <p:cNvPr name="TextBox 20" id="20"/>
            <p:cNvSpPr txBox="true"/>
            <p:nvPr/>
          </p:nvSpPr>
          <p:spPr>
            <a:xfrm>
              <a:off x="0" y="28575"/>
              <a:ext cx="758175" cy="627740"/>
            </a:xfrm>
            <a:prstGeom prst="rect">
              <a:avLst/>
            </a:prstGeom>
          </p:spPr>
          <p:txBody>
            <a:bodyPr anchor="ctr" rtlCol="false" tIns="50800" lIns="50800" bIns="50800" rIns="50800"/>
            <a:lstStyle/>
            <a:p>
              <a:pPr algn="ctr">
                <a:lnSpc>
                  <a:spcPts val="2080"/>
                </a:lnSpc>
              </a:pPr>
            </a:p>
          </p:txBody>
        </p:sp>
      </p:grpSp>
      <p:grpSp>
        <p:nvGrpSpPr>
          <p:cNvPr name="Group 21" id="21"/>
          <p:cNvGrpSpPr/>
          <p:nvPr/>
        </p:nvGrpSpPr>
        <p:grpSpPr>
          <a:xfrm rot="0">
            <a:off x="12502697" y="5202247"/>
            <a:ext cx="2878696" cy="2193281"/>
            <a:chOff x="0" y="0"/>
            <a:chExt cx="758175" cy="577654"/>
          </a:xfrm>
        </p:grpSpPr>
        <p:sp>
          <p:nvSpPr>
            <p:cNvPr name="Freeform 22" id="22"/>
            <p:cNvSpPr/>
            <p:nvPr/>
          </p:nvSpPr>
          <p:spPr>
            <a:xfrm flipH="false" flipV="false" rot="0">
              <a:off x="0" y="0"/>
              <a:ext cx="758175" cy="577654"/>
            </a:xfrm>
            <a:custGeom>
              <a:avLst/>
              <a:gdLst/>
              <a:ahLst/>
              <a:cxnLst/>
              <a:rect r="r" b="b" t="t" l="l"/>
              <a:pathLst>
                <a:path h="577654" w="758175">
                  <a:moveTo>
                    <a:pt x="94128" y="0"/>
                  </a:moveTo>
                  <a:lnTo>
                    <a:pt x="664047" y="0"/>
                  </a:lnTo>
                  <a:cubicBezTo>
                    <a:pt x="689011" y="0"/>
                    <a:pt x="712953" y="9917"/>
                    <a:pt x="730606" y="27570"/>
                  </a:cubicBezTo>
                  <a:cubicBezTo>
                    <a:pt x="748258" y="45222"/>
                    <a:pt x="758175" y="69164"/>
                    <a:pt x="758175" y="94128"/>
                  </a:cubicBezTo>
                  <a:lnTo>
                    <a:pt x="758175" y="483526"/>
                  </a:lnTo>
                  <a:cubicBezTo>
                    <a:pt x="758175" y="535511"/>
                    <a:pt x="716032" y="577654"/>
                    <a:pt x="664047" y="577654"/>
                  </a:cubicBezTo>
                  <a:lnTo>
                    <a:pt x="94128" y="577654"/>
                  </a:lnTo>
                  <a:cubicBezTo>
                    <a:pt x="69164" y="577654"/>
                    <a:pt x="45222" y="567737"/>
                    <a:pt x="27570" y="550085"/>
                  </a:cubicBezTo>
                  <a:cubicBezTo>
                    <a:pt x="9917" y="532432"/>
                    <a:pt x="0" y="508490"/>
                    <a:pt x="0" y="483526"/>
                  </a:cubicBezTo>
                  <a:lnTo>
                    <a:pt x="0" y="94128"/>
                  </a:lnTo>
                  <a:cubicBezTo>
                    <a:pt x="0" y="69164"/>
                    <a:pt x="9917" y="45222"/>
                    <a:pt x="27570" y="27570"/>
                  </a:cubicBezTo>
                  <a:cubicBezTo>
                    <a:pt x="45222" y="9917"/>
                    <a:pt x="69164" y="0"/>
                    <a:pt x="94128" y="0"/>
                  </a:cubicBezTo>
                  <a:close/>
                </a:path>
              </a:pathLst>
            </a:custGeom>
            <a:solidFill>
              <a:srgbClr val="FCFEFF"/>
            </a:solidFill>
          </p:spPr>
        </p:sp>
        <p:sp>
          <p:nvSpPr>
            <p:cNvPr name="TextBox 23" id="23"/>
            <p:cNvSpPr txBox="true"/>
            <p:nvPr/>
          </p:nvSpPr>
          <p:spPr>
            <a:xfrm>
              <a:off x="0" y="28575"/>
              <a:ext cx="758175" cy="549079"/>
            </a:xfrm>
            <a:prstGeom prst="rect">
              <a:avLst/>
            </a:prstGeom>
          </p:spPr>
          <p:txBody>
            <a:bodyPr anchor="ctr" rtlCol="false" tIns="50800" lIns="50800" bIns="50800" rIns="50800"/>
            <a:lstStyle/>
            <a:p>
              <a:pPr algn="ctr">
                <a:lnSpc>
                  <a:spcPts val="2080"/>
                </a:lnSpc>
              </a:pPr>
            </a:p>
          </p:txBody>
        </p:sp>
      </p:grpSp>
      <p:sp>
        <p:nvSpPr>
          <p:cNvPr name="Freeform 24" id="24"/>
          <p:cNvSpPr/>
          <p:nvPr/>
        </p:nvSpPr>
        <p:spPr>
          <a:xfrm flipH="false" flipV="false" rot="0">
            <a:off x="107453" y="5273615"/>
            <a:ext cx="2878696" cy="729708"/>
          </a:xfrm>
          <a:custGeom>
            <a:avLst/>
            <a:gdLst/>
            <a:ahLst/>
            <a:cxnLst/>
            <a:rect r="r" b="b" t="t" l="l"/>
            <a:pathLst>
              <a:path h="729708" w="2878696">
                <a:moveTo>
                  <a:pt x="0" y="0"/>
                </a:moveTo>
                <a:lnTo>
                  <a:pt x="2878696" y="0"/>
                </a:lnTo>
                <a:lnTo>
                  <a:pt x="2878696" y="729709"/>
                </a:lnTo>
                <a:lnTo>
                  <a:pt x="0" y="729709"/>
                </a:lnTo>
                <a:lnTo>
                  <a:pt x="0" y="0"/>
                </a:lnTo>
                <a:close/>
              </a:path>
            </a:pathLst>
          </a:custGeom>
          <a:blipFill>
            <a:blip r:embed="rId3">
              <a:extLst>
                <a:ext uri="{96DAC541-7B7A-43D3-8B79-37D633B846F1}">
                  <asvg:svgBlip xmlns:asvg="http://schemas.microsoft.com/office/drawing/2016/SVG/main" r:embed="rId4"/>
                </a:ext>
              </a:extLst>
            </a:blip>
            <a:stretch>
              <a:fillRect l="0" t="0" r="-313854" b="0"/>
            </a:stretch>
          </a:blipFill>
        </p:spPr>
      </p:sp>
      <p:sp>
        <p:nvSpPr>
          <p:cNvPr name="Freeform 25" id="25"/>
          <p:cNvSpPr/>
          <p:nvPr/>
        </p:nvSpPr>
        <p:spPr>
          <a:xfrm flipH="false" flipV="false" rot="0">
            <a:off x="3157599" y="4837393"/>
            <a:ext cx="2878696" cy="729708"/>
          </a:xfrm>
          <a:custGeom>
            <a:avLst/>
            <a:gdLst/>
            <a:ahLst/>
            <a:cxnLst/>
            <a:rect r="r" b="b" t="t" l="l"/>
            <a:pathLst>
              <a:path h="729708" w="2878696">
                <a:moveTo>
                  <a:pt x="0" y="0"/>
                </a:moveTo>
                <a:lnTo>
                  <a:pt x="2878696" y="0"/>
                </a:lnTo>
                <a:lnTo>
                  <a:pt x="2878696" y="729708"/>
                </a:lnTo>
                <a:lnTo>
                  <a:pt x="0" y="729708"/>
                </a:lnTo>
                <a:lnTo>
                  <a:pt x="0" y="0"/>
                </a:lnTo>
                <a:close/>
              </a:path>
            </a:pathLst>
          </a:custGeom>
          <a:blipFill>
            <a:blip r:embed="rId5">
              <a:extLst>
                <a:ext uri="{96DAC541-7B7A-43D3-8B79-37D633B846F1}">
                  <asvg:svgBlip xmlns:asvg="http://schemas.microsoft.com/office/drawing/2016/SVG/main" r:embed="rId6"/>
                </a:ext>
              </a:extLst>
            </a:blip>
            <a:stretch>
              <a:fillRect l="0" t="0" r="-313854" b="0"/>
            </a:stretch>
          </a:blipFill>
        </p:spPr>
      </p:sp>
      <p:sp>
        <p:nvSpPr>
          <p:cNvPr name="Freeform 26" id="26"/>
          <p:cNvSpPr/>
          <p:nvPr/>
        </p:nvSpPr>
        <p:spPr>
          <a:xfrm flipH="false" flipV="false" rot="0">
            <a:off x="6269055" y="4538728"/>
            <a:ext cx="2878696" cy="729708"/>
          </a:xfrm>
          <a:custGeom>
            <a:avLst/>
            <a:gdLst/>
            <a:ahLst/>
            <a:cxnLst/>
            <a:rect r="r" b="b" t="t" l="l"/>
            <a:pathLst>
              <a:path h="729708" w="2878696">
                <a:moveTo>
                  <a:pt x="0" y="0"/>
                </a:moveTo>
                <a:lnTo>
                  <a:pt x="2878696" y="0"/>
                </a:lnTo>
                <a:lnTo>
                  <a:pt x="2878696" y="729708"/>
                </a:lnTo>
                <a:lnTo>
                  <a:pt x="0" y="729708"/>
                </a:lnTo>
                <a:lnTo>
                  <a:pt x="0" y="0"/>
                </a:lnTo>
                <a:close/>
              </a:path>
            </a:pathLst>
          </a:custGeom>
          <a:blipFill>
            <a:blip r:embed="rId7">
              <a:extLst>
                <a:ext uri="{96DAC541-7B7A-43D3-8B79-37D633B846F1}">
                  <asvg:svgBlip xmlns:asvg="http://schemas.microsoft.com/office/drawing/2016/SVG/main" r:embed="rId8"/>
                </a:ext>
              </a:extLst>
            </a:blip>
            <a:stretch>
              <a:fillRect l="0" t="0" r="-313854" b="0"/>
            </a:stretch>
          </a:blipFill>
        </p:spPr>
      </p:sp>
      <p:sp>
        <p:nvSpPr>
          <p:cNvPr name="Freeform 27" id="27"/>
          <p:cNvSpPr/>
          <p:nvPr/>
        </p:nvSpPr>
        <p:spPr>
          <a:xfrm flipH="false" flipV="false" rot="0">
            <a:off x="9385876" y="4538728"/>
            <a:ext cx="2878696" cy="729708"/>
          </a:xfrm>
          <a:custGeom>
            <a:avLst/>
            <a:gdLst/>
            <a:ahLst/>
            <a:cxnLst/>
            <a:rect r="r" b="b" t="t" l="l"/>
            <a:pathLst>
              <a:path h="729708" w="2878696">
                <a:moveTo>
                  <a:pt x="0" y="0"/>
                </a:moveTo>
                <a:lnTo>
                  <a:pt x="2878696" y="0"/>
                </a:lnTo>
                <a:lnTo>
                  <a:pt x="2878696" y="729708"/>
                </a:lnTo>
                <a:lnTo>
                  <a:pt x="0" y="729708"/>
                </a:lnTo>
                <a:lnTo>
                  <a:pt x="0" y="0"/>
                </a:lnTo>
                <a:close/>
              </a:path>
            </a:pathLst>
          </a:custGeom>
          <a:blipFill>
            <a:blip r:embed="rId9">
              <a:extLst>
                <a:ext uri="{96DAC541-7B7A-43D3-8B79-37D633B846F1}">
                  <asvg:svgBlip xmlns:asvg="http://schemas.microsoft.com/office/drawing/2016/SVG/main" r:embed="rId10"/>
                </a:ext>
              </a:extLst>
            </a:blip>
            <a:stretch>
              <a:fillRect l="0" t="0" r="-313854" b="0"/>
            </a:stretch>
          </a:blipFill>
        </p:spPr>
      </p:sp>
      <p:sp>
        <p:nvSpPr>
          <p:cNvPr name="Freeform 28" id="28"/>
          <p:cNvSpPr/>
          <p:nvPr/>
        </p:nvSpPr>
        <p:spPr>
          <a:xfrm flipH="false" flipV="false" rot="0">
            <a:off x="12502697" y="4837393"/>
            <a:ext cx="2878696" cy="729708"/>
          </a:xfrm>
          <a:custGeom>
            <a:avLst/>
            <a:gdLst/>
            <a:ahLst/>
            <a:cxnLst/>
            <a:rect r="r" b="b" t="t" l="l"/>
            <a:pathLst>
              <a:path h="729708" w="2878696">
                <a:moveTo>
                  <a:pt x="0" y="0"/>
                </a:moveTo>
                <a:lnTo>
                  <a:pt x="2878696" y="0"/>
                </a:lnTo>
                <a:lnTo>
                  <a:pt x="2878696" y="729708"/>
                </a:lnTo>
                <a:lnTo>
                  <a:pt x="0" y="729708"/>
                </a:lnTo>
                <a:lnTo>
                  <a:pt x="0" y="0"/>
                </a:lnTo>
                <a:close/>
              </a:path>
            </a:pathLst>
          </a:custGeom>
          <a:blipFill>
            <a:blip r:embed="rId11">
              <a:extLst>
                <a:ext uri="{96DAC541-7B7A-43D3-8B79-37D633B846F1}">
                  <asvg:svgBlip xmlns:asvg="http://schemas.microsoft.com/office/drawing/2016/SVG/main" r:embed="rId12"/>
                </a:ext>
              </a:extLst>
            </a:blip>
            <a:stretch>
              <a:fillRect l="0" t="0" r="-313854" b="0"/>
            </a:stretch>
          </a:blipFill>
        </p:spPr>
      </p:sp>
      <p:sp>
        <p:nvSpPr>
          <p:cNvPr name="Freeform 29" id="29"/>
          <p:cNvSpPr/>
          <p:nvPr/>
        </p:nvSpPr>
        <p:spPr>
          <a:xfrm flipH="false" flipV="false" rot="0">
            <a:off x="306058" y="5436471"/>
            <a:ext cx="353498" cy="403998"/>
          </a:xfrm>
          <a:custGeom>
            <a:avLst/>
            <a:gdLst/>
            <a:ahLst/>
            <a:cxnLst/>
            <a:rect r="r" b="b" t="t" l="l"/>
            <a:pathLst>
              <a:path h="403998" w="353498">
                <a:moveTo>
                  <a:pt x="0" y="0"/>
                </a:moveTo>
                <a:lnTo>
                  <a:pt x="353498" y="0"/>
                </a:lnTo>
                <a:lnTo>
                  <a:pt x="353498" y="403997"/>
                </a:lnTo>
                <a:lnTo>
                  <a:pt x="0" y="403997"/>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30" id="30"/>
          <p:cNvSpPr/>
          <p:nvPr/>
        </p:nvSpPr>
        <p:spPr>
          <a:xfrm flipH="false" flipV="false" rot="0">
            <a:off x="3336875" y="4990723"/>
            <a:ext cx="391878" cy="403998"/>
          </a:xfrm>
          <a:custGeom>
            <a:avLst/>
            <a:gdLst/>
            <a:ahLst/>
            <a:cxnLst/>
            <a:rect r="r" b="b" t="t" l="l"/>
            <a:pathLst>
              <a:path h="403998" w="391878">
                <a:moveTo>
                  <a:pt x="0" y="0"/>
                </a:moveTo>
                <a:lnTo>
                  <a:pt x="391877" y="0"/>
                </a:lnTo>
                <a:lnTo>
                  <a:pt x="391877" y="403998"/>
                </a:lnTo>
                <a:lnTo>
                  <a:pt x="0" y="403998"/>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31" id="31"/>
          <p:cNvSpPr/>
          <p:nvPr/>
        </p:nvSpPr>
        <p:spPr>
          <a:xfrm flipH="false" flipV="false" rot="0">
            <a:off x="6436211" y="4701583"/>
            <a:ext cx="403998" cy="403998"/>
          </a:xfrm>
          <a:custGeom>
            <a:avLst/>
            <a:gdLst/>
            <a:ahLst/>
            <a:cxnLst/>
            <a:rect r="r" b="b" t="t" l="l"/>
            <a:pathLst>
              <a:path h="403998" w="403998">
                <a:moveTo>
                  <a:pt x="0" y="0"/>
                </a:moveTo>
                <a:lnTo>
                  <a:pt x="403997" y="0"/>
                </a:lnTo>
                <a:lnTo>
                  <a:pt x="403997" y="403998"/>
                </a:lnTo>
                <a:lnTo>
                  <a:pt x="0" y="403998"/>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32" id="32"/>
          <p:cNvSpPr/>
          <p:nvPr/>
        </p:nvSpPr>
        <p:spPr>
          <a:xfrm flipH="false" flipV="false" rot="0">
            <a:off x="9541678" y="4701583"/>
            <a:ext cx="432299" cy="394473"/>
          </a:xfrm>
          <a:custGeom>
            <a:avLst/>
            <a:gdLst/>
            <a:ahLst/>
            <a:cxnLst/>
            <a:rect r="r" b="b" t="t" l="l"/>
            <a:pathLst>
              <a:path h="394473" w="432299">
                <a:moveTo>
                  <a:pt x="0" y="0"/>
                </a:moveTo>
                <a:lnTo>
                  <a:pt x="432299" y="0"/>
                </a:lnTo>
                <a:lnTo>
                  <a:pt x="432299" y="394473"/>
                </a:lnTo>
                <a:lnTo>
                  <a:pt x="0" y="394473"/>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Freeform 33" id="33"/>
          <p:cNvSpPr/>
          <p:nvPr/>
        </p:nvSpPr>
        <p:spPr>
          <a:xfrm flipH="false" flipV="false" rot="0">
            <a:off x="12681592" y="5000248"/>
            <a:ext cx="386323" cy="403998"/>
          </a:xfrm>
          <a:custGeom>
            <a:avLst/>
            <a:gdLst/>
            <a:ahLst/>
            <a:cxnLst/>
            <a:rect r="r" b="b" t="t" l="l"/>
            <a:pathLst>
              <a:path h="403998" w="386323">
                <a:moveTo>
                  <a:pt x="0" y="0"/>
                </a:moveTo>
                <a:lnTo>
                  <a:pt x="386323" y="0"/>
                </a:lnTo>
                <a:lnTo>
                  <a:pt x="386323" y="403998"/>
                </a:lnTo>
                <a:lnTo>
                  <a:pt x="0" y="403998"/>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sp>
        <p:nvSpPr>
          <p:cNvPr name="TextBox 34" id="34"/>
          <p:cNvSpPr txBox="true"/>
          <p:nvPr/>
        </p:nvSpPr>
        <p:spPr>
          <a:xfrm rot="0">
            <a:off x="1132717" y="5420289"/>
            <a:ext cx="1855511" cy="465069"/>
          </a:xfrm>
          <a:prstGeom prst="rect">
            <a:avLst/>
          </a:prstGeom>
        </p:spPr>
        <p:txBody>
          <a:bodyPr anchor="t" rtlCol="false" tIns="0" lIns="0" bIns="0" rIns="0">
            <a:spAutoFit/>
          </a:bodyPr>
          <a:lstStyle/>
          <a:p>
            <a:pPr algn="l">
              <a:lnSpc>
                <a:spcPts val="1872"/>
              </a:lnSpc>
            </a:pPr>
            <a:r>
              <a:rPr lang="en-US" sz="1800" b="true">
                <a:solidFill>
                  <a:srgbClr val="021E47"/>
                </a:solidFill>
                <a:latin typeface="Gotham Bold"/>
                <a:ea typeface="Gotham Bold"/>
                <a:cs typeface="Gotham Bold"/>
                <a:sym typeface="Gotham Bold"/>
              </a:rPr>
              <a:t>Data Requirements</a:t>
            </a:r>
          </a:p>
        </p:txBody>
      </p:sp>
      <p:sp>
        <p:nvSpPr>
          <p:cNvPr name="TextBox 35" id="35"/>
          <p:cNvSpPr txBox="true"/>
          <p:nvPr/>
        </p:nvSpPr>
        <p:spPr>
          <a:xfrm rot="0">
            <a:off x="4205002" y="4945138"/>
            <a:ext cx="1766697" cy="465069"/>
          </a:xfrm>
          <a:prstGeom prst="rect">
            <a:avLst/>
          </a:prstGeom>
        </p:spPr>
        <p:txBody>
          <a:bodyPr anchor="t" rtlCol="false" tIns="0" lIns="0" bIns="0" rIns="0">
            <a:spAutoFit/>
          </a:bodyPr>
          <a:lstStyle/>
          <a:p>
            <a:pPr algn="l">
              <a:lnSpc>
                <a:spcPts val="1872"/>
              </a:lnSpc>
            </a:pPr>
            <a:r>
              <a:rPr lang="en-US" sz="1800" b="true">
                <a:solidFill>
                  <a:srgbClr val="021E47"/>
                </a:solidFill>
                <a:latin typeface="Gotham Bold"/>
                <a:ea typeface="Gotham Bold"/>
                <a:cs typeface="Gotham Bold"/>
                <a:sym typeface="Gotham Bold"/>
              </a:rPr>
              <a:t>Hardware Requirements</a:t>
            </a:r>
          </a:p>
        </p:txBody>
      </p:sp>
      <p:sp>
        <p:nvSpPr>
          <p:cNvPr name="TextBox 36" id="36"/>
          <p:cNvSpPr txBox="true"/>
          <p:nvPr/>
        </p:nvSpPr>
        <p:spPr>
          <a:xfrm rot="0">
            <a:off x="3247171" y="6151156"/>
            <a:ext cx="2789124" cy="851530"/>
          </a:xfrm>
          <a:prstGeom prst="rect">
            <a:avLst/>
          </a:prstGeom>
        </p:spPr>
        <p:txBody>
          <a:bodyPr anchor="t" rtlCol="false" tIns="0" lIns="0" bIns="0" rIns="0">
            <a:spAutoFit/>
          </a:bodyPr>
          <a:lstStyle/>
          <a:p>
            <a:pPr algn="l" marL="345439" indent="-172720" lvl="1">
              <a:lnSpc>
                <a:spcPts val="1663"/>
              </a:lnSpc>
              <a:buFont typeface="Arial"/>
              <a:buChar char="•"/>
            </a:pPr>
            <a:r>
              <a:rPr lang="en-US" sz="1599">
                <a:solidFill>
                  <a:srgbClr val="021E47"/>
                </a:solidFill>
                <a:latin typeface="Gotham"/>
                <a:ea typeface="Gotham"/>
                <a:cs typeface="Gotham"/>
                <a:sym typeface="Gotham"/>
              </a:rPr>
              <a:t>Personal computer or laptop</a:t>
            </a:r>
          </a:p>
          <a:p>
            <a:pPr algn="l" marL="345439" indent="-172720" lvl="1">
              <a:lnSpc>
                <a:spcPts val="1663"/>
              </a:lnSpc>
              <a:buFont typeface="Arial"/>
              <a:buChar char="•"/>
            </a:pPr>
            <a:r>
              <a:rPr lang="en-US" sz="1599">
                <a:solidFill>
                  <a:srgbClr val="021E47"/>
                </a:solidFill>
                <a:latin typeface="Gotham"/>
                <a:ea typeface="Gotham"/>
                <a:cs typeface="Gotham"/>
                <a:sym typeface="Gotham"/>
              </a:rPr>
              <a:t>Mobile device for simulation visualization</a:t>
            </a:r>
          </a:p>
        </p:txBody>
      </p:sp>
      <p:sp>
        <p:nvSpPr>
          <p:cNvPr name="TextBox 37" id="37"/>
          <p:cNvSpPr txBox="true"/>
          <p:nvPr/>
        </p:nvSpPr>
        <p:spPr>
          <a:xfrm rot="0">
            <a:off x="6245845" y="5508634"/>
            <a:ext cx="2901906" cy="1689597"/>
          </a:xfrm>
          <a:prstGeom prst="rect">
            <a:avLst/>
          </a:prstGeom>
        </p:spPr>
        <p:txBody>
          <a:bodyPr anchor="t" rtlCol="false" tIns="0" lIns="0" bIns="0" rIns="0">
            <a:spAutoFit/>
          </a:bodyPr>
          <a:lstStyle/>
          <a:p>
            <a:pPr algn="l" marL="345439" indent="-172720" lvl="1">
              <a:lnSpc>
                <a:spcPts val="1663"/>
              </a:lnSpc>
              <a:buFont typeface="Arial"/>
              <a:buChar char="•"/>
            </a:pPr>
            <a:r>
              <a:rPr lang="en-US" sz="1599">
                <a:solidFill>
                  <a:srgbClr val="021E47"/>
                </a:solidFill>
                <a:latin typeface="Gotham"/>
                <a:ea typeface="Gotham"/>
                <a:cs typeface="Gotham"/>
                <a:sym typeface="Gotham"/>
              </a:rPr>
              <a:t>Programming Language: Python / Java</a:t>
            </a:r>
          </a:p>
          <a:p>
            <a:pPr algn="l" marL="345439" indent="-172720" lvl="1">
              <a:lnSpc>
                <a:spcPts val="1663"/>
              </a:lnSpc>
              <a:buFont typeface="Arial"/>
              <a:buChar char="•"/>
            </a:pPr>
            <a:r>
              <a:rPr lang="en-US" sz="1599">
                <a:solidFill>
                  <a:srgbClr val="021E47"/>
                </a:solidFill>
                <a:latin typeface="Gotham"/>
                <a:ea typeface="Gotham"/>
                <a:cs typeface="Gotham"/>
                <a:sym typeface="Gotham"/>
              </a:rPr>
              <a:t>Google Maps API or equivalent mapping tools</a:t>
            </a:r>
          </a:p>
          <a:p>
            <a:pPr algn="l" marL="345439" indent="-172720" lvl="1">
              <a:lnSpc>
                <a:spcPts val="1663"/>
              </a:lnSpc>
              <a:buFont typeface="Arial"/>
              <a:buChar char="•"/>
            </a:pPr>
            <a:r>
              <a:rPr lang="en-US" sz="1599">
                <a:solidFill>
                  <a:srgbClr val="021E47"/>
                </a:solidFill>
                <a:latin typeface="Gotham"/>
                <a:ea typeface="Gotham"/>
                <a:cs typeface="Gotham"/>
                <a:sym typeface="Gotham"/>
              </a:rPr>
              <a:t>Simulation and visualization libraries</a:t>
            </a:r>
          </a:p>
          <a:p>
            <a:pPr algn="l">
              <a:lnSpc>
                <a:spcPts val="1663"/>
              </a:lnSpc>
            </a:pPr>
          </a:p>
        </p:txBody>
      </p:sp>
      <p:sp>
        <p:nvSpPr>
          <p:cNvPr name="TextBox 38" id="38"/>
          <p:cNvSpPr txBox="true"/>
          <p:nvPr/>
        </p:nvSpPr>
        <p:spPr>
          <a:xfrm rot="0">
            <a:off x="7316458" y="4632049"/>
            <a:ext cx="2071497" cy="922137"/>
          </a:xfrm>
          <a:prstGeom prst="rect">
            <a:avLst/>
          </a:prstGeom>
        </p:spPr>
        <p:txBody>
          <a:bodyPr anchor="t" rtlCol="false" tIns="0" lIns="0" bIns="0" rIns="0">
            <a:spAutoFit/>
          </a:bodyPr>
          <a:lstStyle/>
          <a:p>
            <a:pPr algn="l">
              <a:lnSpc>
                <a:spcPts val="1872"/>
              </a:lnSpc>
            </a:pPr>
            <a:r>
              <a:rPr lang="en-US" sz="1800" b="true">
                <a:solidFill>
                  <a:srgbClr val="FCFEFF"/>
                </a:solidFill>
                <a:latin typeface="Gotham Bold"/>
                <a:ea typeface="Gotham Bold"/>
                <a:cs typeface="Gotham Bold"/>
                <a:sym typeface="Gotham Bold"/>
              </a:rPr>
              <a:t>Software Requirements</a:t>
            </a:r>
          </a:p>
          <a:p>
            <a:pPr algn="l">
              <a:lnSpc>
                <a:spcPts val="1872"/>
              </a:lnSpc>
            </a:pPr>
          </a:p>
          <a:p>
            <a:pPr algn="l">
              <a:lnSpc>
                <a:spcPts val="1872"/>
              </a:lnSpc>
            </a:pPr>
          </a:p>
        </p:txBody>
      </p:sp>
      <p:sp>
        <p:nvSpPr>
          <p:cNvPr name="TextBox 39" id="39"/>
          <p:cNvSpPr txBox="true"/>
          <p:nvPr/>
        </p:nvSpPr>
        <p:spPr>
          <a:xfrm rot="0">
            <a:off x="10390406" y="4675810"/>
            <a:ext cx="1764617" cy="465069"/>
          </a:xfrm>
          <a:prstGeom prst="rect">
            <a:avLst/>
          </a:prstGeom>
        </p:spPr>
        <p:txBody>
          <a:bodyPr anchor="t" rtlCol="false" tIns="0" lIns="0" bIns="0" rIns="0">
            <a:spAutoFit/>
          </a:bodyPr>
          <a:lstStyle/>
          <a:p>
            <a:pPr algn="l">
              <a:lnSpc>
                <a:spcPts val="1872"/>
              </a:lnSpc>
            </a:pPr>
            <a:r>
              <a:rPr lang="en-US" sz="1800" b="true">
                <a:solidFill>
                  <a:srgbClr val="FCFEFF"/>
                </a:solidFill>
                <a:latin typeface="Gotham Bold"/>
                <a:ea typeface="Gotham Bold"/>
                <a:cs typeface="Gotham Bold"/>
                <a:sym typeface="Gotham Bold"/>
              </a:rPr>
              <a:t>Functional Requirements</a:t>
            </a:r>
          </a:p>
        </p:txBody>
      </p:sp>
      <p:sp>
        <p:nvSpPr>
          <p:cNvPr name="TextBox 40" id="40"/>
          <p:cNvSpPr txBox="true"/>
          <p:nvPr/>
        </p:nvSpPr>
        <p:spPr>
          <a:xfrm rot="0">
            <a:off x="13487015" y="4869733"/>
            <a:ext cx="1764617" cy="693603"/>
          </a:xfrm>
          <a:prstGeom prst="rect">
            <a:avLst/>
          </a:prstGeom>
        </p:spPr>
        <p:txBody>
          <a:bodyPr anchor="t" rtlCol="false" tIns="0" lIns="0" bIns="0" rIns="0">
            <a:spAutoFit/>
          </a:bodyPr>
          <a:lstStyle/>
          <a:p>
            <a:pPr algn="l">
              <a:lnSpc>
                <a:spcPts val="1872"/>
              </a:lnSpc>
            </a:pPr>
            <a:r>
              <a:rPr lang="en-US" sz="1800" b="true">
                <a:solidFill>
                  <a:srgbClr val="021E47"/>
                </a:solidFill>
                <a:latin typeface="Gotham Bold"/>
                <a:ea typeface="Gotham Bold"/>
                <a:cs typeface="Gotham Bold"/>
                <a:sym typeface="Gotham Bold"/>
              </a:rPr>
              <a:t>Non-Functional Requirements</a:t>
            </a:r>
          </a:p>
        </p:txBody>
      </p:sp>
      <p:sp>
        <p:nvSpPr>
          <p:cNvPr name="TextBox 41" id="41"/>
          <p:cNvSpPr txBox="true"/>
          <p:nvPr/>
        </p:nvSpPr>
        <p:spPr>
          <a:xfrm rot="0">
            <a:off x="9319201" y="5441190"/>
            <a:ext cx="2903986" cy="1899114"/>
          </a:xfrm>
          <a:prstGeom prst="rect">
            <a:avLst/>
          </a:prstGeom>
        </p:spPr>
        <p:txBody>
          <a:bodyPr anchor="t" rtlCol="false" tIns="0" lIns="0" bIns="0" rIns="0">
            <a:spAutoFit/>
          </a:bodyPr>
          <a:lstStyle/>
          <a:p>
            <a:pPr algn="l" marL="345439" indent="-172720" lvl="1">
              <a:lnSpc>
                <a:spcPts val="1663"/>
              </a:lnSpc>
              <a:buFont typeface="Arial"/>
              <a:buChar char="•"/>
            </a:pPr>
            <a:r>
              <a:rPr lang="en-US" sz="1599">
                <a:solidFill>
                  <a:srgbClr val="021E47"/>
                </a:solidFill>
                <a:latin typeface="Gotham"/>
                <a:ea typeface="Gotham"/>
                <a:cs typeface="Gotham"/>
                <a:sym typeface="Gotham"/>
              </a:rPr>
              <a:t>Autonomous coverage path planning</a:t>
            </a:r>
          </a:p>
          <a:p>
            <a:pPr algn="l" marL="345439" indent="-172720" lvl="1">
              <a:lnSpc>
                <a:spcPts val="1663"/>
              </a:lnSpc>
              <a:buFont typeface="Arial"/>
              <a:buChar char="•"/>
            </a:pPr>
            <a:r>
              <a:rPr lang="en-US" sz="1599">
                <a:solidFill>
                  <a:srgbClr val="021E47"/>
                </a:solidFill>
                <a:latin typeface="Gotham"/>
                <a:ea typeface="Gotham"/>
                <a:cs typeface="Gotham"/>
                <a:sym typeface="Gotham"/>
              </a:rPr>
              <a:t>Dynamic obstacle and threat avoidance</a:t>
            </a:r>
          </a:p>
          <a:p>
            <a:pPr algn="l" marL="345439" indent="-172720" lvl="1">
              <a:lnSpc>
                <a:spcPts val="1663"/>
              </a:lnSpc>
              <a:buFont typeface="Arial"/>
              <a:buChar char="•"/>
            </a:pPr>
            <a:r>
              <a:rPr lang="en-US" sz="1599">
                <a:solidFill>
                  <a:srgbClr val="021E47"/>
                </a:solidFill>
                <a:latin typeface="Gotham"/>
                <a:ea typeface="Gotham"/>
                <a:cs typeface="Gotham"/>
                <a:sym typeface="Gotham"/>
              </a:rPr>
              <a:t>Battery monitoring and safe return mechanism</a:t>
            </a:r>
          </a:p>
          <a:p>
            <a:pPr algn="l" marL="345439" indent="-172720" lvl="1">
              <a:lnSpc>
                <a:spcPts val="1663"/>
              </a:lnSpc>
              <a:buFont typeface="Arial"/>
              <a:buChar char="•"/>
            </a:pPr>
            <a:r>
              <a:rPr lang="en-US" sz="1599">
                <a:solidFill>
                  <a:srgbClr val="021E47"/>
                </a:solidFill>
                <a:latin typeface="Gotham"/>
                <a:ea typeface="Gotham"/>
                <a:cs typeface="Gotham"/>
                <a:sym typeface="Gotham"/>
              </a:rPr>
              <a:t>Real-time visualization of drone movement and telemetry</a:t>
            </a:r>
          </a:p>
        </p:txBody>
      </p:sp>
      <p:sp>
        <p:nvSpPr>
          <p:cNvPr name="TextBox 42" id="42"/>
          <p:cNvSpPr txBox="true"/>
          <p:nvPr/>
        </p:nvSpPr>
        <p:spPr>
          <a:xfrm rot="0">
            <a:off x="12693197" y="5722666"/>
            <a:ext cx="2187283" cy="1480081"/>
          </a:xfrm>
          <a:prstGeom prst="rect">
            <a:avLst/>
          </a:prstGeom>
        </p:spPr>
        <p:txBody>
          <a:bodyPr anchor="t" rtlCol="false" tIns="0" lIns="0" bIns="0" rIns="0">
            <a:spAutoFit/>
          </a:bodyPr>
          <a:lstStyle/>
          <a:p>
            <a:pPr algn="l" marL="345439" indent="-172720" lvl="1">
              <a:lnSpc>
                <a:spcPts val="1663"/>
              </a:lnSpc>
              <a:buFont typeface="Arial"/>
              <a:buChar char="•"/>
            </a:pPr>
            <a:r>
              <a:rPr lang="en-US" sz="1599">
                <a:solidFill>
                  <a:srgbClr val="021E47"/>
                </a:solidFill>
                <a:latin typeface="Gotham"/>
                <a:ea typeface="Gotham"/>
                <a:cs typeface="Gotham"/>
                <a:sym typeface="Gotham"/>
              </a:rPr>
              <a:t>Energy efficiency</a:t>
            </a:r>
          </a:p>
          <a:p>
            <a:pPr algn="l" marL="345439" indent="-172720" lvl="1">
              <a:lnSpc>
                <a:spcPts val="1663"/>
              </a:lnSpc>
              <a:buFont typeface="Arial"/>
              <a:buChar char="•"/>
            </a:pPr>
            <a:r>
              <a:rPr lang="en-US" sz="1599">
                <a:solidFill>
                  <a:srgbClr val="021E47"/>
                </a:solidFill>
                <a:latin typeface="Gotham"/>
                <a:ea typeface="Gotham"/>
                <a:cs typeface="Gotham"/>
                <a:sym typeface="Gotham"/>
              </a:rPr>
              <a:t>High reliability and safety</a:t>
            </a:r>
          </a:p>
          <a:p>
            <a:pPr algn="l" marL="345439" indent="-172720" lvl="1">
              <a:lnSpc>
                <a:spcPts val="1663"/>
              </a:lnSpc>
              <a:buFont typeface="Arial"/>
              <a:buChar char="•"/>
            </a:pPr>
            <a:r>
              <a:rPr lang="en-US" sz="1599">
                <a:solidFill>
                  <a:srgbClr val="021E47"/>
                </a:solidFill>
                <a:latin typeface="Gotham"/>
                <a:ea typeface="Gotham"/>
                <a:cs typeface="Gotham"/>
                <a:sym typeface="Gotham"/>
              </a:rPr>
              <a:t>Scalability and flexibility</a:t>
            </a:r>
          </a:p>
          <a:p>
            <a:pPr algn="l" marL="345439" indent="-172720" lvl="1">
              <a:lnSpc>
                <a:spcPts val="1663"/>
              </a:lnSpc>
              <a:buFont typeface="Arial"/>
              <a:buChar char="•"/>
            </a:pPr>
            <a:r>
              <a:rPr lang="en-US" sz="1599">
                <a:solidFill>
                  <a:srgbClr val="021E47"/>
                </a:solidFill>
                <a:latin typeface="Gotham"/>
                <a:ea typeface="Gotham"/>
                <a:cs typeface="Gotham"/>
                <a:sym typeface="Gotham"/>
              </a:rPr>
              <a:t>Real-time performance</a:t>
            </a:r>
          </a:p>
        </p:txBody>
      </p:sp>
      <p:sp>
        <p:nvSpPr>
          <p:cNvPr name="Freeform 43" id="43"/>
          <p:cNvSpPr/>
          <p:nvPr/>
        </p:nvSpPr>
        <p:spPr>
          <a:xfrm flipH="false" flipV="false" rot="2700000">
            <a:off x="4934241" y="9037043"/>
            <a:ext cx="5205423" cy="5205423"/>
          </a:xfrm>
          <a:custGeom>
            <a:avLst/>
            <a:gdLst/>
            <a:ahLst/>
            <a:cxnLst/>
            <a:rect r="r" b="b" t="t" l="l"/>
            <a:pathLst>
              <a:path h="5205423" w="5205423">
                <a:moveTo>
                  <a:pt x="0" y="0"/>
                </a:moveTo>
                <a:lnTo>
                  <a:pt x="5205423" y="0"/>
                </a:lnTo>
                <a:lnTo>
                  <a:pt x="5205423" y="5205423"/>
                </a:lnTo>
                <a:lnTo>
                  <a:pt x="0" y="5205423"/>
                </a:lnTo>
                <a:lnTo>
                  <a:pt x="0" y="0"/>
                </a:lnTo>
                <a:close/>
              </a:path>
            </a:pathLst>
          </a:custGeom>
          <a:blipFill>
            <a:blip r:embed="rId23">
              <a:alphaModFix amt="13000"/>
              <a:extLst>
                <a:ext uri="{96DAC541-7B7A-43D3-8B79-37D633B846F1}">
                  <asvg:svgBlip xmlns:asvg="http://schemas.microsoft.com/office/drawing/2016/SVG/main" r:embed="rId24"/>
                </a:ext>
              </a:extLst>
            </a:blip>
            <a:stretch>
              <a:fillRect l="0" t="0" r="0" b="0"/>
            </a:stretch>
          </a:blipFill>
        </p:spPr>
      </p:sp>
      <p:sp>
        <p:nvSpPr>
          <p:cNvPr name="Freeform 44" id="44"/>
          <p:cNvSpPr/>
          <p:nvPr/>
        </p:nvSpPr>
        <p:spPr>
          <a:xfrm flipH="false" flipV="false" rot="0">
            <a:off x="15509378" y="7749054"/>
            <a:ext cx="2878696" cy="597329"/>
          </a:xfrm>
          <a:custGeom>
            <a:avLst/>
            <a:gdLst/>
            <a:ahLst/>
            <a:cxnLst/>
            <a:rect r="r" b="b" t="t" l="l"/>
            <a:pathLst>
              <a:path h="597329" w="2878696">
                <a:moveTo>
                  <a:pt x="0" y="0"/>
                </a:moveTo>
                <a:lnTo>
                  <a:pt x="2878696" y="0"/>
                </a:lnTo>
                <a:lnTo>
                  <a:pt x="2878696" y="597329"/>
                </a:lnTo>
                <a:lnTo>
                  <a:pt x="0" y="597329"/>
                </a:lnTo>
                <a:lnTo>
                  <a:pt x="0" y="0"/>
                </a:lnTo>
                <a:close/>
              </a:path>
            </a:pathLst>
          </a:custGeom>
          <a:blipFill>
            <a:blip r:embed="rId2">
              <a:alphaModFix amt="40000"/>
            </a:blip>
            <a:stretch>
              <a:fillRect l="0" t="0" r="0" b="0"/>
            </a:stretch>
          </a:blipFill>
        </p:spPr>
      </p:sp>
      <p:grpSp>
        <p:nvGrpSpPr>
          <p:cNvPr name="Group 45" id="45"/>
          <p:cNvGrpSpPr/>
          <p:nvPr/>
        </p:nvGrpSpPr>
        <p:grpSpPr>
          <a:xfrm rot="0">
            <a:off x="15509378" y="5854438"/>
            <a:ext cx="2878696" cy="2193281"/>
            <a:chOff x="0" y="0"/>
            <a:chExt cx="758175" cy="577654"/>
          </a:xfrm>
        </p:grpSpPr>
        <p:sp>
          <p:nvSpPr>
            <p:cNvPr name="Freeform 46" id="46"/>
            <p:cNvSpPr/>
            <p:nvPr/>
          </p:nvSpPr>
          <p:spPr>
            <a:xfrm flipH="false" flipV="false" rot="0">
              <a:off x="0" y="0"/>
              <a:ext cx="758175" cy="577654"/>
            </a:xfrm>
            <a:custGeom>
              <a:avLst/>
              <a:gdLst/>
              <a:ahLst/>
              <a:cxnLst/>
              <a:rect r="r" b="b" t="t" l="l"/>
              <a:pathLst>
                <a:path h="577654" w="758175">
                  <a:moveTo>
                    <a:pt x="94128" y="0"/>
                  </a:moveTo>
                  <a:lnTo>
                    <a:pt x="664047" y="0"/>
                  </a:lnTo>
                  <a:cubicBezTo>
                    <a:pt x="689011" y="0"/>
                    <a:pt x="712953" y="9917"/>
                    <a:pt x="730606" y="27570"/>
                  </a:cubicBezTo>
                  <a:cubicBezTo>
                    <a:pt x="748258" y="45222"/>
                    <a:pt x="758175" y="69164"/>
                    <a:pt x="758175" y="94128"/>
                  </a:cubicBezTo>
                  <a:lnTo>
                    <a:pt x="758175" y="483526"/>
                  </a:lnTo>
                  <a:cubicBezTo>
                    <a:pt x="758175" y="535511"/>
                    <a:pt x="716032" y="577654"/>
                    <a:pt x="664047" y="577654"/>
                  </a:cubicBezTo>
                  <a:lnTo>
                    <a:pt x="94128" y="577654"/>
                  </a:lnTo>
                  <a:cubicBezTo>
                    <a:pt x="69164" y="577654"/>
                    <a:pt x="45222" y="567737"/>
                    <a:pt x="27570" y="550085"/>
                  </a:cubicBezTo>
                  <a:cubicBezTo>
                    <a:pt x="9917" y="532432"/>
                    <a:pt x="0" y="508490"/>
                    <a:pt x="0" y="483526"/>
                  </a:cubicBezTo>
                  <a:lnTo>
                    <a:pt x="0" y="94128"/>
                  </a:lnTo>
                  <a:cubicBezTo>
                    <a:pt x="0" y="69164"/>
                    <a:pt x="9917" y="45222"/>
                    <a:pt x="27570" y="27570"/>
                  </a:cubicBezTo>
                  <a:cubicBezTo>
                    <a:pt x="45222" y="9917"/>
                    <a:pt x="69164" y="0"/>
                    <a:pt x="94128" y="0"/>
                  </a:cubicBezTo>
                  <a:close/>
                </a:path>
              </a:pathLst>
            </a:custGeom>
            <a:solidFill>
              <a:srgbClr val="FCFEFF"/>
            </a:solidFill>
          </p:spPr>
        </p:sp>
        <p:sp>
          <p:nvSpPr>
            <p:cNvPr name="TextBox 47" id="47"/>
            <p:cNvSpPr txBox="true"/>
            <p:nvPr/>
          </p:nvSpPr>
          <p:spPr>
            <a:xfrm>
              <a:off x="0" y="28575"/>
              <a:ext cx="758175" cy="549079"/>
            </a:xfrm>
            <a:prstGeom prst="rect">
              <a:avLst/>
            </a:prstGeom>
          </p:spPr>
          <p:txBody>
            <a:bodyPr anchor="ctr" rtlCol="false" tIns="50800" lIns="50800" bIns="50800" rIns="50800"/>
            <a:lstStyle/>
            <a:p>
              <a:pPr algn="ctr">
                <a:lnSpc>
                  <a:spcPts val="2080"/>
                </a:lnSpc>
              </a:pPr>
            </a:p>
          </p:txBody>
        </p:sp>
      </p:grpSp>
      <p:sp>
        <p:nvSpPr>
          <p:cNvPr name="Freeform 48" id="48"/>
          <p:cNvSpPr/>
          <p:nvPr/>
        </p:nvSpPr>
        <p:spPr>
          <a:xfrm flipH="false" flipV="false" rot="0">
            <a:off x="15509378" y="5489584"/>
            <a:ext cx="2878696" cy="729708"/>
          </a:xfrm>
          <a:custGeom>
            <a:avLst/>
            <a:gdLst/>
            <a:ahLst/>
            <a:cxnLst/>
            <a:rect r="r" b="b" t="t" l="l"/>
            <a:pathLst>
              <a:path h="729708" w="2878696">
                <a:moveTo>
                  <a:pt x="0" y="0"/>
                </a:moveTo>
                <a:lnTo>
                  <a:pt x="2878696" y="0"/>
                </a:lnTo>
                <a:lnTo>
                  <a:pt x="2878696" y="729708"/>
                </a:lnTo>
                <a:lnTo>
                  <a:pt x="0" y="729708"/>
                </a:lnTo>
                <a:lnTo>
                  <a:pt x="0" y="0"/>
                </a:lnTo>
                <a:close/>
              </a:path>
            </a:pathLst>
          </a:custGeom>
          <a:blipFill>
            <a:blip r:embed="rId7">
              <a:extLst>
                <a:ext uri="{96DAC541-7B7A-43D3-8B79-37D633B846F1}">
                  <asvg:svgBlip xmlns:asvg="http://schemas.microsoft.com/office/drawing/2016/SVG/main" r:embed="rId8"/>
                </a:ext>
              </a:extLst>
            </a:blip>
            <a:stretch>
              <a:fillRect l="0" t="0" r="-313854" b="0"/>
            </a:stretch>
          </a:blipFill>
        </p:spPr>
      </p:sp>
      <p:sp>
        <p:nvSpPr>
          <p:cNvPr name="Freeform 49" id="49"/>
          <p:cNvSpPr/>
          <p:nvPr/>
        </p:nvSpPr>
        <p:spPr>
          <a:xfrm flipH="false" flipV="false" rot="0">
            <a:off x="15676534" y="5652439"/>
            <a:ext cx="403998" cy="403998"/>
          </a:xfrm>
          <a:custGeom>
            <a:avLst/>
            <a:gdLst/>
            <a:ahLst/>
            <a:cxnLst/>
            <a:rect r="r" b="b" t="t" l="l"/>
            <a:pathLst>
              <a:path h="403998" w="403998">
                <a:moveTo>
                  <a:pt x="0" y="0"/>
                </a:moveTo>
                <a:lnTo>
                  <a:pt x="403997" y="0"/>
                </a:lnTo>
                <a:lnTo>
                  <a:pt x="403997" y="403998"/>
                </a:lnTo>
                <a:lnTo>
                  <a:pt x="0" y="403998"/>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TextBox 50" id="50"/>
          <p:cNvSpPr txBox="true"/>
          <p:nvPr/>
        </p:nvSpPr>
        <p:spPr>
          <a:xfrm rot="0">
            <a:off x="15486168" y="6459490"/>
            <a:ext cx="2901906" cy="1689597"/>
          </a:xfrm>
          <a:prstGeom prst="rect">
            <a:avLst/>
          </a:prstGeom>
        </p:spPr>
        <p:txBody>
          <a:bodyPr anchor="t" rtlCol="false" tIns="0" lIns="0" bIns="0" rIns="0">
            <a:spAutoFit/>
          </a:bodyPr>
          <a:lstStyle/>
          <a:p>
            <a:pPr algn="l" marL="345439" indent="-172720" lvl="1">
              <a:lnSpc>
                <a:spcPts val="1663"/>
              </a:lnSpc>
              <a:buFont typeface="Arial"/>
              <a:buChar char="•"/>
            </a:pPr>
            <a:r>
              <a:rPr lang="en-US" sz="1599">
                <a:solidFill>
                  <a:srgbClr val="021E47"/>
                </a:solidFill>
                <a:latin typeface="Gotham"/>
                <a:ea typeface="Gotham"/>
                <a:cs typeface="Gotham"/>
                <a:sym typeface="Gotham"/>
              </a:rPr>
              <a:t>Programming Language: Python / Java</a:t>
            </a:r>
          </a:p>
          <a:p>
            <a:pPr algn="l" marL="345439" indent="-172720" lvl="1">
              <a:lnSpc>
                <a:spcPts val="1663"/>
              </a:lnSpc>
              <a:buFont typeface="Arial"/>
              <a:buChar char="•"/>
            </a:pPr>
            <a:r>
              <a:rPr lang="en-US" sz="1599">
                <a:solidFill>
                  <a:srgbClr val="021E47"/>
                </a:solidFill>
                <a:latin typeface="Gotham"/>
                <a:ea typeface="Gotham"/>
                <a:cs typeface="Gotham"/>
                <a:sym typeface="Gotham"/>
              </a:rPr>
              <a:t>Google Maps API or equivalent mapping tools</a:t>
            </a:r>
          </a:p>
          <a:p>
            <a:pPr algn="l" marL="345439" indent="-172720" lvl="1">
              <a:lnSpc>
                <a:spcPts val="1663"/>
              </a:lnSpc>
              <a:buFont typeface="Arial"/>
              <a:buChar char="•"/>
            </a:pPr>
            <a:r>
              <a:rPr lang="en-US" sz="1599">
                <a:solidFill>
                  <a:srgbClr val="021E47"/>
                </a:solidFill>
                <a:latin typeface="Gotham"/>
                <a:ea typeface="Gotham"/>
                <a:cs typeface="Gotham"/>
                <a:sym typeface="Gotham"/>
              </a:rPr>
              <a:t>Simulation and visualization libraries</a:t>
            </a:r>
          </a:p>
          <a:p>
            <a:pPr algn="l">
              <a:lnSpc>
                <a:spcPts val="1663"/>
              </a:lnSpc>
            </a:pPr>
          </a:p>
        </p:txBody>
      </p:sp>
      <p:sp>
        <p:nvSpPr>
          <p:cNvPr name="TextBox 51" id="51"/>
          <p:cNvSpPr txBox="true"/>
          <p:nvPr/>
        </p:nvSpPr>
        <p:spPr>
          <a:xfrm rot="0">
            <a:off x="16556781" y="5582905"/>
            <a:ext cx="2071497" cy="922137"/>
          </a:xfrm>
          <a:prstGeom prst="rect">
            <a:avLst/>
          </a:prstGeom>
        </p:spPr>
        <p:txBody>
          <a:bodyPr anchor="t" rtlCol="false" tIns="0" lIns="0" bIns="0" rIns="0">
            <a:spAutoFit/>
          </a:bodyPr>
          <a:lstStyle/>
          <a:p>
            <a:pPr algn="l">
              <a:lnSpc>
                <a:spcPts val="1872"/>
              </a:lnSpc>
            </a:pPr>
            <a:r>
              <a:rPr lang="en-US" sz="1800" b="true">
                <a:solidFill>
                  <a:srgbClr val="FCFEFF"/>
                </a:solidFill>
                <a:latin typeface="Gotham Bold"/>
                <a:ea typeface="Gotham Bold"/>
                <a:cs typeface="Gotham Bold"/>
                <a:sym typeface="Gotham Bold"/>
              </a:rPr>
              <a:t>Software Requirements</a:t>
            </a:r>
          </a:p>
          <a:p>
            <a:pPr algn="l">
              <a:lnSpc>
                <a:spcPts val="1872"/>
              </a:lnSpc>
            </a:pPr>
          </a:p>
          <a:p>
            <a:pPr algn="l">
              <a:lnSpc>
                <a:spcPts val="1872"/>
              </a:lnSpc>
            </a:pPr>
          </a:p>
        </p:txBody>
      </p:sp>
      <p:sp>
        <p:nvSpPr>
          <p:cNvPr name="TextBox 52" id="52"/>
          <p:cNvSpPr txBox="true"/>
          <p:nvPr/>
        </p:nvSpPr>
        <p:spPr>
          <a:xfrm rot="0">
            <a:off x="152239" y="6400272"/>
            <a:ext cx="2789124" cy="1061047"/>
          </a:xfrm>
          <a:prstGeom prst="rect">
            <a:avLst/>
          </a:prstGeom>
        </p:spPr>
        <p:txBody>
          <a:bodyPr anchor="t" rtlCol="false" tIns="0" lIns="0" bIns="0" rIns="0">
            <a:spAutoFit/>
          </a:bodyPr>
          <a:lstStyle/>
          <a:p>
            <a:pPr algn="l" marL="345439" indent="-172720" lvl="1">
              <a:lnSpc>
                <a:spcPts val="1663"/>
              </a:lnSpc>
              <a:buFont typeface="Arial"/>
              <a:buChar char="•"/>
            </a:pPr>
            <a:r>
              <a:rPr lang="en-US" sz="1599">
                <a:solidFill>
                  <a:srgbClr val="021E47"/>
                </a:solidFill>
                <a:latin typeface="Gotham"/>
                <a:ea typeface="Gotham"/>
                <a:cs typeface="Gotham"/>
                <a:sym typeface="Gotham"/>
              </a:rPr>
              <a:t>Simulated border maps</a:t>
            </a:r>
          </a:p>
          <a:p>
            <a:pPr algn="l" marL="345439" indent="-172720" lvl="1">
              <a:lnSpc>
                <a:spcPts val="1663"/>
              </a:lnSpc>
              <a:buFont typeface="Arial"/>
              <a:buChar char="•"/>
            </a:pPr>
            <a:r>
              <a:rPr lang="en-US" sz="1599">
                <a:solidFill>
                  <a:srgbClr val="021E47"/>
                </a:solidFill>
                <a:latin typeface="Gotham"/>
                <a:ea typeface="Gotham"/>
                <a:cs typeface="Gotham"/>
                <a:sym typeface="Gotham"/>
              </a:rPr>
              <a:t>Obstacle and no-fly zone data</a:t>
            </a:r>
          </a:p>
          <a:p>
            <a:pPr algn="l" marL="345439" indent="-172720" lvl="1">
              <a:lnSpc>
                <a:spcPts val="1663"/>
              </a:lnSpc>
              <a:buFont typeface="Arial"/>
              <a:buChar char="•"/>
            </a:pPr>
            <a:r>
              <a:rPr lang="en-US" sz="1599">
                <a:solidFill>
                  <a:srgbClr val="021E47"/>
                </a:solidFill>
                <a:latin typeface="Gotham"/>
                <a:ea typeface="Gotham"/>
                <a:cs typeface="Gotham"/>
                <a:sym typeface="Gotham"/>
              </a:rPr>
              <a:t>Battery consumption parameters</a:t>
            </a:r>
          </a:p>
        </p:txBody>
      </p:sp>
      <p:sp>
        <p:nvSpPr>
          <p:cNvPr name="Freeform 53" id="53"/>
          <p:cNvSpPr/>
          <p:nvPr/>
        </p:nvSpPr>
        <p:spPr>
          <a:xfrm flipH="false" flipV="false" rot="0">
            <a:off x="14358712" y="0"/>
            <a:ext cx="3929288" cy="1951633"/>
          </a:xfrm>
          <a:custGeom>
            <a:avLst/>
            <a:gdLst/>
            <a:ahLst/>
            <a:cxnLst/>
            <a:rect r="r" b="b" t="t" l="l"/>
            <a:pathLst>
              <a:path h="1951633" w="3929288">
                <a:moveTo>
                  <a:pt x="0" y="0"/>
                </a:moveTo>
                <a:lnTo>
                  <a:pt x="3929288" y="0"/>
                </a:lnTo>
                <a:lnTo>
                  <a:pt x="3929288" y="1951633"/>
                </a:lnTo>
                <a:lnTo>
                  <a:pt x="0" y="1951633"/>
                </a:lnTo>
                <a:lnTo>
                  <a:pt x="0" y="0"/>
                </a:lnTo>
                <a:close/>
              </a:path>
            </a:pathLst>
          </a:custGeom>
          <a:blipFill>
            <a:blip r:embed="rId25"/>
            <a:stretch>
              <a:fillRect l="0" t="0" r="0" b="0"/>
            </a:stretch>
          </a:blipFill>
        </p:spPr>
      </p:sp>
      <p:sp>
        <p:nvSpPr>
          <p:cNvPr name="AutoShape 54" id="54"/>
          <p:cNvSpPr/>
          <p:nvPr/>
        </p:nvSpPr>
        <p:spPr>
          <a:xfrm>
            <a:off x="0" y="2172150"/>
            <a:ext cx="18288000" cy="0"/>
          </a:xfrm>
          <a:prstGeom prst="line">
            <a:avLst/>
          </a:prstGeom>
          <a:ln cap="flat" w="38100">
            <a:solidFill>
              <a:srgbClr val="000000"/>
            </a:solidFill>
            <a:prstDash val="solid"/>
            <a:headEnd type="none" len="sm" w="sm"/>
            <a:tailEnd type="none" len="sm" w="sm"/>
          </a:ln>
        </p:spPr>
      </p:sp>
      <p:sp>
        <p:nvSpPr>
          <p:cNvPr name="TextBox 55" id="55"/>
          <p:cNvSpPr txBox="true"/>
          <p:nvPr/>
        </p:nvSpPr>
        <p:spPr>
          <a:xfrm rot="0">
            <a:off x="0" y="78758"/>
            <a:ext cx="12755695" cy="683242"/>
          </a:xfrm>
          <a:prstGeom prst="rect">
            <a:avLst/>
          </a:prstGeom>
        </p:spPr>
        <p:txBody>
          <a:bodyPr anchor="t" rtlCol="false" tIns="0" lIns="0" bIns="0" rIns="0">
            <a:spAutoFit/>
          </a:bodyPr>
          <a:lstStyle/>
          <a:p>
            <a:pPr algn="ctr">
              <a:lnSpc>
                <a:spcPts val="5394"/>
              </a:lnSpc>
            </a:pPr>
            <a:r>
              <a:rPr lang="en-US" sz="3853">
                <a:solidFill>
                  <a:srgbClr val="000000"/>
                </a:solidFill>
                <a:latin typeface="Poppins"/>
                <a:ea typeface="Poppins"/>
                <a:cs typeface="Poppins"/>
                <a:sym typeface="Poppins"/>
              </a:rPr>
              <a:t>Department of Computer Science and Engineering</a:t>
            </a:r>
          </a:p>
        </p:txBody>
      </p:sp>
      <p:sp>
        <p:nvSpPr>
          <p:cNvPr name="TextBox 56" id="56"/>
          <p:cNvSpPr txBox="true"/>
          <p:nvPr/>
        </p:nvSpPr>
        <p:spPr>
          <a:xfrm rot="0">
            <a:off x="-246328" y="890092"/>
            <a:ext cx="4246828" cy="566354"/>
          </a:xfrm>
          <a:prstGeom prst="rect">
            <a:avLst/>
          </a:prstGeom>
        </p:spPr>
        <p:txBody>
          <a:bodyPr anchor="t" rtlCol="false" tIns="0" lIns="0" bIns="0" rIns="0">
            <a:spAutoFit/>
          </a:bodyPr>
          <a:lstStyle/>
          <a:p>
            <a:pPr algn="ctr">
              <a:lnSpc>
                <a:spcPts val="4480"/>
              </a:lnSpc>
            </a:pPr>
            <a:r>
              <a:rPr lang="en-US" sz="3200">
                <a:solidFill>
                  <a:srgbClr val="000000"/>
                </a:solidFill>
                <a:latin typeface="Poppins"/>
                <a:ea typeface="Poppins"/>
                <a:cs typeface="Poppins"/>
                <a:sym typeface="Poppins"/>
              </a:rPr>
              <a:t>Uttara University</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3F6FC"/>
        </a:solidFill>
      </p:bgPr>
    </p:bg>
    <p:spTree>
      <p:nvGrpSpPr>
        <p:cNvPr id="1" name=""/>
        <p:cNvGrpSpPr/>
        <p:nvPr/>
      </p:nvGrpSpPr>
      <p:grpSpPr>
        <a:xfrm>
          <a:off x="0" y="0"/>
          <a:ext cx="0" cy="0"/>
          <a:chOff x="0" y="0"/>
          <a:chExt cx="0" cy="0"/>
        </a:xfrm>
      </p:grpSpPr>
      <p:sp>
        <p:nvSpPr>
          <p:cNvPr name="TextBox 2" id="2"/>
          <p:cNvSpPr txBox="true"/>
          <p:nvPr/>
        </p:nvSpPr>
        <p:spPr>
          <a:xfrm rot="0">
            <a:off x="227747" y="3374247"/>
            <a:ext cx="9450506" cy="770984"/>
          </a:xfrm>
          <a:prstGeom prst="rect">
            <a:avLst/>
          </a:prstGeom>
        </p:spPr>
        <p:txBody>
          <a:bodyPr anchor="t" rtlCol="false" tIns="0" lIns="0" bIns="0" rIns="0">
            <a:spAutoFit/>
          </a:bodyPr>
          <a:lstStyle/>
          <a:p>
            <a:pPr algn="l">
              <a:lnSpc>
                <a:spcPts val="5824"/>
              </a:lnSpc>
            </a:pPr>
            <a:r>
              <a:rPr lang="en-US" sz="5600" b="true">
                <a:solidFill>
                  <a:srgbClr val="021E47"/>
                </a:solidFill>
                <a:latin typeface="Gotham Bold"/>
                <a:ea typeface="Gotham Bold"/>
                <a:cs typeface="Gotham Bold"/>
                <a:sym typeface="Gotham Bold"/>
              </a:rPr>
              <a:t>SCOPE OF THE PROJECT</a:t>
            </a:r>
          </a:p>
        </p:txBody>
      </p:sp>
      <p:sp>
        <p:nvSpPr>
          <p:cNvPr name="AutoShape 3" id="3"/>
          <p:cNvSpPr/>
          <p:nvPr/>
        </p:nvSpPr>
        <p:spPr>
          <a:xfrm flipV="true">
            <a:off x="-354408" y="4721501"/>
            <a:ext cx="13058742" cy="2135729"/>
          </a:xfrm>
          <a:prstGeom prst="line">
            <a:avLst/>
          </a:prstGeom>
          <a:ln cap="flat" w="28575">
            <a:solidFill>
              <a:srgbClr val="021E47"/>
            </a:solidFill>
            <a:prstDash val="lgDash"/>
            <a:headEnd type="none" len="sm" w="sm"/>
            <a:tailEnd type="none" len="sm" w="sm"/>
          </a:ln>
        </p:spPr>
      </p:sp>
      <p:sp>
        <p:nvSpPr>
          <p:cNvPr name="AutoShape 4" id="4"/>
          <p:cNvSpPr/>
          <p:nvPr/>
        </p:nvSpPr>
        <p:spPr>
          <a:xfrm flipV="true">
            <a:off x="12707334" y="3951273"/>
            <a:ext cx="7664781" cy="756558"/>
          </a:xfrm>
          <a:prstGeom prst="line">
            <a:avLst/>
          </a:prstGeom>
          <a:ln cap="flat" w="28575">
            <a:solidFill>
              <a:srgbClr val="021E47"/>
            </a:solidFill>
            <a:prstDash val="lgDash"/>
            <a:headEnd type="none" len="sm" w="sm"/>
            <a:tailEnd type="none" len="sm" w="sm"/>
          </a:ln>
        </p:spPr>
      </p:sp>
      <p:sp>
        <p:nvSpPr>
          <p:cNvPr name="Freeform 5" id="5"/>
          <p:cNvSpPr/>
          <p:nvPr/>
        </p:nvSpPr>
        <p:spPr>
          <a:xfrm flipH="true" flipV="false" rot="0">
            <a:off x="1056059" y="7233017"/>
            <a:ext cx="2746443" cy="1158151"/>
          </a:xfrm>
          <a:custGeom>
            <a:avLst/>
            <a:gdLst/>
            <a:ahLst/>
            <a:cxnLst/>
            <a:rect r="r" b="b" t="t" l="l"/>
            <a:pathLst>
              <a:path h="1158151" w="2746443">
                <a:moveTo>
                  <a:pt x="2746443" y="0"/>
                </a:moveTo>
                <a:lnTo>
                  <a:pt x="0" y="0"/>
                </a:lnTo>
                <a:lnTo>
                  <a:pt x="0" y="1158151"/>
                </a:lnTo>
                <a:lnTo>
                  <a:pt x="2746443" y="1158151"/>
                </a:lnTo>
                <a:lnTo>
                  <a:pt x="2746443" y="0"/>
                </a:lnTo>
                <a:close/>
              </a:path>
            </a:pathLst>
          </a:custGeom>
          <a:blipFill>
            <a:blip r:embed="rId2">
              <a:alphaModFix amt="13000"/>
              <a:extLst>
                <a:ext uri="{96DAC541-7B7A-43D3-8B79-37D633B846F1}">
                  <asvg:svgBlip xmlns:asvg="http://schemas.microsoft.com/office/drawing/2016/SVG/main" r:embed="rId3"/>
                </a:ext>
              </a:extLst>
            </a:blip>
            <a:stretch>
              <a:fillRect l="0" t="0" r="-343885" b="0"/>
            </a:stretch>
          </a:blipFill>
        </p:spPr>
      </p:sp>
      <p:sp>
        <p:nvSpPr>
          <p:cNvPr name="Freeform 6" id="6"/>
          <p:cNvSpPr/>
          <p:nvPr/>
        </p:nvSpPr>
        <p:spPr>
          <a:xfrm flipH="true" flipV="false" rot="0">
            <a:off x="9957890" y="5271099"/>
            <a:ext cx="2746443" cy="1158151"/>
          </a:xfrm>
          <a:custGeom>
            <a:avLst/>
            <a:gdLst/>
            <a:ahLst/>
            <a:cxnLst/>
            <a:rect r="r" b="b" t="t" l="l"/>
            <a:pathLst>
              <a:path h="1158151" w="2746443">
                <a:moveTo>
                  <a:pt x="2746443" y="0"/>
                </a:moveTo>
                <a:lnTo>
                  <a:pt x="0" y="0"/>
                </a:lnTo>
                <a:lnTo>
                  <a:pt x="0" y="1158151"/>
                </a:lnTo>
                <a:lnTo>
                  <a:pt x="2746443" y="1158151"/>
                </a:lnTo>
                <a:lnTo>
                  <a:pt x="2746443" y="0"/>
                </a:lnTo>
                <a:close/>
              </a:path>
            </a:pathLst>
          </a:custGeom>
          <a:blipFill>
            <a:blip r:embed="rId2">
              <a:alphaModFix amt="13000"/>
              <a:extLst>
                <a:ext uri="{96DAC541-7B7A-43D3-8B79-37D633B846F1}">
                  <asvg:svgBlip xmlns:asvg="http://schemas.microsoft.com/office/drawing/2016/SVG/main" r:embed="rId3"/>
                </a:ext>
              </a:extLst>
            </a:blip>
            <a:stretch>
              <a:fillRect l="0" t="0" r="-343885" b="0"/>
            </a:stretch>
          </a:blipFill>
        </p:spPr>
      </p:sp>
      <p:sp>
        <p:nvSpPr>
          <p:cNvPr name="Freeform 7" id="7"/>
          <p:cNvSpPr/>
          <p:nvPr/>
        </p:nvSpPr>
        <p:spPr>
          <a:xfrm flipH="true" flipV="false" rot="0">
            <a:off x="5628440" y="6899473"/>
            <a:ext cx="2746443" cy="1158151"/>
          </a:xfrm>
          <a:custGeom>
            <a:avLst/>
            <a:gdLst/>
            <a:ahLst/>
            <a:cxnLst/>
            <a:rect r="r" b="b" t="t" l="l"/>
            <a:pathLst>
              <a:path h="1158151" w="2746443">
                <a:moveTo>
                  <a:pt x="2746443" y="0"/>
                </a:moveTo>
                <a:lnTo>
                  <a:pt x="0" y="0"/>
                </a:lnTo>
                <a:lnTo>
                  <a:pt x="0" y="1158151"/>
                </a:lnTo>
                <a:lnTo>
                  <a:pt x="2746443" y="1158151"/>
                </a:lnTo>
                <a:lnTo>
                  <a:pt x="2746443" y="0"/>
                </a:lnTo>
                <a:close/>
              </a:path>
            </a:pathLst>
          </a:custGeom>
          <a:blipFill>
            <a:blip r:embed="rId2">
              <a:alphaModFix amt="13000"/>
              <a:extLst>
                <a:ext uri="{96DAC541-7B7A-43D3-8B79-37D633B846F1}">
                  <asvg:svgBlip xmlns:asvg="http://schemas.microsoft.com/office/drawing/2016/SVG/main" r:embed="rId3"/>
                </a:ext>
              </a:extLst>
            </a:blip>
            <a:stretch>
              <a:fillRect l="0" t="0" r="-343885" b="0"/>
            </a:stretch>
          </a:blipFill>
        </p:spPr>
      </p:sp>
      <p:sp>
        <p:nvSpPr>
          <p:cNvPr name="Freeform 8" id="8"/>
          <p:cNvSpPr/>
          <p:nvPr/>
        </p:nvSpPr>
        <p:spPr>
          <a:xfrm flipH="true" flipV="false" rot="0">
            <a:off x="13676403" y="3298047"/>
            <a:ext cx="2746443" cy="1158151"/>
          </a:xfrm>
          <a:custGeom>
            <a:avLst/>
            <a:gdLst/>
            <a:ahLst/>
            <a:cxnLst/>
            <a:rect r="r" b="b" t="t" l="l"/>
            <a:pathLst>
              <a:path h="1158151" w="2746443">
                <a:moveTo>
                  <a:pt x="2746443" y="0"/>
                </a:moveTo>
                <a:lnTo>
                  <a:pt x="0" y="0"/>
                </a:lnTo>
                <a:lnTo>
                  <a:pt x="0" y="1158151"/>
                </a:lnTo>
                <a:lnTo>
                  <a:pt x="2746443" y="1158151"/>
                </a:lnTo>
                <a:lnTo>
                  <a:pt x="2746443" y="0"/>
                </a:lnTo>
                <a:close/>
              </a:path>
            </a:pathLst>
          </a:custGeom>
          <a:blipFill>
            <a:blip r:embed="rId2">
              <a:alphaModFix amt="13000"/>
              <a:extLst>
                <a:ext uri="{96DAC541-7B7A-43D3-8B79-37D633B846F1}">
                  <asvg:svgBlip xmlns:asvg="http://schemas.microsoft.com/office/drawing/2016/SVG/main" r:embed="rId3"/>
                </a:ext>
              </a:extLst>
            </a:blip>
            <a:stretch>
              <a:fillRect l="0" t="0" r="-343885" b="0"/>
            </a:stretch>
          </a:blipFill>
        </p:spPr>
      </p:sp>
      <p:sp>
        <p:nvSpPr>
          <p:cNvPr name="Freeform 9" id="9"/>
          <p:cNvSpPr/>
          <p:nvPr/>
        </p:nvSpPr>
        <p:spPr>
          <a:xfrm flipH="true" flipV="false" rot="0">
            <a:off x="979859" y="7136194"/>
            <a:ext cx="2746443" cy="1158151"/>
          </a:xfrm>
          <a:custGeom>
            <a:avLst/>
            <a:gdLst/>
            <a:ahLst/>
            <a:cxnLst/>
            <a:rect r="r" b="b" t="t" l="l"/>
            <a:pathLst>
              <a:path h="1158151" w="2746443">
                <a:moveTo>
                  <a:pt x="2746443" y="0"/>
                </a:moveTo>
                <a:lnTo>
                  <a:pt x="0" y="0"/>
                </a:lnTo>
                <a:lnTo>
                  <a:pt x="0" y="1158152"/>
                </a:lnTo>
                <a:lnTo>
                  <a:pt x="2746443" y="1158152"/>
                </a:lnTo>
                <a:lnTo>
                  <a:pt x="2746443" y="0"/>
                </a:lnTo>
                <a:close/>
              </a:path>
            </a:pathLst>
          </a:custGeom>
          <a:blipFill>
            <a:blip r:embed="rId4">
              <a:extLst>
                <a:ext uri="{96DAC541-7B7A-43D3-8B79-37D633B846F1}">
                  <asvg:svgBlip xmlns:asvg="http://schemas.microsoft.com/office/drawing/2016/SVG/main" r:embed="rId5"/>
                </a:ext>
              </a:extLst>
            </a:blip>
            <a:stretch>
              <a:fillRect l="0" t="0" r="-343885" b="0"/>
            </a:stretch>
          </a:blipFill>
        </p:spPr>
      </p:sp>
      <p:sp>
        <p:nvSpPr>
          <p:cNvPr name="Freeform 10" id="10"/>
          <p:cNvSpPr/>
          <p:nvPr/>
        </p:nvSpPr>
        <p:spPr>
          <a:xfrm flipH="true" flipV="false" rot="0">
            <a:off x="9881690" y="5174277"/>
            <a:ext cx="2746443" cy="1158151"/>
          </a:xfrm>
          <a:custGeom>
            <a:avLst/>
            <a:gdLst/>
            <a:ahLst/>
            <a:cxnLst/>
            <a:rect r="r" b="b" t="t" l="l"/>
            <a:pathLst>
              <a:path h="1158151" w="2746443">
                <a:moveTo>
                  <a:pt x="2746443" y="0"/>
                </a:moveTo>
                <a:lnTo>
                  <a:pt x="0" y="0"/>
                </a:lnTo>
                <a:lnTo>
                  <a:pt x="0" y="1158151"/>
                </a:lnTo>
                <a:lnTo>
                  <a:pt x="2746443" y="1158151"/>
                </a:lnTo>
                <a:lnTo>
                  <a:pt x="2746443" y="0"/>
                </a:lnTo>
                <a:close/>
              </a:path>
            </a:pathLst>
          </a:custGeom>
          <a:blipFill>
            <a:blip r:embed="rId6">
              <a:extLst>
                <a:ext uri="{96DAC541-7B7A-43D3-8B79-37D633B846F1}">
                  <asvg:svgBlip xmlns:asvg="http://schemas.microsoft.com/office/drawing/2016/SVG/main" r:embed="rId7"/>
                </a:ext>
              </a:extLst>
            </a:blip>
            <a:stretch>
              <a:fillRect l="0" t="0" r="-343885" b="0"/>
            </a:stretch>
          </a:blipFill>
        </p:spPr>
      </p:sp>
      <p:sp>
        <p:nvSpPr>
          <p:cNvPr name="Freeform 11" id="11"/>
          <p:cNvSpPr/>
          <p:nvPr/>
        </p:nvSpPr>
        <p:spPr>
          <a:xfrm flipH="true" flipV="false" rot="0">
            <a:off x="5552240" y="6802651"/>
            <a:ext cx="2746443" cy="1158151"/>
          </a:xfrm>
          <a:custGeom>
            <a:avLst/>
            <a:gdLst/>
            <a:ahLst/>
            <a:cxnLst/>
            <a:rect r="r" b="b" t="t" l="l"/>
            <a:pathLst>
              <a:path h="1158151" w="2746443">
                <a:moveTo>
                  <a:pt x="2746443" y="0"/>
                </a:moveTo>
                <a:lnTo>
                  <a:pt x="0" y="0"/>
                </a:lnTo>
                <a:lnTo>
                  <a:pt x="0" y="1158151"/>
                </a:lnTo>
                <a:lnTo>
                  <a:pt x="2746443" y="1158151"/>
                </a:lnTo>
                <a:lnTo>
                  <a:pt x="2746443" y="0"/>
                </a:lnTo>
                <a:close/>
              </a:path>
            </a:pathLst>
          </a:custGeom>
          <a:blipFill>
            <a:blip r:embed="rId2">
              <a:extLst>
                <a:ext uri="{96DAC541-7B7A-43D3-8B79-37D633B846F1}">
                  <asvg:svgBlip xmlns:asvg="http://schemas.microsoft.com/office/drawing/2016/SVG/main" r:embed="rId3"/>
                </a:ext>
              </a:extLst>
            </a:blip>
            <a:stretch>
              <a:fillRect l="0" t="0" r="-343885" b="0"/>
            </a:stretch>
          </a:blipFill>
        </p:spPr>
      </p:sp>
      <p:sp>
        <p:nvSpPr>
          <p:cNvPr name="Freeform 12" id="12"/>
          <p:cNvSpPr/>
          <p:nvPr/>
        </p:nvSpPr>
        <p:spPr>
          <a:xfrm flipH="true" flipV="false" rot="0">
            <a:off x="13600203" y="3201225"/>
            <a:ext cx="2746443" cy="1158151"/>
          </a:xfrm>
          <a:custGeom>
            <a:avLst/>
            <a:gdLst/>
            <a:ahLst/>
            <a:cxnLst/>
            <a:rect r="r" b="b" t="t" l="l"/>
            <a:pathLst>
              <a:path h="1158151" w="2746443">
                <a:moveTo>
                  <a:pt x="2746443" y="0"/>
                </a:moveTo>
                <a:lnTo>
                  <a:pt x="0" y="0"/>
                </a:lnTo>
                <a:lnTo>
                  <a:pt x="0" y="1158151"/>
                </a:lnTo>
                <a:lnTo>
                  <a:pt x="2746443" y="1158151"/>
                </a:lnTo>
                <a:lnTo>
                  <a:pt x="2746443" y="0"/>
                </a:lnTo>
                <a:close/>
              </a:path>
            </a:pathLst>
          </a:custGeom>
          <a:blipFill>
            <a:blip r:embed="rId8">
              <a:extLst>
                <a:ext uri="{96DAC541-7B7A-43D3-8B79-37D633B846F1}">
                  <asvg:svgBlip xmlns:asvg="http://schemas.microsoft.com/office/drawing/2016/SVG/main" r:embed="rId9"/>
                </a:ext>
              </a:extLst>
            </a:blip>
            <a:stretch>
              <a:fillRect l="0" t="0" r="-343885" b="0"/>
            </a:stretch>
          </a:blipFill>
        </p:spPr>
      </p:sp>
      <p:sp>
        <p:nvSpPr>
          <p:cNvPr name="Freeform 13" id="13"/>
          <p:cNvSpPr/>
          <p:nvPr/>
        </p:nvSpPr>
        <p:spPr>
          <a:xfrm flipH="false" flipV="false" rot="0">
            <a:off x="1160947" y="7543868"/>
            <a:ext cx="342804" cy="342804"/>
          </a:xfrm>
          <a:custGeom>
            <a:avLst/>
            <a:gdLst/>
            <a:ahLst/>
            <a:cxnLst/>
            <a:rect r="r" b="b" t="t" l="l"/>
            <a:pathLst>
              <a:path h="342804" w="342804">
                <a:moveTo>
                  <a:pt x="0" y="0"/>
                </a:moveTo>
                <a:lnTo>
                  <a:pt x="342804" y="0"/>
                </a:lnTo>
                <a:lnTo>
                  <a:pt x="342804" y="342804"/>
                </a:lnTo>
                <a:lnTo>
                  <a:pt x="0" y="34280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4" id="14"/>
          <p:cNvSpPr/>
          <p:nvPr/>
        </p:nvSpPr>
        <p:spPr>
          <a:xfrm flipH="false" flipV="false" rot="0">
            <a:off x="10053999" y="5581950"/>
            <a:ext cx="342804" cy="342804"/>
          </a:xfrm>
          <a:custGeom>
            <a:avLst/>
            <a:gdLst/>
            <a:ahLst/>
            <a:cxnLst/>
            <a:rect r="r" b="b" t="t" l="l"/>
            <a:pathLst>
              <a:path h="342804" w="342804">
                <a:moveTo>
                  <a:pt x="0" y="0"/>
                </a:moveTo>
                <a:lnTo>
                  <a:pt x="342804" y="0"/>
                </a:lnTo>
                <a:lnTo>
                  <a:pt x="342804" y="342804"/>
                </a:lnTo>
                <a:lnTo>
                  <a:pt x="0" y="342804"/>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5" id="15"/>
          <p:cNvSpPr/>
          <p:nvPr/>
        </p:nvSpPr>
        <p:spPr>
          <a:xfrm flipH="false" flipV="false" rot="0">
            <a:off x="5717196" y="7210325"/>
            <a:ext cx="342804" cy="342804"/>
          </a:xfrm>
          <a:custGeom>
            <a:avLst/>
            <a:gdLst/>
            <a:ahLst/>
            <a:cxnLst/>
            <a:rect r="r" b="b" t="t" l="l"/>
            <a:pathLst>
              <a:path h="342804" w="342804">
                <a:moveTo>
                  <a:pt x="0" y="0"/>
                </a:moveTo>
                <a:lnTo>
                  <a:pt x="342804" y="0"/>
                </a:lnTo>
                <a:lnTo>
                  <a:pt x="342804" y="342804"/>
                </a:lnTo>
                <a:lnTo>
                  <a:pt x="0" y="342804"/>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6" id="16"/>
          <p:cNvSpPr/>
          <p:nvPr/>
        </p:nvSpPr>
        <p:spPr>
          <a:xfrm flipH="false" flipV="false" rot="0">
            <a:off x="13776180" y="3608899"/>
            <a:ext cx="332091" cy="342804"/>
          </a:xfrm>
          <a:custGeom>
            <a:avLst/>
            <a:gdLst/>
            <a:ahLst/>
            <a:cxnLst/>
            <a:rect r="r" b="b" t="t" l="l"/>
            <a:pathLst>
              <a:path h="342804" w="332091">
                <a:moveTo>
                  <a:pt x="0" y="0"/>
                </a:moveTo>
                <a:lnTo>
                  <a:pt x="332091" y="0"/>
                </a:lnTo>
                <a:lnTo>
                  <a:pt x="332091" y="342803"/>
                </a:lnTo>
                <a:lnTo>
                  <a:pt x="0" y="342803"/>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17" id="17"/>
          <p:cNvSpPr txBox="true"/>
          <p:nvPr/>
        </p:nvSpPr>
        <p:spPr>
          <a:xfrm rot="0">
            <a:off x="2002277" y="7458713"/>
            <a:ext cx="1454082" cy="526349"/>
          </a:xfrm>
          <a:prstGeom prst="rect">
            <a:avLst/>
          </a:prstGeom>
        </p:spPr>
        <p:txBody>
          <a:bodyPr anchor="t" rtlCol="false" tIns="0" lIns="0" bIns="0" rIns="0">
            <a:spAutoFit/>
          </a:bodyPr>
          <a:lstStyle/>
          <a:p>
            <a:pPr algn="l">
              <a:lnSpc>
                <a:spcPts val="2080"/>
              </a:lnSpc>
            </a:pPr>
            <a:r>
              <a:rPr lang="en-US" sz="2000" b="true">
                <a:solidFill>
                  <a:srgbClr val="021E47"/>
                </a:solidFill>
                <a:latin typeface="Gotham Bold"/>
                <a:ea typeface="Gotham Bold"/>
                <a:cs typeface="Gotham Bold"/>
                <a:sym typeface="Gotham Bold"/>
              </a:rPr>
              <a:t>Data Availability</a:t>
            </a:r>
          </a:p>
        </p:txBody>
      </p:sp>
      <p:sp>
        <p:nvSpPr>
          <p:cNvPr name="TextBox 18" id="18"/>
          <p:cNvSpPr txBox="true"/>
          <p:nvPr/>
        </p:nvSpPr>
        <p:spPr>
          <a:xfrm rot="0">
            <a:off x="10914069" y="5655547"/>
            <a:ext cx="1612725" cy="269207"/>
          </a:xfrm>
          <a:prstGeom prst="rect">
            <a:avLst/>
          </a:prstGeom>
        </p:spPr>
        <p:txBody>
          <a:bodyPr anchor="t" rtlCol="false" tIns="0" lIns="0" bIns="0" rIns="0">
            <a:spAutoFit/>
          </a:bodyPr>
          <a:lstStyle/>
          <a:p>
            <a:pPr algn="l">
              <a:lnSpc>
                <a:spcPts val="2080"/>
              </a:lnSpc>
            </a:pPr>
            <a:r>
              <a:rPr lang="en-US" sz="2000" b="true">
                <a:solidFill>
                  <a:srgbClr val="021E47"/>
                </a:solidFill>
                <a:latin typeface="Gotham Bold"/>
                <a:ea typeface="Gotham Bold"/>
                <a:cs typeface="Gotham Bold"/>
                <a:sym typeface="Gotham Bold"/>
              </a:rPr>
              <a:t>Technology</a:t>
            </a:r>
          </a:p>
        </p:txBody>
      </p:sp>
      <p:sp>
        <p:nvSpPr>
          <p:cNvPr name="TextBox 19" id="19"/>
          <p:cNvSpPr txBox="true"/>
          <p:nvPr/>
        </p:nvSpPr>
        <p:spPr>
          <a:xfrm rot="0">
            <a:off x="6464208" y="7283922"/>
            <a:ext cx="1834475" cy="269207"/>
          </a:xfrm>
          <a:prstGeom prst="rect">
            <a:avLst/>
          </a:prstGeom>
        </p:spPr>
        <p:txBody>
          <a:bodyPr anchor="t" rtlCol="false" tIns="0" lIns="0" bIns="0" rIns="0">
            <a:spAutoFit/>
          </a:bodyPr>
          <a:lstStyle/>
          <a:p>
            <a:pPr algn="l">
              <a:lnSpc>
                <a:spcPts val="2080"/>
              </a:lnSpc>
            </a:pPr>
            <a:r>
              <a:rPr lang="en-US" sz="2000" b="true">
                <a:solidFill>
                  <a:srgbClr val="FCFEFF"/>
                </a:solidFill>
                <a:latin typeface="Gotham Bold"/>
                <a:ea typeface="Gotham Bold"/>
                <a:cs typeface="Gotham Bold"/>
                <a:sym typeface="Gotham Bold"/>
              </a:rPr>
              <a:t>Functionality</a:t>
            </a:r>
          </a:p>
        </p:txBody>
      </p:sp>
      <p:sp>
        <p:nvSpPr>
          <p:cNvPr name="TextBox 20" id="20"/>
          <p:cNvSpPr txBox="true"/>
          <p:nvPr/>
        </p:nvSpPr>
        <p:spPr>
          <a:xfrm rot="0">
            <a:off x="14795798" y="3658985"/>
            <a:ext cx="1362529" cy="280731"/>
          </a:xfrm>
          <a:prstGeom prst="rect">
            <a:avLst/>
          </a:prstGeom>
        </p:spPr>
        <p:txBody>
          <a:bodyPr anchor="t" rtlCol="false" tIns="0" lIns="0" bIns="0" rIns="0">
            <a:spAutoFit/>
          </a:bodyPr>
          <a:lstStyle/>
          <a:p>
            <a:pPr algn="l">
              <a:lnSpc>
                <a:spcPts val="2184"/>
              </a:lnSpc>
            </a:pPr>
            <a:r>
              <a:rPr lang="en-US" sz="2100" b="true">
                <a:solidFill>
                  <a:srgbClr val="FCFEFF"/>
                </a:solidFill>
                <a:latin typeface="Gotham Bold"/>
                <a:ea typeface="Gotham Bold"/>
                <a:cs typeface="Gotham Bold"/>
                <a:sym typeface="Gotham Bold"/>
              </a:rPr>
              <a:t>Boundary</a:t>
            </a:r>
          </a:p>
        </p:txBody>
      </p:sp>
      <p:sp>
        <p:nvSpPr>
          <p:cNvPr name="Freeform 21" id="21"/>
          <p:cNvSpPr/>
          <p:nvPr/>
        </p:nvSpPr>
        <p:spPr>
          <a:xfrm flipH="false" flipV="false" rot="2700000">
            <a:off x="14275077" y="7859096"/>
            <a:ext cx="3258582" cy="3258582"/>
          </a:xfrm>
          <a:custGeom>
            <a:avLst/>
            <a:gdLst/>
            <a:ahLst/>
            <a:cxnLst/>
            <a:rect r="r" b="b" t="t" l="l"/>
            <a:pathLst>
              <a:path h="3258582" w="3258582">
                <a:moveTo>
                  <a:pt x="0" y="0"/>
                </a:moveTo>
                <a:lnTo>
                  <a:pt x="3258582" y="0"/>
                </a:lnTo>
                <a:lnTo>
                  <a:pt x="3258582" y="3258582"/>
                </a:lnTo>
                <a:lnTo>
                  <a:pt x="0" y="3258582"/>
                </a:lnTo>
                <a:lnTo>
                  <a:pt x="0" y="0"/>
                </a:lnTo>
                <a:close/>
              </a:path>
            </a:pathLst>
          </a:custGeom>
          <a:blipFill>
            <a:blip r:embed="rId18">
              <a:alphaModFix amt="13000"/>
              <a:extLst>
                <a:ext uri="{96DAC541-7B7A-43D3-8B79-37D633B846F1}">
                  <asvg:svgBlip xmlns:asvg="http://schemas.microsoft.com/office/drawing/2016/SVG/main" r:embed="rId19"/>
                </a:ext>
              </a:extLst>
            </a:blip>
            <a:stretch>
              <a:fillRect l="0" t="0" r="0" b="0"/>
            </a:stretch>
          </a:blipFill>
        </p:spPr>
      </p:sp>
      <p:sp>
        <p:nvSpPr>
          <p:cNvPr name="Freeform 22" id="22"/>
          <p:cNvSpPr/>
          <p:nvPr/>
        </p:nvSpPr>
        <p:spPr>
          <a:xfrm flipH="false" flipV="false" rot="0">
            <a:off x="14358712" y="0"/>
            <a:ext cx="3929288" cy="1951633"/>
          </a:xfrm>
          <a:custGeom>
            <a:avLst/>
            <a:gdLst/>
            <a:ahLst/>
            <a:cxnLst/>
            <a:rect r="r" b="b" t="t" l="l"/>
            <a:pathLst>
              <a:path h="1951633" w="3929288">
                <a:moveTo>
                  <a:pt x="0" y="0"/>
                </a:moveTo>
                <a:lnTo>
                  <a:pt x="3929288" y="0"/>
                </a:lnTo>
                <a:lnTo>
                  <a:pt x="3929288" y="1951633"/>
                </a:lnTo>
                <a:lnTo>
                  <a:pt x="0" y="1951633"/>
                </a:lnTo>
                <a:lnTo>
                  <a:pt x="0" y="0"/>
                </a:lnTo>
                <a:close/>
              </a:path>
            </a:pathLst>
          </a:custGeom>
          <a:blipFill>
            <a:blip r:embed="rId20"/>
            <a:stretch>
              <a:fillRect l="0" t="0" r="0" b="0"/>
            </a:stretch>
          </a:blipFill>
        </p:spPr>
      </p:sp>
      <p:sp>
        <p:nvSpPr>
          <p:cNvPr name="AutoShape 23" id="23"/>
          <p:cNvSpPr/>
          <p:nvPr/>
        </p:nvSpPr>
        <p:spPr>
          <a:xfrm>
            <a:off x="0" y="2040670"/>
            <a:ext cx="18288000" cy="0"/>
          </a:xfrm>
          <a:prstGeom prst="line">
            <a:avLst/>
          </a:prstGeom>
          <a:ln cap="flat" w="38100">
            <a:solidFill>
              <a:srgbClr val="000000"/>
            </a:solidFill>
            <a:prstDash val="solid"/>
            <a:headEnd type="none" len="sm" w="sm"/>
            <a:tailEnd type="none" len="sm" w="sm"/>
          </a:ln>
        </p:spPr>
      </p:sp>
      <p:sp>
        <p:nvSpPr>
          <p:cNvPr name="TextBox 24" id="24"/>
          <p:cNvSpPr txBox="true"/>
          <p:nvPr/>
        </p:nvSpPr>
        <p:spPr>
          <a:xfrm rot="0">
            <a:off x="0" y="78758"/>
            <a:ext cx="12755695" cy="683242"/>
          </a:xfrm>
          <a:prstGeom prst="rect">
            <a:avLst/>
          </a:prstGeom>
        </p:spPr>
        <p:txBody>
          <a:bodyPr anchor="t" rtlCol="false" tIns="0" lIns="0" bIns="0" rIns="0">
            <a:spAutoFit/>
          </a:bodyPr>
          <a:lstStyle/>
          <a:p>
            <a:pPr algn="ctr">
              <a:lnSpc>
                <a:spcPts val="5394"/>
              </a:lnSpc>
            </a:pPr>
            <a:r>
              <a:rPr lang="en-US" sz="3853">
                <a:solidFill>
                  <a:srgbClr val="000000"/>
                </a:solidFill>
                <a:latin typeface="Poppins"/>
                <a:ea typeface="Poppins"/>
                <a:cs typeface="Poppins"/>
                <a:sym typeface="Poppins"/>
              </a:rPr>
              <a:t>Department of Computer Science and Engineering</a:t>
            </a:r>
          </a:p>
        </p:txBody>
      </p:sp>
      <p:sp>
        <p:nvSpPr>
          <p:cNvPr name="TextBox 25" id="25"/>
          <p:cNvSpPr txBox="true"/>
          <p:nvPr/>
        </p:nvSpPr>
        <p:spPr>
          <a:xfrm rot="0">
            <a:off x="-246328" y="890092"/>
            <a:ext cx="4246828" cy="566354"/>
          </a:xfrm>
          <a:prstGeom prst="rect">
            <a:avLst/>
          </a:prstGeom>
        </p:spPr>
        <p:txBody>
          <a:bodyPr anchor="t" rtlCol="false" tIns="0" lIns="0" bIns="0" rIns="0">
            <a:spAutoFit/>
          </a:bodyPr>
          <a:lstStyle/>
          <a:p>
            <a:pPr algn="ctr">
              <a:lnSpc>
                <a:spcPts val="4480"/>
              </a:lnSpc>
            </a:pPr>
            <a:r>
              <a:rPr lang="en-US" sz="3200">
                <a:solidFill>
                  <a:srgbClr val="000000"/>
                </a:solidFill>
                <a:latin typeface="Poppins"/>
                <a:ea typeface="Poppins"/>
                <a:cs typeface="Poppins"/>
                <a:sym typeface="Poppins"/>
              </a:rPr>
              <a:t>Uttara University</a:t>
            </a:r>
          </a:p>
        </p:txBody>
      </p:sp>
      <p:sp>
        <p:nvSpPr>
          <p:cNvPr name="TextBox 26" id="26"/>
          <p:cNvSpPr txBox="true"/>
          <p:nvPr/>
        </p:nvSpPr>
        <p:spPr>
          <a:xfrm rot="0">
            <a:off x="981075" y="8629293"/>
            <a:ext cx="3971925" cy="526349"/>
          </a:xfrm>
          <a:prstGeom prst="rect">
            <a:avLst/>
          </a:prstGeom>
        </p:spPr>
        <p:txBody>
          <a:bodyPr anchor="t" rtlCol="false" tIns="0" lIns="0" bIns="0" rIns="0">
            <a:spAutoFit/>
          </a:bodyPr>
          <a:lstStyle/>
          <a:p>
            <a:pPr algn="l">
              <a:lnSpc>
                <a:spcPts val="2080"/>
              </a:lnSpc>
            </a:pPr>
            <a:r>
              <a:rPr lang="en-US" sz="2000">
                <a:solidFill>
                  <a:srgbClr val="021E47"/>
                </a:solidFill>
                <a:latin typeface="Open Sans"/>
                <a:ea typeface="Open Sans"/>
                <a:cs typeface="Open Sans"/>
                <a:sym typeface="Open Sans"/>
              </a:rPr>
              <a:t>User-defined and simulated border environments</a:t>
            </a:r>
          </a:p>
        </p:txBody>
      </p:sp>
      <p:sp>
        <p:nvSpPr>
          <p:cNvPr name="TextBox 27" id="27"/>
          <p:cNvSpPr txBox="true"/>
          <p:nvPr/>
        </p:nvSpPr>
        <p:spPr>
          <a:xfrm rot="0">
            <a:off x="5724364" y="8372151"/>
            <a:ext cx="3229136" cy="783491"/>
          </a:xfrm>
          <a:prstGeom prst="rect">
            <a:avLst/>
          </a:prstGeom>
        </p:spPr>
        <p:txBody>
          <a:bodyPr anchor="t" rtlCol="false" tIns="0" lIns="0" bIns="0" rIns="0">
            <a:spAutoFit/>
          </a:bodyPr>
          <a:lstStyle/>
          <a:p>
            <a:pPr algn="l">
              <a:lnSpc>
                <a:spcPts val="2080"/>
              </a:lnSpc>
            </a:pPr>
            <a:r>
              <a:rPr lang="en-US" sz="2000">
                <a:solidFill>
                  <a:srgbClr val="021E47"/>
                </a:solidFill>
                <a:latin typeface="Open Sans"/>
                <a:ea typeface="Open Sans"/>
                <a:cs typeface="Open Sans"/>
                <a:sym typeface="Open Sans"/>
              </a:rPr>
              <a:t>Autonomous surveillance, dynamic routing, energy-aware navigation</a:t>
            </a:r>
          </a:p>
        </p:txBody>
      </p:sp>
      <p:sp>
        <p:nvSpPr>
          <p:cNvPr name="TextBox 28" id="28"/>
          <p:cNvSpPr txBox="true"/>
          <p:nvPr/>
        </p:nvSpPr>
        <p:spPr>
          <a:xfrm rot="0">
            <a:off x="10006087" y="6720080"/>
            <a:ext cx="3670316" cy="833049"/>
          </a:xfrm>
          <a:prstGeom prst="rect">
            <a:avLst/>
          </a:prstGeom>
        </p:spPr>
        <p:txBody>
          <a:bodyPr anchor="t" rtlCol="false" tIns="0" lIns="0" bIns="0" rIns="0">
            <a:spAutoFit/>
          </a:bodyPr>
          <a:lstStyle/>
          <a:p>
            <a:pPr algn="l" marL="453390" indent="-226695" lvl="1">
              <a:lnSpc>
                <a:spcPts val="2184"/>
              </a:lnSpc>
              <a:buFont typeface="Arial"/>
              <a:buChar char="•"/>
            </a:pPr>
            <a:r>
              <a:rPr lang="en-US" sz="2100">
                <a:solidFill>
                  <a:srgbClr val="021E47"/>
                </a:solidFill>
                <a:latin typeface="Open Sans"/>
                <a:ea typeface="Open Sans"/>
                <a:cs typeface="Open Sans"/>
                <a:sym typeface="Open Sans"/>
              </a:rPr>
              <a:t>Heuristic optimization</a:t>
            </a:r>
          </a:p>
          <a:p>
            <a:pPr algn="l" marL="453390" indent="-226695" lvl="1">
              <a:lnSpc>
                <a:spcPts val="2184"/>
              </a:lnSpc>
              <a:buFont typeface="Arial"/>
              <a:buChar char="•"/>
            </a:pPr>
            <a:r>
              <a:rPr lang="en-US" sz="2100">
                <a:solidFill>
                  <a:srgbClr val="021E47"/>
                </a:solidFill>
                <a:latin typeface="Open Sans"/>
                <a:ea typeface="Open Sans"/>
                <a:cs typeface="Open Sans"/>
                <a:sym typeface="Open Sans"/>
              </a:rPr>
              <a:t>graph-based algorithms</a:t>
            </a:r>
          </a:p>
          <a:p>
            <a:pPr algn="l" marL="453390" indent="-226695" lvl="1">
              <a:lnSpc>
                <a:spcPts val="2184"/>
              </a:lnSpc>
              <a:buFont typeface="Arial"/>
              <a:buChar char="•"/>
            </a:pPr>
            <a:r>
              <a:rPr lang="en-US" sz="2100">
                <a:solidFill>
                  <a:srgbClr val="021E47"/>
                </a:solidFill>
                <a:latin typeface="Open Sans"/>
                <a:ea typeface="Open Sans"/>
                <a:cs typeface="Open Sans"/>
                <a:sym typeface="Open Sans"/>
              </a:rPr>
              <a:t>map visualization</a:t>
            </a:r>
          </a:p>
        </p:txBody>
      </p:sp>
      <p:sp>
        <p:nvSpPr>
          <p:cNvPr name="TextBox 29" id="29"/>
          <p:cNvSpPr txBox="true"/>
          <p:nvPr/>
        </p:nvSpPr>
        <p:spPr>
          <a:xfrm rot="0">
            <a:off x="13941421" y="4666656"/>
            <a:ext cx="4121158" cy="1109207"/>
          </a:xfrm>
          <a:prstGeom prst="rect">
            <a:avLst/>
          </a:prstGeom>
        </p:spPr>
        <p:txBody>
          <a:bodyPr anchor="t" rtlCol="false" tIns="0" lIns="0" bIns="0" rIns="0">
            <a:spAutoFit/>
          </a:bodyPr>
          <a:lstStyle/>
          <a:p>
            <a:pPr algn="l">
              <a:lnSpc>
                <a:spcPts val="2184"/>
              </a:lnSpc>
            </a:pPr>
            <a:r>
              <a:rPr lang="en-US" sz="2100">
                <a:solidFill>
                  <a:srgbClr val="021E47"/>
                </a:solidFill>
                <a:latin typeface="Open Sans"/>
                <a:ea typeface="Open Sans"/>
                <a:cs typeface="Open Sans"/>
                <a:sym typeface="Open Sans"/>
              </a:rPr>
              <a:t>The research is limited to simulation-based implementation and does not include real drone deployment</a:t>
            </a:r>
          </a:p>
        </p:txBody>
      </p:sp>
    </p:spTree>
  </p:cSld>
  <p:clrMapOvr>
    <a:masterClrMapping/>
  </p:clrMapOvr>
</p:sld>
</file>

<file path=ppt/slides/slide9.xml><?xml version="1.0" encoding="utf-8"?>
<p:sld xmlns:p="http://schemas.openxmlformats.org/presentationml/2006/main" xmlns:a="http://schemas.openxmlformats.org/drawingml/2006/main">
  <p:cSld>
    <p:bg>
      <p:bgPr>
        <a:solidFill>
          <a:srgbClr val="EDEEF8"/>
        </a:solidFill>
      </p:bgPr>
    </p:bg>
    <p:spTree>
      <p:nvGrpSpPr>
        <p:cNvPr id="1" name=""/>
        <p:cNvGrpSpPr/>
        <p:nvPr/>
      </p:nvGrpSpPr>
      <p:grpSpPr>
        <a:xfrm>
          <a:off x="0" y="0"/>
          <a:ext cx="0" cy="0"/>
          <a:chOff x="0" y="0"/>
          <a:chExt cx="0" cy="0"/>
        </a:xfrm>
      </p:grpSpPr>
      <p:sp>
        <p:nvSpPr>
          <p:cNvPr name="AutoShape 2" id="2"/>
          <p:cNvSpPr/>
          <p:nvPr/>
        </p:nvSpPr>
        <p:spPr>
          <a:xfrm>
            <a:off x="4746115" y="6822500"/>
            <a:ext cx="11824173" cy="11044"/>
          </a:xfrm>
          <a:prstGeom prst="line">
            <a:avLst/>
          </a:prstGeom>
          <a:ln cap="flat" w="9525">
            <a:solidFill>
              <a:srgbClr val="8B9CFF"/>
            </a:solidFill>
            <a:prstDash val="solid"/>
            <a:headEnd type="none" len="sm" w="sm"/>
            <a:tailEnd type="none" len="sm" w="sm"/>
          </a:ln>
        </p:spPr>
      </p:sp>
      <p:sp>
        <p:nvSpPr>
          <p:cNvPr name="AutoShape 3" id="3"/>
          <p:cNvSpPr/>
          <p:nvPr/>
        </p:nvSpPr>
        <p:spPr>
          <a:xfrm>
            <a:off x="4746115" y="5886739"/>
            <a:ext cx="11824173" cy="27223"/>
          </a:xfrm>
          <a:prstGeom prst="line">
            <a:avLst/>
          </a:prstGeom>
          <a:ln cap="flat" w="9525">
            <a:solidFill>
              <a:srgbClr val="8B9CFF"/>
            </a:solidFill>
            <a:prstDash val="solid"/>
            <a:headEnd type="none" len="sm" w="sm"/>
            <a:tailEnd type="none" len="sm" w="sm"/>
          </a:ln>
        </p:spPr>
      </p:sp>
      <p:sp>
        <p:nvSpPr>
          <p:cNvPr name="AutoShape 4" id="4"/>
          <p:cNvSpPr/>
          <p:nvPr/>
        </p:nvSpPr>
        <p:spPr>
          <a:xfrm>
            <a:off x="4746115" y="4835099"/>
            <a:ext cx="11824173" cy="33614"/>
          </a:xfrm>
          <a:prstGeom prst="line">
            <a:avLst/>
          </a:prstGeom>
          <a:ln cap="flat" w="9525">
            <a:solidFill>
              <a:srgbClr val="8B9CFF"/>
            </a:solidFill>
            <a:prstDash val="solid"/>
            <a:headEnd type="none" len="sm" w="sm"/>
            <a:tailEnd type="none" len="sm" w="sm"/>
          </a:ln>
        </p:spPr>
      </p:sp>
      <p:sp>
        <p:nvSpPr>
          <p:cNvPr name="AutoShape 5" id="5"/>
          <p:cNvSpPr/>
          <p:nvPr/>
        </p:nvSpPr>
        <p:spPr>
          <a:xfrm>
            <a:off x="4746115" y="8809901"/>
            <a:ext cx="11824173" cy="99698"/>
          </a:xfrm>
          <a:prstGeom prst="line">
            <a:avLst/>
          </a:prstGeom>
          <a:ln cap="flat" w="9525">
            <a:solidFill>
              <a:srgbClr val="8B9CFF"/>
            </a:solidFill>
            <a:prstDash val="solid"/>
            <a:headEnd type="none" len="sm" w="sm"/>
            <a:tailEnd type="none" len="sm" w="sm"/>
          </a:ln>
        </p:spPr>
      </p:sp>
      <p:sp>
        <p:nvSpPr>
          <p:cNvPr name="AutoShape 6" id="6"/>
          <p:cNvSpPr/>
          <p:nvPr/>
        </p:nvSpPr>
        <p:spPr>
          <a:xfrm>
            <a:off x="4746115" y="3841398"/>
            <a:ext cx="11824173" cy="109538"/>
          </a:xfrm>
          <a:prstGeom prst="line">
            <a:avLst/>
          </a:prstGeom>
          <a:ln cap="flat" w="9525">
            <a:solidFill>
              <a:srgbClr val="8B9CFF"/>
            </a:solidFill>
            <a:prstDash val="solid"/>
            <a:headEnd type="none" len="sm" w="sm"/>
            <a:tailEnd type="none" len="sm" w="sm"/>
          </a:ln>
        </p:spPr>
      </p:sp>
      <p:sp>
        <p:nvSpPr>
          <p:cNvPr name="AutoShape 7" id="7"/>
          <p:cNvSpPr/>
          <p:nvPr/>
        </p:nvSpPr>
        <p:spPr>
          <a:xfrm>
            <a:off x="4746115" y="7816200"/>
            <a:ext cx="11824173" cy="42994"/>
          </a:xfrm>
          <a:prstGeom prst="line">
            <a:avLst/>
          </a:prstGeom>
          <a:ln cap="flat" w="9525">
            <a:solidFill>
              <a:srgbClr val="8B9CFF"/>
            </a:solidFill>
            <a:prstDash val="solid"/>
            <a:headEnd type="none" len="sm" w="sm"/>
            <a:tailEnd type="none" len="sm" w="sm"/>
          </a:ln>
        </p:spPr>
      </p:sp>
      <p:sp>
        <p:nvSpPr>
          <p:cNvPr name="AutoShape 8" id="8"/>
          <p:cNvSpPr/>
          <p:nvPr/>
        </p:nvSpPr>
        <p:spPr>
          <a:xfrm>
            <a:off x="4700475" y="2183644"/>
            <a:ext cx="11824173" cy="43988"/>
          </a:xfrm>
          <a:prstGeom prst="line">
            <a:avLst/>
          </a:prstGeom>
          <a:ln cap="flat" w="9525">
            <a:solidFill>
              <a:srgbClr val="8B9CFF"/>
            </a:solidFill>
            <a:prstDash val="solid"/>
            <a:headEnd type="none" len="sm" w="sm"/>
            <a:tailEnd type="none" len="sm" w="sm"/>
          </a:ln>
        </p:spPr>
      </p:sp>
      <p:grpSp>
        <p:nvGrpSpPr>
          <p:cNvPr name="Group 9" id="9"/>
          <p:cNvGrpSpPr/>
          <p:nvPr/>
        </p:nvGrpSpPr>
        <p:grpSpPr>
          <a:xfrm rot="0">
            <a:off x="731679" y="2885327"/>
            <a:ext cx="3058928" cy="820243"/>
            <a:chOff x="0" y="0"/>
            <a:chExt cx="716932" cy="192243"/>
          </a:xfrm>
        </p:grpSpPr>
        <p:sp>
          <p:nvSpPr>
            <p:cNvPr name="Freeform 10" id="10"/>
            <p:cNvSpPr/>
            <p:nvPr/>
          </p:nvSpPr>
          <p:spPr>
            <a:xfrm flipH="false" flipV="false" rot="0">
              <a:off x="0" y="0"/>
              <a:ext cx="716932" cy="192243"/>
            </a:xfrm>
            <a:custGeom>
              <a:avLst/>
              <a:gdLst/>
              <a:ahLst/>
              <a:cxnLst/>
              <a:rect r="r" b="b" t="t" l="l"/>
              <a:pathLst>
                <a:path h="192243" w="716932">
                  <a:moveTo>
                    <a:pt x="96122" y="0"/>
                  </a:moveTo>
                  <a:lnTo>
                    <a:pt x="620811" y="0"/>
                  </a:lnTo>
                  <a:cubicBezTo>
                    <a:pt x="646304" y="0"/>
                    <a:pt x="670752" y="10127"/>
                    <a:pt x="688779" y="28153"/>
                  </a:cubicBezTo>
                  <a:cubicBezTo>
                    <a:pt x="706805" y="46180"/>
                    <a:pt x="716932" y="70629"/>
                    <a:pt x="716932" y="96122"/>
                  </a:cubicBezTo>
                  <a:lnTo>
                    <a:pt x="716932" y="96122"/>
                  </a:lnTo>
                  <a:cubicBezTo>
                    <a:pt x="716932" y="149208"/>
                    <a:pt x="673897" y="192243"/>
                    <a:pt x="620811" y="192243"/>
                  </a:cubicBezTo>
                  <a:lnTo>
                    <a:pt x="96122" y="192243"/>
                  </a:lnTo>
                  <a:cubicBezTo>
                    <a:pt x="70629" y="192243"/>
                    <a:pt x="46180" y="182116"/>
                    <a:pt x="28153" y="164090"/>
                  </a:cubicBezTo>
                  <a:cubicBezTo>
                    <a:pt x="10127" y="146064"/>
                    <a:pt x="0" y="121615"/>
                    <a:pt x="0" y="96122"/>
                  </a:cubicBezTo>
                  <a:lnTo>
                    <a:pt x="0" y="96122"/>
                  </a:lnTo>
                  <a:cubicBezTo>
                    <a:pt x="0" y="70629"/>
                    <a:pt x="10127" y="46180"/>
                    <a:pt x="28153" y="28153"/>
                  </a:cubicBezTo>
                  <a:cubicBezTo>
                    <a:pt x="46180" y="10127"/>
                    <a:pt x="70629" y="0"/>
                    <a:pt x="96122" y="0"/>
                  </a:cubicBezTo>
                  <a:close/>
                </a:path>
              </a:pathLst>
            </a:custGeom>
            <a:solidFill>
              <a:srgbClr val="FFFFFF"/>
            </a:solidFill>
          </p:spPr>
        </p:sp>
        <p:sp>
          <p:nvSpPr>
            <p:cNvPr name="TextBox 11" id="11"/>
            <p:cNvSpPr txBox="true"/>
            <p:nvPr/>
          </p:nvSpPr>
          <p:spPr>
            <a:xfrm>
              <a:off x="0" y="0"/>
              <a:ext cx="716932" cy="192243"/>
            </a:xfrm>
            <a:prstGeom prst="rect">
              <a:avLst/>
            </a:prstGeom>
          </p:spPr>
          <p:txBody>
            <a:bodyPr anchor="ctr" rtlCol="false" tIns="50800" lIns="50800" bIns="50800" rIns="50800"/>
            <a:lstStyle/>
            <a:p>
              <a:pPr algn="ctr">
                <a:lnSpc>
                  <a:spcPts val="1574"/>
                </a:lnSpc>
              </a:pPr>
            </a:p>
          </p:txBody>
        </p:sp>
      </p:grpSp>
      <p:grpSp>
        <p:nvGrpSpPr>
          <p:cNvPr name="Group 12" id="12"/>
          <p:cNvGrpSpPr/>
          <p:nvPr/>
        </p:nvGrpSpPr>
        <p:grpSpPr>
          <a:xfrm rot="0">
            <a:off x="4494032" y="2953344"/>
            <a:ext cx="1643599" cy="776049"/>
            <a:chOff x="0" y="0"/>
            <a:chExt cx="407153" cy="192243"/>
          </a:xfrm>
        </p:grpSpPr>
        <p:sp>
          <p:nvSpPr>
            <p:cNvPr name="Freeform 13" id="13"/>
            <p:cNvSpPr/>
            <p:nvPr/>
          </p:nvSpPr>
          <p:spPr>
            <a:xfrm flipH="false" flipV="false" rot="0">
              <a:off x="0" y="0"/>
              <a:ext cx="407153" cy="192243"/>
            </a:xfrm>
            <a:custGeom>
              <a:avLst/>
              <a:gdLst/>
              <a:ahLst/>
              <a:cxnLst/>
              <a:rect r="r" b="b" t="t" l="l"/>
              <a:pathLst>
                <a:path h="192243" w="407153">
                  <a:moveTo>
                    <a:pt x="96122" y="0"/>
                  </a:moveTo>
                  <a:lnTo>
                    <a:pt x="311031" y="0"/>
                  </a:lnTo>
                  <a:cubicBezTo>
                    <a:pt x="364118" y="0"/>
                    <a:pt x="407153" y="43035"/>
                    <a:pt x="407153" y="96122"/>
                  </a:cubicBezTo>
                  <a:lnTo>
                    <a:pt x="407153" y="96122"/>
                  </a:lnTo>
                  <a:cubicBezTo>
                    <a:pt x="407153" y="121615"/>
                    <a:pt x="397026" y="146064"/>
                    <a:pt x="379000" y="164090"/>
                  </a:cubicBezTo>
                  <a:cubicBezTo>
                    <a:pt x="360973" y="182116"/>
                    <a:pt x="336524" y="192243"/>
                    <a:pt x="311031" y="192243"/>
                  </a:cubicBezTo>
                  <a:lnTo>
                    <a:pt x="96122" y="192243"/>
                  </a:lnTo>
                  <a:cubicBezTo>
                    <a:pt x="70629" y="192243"/>
                    <a:pt x="46180" y="182116"/>
                    <a:pt x="28153" y="164090"/>
                  </a:cubicBezTo>
                  <a:cubicBezTo>
                    <a:pt x="10127" y="146064"/>
                    <a:pt x="0" y="121615"/>
                    <a:pt x="0" y="96122"/>
                  </a:cubicBezTo>
                  <a:lnTo>
                    <a:pt x="0" y="96122"/>
                  </a:lnTo>
                  <a:cubicBezTo>
                    <a:pt x="0" y="70629"/>
                    <a:pt x="10127" y="46180"/>
                    <a:pt x="28153" y="28153"/>
                  </a:cubicBezTo>
                  <a:cubicBezTo>
                    <a:pt x="46180" y="10127"/>
                    <a:pt x="70629" y="0"/>
                    <a:pt x="96122" y="0"/>
                  </a:cubicBezTo>
                  <a:close/>
                </a:path>
              </a:pathLst>
            </a:custGeom>
            <a:solidFill>
              <a:srgbClr val="51CFBD"/>
            </a:solidFill>
          </p:spPr>
        </p:sp>
        <p:sp>
          <p:nvSpPr>
            <p:cNvPr name="TextBox 14" id="14"/>
            <p:cNvSpPr txBox="true"/>
            <p:nvPr/>
          </p:nvSpPr>
          <p:spPr>
            <a:xfrm>
              <a:off x="0" y="0"/>
              <a:ext cx="407153" cy="192243"/>
            </a:xfrm>
            <a:prstGeom prst="rect">
              <a:avLst/>
            </a:prstGeom>
          </p:spPr>
          <p:txBody>
            <a:bodyPr anchor="ctr" rtlCol="false" tIns="50800" lIns="50800" bIns="50800" rIns="50800"/>
            <a:lstStyle/>
            <a:p>
              <a:pPr algn="ctr">
                <a:lnSpc>
                  <a:spcPts val="1574"/>
                </a:lnSpc>
              </a:pPr>
            </a:p>
          </p:txBody>
        </p:sp>
      </p:grpSp>
      <p:grpSp>
        <p:nvGrpSpPr>
          <p:cNvPr name="Group 15" id="15"/>
          <p:cNvGrpSpPr/>
          <p:nvPr/>
        </p:nvGrpSpPr>
        <p:grpSpPr>
          <a:xfrm rot="0">
            <a:off x="5794540" y="3950936"/>
            <a:ext cx="1999216" cy="776049"/>
            <a:chOff x="0" y="0"/>
            <a:chExt cx="495246" cy="192243"/>
          </a:xfrm>
        </p:grpSpPr>
        <p:sp>
          <p:nvSpPr>
            <p:cNvPr name="Freeform 16" id="16"/>
            <p:cNvSpPr/>
            <p:nvPr/>
          </p:nvSpPr>
          <p:spPr>
            <a:xfrm flipH="false" flipV="false" rot="0">
              <a:off x="0" y="0"/>
              <a:ext cx="495247" cy="192243"/>
            </a:xfrm>
            <a:custGeom>
              <a:avLst/>
              <a:gdLst/>
              <a:ahLst/>
              <a:cxnLst/>
              <a:rect r="r" b="b" t="t" l="l"/>
              <a:pathLst>
                <a:path h="192243" w="495247">
                  <a:moveTo>
                    <a:pt x="96122" y="0"/>
                  </a:moveTo>
                  <a:lnTo>
                    <a:pt x="399125" y="0"/>
                  </a:lnTo>
                  <a:cubicBezTo>
                    <a:pt x="452211" y="0"/>
                    <a:pt x="495247" y="43035"/>
                    <a:pt x="495247" y="96122"/>
                  </a:cubicBezTo>
                  <a:lnTo>
                    <a:pt x="495247" y="96122"/>
                  </a:lnTo>
                  <a:cubicBezTo>
                    <a:pt x="495247" y="121615"/>
                    <a:pt x="485119" y="146064"/>
                    <a:pt x="467093" y="164090"/>
                  </a:cubicBezTo>
                  <a:cubicBezTo>
                    <a:pt x="449067" y="182116"/>
                    <a:pt x="424618" y="192243"/>
                    <a:pt x="399125" y="192243"/>
                  </a:cubicBezTo>
                  <a:lnTo>
                    <a:pt x="96122" y="192243"/>
                  </a:lnTo>
                  <a:cubicBezTo>
                    <a:pt x="70629" y="192243"/>
                    <a:pt x="46180" y="182116"/>
                    <a:pt x="28153" y="164090"/>
                  </a:cubicBezTo>
                  <a:cubicBezTo>
                    <a:pt x="10127" y="146064"/>
                    <a:pt x="0" y="121615"/>
                    <a:pt x="0" y="96122"/>
                  </a:cubicBezTo>
                  <a:lnTo>
                    <a:pt x="0" y="96122"/>
                  </a:lnTo>
                  <a:cubicBezTo>
                    <a:pt x="0" y="70629"/>
                    <a:pt x="10127" y="46180"/>
                    <a:pt x="28153" y="28153"/>
                  </a:cubicBezTo>
                  <a:cubicBezTo>
                    <a:pt x="46180" y="10127"/>
                    <a:pt x="70629" y="0"/>
                    <a:pt x="96122" y="0"/>
                  </a:cubicBezTo>
                  <a:close/>
                </a:path>
              </a:pathLst>
            </a:custGeom>
            <a:solidFill>
              <a:srgbClr val="FF7685"/>
            </a:solidFill>
          </p:spPr>
        </p:sp>
        <p:sp>
          <p:nvSpPr>
            <p:cNvPr name="TextBox 17" id="17"/>
            <p:cNvSpPr txBox="true"/>
            <p:nvPr/>
          </p:nvSpPr>
          <p:spPr>
            <a:xfrm>
              <a:off x="0" y="0"/>
              <a:ext cx="495246" cy="192243"/>
            </a:xfrm>
            <a:prstGeom prst="rect">
              <a:avLst/>
            </a:prstGeom>
          </p:spPr>
          <p:txBody>
            <a:bodyPr anchor="ctr" rtlCol="false" tIns="50800" lIns="50800" bIns="50800" rIns="50800"/>
            <a:lstStyle/>
            <a:p>
              <a:pPr algn="ctr">
                <a:lnSpc>
                  <a:spcPts val="1574"/>
                </a:lnSpc>
              </a:pPr>
            </a:p>
          </p:txBody>
        </p:sp>
      </p:grpSp>
      <p:grpSp>
        <p:nvGrpSpPr>
          <p:cNvPr name="Group 18" id="18"/>
          <p:cNvGrpSpPr/>
          <p:nvPr/>
        </p:nvGrpSpPr>
        <p:grpSpPr>
          <a:xfrm rot="0">
            <a:off x="731679" y="5100744"/>
            <a:ext cx="3174176" cy="820243"/>
            <a:chOff x="0" y="0"/>
            <a:chExt cx="743943" cy="192243"/>
          </a:xfrm>
        </p:grpSpPr>
        <p:sp>
          <p:nvSpPr>
            <p:cNvPr name="Freeform 19" id="19"/>
            <p:cNvSpPr/>
            <p:nvPr/>
          </p:nvSpPr>
          <p:spPr>
            <a:xfrm flipH="false" flipV="false" rot="0">
              <a:off x="0" y="0"/>
              <a:ext cx="743943" cy="192243"/>
            </a:xfrm>
            <a:custGeom>
              <a:avLst/>
              <a:gdLst/>
              <a:ahLst/>
              <a:cxnLst/>
              <a:rect r="r" b="b" t="t" l="l"/>
              <a:pathLst>
                <a:path h="192243" w="743943">
                  <a:moveTo>
                    <a:pt x="96122" y="0"/>
                  </a:moveTo>
                  <a:lnTo>
                    <a:pt x="647822" y="0"/>
                  </a:lnTo>
                  <a:cubicBezTo>
                    <a:pt x="700908" y="0"/>
                    <a:pt x="743943" y="43035"/>
                    <a:pt x="743943" y="96122"/>
                  </a:cubicBezTo>
                  <a:lnTo>
                    <a:pt x="743943" y="96122"/>
                  </a:lnTo>
                  <a:cubicBezTo>
                    <a:pt x="743943" y="121615"/>
                    <a:pt x="733816" y="146064"/>
                    <a:pt x="715790" y="164090"/>
                  </a:cubicBezTo>
                  <a:cubicBezTo>
                    <a:pt x="697763" y="182116"/>
                    <a:pt x="673315" y="192243"/>
                    <a:pt x="647822" y="192243"/>
                  </a:cubicBezTo>
                  <a:lnTo>
                    <a:pt x="96122" y="192243"/>
                  </a:lnTo>
                  <a:cubicBezTo>
                    <a:pt x="70629" y="192243"/>
                    <a:pt x="46180" y="182116"/>
                    <a:pt x="28153" y="164090"/>
                  </a:cubicBezTo>
                  <a:cubicBezTo>
                    <a:pt x="10127" y="146064"/>
                    <a:pt x="0" y="121615"/>
                    <a:pt x="0" y="96122"/>
                  </a:cubicBezTo>
                  <a:lnTo>
                    <a:pt x="0" y="96122"/>
                  </a:lnTo>
                  <a:cubicBezTo>
                    <a:pt x="0" y="70629"/>
                    <a:pt x="10127" y="46180"/>
                    <a:pt x="28153" y="28153"/>
                  </a:cubicBezTo>
                  <a:cubicBezTo>
                    <a:pt x="46180" y="10127"/>
                    <a:pt x="70629" y="0"/>
                    <a:pt x="96122" y="0"/>
                  </a:cubicBezTo>
                  <a:close/>
                </a:path>
              </a:pathLst>
            </a:custGeom>
            <a:solidFill>
              <a:srgbClr val="FFFFFF"/>
            </a:solidFill>
          </p:spPr>
        </p:sp>
        <p:sp>
          <p:nvSpPr>
            <p:cNvPr name="TextBox 20" id="20"/>
            <p:cNvSpPr txBox="true"/>
            <p:nvPr/>
          </p:nvSpPr>
          <p:spPr>
            <a:xfrm>
              <a:off x="0" y="0"/>
              <a:ext cx="743943" cy="192243"/>
            </a:xfrm>
            <a:prstGeom prst="rect">
              <a:avLst/>
            </a:prstGeom>
          </p:spPr>
          <p:txBody>
            <a:bodyPr anchor="ctr" rtlCol="false" tIns="50800" lIns="50800" bIns="50800" rIns="50800"/>
            <a:lstStyle/>
            <a:p>
              <a:pPr algn="ctr">
                <a:lnSpc>
                  <a:spcPts val="1574"/>
                </a:lnSpc>
              </a:pPr>
            </a:p>
          </p:txBody>
        </p:sp>
      </p:grpSp>
      <p:grpSp>
        <p:nvGrpSpPr>
          <p:cNvPr name="Group 21" id="21"/>
          <p:cNvGrpSpPr/>
          <p:nvPr/>
        </p:nvGrpSpPr>
        <p:grpSpPr>
          <a:xfrm rot="0">
            <a:off x="731679" y="8257648"/>
            <a:ext cx="3174176" cy="820243"/>
            <a:chOff x="0" y="0"/>
            <a:chExt cx="743943" cy="192243"/>
          </a:xfrm>
        </p:grpSpPr>
        <p:sp>
          <p:nvSpPr>
            <p:cNvPr name="Freeform 22" id="22"/>
            <p:cNvSpPr/>
            <p:nvPr/>
          </p:nvSpPr>
          <p:spPr>
            <a:xfrm flipH="false" flipV="false" rot="0">
              <a:off x="0" y="0"/>
              <a:ext cx="743943" cy="192243"/>
            </a:xfrm>
            <a:custGeom>
              <a:avLst/>
              <a:gdLst/>
              <a:ahLst/>
              <a:cxnLst/>
              <a:rect r="r" b="b" t="t" l="l"/>
              <a:pathLst>
                <a:path h="192243" w="743943">
                  <a:moveTo>
                    <a:pt x="96122" y="0"/>
                  </a:moveTo>
                  <a:lnTo>
                    <a:pt x="647822" y="0"/>
                  </a:lnTo>
                  <a:cubicBezTo>
                    <a:pt x="700908" y="0"/>
                    <a:pt x="743943" y="43035"/>
                    <a:pt x="743943" y="96122"/>
                  </a:cubicBezTo>
                  <a:lnTo>
                    <a:pt x="743943" y="96122"/>
                  </a:lnTo>
                  <a:cubicBezTo>
                    <a:pt x="743943" y="121615"/>
                    <a:pt x="733816" y="146064"/>
                    <a:pt x="715790" y="164090"/>
                  </a:cubicBezTo>
                  <a:cubicBezTo>
                    <a:pt x="697763" y="182116"/>
                    <a:pt x="673315" y="192243"/>
                    <a:pt x="647822" y="192243"/>
                  </a:cubicBezTo>
                  <a:lnTo>
                    <a:pt x="96122" y="192243"/>
                  </a:lnTo>
                  <a:cubicBezTo>
                    <a:pt x="70629" y="192243"/>
                    <a:pt x="46180" y="182116"/>
                    <a:pt x="28153" y="164090"/>
                  </a:cubicBezTo>
                  <a:cubicBezTo>
                    <a:pt x="10127" y="146064"/>
                    <a:pt x="0" y="121615"/>
                    <a:pt x="0" y="96122"/>
                  </a:cubicBezTo>
                  <a:lnTo>
                    <a:pt x="0" y="96122"/>
                  </a:lnTo>
                  <a:cubicBezTo>
                    <a:pt x="0" y="70629"/>
                    <a:pt x="10127" y="46180"/>
                    <a:pt x="28153" y="28153"/>
                  </a:cubicBezTo>
                  <a:cubicBezTo>
                    <a:pt x="46180" y="10127"/>
                    <a:pt x="70629" y="0"/>
                    <a:pt x="96122" y="0"/>
                  </a:cubicBezTo>
                  <a:close/>
                </a:path>
              </a:pathLst>
            </a:custGeom>
            <a:solidFill>
              <a:srgbClr val="FFFFFF"/>
            </a:solidFill>
          </p:spPr>
        </p:sp>
        <p:sp>
          <p:nvSpPr>
            <p:cNvPr name="TextBox 23" id="23"/>
            <p:cNvSpPr txBox="true"/>
            <p:nvPr/>
          </p:nvSpPr>
          <p:spPr>
            <a:xfrm>
              <a:off x="0" y="0"/>
              <a:ext cx="743943" cy="192243"/>
            </a:xfrm>
            <a:prstGeom prst="rect">
              <a:avLst/>
            </a:prstGeom>
          </p:spPr>
          <p:txBody>
            <a:bodyPr anchor="ctr" rtlCol="false" tIns="50800" lIns="50800" bIns="50800" rIns="50800"/>
            <a:lstStyle/>
            <a:p>
              <a:pPr algn="ctr">
                <a:lnSpc>
                  <a:spcPts val="1574"/>
                </a:lnSpc>
              </a:pPr>
            </a:p>
          </p:txBody>
        </p:sp>
      </p:grpSp>
      <p:grpSp>
        <p:nvGrpSpPr>
          <p:cNvPr name="Group 24" id="24"/>
          <p:cNvGrpSpPr/>
          <p:nvPr/>
        </p:nvGrpSpPr>
        <p:grpSpPr>
          <a:xfrm rot="0">
            <a:off x="731679" y="4048470"/>
            <a:ext cx="3071461" cy="820243"/>
            <a:chOff x="0" y="0"/>
            <a:chExt cx="719869" cy="192243"/>
          </a:xfrm>
        </p:grpSpPr>
        <p:sp>
          <p:nvSpPr>
            <p:cNvPr name="Freeform 25" id="25"/>
            <p:cNvSpPr/>
            <p:nvPr/>
          </p:nvSpPr>
          <p:spPr>
            <a:xfrm flipH="false" flipV="false" rot="0">
              <a:off x="0" y="0"/>
              <a:ext cx="719869" cy="192243"/>
            </a:xfrm>
            <a:custGeom>
              <a:avLst/>
              <a:gdLst/>
              <a:ahLst/>
              <a:cxnLst/>
              <a:rect r="r" b="b" t="t" l="l"/>
              <a:pathLst>
                <a:path h="192243" w="719869">
                  <a:moveTo>
                    <a:pt x="96122" y="0"/>
                  </a:moveTo>
                  <a:lnTo>
                    <a:pt x="623748" y="0"/>
                  </a:lnTo>
                  <a:cubicBezTo>
                    <a:pt x="649241" y="0"/>
                    <a:pt x="673690" y="10127"/>
                    <a:pt x="691716" y="28153"/>
                  </a:cubicBezTo>
                  <a:cubicBezTo>
                    <a:pt x="709742" y="46180"/>
                    <a:pt x="719869" y="70629"/>
                    <a:pt x="719869" y="96122"/>
                  </a:cubicBezTo>
                  <a:lnTo>
                    <a:pt x="719869" y="96122"/>
                  </a:lnTo>
                  <a:cubicBezTo>
                    <a:pt x="719869" y="121615"/>
                    <a:pt x="709742" y="146064"/>
                    <a:pt x="691716" y="164090"/>
                  </a:cubicBezTo>
                  <a:cubicBezTo>
                    <a:pt x="673690" y="182116"/>
                    <a:pt x="649241" y="192243"/>
                    <a:pt x="623748" y="192243"/>
                  </a:cubicBezTo>
                  <a:lnTo>
                    <a:pt x="96122" y="192243"/>
                  </a:lnTo>
                  <a:cubicBezTo>
                    <a:pt x="70629" y="192243"/>
                    <a:pt x="46180" y="182116"/>
                    <a:pt x="28153" y="164090"/>
                  </a:cubicBezTo>
                  <a:cubicBezTo>
                    <a:pt x="10127" y="146064"/>
                    <a:pt x="0" y="121615"/>
                    <a:pt x="0" y="96122"/>
                  </a:cubicBezTo>
                  <a:lnTo>
                    <a:pt x="0" y="96122"/>
                  </a:lnTo>
                  <a:cubicBezTo>
                    <a:pt x="0" y="70629"/>
                    <a:pt x="10127" y="46180"/>
                    <a:pt x="28153" y="28153"/>
                  </a:cubicBezTo>
                  <a:cubicBezTo>
                    <a:pt x="46180" y="10127"/>
                    <a:pt x="70629" y="0"/>
                    <a:pt x="96122" y="0"/>
                  </a:cubicBezTo>
                  <a:close/>
                </a:path>
              </a:pathLst>
            </a:custGeom>
            <a:solidFill>
              <a:srgbClr val="FFFFFF"/>
            </a:solidFill>
          </p:spPr>
        </p:sp>
        <p:sp>
          <p:nvSpPr>
            <p:cNvPr name="TextBox 26" id="26"/>
            <p:cNvSpPr txBox="true"/>
            <p:nvPr/>
          </p:nvSpPr>
          <p:spPr>
            <a:xfrm>
              <a:off x="0" y="0"/>
              <a:ext cx="719869" cy="192243"/>
            </a:xfrm>
            <a:prstGeom prst="rect">
              <a:avLst/>
            </a:prstGeom>
          </p:spPr>
          <p:txBody>
            <a:bodyPr anchor="ctr" rtlCol="false" tIns="50800" lIns="50800" bIns="50800" rIns="50800"/>
            <a:lstStyle/>
            <a:p>
              <a:pPr algn="ctr">
                <a:lnSpc>
                  <a:spcPts val="1574"/>
                </a:lnSpc>
              </a:pPr>
            </a:p>
          </p:txBody>
        </p:sp>
      </p:grpSp>
      <p:grpSp>
        <p:nvGrpSpPr>
          <p:cNvPr name="Group 27" id="27"/>
          <p:cNvGrpSpPr/>
          <p:nvPr/>
        </p:nvGrpSpPr>
        <p:grpSpPr>
          <a:xfrm rot="0">
            <a:off x="731679" y="7205374"/>
            <a:ext cx="3174176" cy="820243"/>
            <a:chOff x="0" y="0"/>
            <a:chExt cx="743943" cy="192243"/>
          </a:xfrm>
        </p:grpSpPr>
        <p:sp>
          <p:nvSpPr>
            <p:cNvPr name="Freeform 28" id="28"/>
            <p:cNvSpPr/>
            <p:nvPr/>
          </p:nvSpPr>
          <p:spPr>
            <a:xfrm flipH="false" flipV="false" rot="0">
              <a:off x="0" y="0"/>
              <a:ext cx="743943" cy="192243"/>
            </a:xfrm>
            <a:custGeom>
              <a:avLst/>
              <a:gdLst/>
              <a:ahLst/>
              <a:cxnLst/>
              <a:rect r="r" b="b" t="t" l="l"/>
              <a:pathLst>
                <a:path h="192243" w="743943">
                  <a:moveTo>
                    <a:pt x="96122" y="0"/>
                  </a:moveTo>
                  <a:lnTo>
                    <a:pt x="647822" y="0"/>
                  </a:lnTo>
                  <a:cubicBezTo>
                    <a:pt x="700908" y="0"/>
                    <a:pt x="743943" y="43035"/>
                    <a:pt x="743943" y="96122"/>
                  </a:cubicBezTo>
                  <a:lnTo>
                    <a:pt x="743943" y="96122"/>
                  </a:lnTo>
                  <a:cubicBezTo>
                    <a:pt x="743943" y="121615"/>
                    <a:pt x="733816" y="146064"/>
                    <a:pt x="715790" y="164090"/>
                  </a:cubicBezTo>
                  <a:cubicBezTo>
                    <a:pt x="697763" y="182116"/>
                    <a:pt x="673315" y="192243"/>
                    <a:pt x="647822" y="192243"/>
                  </a:cubicBezTo>
                  <a:lnTo>
                    <a:pt x="96122" y="192243"/>
                  </a:lnTo>
                  <a:cubicBezTo>
                    <a:pt x="70629" y="192243"/>
                    <a:pt x="46180" y="182116"/>
                    <a:pt x="28153" y="164090"/>
                  </a:cubicBezTo>
                  <a:cubicBezTo>
                    <a:pt x="10127" y="146064"/>
                    <a:pt x="0" y="121615"/>
                    <a:pt x="0" y="96122"/>
                  </a:cubicBezTo>
                  <a:lnTo>
                    <a:pt x="0" y="96122"/>
                  </a:lnTo>
                  <a:cubicBezTo>
                    <a:pt x="0" y="70629"/>
                    <a:pt x="10127" y="46180"/>
                    <a:pt x="28153" y="28153"/>
                  </a:cubicBezTo>
                  <a:cubicBezTo>
                    <a:pt x="46180" y="10127"/>
                    <a:pt x="70629" y="0"/>
                    <a:pt x="96122" y="0"/>
                  </a:cubicBezTo>
                  <a:close/>
                </a:path>
              </a:pathLst>
            </a:custGeom>
            <a:solidFill>
              <a:srgbClr val="FFFFFF"/>
            </a:solidFill>
          </p:spPr>
        </p:sp>
        <p:sp>
          <p:nvSpPr>
            <p:cNvPr name="TextBox 29" id="29"/>
            <p:cNvSpPr txBox="true"/>
            <p:nvPr/>
          </p:nvSpPr>
          <p:spPr>
            <a:xfrm>
              <a:off x="0" y="0"/>
              <a:ext cx="743943" cy="192243"/>
            </a:xfrm>
            <a:prstGeom prst="rect">
              <a:avLst/>
            </a:prstGeom>
          </p:spPr>
          <p:txBody>
            <a:bodyPr anchor="ctr" rtlCol="false" tIns="50800" lIns="50800" bIns="50800" rIns="50800"/>
            <a:lstStyle/>
            <a:p>
              <a:pPr algn="ctr">
                <a:lnSpc>
                  <a:spcPts val="1574"/>
                </a:lnSpc>
              </a:pPr>
            </a:p>
          </p:txBody>
        </p:sp>
      </p:grpSp>
      <p:grpSp>
        <p:nvGrpSpPr>
          <p:cNvPr name="Group 30" id="30"/>
          <p:cNvGrpSpPr/>
          <p:nvPr/>
        </p:nvGrpSpPr>
        <p:grpSpPr>
          <a:xfrm rot="0">
            <a:off x="731679" y="6153100"/>
            <a:ext cx="3174176" cy="820243"/>
            <a:chOff x="0" y="0"/>
            <a:chExt cx="743943" cy="192243"/>
          </a:xfrm>
        </p:grpSpPr>
        <p:sp>
          <p:nvSpPr>
            <p:cNvPr name="Freeform 31" id="31"/>
            <p:cNvSpPr/>
            <p:nvPr/>
          </p:nvSpPr>
          <p:spPr>
            <a:xfrm flipH="false" flipV="false" rot="0">
              <a:off x="0" y="0"/>
              <a:ext cx="743943" cy="192243"/>
            </a:xfrm>
            <a:custGeom>
              <a:avLst/>
              <a:gdLst/>
              <a:ahLst/>
              <a:cxnLst/>
              <a:rect r="r" b="b" t="t" l="l"/>
              <a:pathLst>
                <a:path h="192243" w="743943">
                  <a:moveTo>
                    <a:pt x="96122" y="0"/>
                  </a:moveTo>
                  <a:lnTo>
                    <a:pt x="647822" y="0"/>
                  </a:lnTo>
                  <a:cubicBezTo>
                    <a:pt x="700908" y="0"/>
                    <a:pt x="743943" y="43035"/>
                    <a:pt x="743943" y="96122"/>
                  </a:cubicBezTo>
                  <a:lnTo>
                    <a:pt x="743943" y="96122"/>
                  </a:lnTo>
                  <a:cubicBezTo>
                    <a:pt x="743943" y="121615"/>
                    <a:pt x="733816" y="146064"/>
                    <a:pt x="715790" y="164090"/>
                  </a:cubicBezTo>
                  <a:cubicBezTo>
                    <a:pt x="697763" y="182116"/>
                    <a:pt x="673315" y="192243"/>
                    <a:pt x="647822" y="192243"/>
                  </a:cubicBezTo>
                  <a:lnTo>
                    <a:pt x="96122" y="192243"/>
                  </a:lnTo>
                  <a:cubicBezTo>
                    <a:pt x="70629" y="192243"/>
                    <a:pt x="46180" y="182116"/>
                    <a:pt x="28153" y="164090"/>
                  </a:cubicBezTo>
                  <a:cubicBezTo>
                    <a:pt x="10127" y="146064"/>
                    <a:pt x="0" y="121615"/>
                    <a:pt x="0" y="96122"/>
                  </a:cubicBezTo>
                  <a:lnTo>
                    <a:pt x="0" y="96122"/>
                  </a:lnTo>
                  <a:cubicBezTo>
                    <a:pt x="0" y="70629"/>
                    <a:pt x="10127" y="46180"/>
                    <a:pt x="28153" y="28153"/>
                  </a:cubicBezTo>
                  <a:cubicBezTo>
                    <a:pt x="46180" y="10127"/>
                    <a:pt x="70629" y="0"/>
                    <a:pt x="96122" y="0"/>
                  </a:cubicBezTo>
                  <a:close/>
                </a:path>
              </a:pathLst>
            </a:custGeom>
            <a:solidFill>
              <a:srgbClr val="FFFFFF"/>
            </a:solidFill>
          </p:spPr>
        </p:sp>
        <p:sp>
          <p:nvSpPr>
            <p:cNvPr name="TextBox 32" id="32"/>
            <p:cNvSpPr txBox="true"/>
            <p:nvPr/>
          </p:nvSpPr>
          <p:spPr>
            <a:xfrm>
              <a:off x="0" y="0"/>
              <a:ext cx="743943" cy="192243"/>
            </a:xfrm>
            <a:prstGeom prst="rect">
              <a:avLst/>
            </a:prstGeom>
          </p:spPr>
          <p:txBody>
            <a:bodyPr anchor="ctr" rtlCol="false" tIns="50800" lIns="50800" bIns="50800" rIns="50800"/>
            <a:lstStyle/>
            <a:p>
              <a:pPr algn="ctr">
                <a:lnSpc>
                  <a:spcPts val="1574"/>
                </a:lnSpc>
              </a:pPr>
            </a:p>
          </p:txBody>
        </p:sp>
      </p:grpSp>
      <p:grpSp>
        <p:nvGrpSpPr>
          <p:cNvPr name="Group 33" id="33"/>
          <p:cNvGrpSpPr/>
          <p:nvPr/>
        </p:nvGrpSpPr>
        <p:grpSpPr>
          <a:xfrm rot="0">
            <a:off x="7783748" y="4944636"/>
            <a:ext cx="3836752" cy="776049"/>
            <a:chOff x="0" y="0"/>
            <a:chExt cx="950442" cy="192243"/>
          </a:xfrm>
        </p:grpSpPr>
        <p:sp>
          <p:nvSpPr>
            <p:cNvPr name="Freeform 34" id="34"/>
            <p:cNvSpPr/>
            <p:nvPr/>
          </p:nvSpPr>
          <p:spPr>
            <a:xfrm flipH="false" flipV="false" rot="0">
              <a:off x="0" y="0"/>
              <a:ext cx="950442" cy="192243"/>
            </a:xfrm>
            <a:custGeom>
              <a:avLst/>
              <a:gdLst/>
              <a:ahLst/>
              <a:cxnLst/>
              <a:rect r="r" b="b" t="t" l="l"/>
              <a:pathLst>
                <a:path h="192243" w="950442">
                  <a:moveTo>
                    <a:pt x="96122" y="0"/>
                  </a:moveTo>
                  <a:lnTo>
                    <a:pt x="854320" y="0"/>
                  </a:lnTo>
                  <a:cubicBezTo>
                    <a:pt x="879813" y="0"/>
                    <a:pt x="904262" y="10127"/>
                    <a:pt x="922288" y="28153"/>
                  </a:cubicBezTo>
                  <a:cubicBezTo>
                    <a:pt x="940315" y="46180"/>
                    <a:pt x="950442" y="70629"/>
                    <a:pt x="950442" y="96122"/>
                  </a:cubicBezTo>
                  <a:lnTo>
                    <a:pt x="950442" y="96122"/>
                  </a:lnTo>
                  <a:cubicBezTo>
                    <a:pt x="950442" y="149208"/>
                    <a:pt x="907407" y="192243"/>
                    <a:pt x="854320" y="192243"/>
                  </a:cubicBezTo>
                  <a:lnTo>
                    <a:pt x="96122" y="192243"/>
                  </a:lnTo>
                  <a:cubicBezTo>
                    <a:pt x="70629" y="192243"/>
                    <a:pt x="46180" y="182116"/>
                    <a:pt x="28153" y="164090"/>
                  </a:cubicBezTo>
                  <a:cubicBezTo>
                    <a:pt x="10127" y="146064"/>
                    <a:pt x="0" y="121615"/>
                    <a:pt x="0" y="96122"/>
                  </a:cubicBezTo>
                  <a:lnTo>
                    <a:pt x="0" y="96122"/>
                  </a:lnTo>
                  <a:cubicBezTo>
                    <a:pt x="0" y="70629"/>
                    <a:pt x="10127" y="46180"/>
                    <a:pt x="28153" y="28153"/>
                  </a:cubicBezTo>
                  <a:cubicBezTo>
                    <a:pt x="46180" y="10127"/>
                    <a:pt x="70629" y="0"/>
                    <a:pt x="96122" y="0"/>
                  </a:cubicBezTo>
                  <a:close/>
                </a:path>
              </a:pathLst>
            </a:custGeom>
            <a:solidFill>
              <a:srgbClr val="46C0FF"/>
            </a:solidFill>
          </p:spPr>
        </p:sp>
        <p:sp>
          <p:nvSpPr>
            <p:cNvPr name="TextBox 35" id="35"/>
            <p:cNvSpPr txBox="true"/>
            <p:nvPr/>
          </p:nvSpPr>
          <p:spPr>
            <a:xfrm>
              <a:off x="0" y="0"/>
              <a:ext cx="950442" cy="192243"/>
            </a:xfrm>
            <a:prstGeom prst="rect">
              <a:avLst/>
            </a:prstGeom>
          </p:spPr>
          <p:txBody>
            <a:bodyPr anchor="ctr" rtlCol="false" tIns="50800" lIns="50800" bIns="50800" rIns="50800"/>
            <a:lstStyle/>
            <a:p>
              <a:pPr algn="ctr">
                <a:lnSpc>
                  <a:spcPts val="1574"/>
                </a:lnSpc>
              </a:pPr>
            </a:p>
          </p:txBody>
        </p:sp>
      </p:grpSp>
      <p:grpSp>
        <p:nvGrpSpPr>
          <p:cNvPr name="Group 36" id="36"/>
          <p:cNvGrpSpPr/>
          <p:nvPr/>
        </p:nvGrpSpPr>
        <p:grpSpPr>
          <a:xfrm rot="0">
            <a:off x="11557066" y="5936913"/>
            <a:ext cx="1879874" cy="776049"/>
            <a:chOff x="0" y="0"/>
            <a:chExt cx="465683" cy="192243"/>
          </a:xfrm>
        </p:grpSpPr>
        <p:sp>
          <p:nvSpPr>
            <p:cNvPr name="Freeform 37" id="37"/>
            <p:cNvSpPr/>
            <p:nvPr/>
          </p:nvSpPr>
          <p:spPr>
            <a:xfrm flipH="false" flipV="false" rot="0">
              <a:off x="0" y="0"/>
              <a:ext cx="465683" cy="192243"/>
            </a:xfrm>
            <a:custGeom>
              <a:avLst/>
              <a:gdLst/>
              <a:ahLst/>
              <a:cxnLst/>
              <a:rect r="r" b="b" t="t" l="l"/>
              <a:pathLst>
                <a:path h="192243" w="465683">
                  <a:moveTo>
                    <a:pt x="96122" y="0"/>
                  </a:moveTo>
                  <a:lnTo>
                    <a:pt x="369561" y="0"/>
                  </a:lnTo>
                  <a:cubicBezTo>
                    <a:pt x="395054" y="0"/>
                    <a:pt x="419503" y="10127"/>
                    <a:pt x="437530" y="28153"/>
                  </a:cubicBezTo>
                  <a:cubicBezTo>
                    <a:pt x="455556" y="46180"/>
                    <a:pt x="465683" y="70629"/>
                    <a:pt x="465683" y="96122"/>
                  </a:cubicBezTo>
                  <a:lnTo>
                    <a:pt x="465683" y="96122"/>
                  </a:lnTo>
                  <a:cubicBezTo>
                    <a:pt x="465683" y="149208"/>
                    <a:pt x="422648" y="192243"/>
                    <a:pt x="369561" y="192243"/>
                  </a:cubicBezTo>
                  <a:lnTo>
                    <a:pt x="96122" y="192243"/>
                  </a:lnTo>
                  <a:cubicBezTo>
                    <a:pt x="70629" y="192243"/>
                    <a:pt x="46180" y="182116"/>
                    <a:pt x="28153" y="164090"/>
                  </a:cubicBezTo>
                  <a:cubicBezTo>
                    <a:pt x="10127" y="146064"/>
                    <a:pt x="0" y="121615"/>
                    <a:pt x="0" y="96122"/>
                  </a:cubicBezTo>
                  <a:lnTo>
                    <a:pt x="0" y="96122"/>
                  </a:lnTo>
                  <a:cubicBezTo>
                    <a:pt x="0" y="70629"/>
                    <a:pt x="10127" y="46180"/>
                    <a:pt x="28153" y="28153"/>
                  </a:cubicBezTo>
                  <a:cubicBezTo>
                    <a:pt x="46180" y="10127"/>
                    <a:pt x="70629" y="0"/>
                    <a:pt x="96122" y="0"/>
                  </a:cubicBezTo>
                  <a:close/>
                </a:path>
              </a:pathLst>
            </a:custGeom>
            <a:solidFill>
              <a:srgbClr val="FFBC55"/>
            </a:solidFill>
          </p:spPr>
        </p:sp>
        <p:sp>
          <p:nvSpPr>
            <p:cNvPr name="TextBox 38" id="38"/>
            <p:cNvSpPr txBox="true"/>
            <p:nvPr/>
          </p:nvSpPr>
          <p:spPr>
            <a:xfrm>
              <a:off x="0" y="0"/>
              <a:ext cx="465683" cy="192243"/>
            </a:xfrm>
            <a:prstGeom prst="rect">
              <a:avLst/>
            </a:prstGeom>
          </p:spPr>
          <p:txBody>
            <a:bodyPr anchor="ctr" rtlCol="false" tIns="50800" lIns="50800" bIns="50800" rIns="50800"/>
            <a:lstStyle/>
            <a:p>
              <a:pPr algn="ctr">
                <a:lnSpc>
                  <a:spcPts val="1574"/>
                </a:lnSpc>
              </a:pPr>
            </a:p>
          </p:txBody>
        </p:sp>
      </p:grpSp>
      <p:grpSp>
        <p:nvGrpSpPr>
          <p:cNvPr name="Group 39" id="39"/>
          <p:cNvGrpSpPr/>
          <p:nvPr/>
        </p:nvGrpSpPr>
        <p:grpSpPr>
          <a:xfrm rot="0">
            <a:off x="15018341" y="7921107"/>
            <a:ext cx="1689495" cy="776049"/>
            <a:chOff x="0" y="0"/>
            <a:chExt cx="418522" cy="192243"/>
          </a:xfrm>
        </p:grpSpPr>
        <p:sp>
          <p:nvSpPr>
            <p:cNvPr name="Freeform 40" id="40"/>
            <p:cNvSpPr/>
            <p:nvPr/>
          </p:nvSpPr>
          <p:spPr>
            <a:xfrm flipH="false" flipV="false" rot="0">
              <a:off x="0" y="0"/>
              <a:ext cx="418522" cy="192243"/>
            </a:xfrm>
            <a:custGeom>
              <a:avLst/>
              <a:gdLst/>
              <a:ahLst/>
              <a:cxnLst/>
              <a:rect r="r" b="b" t="t" l="l"/>
              <a:pathLst>
                <a:path h="192243" w="418522">
                  <a:moveTo>
                    <a:pt x="96122" y="0"/>
                  </a:moveTo>
                  <a:lnTo>
                    <a:pt x="322401" y="0"/>
                  </a:lnTo>
                  <a:cubicBezTo>
                    <a:pt x="375487" y="0"/>
                    <a:pt x="418522" y="43035"/>
                    <a:pt x="418522" y="96122"/>
                  </a:cubicBezTo>
                  <a:lnTo>
                    <a:pt x="418522" y="96122"/>
                  </a:lnTo>
                  <a:cubicBezTo>
                    <a:pt x="418522" y="121615"/>
                    <a:pt x="408395" y="146064"/>
                    <a:pt x="390369" y="164090"/>
                  </a:cubicBezTo>
                  <a:cubicBezTo>
                    <a:pt x="372343" y="182116"/>
                    <a:pt x="347894" y="192243"/>
                    <a:pt x="322401" y="192243"/>
                  </a:cubicBezTo>
                  <a:lnTo>
                    <a:pt x="96122" y="192243"/>
                  </a:lnTo>
                  <a:cubicBezTo>
                    <a:pt x="70629" y="192243"/>
                    <a:pt x="46180" y="182116"/>
                    <a:pt x="28153" y="164090"/>
                  </a:cubicBezTo>
                  <a:cubicBezTo>
                    <a:pt x="10127" y="146064"/>
                    <a:pt x="0" y="121615"/>
                    <a:pt x="0" y="96122"/>
                  </a:cubicBezTo>
                  <a:lnTo>
                    <a:pt x="0" y="96122"/>
                  </a:lnTo>
                  <a:cubicBezTo>
                    <a:pt x="0" y="70629"/>
                    <a:pt x="10127" y="46180"/>
                    <a:pt x="28153" y="28153"/>
                  </a:cubicBezTo>
                  <a:cubicBezTo>
                    <a:pt x="46180" y="10127"/>
                    <a:pt x="70629" y="0"/>
                    <a:pt x="96122" y="0"/>
                  </a:cubicBezTo>
                  <a:close/>
                </a:path>
              </a:pathLst>
            </a:custGeom>
            <a:solidFill>
              <a:srgbClr val="FFF576"/>
            </a:solidFill>
          </p:spPr>
        </p:sp>
        <p:sp>
          <p:nvSpPr>
            <p:cNvPr name="TextBox 41" id="41"/>
            <p:cNvSpPr txBox="true"/>
            <p:nvPr/>
          </p:nvSpPr>
          <p:spPr>
            <a:xfrm>
              <a:off x="0" y="0"/>
              <a:ext cx="418522" cy="192243"/>
            </a:xfrm>
            <a:prstGeom prst="rect">
              <a:avLst/>
            </a:prstGeom>
          </p:spPr>
          <p:txBody>
            <a:bodyPr anchor="ctr" rtlCol="false" tIns="50800" lIns="50800" bIns="50800" rIns="50800"/>
            <a:lstStyle/>
            <a:p>
              <a:pPr algn="ctr">
                <a:lnSpc>
                  <a:spcPts val="1574"/>
                </a:lnSpc>
              </a:pPr>
            </a:p>
          </p:txBody>
        </p:sp>
      </p:grpSp>
      <p:grpSp>
        <p:nvGrpSpPr>
          <p:cNvPr name="Group 42" id="42"/>
          <p:cNvGrpSpPr/>
          <p:nvPr/>
        </p:nvGrpSpPr>
        <p:grpSpPr>
          <a:xfrm rot="0">
            <a:off x="13064322" y="6978239"/>
            <a:ext cx="1954019" cy="776049"/>
            <a:chOff x="0" y="0"/>
            <a:chExt cx="484050" cy="192243"/>
          </a:xfrm>
        </p:grpSpPr>
        <p:sp>
          <p:nvSpPr>
            <p:cNvPr name="Freeform 43" id="43"/>
            <p:cNvSpPr/>
            <p:nvPr/>
          </p:nvSpPr>
          <p:spPr>
            <a:xfrm flipH="false" flipV="false" rot="0">
              <a:off x="0" y="0"/>
              <a:ext cx="484050" cy="192243"/>
            </a:xfrm>
            <a:custGeom>
              <a:avLst/>
              <a:gdLst/>
              <a:ahLst/>
              <a:cxnLst/>
              <a:rect r="r" b="b" t="t" l="l"/>
              <a:pathLst>
                <a:path h="192243" w="484050">
                  <a:moveTo>
                    <a:pt x="96122" y="0"/>
                  </a:moveTo>
                  <a:lnTo>
                    <a:pt x="387929" y="0"/>
                  </a:lnTo>
                  <a:cubicBezTo>
                    <a:pt x="413422" y="0"/>
                    <a:pt x="437871" y="10127"/>
                    <a:pt x="455897" y="28153"/>
                  </a:cubicBezTo>
                  <a:cubicBezTo>
                    <a:pt x="473923" y="46180"/>
                    <a:pt x="484050" y="70629"/>
                    <a:pt x="484050" y="96122"/>
                  </a:cubicBezTo>
                  <a:lnTo>
                    <a:pt x="484050" y="96122"/>
                  </a:lnTo>
                  <a:cubicBezTo>
                    <a:pt x="484050" y="121615"/>
                    <a:pt x="473923" y="146064"/>
                    <a:pt x="455897" y="164090"/>
                  </a:cubicBezTo>
                  <a:cubicBezTo>
                    <a:pt x="437871" y="182116"/>
                    <a:pt x="413422" y="192243"/>
                    <a:pt x="387929" y="192243"/>
                  </a:cubicBezTo>
                  <a:lnTo>
                    <a:pt x="96122" y="192243"/>
                  </a:lnTo>
                  <a:cubicBezTo>
                    <a:pt x="70629" y="192243"/>
                    <a:pt x="46180" y="182116"/>
                    <a:pt x="28153" y="164090"/>
                  </a:cubicBezTo>
                  <a:cubicBezTo>
                    <a:pt x="10127" y="146064"/>
                    <a:pt x="0" y="121615"/>
                    <a:pt x="0" y="96122"/>
                  </a:cubicBezTo>
                  <a:lnTo>
                    <a:pt x="0" y="96122"/>
                  </a:lnTo>
                  <a:cubicBezTo>
                    <a:pt x="0" y="70629"/>
                    <a:pt x="10127" y="46180"/>
                    <a:pt x="28153" y="28153"/>
                  </a:cubicBezTo>
                  <a:cubicBezTo>
                    <a:pt x="46180" y="10127"/>
                    <a:pt x="70629" y="0"/>
                    <a:pt x="96122" y="0"/>
                  </a:cubicBezTo>
                  <a:close/>
                </a:path>
              </a:pathLst>
            </a:custGeom>
            <a:solidFill>
              <a:srgbClr val="CD78C7"/>
            </a:solidFill>
          </p:spPr>
        </p:sp>
        <p:sp>
          <p:nvSpPr>
            <p:cNvPr name="TextBox 44" id="44"/>
            <p:cNvSpPr txBox="true"/>
            <p:nvPr/>
          </p:nvSpPr>
          <p:spPr>
            <a:xfrm>
              <a:off x="0" y="0"/>
              <a:ext cx="484050" cy="192243"/>
            </a:xfrm>
            <a:prstGeom prst="rect">
              <a:avLst/>
            </a:prstGeom>
          </p:spPr>
          <p:txBody>
            <a:bodyPr anchor="ctr" rtlCol="false" tIns="50800" lIns="50800" bIns="50800" rIns="50800"/>
            <a:lstStyle/>
            <a:p>
              <a:pPr algn="ctr">
                <a:lnSpc>
                  <a:spcPts val="1574"/>
                </a:lnSpc>
              </a:pPr>
            </a:p>
          </p:txBody>
        </p:sp>
      </p:grpSp>
      <p:sp>
        <p:nvSpPr>
          <p:cNvPr name="TextBox 45" id="45"/>
          <p:cNvSpPr txBox="true"/>
          <p:nvPr/>
        </p:nvSpPr>
        <p:spPr>
          <a:xfrm rot="0">
            <a:off x="1008295" y="3025574"/>
            <a:ext cx="2723036" cy="531557"/>
          </a:xfrm>
          <a:prstGeom prst="rect">
            <a:avLst/>
          </a:prstGeom>
        </p:spPr>
        <p:txBody>
          <a:bodyPr anchor="t" rtlCol="false" tIns="0" lIns="0" bIns="0" rIns="0">
            <a:spAutoFit/>
          </a:bodyPr>
          <a:lstStyle/>
          <a:p>
            <a:pPr algn="l">
              <a:lnSpc>
                <a:spcPts val="1991"/>
              </a:lnSpc>
              <a:spcBef>
                <a:spcPct val="0"/>
              </a:spcBef>
            </a:pPr>
            <a:r>
              <a:rPr lang="en-US" b="true" sz="1896" spc="-47">
                <a:solidFill>
                  <a:srgbClr val="51CFBD"/>
                </a:solidFill>
                <a:latin typeface="Telegraf Bold"/>
                <a:ea typeface="Telegraf Bold"/>
                <a:cs typeface="Telegraf Bold"/>
                <a:sym typeface="Telegraf Bold"/>
              </a:rPr>
              <a:t>Literature Review and Problem Analysis</a:t>
            </a:r>
          </a:p>
        </p:txBody>
      </p:sp>
      <p:sp>
        <p:nvSpPr>
          <p:cNvPr name="TextBox 46" id="46"/>
          <p:cNvSpPr txBox="true"/>
          <p:nvPr/>
        </p:nvSpPr>
        <p:spPr>
          <a:xfrm rot="0">
            <a:off x="1072410" y="4239848"/>
            <a:ext cx="2809073" cy="531557"/>
          </a:xfrm>
          <a:prstGeom prst="rect">
            <a:avLst/>
          </a:prstGeom>
        </p:spPr>
        <p:txBody>
          <a:bodyPr anchor="t" rtlCol="false" tIns="0" lIns="0" bIns="0" rIns="0">
            <a:spAutoFit/>
          </a:bodyPr>
          <a:lstStyle/>
          <a:p>
            <a:pPr algn="l">
              <a:lnSpc>
                <a:spcPts val="1991"/>
              </a:lnSpc>
              <a:spcBef>
                <a:spcPct val="0"/>
              </a:spcBef>
            </a:pPr>
            <a:r>
              <a:rPr lang="en-US" b="true" sz="1896" spc="-47">
                <a:solidFill>
                  <a:srgbClr val="FF7685"/>
                </a:solidFill>
                <a:latin typeface="Telegraf Bold"/>
                <a:ea typeface="Telegraf Bold"/>
                <a:cs typeface="Telegraf Bold"/>
                <a:sym typeface="Telegraf Bold"/>
              </a:rPr>
              <a:t>System Design and Architecture</a:t>
            </a:r>
          </a:p>
        </p:txBody>
      </p:sp>
      <p:sp>
        <p:nvSpPr>
          <p:cNvPr name="TextBox 47" id="47"/>
          <p:cNvSpPr txBox="true"/>
          <p:nvPr/>
        </p:nvSpPr>
        <p:spPr>
          <a:xfrm rot="0">
            <a:off x="1100960" y="5245128"/>
            <a:ext cx="2537706" cy="531557"/>
          </a:xfrm>
          <a:prstGeom prst="rect">
            <a:avLst/>
          </a:prstGeom>
        </p:spPr>
        <p:txBody>
          <a:bodyPr anchor="t" rtlCol="false" tIns="0" lIns="0" bIns="0" rIns="0">
            <a:spAutoFit/>
          </a:bodyPr>
          <a:lstStyle/>
          <a:p>
            <a:pPr algn="l">
              <a:lnSpc>
                <a:spcPts val="1991"/>
              </a:lnSpc>
              <a:spcBef>
                <a:spcPct val="0"/>
              </a:spcBef>
            </a:pPr>
            <a:r>
              <a:rPr lang="en-US" b="true" sz="1896" spc="-47">
                <a:solidFill>
                  <a:srgbClr val="46C0FF"/>
                </a:solidFill>
                <a:latin typeface="Telegraf Bold"/>
                <a:ea typeface="Telegraf Bold"/>
                <a:cs typeface="Telegraf Bold"/>
                <a:sym typeface="Telegraf Bold"/>
              </a:rPr>
              <a:t>Algorithm Implementation</a:t>
            </a:r>
          </a:p>
        </p:txBody>
      </p:sp>
      <p:sp>
        <p:nvSpPr>
          <p:cNvPr name="TextBox 48" id="48"/>
          <p:cNvSpPr txBox="true"/>
          <p:nvPr/>
        </p:nvSpPr>
        <p:spPr>
          <a:xfrm rot="0">
            <a:off x="937001" y="7327637"/>
            <a:ext cx="2763532" cy="531557"/>
          </a:xfrm>
          <a:prstGeom prst="rect">
            <a:avLst/>
          </a:prstGeom>
        </p:spPr>
        <p:txBody>
          <a:bodyPr anchor="t" rtlCol="false" tIns="0" lIns="0" bIns="0" rIns="0">
            <a:spAutoFit/>
          </a:bodyPr>
          <a:lstStyle/>
          <a:p>
            <a:pPr algn="l">
              <a:lnSpc>
                <a:spcPts val="1991"/>
              </a:lnSpc>
              <a:spcBef>
                <a:spcPct val="0"/>
              </a:spcBef>
            </a:pPr>
            <a:r>
              <a:rPr lang="en-US" b="true" sz="1896" spc="-47">
                <a:solidFill>
                  <a:srgbClr val="717EF2"/>
                </a:solidFill>
                <a:latin typeface="Telegraf Bold"/>
                <a:ea typeface="Telegraf Bold"/>
                <a:cs typeface="Telegraf Bold"/>
                <a:sym typeface="Telegraf Bold"/>
              </a:rPr>
              <a:t>Testing and Performance Evaluation</a:t>
            </a:r>
          </a:p>
        </p:txBody>
      </p:sp>
      <p:sp>
        <p:nvSpPr>
          <p:cNvPr name="TextBox 49" id="49"/>
          <p:cNvSpPr txBox="true"/>
          <p:nvPr/>
        </p:nvSpPr>
        <p:spPr>
          <a:xfrm rot="0">
            <a:off x="1100960" y="8378042"/>
            <a:ext cx="2497087" cy="531557"/>
          </a:xfrm>
          <a:prstGeom prst="rect">
            <a:avLst/>
          </a:prstGeom>
        </p:spPr>
        <p:txBody>
          <a:bodyPr anchor="t" rtlCol="false" tIns="0" lIns="0" bIns="0" rIns="0">
            <a:spAutoFit/>
          </a:bodyPr>
          <a:lstStyle/>
          <a:p>
            <a:pPr algn="l">
              <a:lnSpc>
                <a:spcPts val="1991"/>
              </a:lnSpc>
              <a:spcBef>
                <a:spcPct val="0"/>
              </a:spcBef>
            </a:pPr>
            <a:r>
              <a:rPr lang="en-US" b="true" sz="1896" spc="-47">
                <a:solidFill>
                  <a:srgbClr val="CFC658"/>
                </a:solidFill>
                <a:latin typeface="Telegraf Bold"/>
                <a:ea typeface="Telegraf Bold"/>
                <a:cs typeface="Telegraf Bold"/>
                <a:sym typeface="Telegraf Bold"/>
              </a:rPr>
              <a:t>Documentation and Thesis Writing</a:t>
            </a:r>
          </a:p>
        </p:txBody>
      </p:sp>
      <p:sp>
        <p:nvSpPr>
          <p:cNvPr name="TextBox 50" id="50"/>
          <p:cNvSpPr txBox="true"/>
          <p:nvPr/>
        </p:nvSpPr>
        <p:spPr>
          <a:xfrm rot="0">
            <a:off x="819464" y="6301986"/>
            <a:ext cx="3107501" cy="531557"/>
          </a:xfrm>
          <a:prstGeom prst="rect">
            <a:avLst/>
          </a:prstGeom>
        </p:spPr>
        <p:txBody>
          <a:bodyPr anchor="t" rtlCol="false" tIns="0" lIns="0" bIns="0" rIns="0">
            <a:spAutoFit/>
          </a:bodyPr>
          <a:lstStyle/>
          <a:p>
            <a:pPr algn="l">
              <a:lnSpc>
                <a:spcPts val="1991"/>
              </a:lnSpc>
              <a:spcBef>
                <a:spcPct val="0"/>
              </a:spcBef>
            </a:pPr>
            <a:r>
              <a:rPr lang="en-US" b="true" sz="1896" spc="-47">
                <a:solidFill>
                  <a:srgbClr val="46C0FF"/>
                </a:solidFill>
                <a:latin typeface="Telegraf Bold"/>
                <a:ea typeface="Telegraf Bold"/>
                <a:cs typeface="Telegraf Bold"/>
                <a:sym typeface="Telegraf Bold"/>
              </a:rPr>
              <a:t>Simulation and Visualization Development</a:t>
            </a:r>
          </a:p>
        </p:txBody>
      </p:sp>
      <p:grpSp>
        <p:nvGrpSpPr>
          <p:cNvPr name="Group 51" id="51"/>
          <p:cNvGrpSpPr/>
          <p:nvPr/>
        </p:nvGrpSpPr>
        <p:grpSpPr>
          <a:xfrm rot="0">
            <a:off x="1100960" y="2009027"/>
            <a:ext cx="2311074" cy="551796"/>
            <a:chOff x="0" y="0"/>
            <a:chExt cx="572500" cy="136691"/>
          </a:xfrm>
        </p:grpSpPr>
        <p:sp>
          <p:nvSpPr>
            <p:cNvPr name="Freeform 52" id="52"/>
            <p:cNvSpPr/>
            <p:nvPr/>
          </p:nvSpPr>
          <p:spPr>
            <a:xfrm flipH="false" flipV="false" rot="0">
              <a:off x="0" y="0"/>
              <a:ext cx="572500" cy="136691"/>
            </a:xfrm>
            <a:custGeom>
              <a:avLst/>
              <a:gdLst/>
              <a:ahLst/>
              <a:cxnLst/>
              <a:rect r="r" b="b" t="t" l="l"/>
              <a:pathLst>
                <a:path h="136691" w="572500">
                  <a:moveTo>
                    <a:pt x="68346" y="0"/>
                  </a:moveTo>
                  <a:lnTo>
                    <a:pt x="504155" y="0"/>
                  </a:lnTo>
                  <a:cubicBezTo>
                    <a:pt x="522281" y="0"/>
                    <a:pt x="539665" y="7201"/>
                    <a:pt x="552482" y="20018"/>
                  </a:cubicBezTo>
                  <a:cubicBezTo>
                    <a:pt x="565299" y="32835"/>
                    <a:pt x="572500" y="50219"/>
                    <a:pt x="572500" y="68346"/>
                  </a:cubicBezTo>
                  <a:lnTo>
                    <a:pt x="572500" y="68346"/>
                  </a:lnTo>
                  <a:cubicBezTo>
                    <a:pt x="572500" y="106092"/>
                    <a:pt x="541901" y="136691"/>
                    <a:pt x="504155" y="136691"/>
                  </a:cubicBezTo>
                  <a:lnTo>
                    <a:pt x="68346" y="136691"/>
                  </a:lnTo>
                  <a:cubicBezTo>
                    <a:pt x="50219" y="136691"/>
                    <a:pt x="32835" y="129490"/>
                    <a:pt x="20018" y="116673"/>
                  </a:cubicBezTo>
                  <a:cubicBezTo>
                    <a:pt x="7201" y="103856"/>
                    <a:pt x="0" y="86472"/>
                    <a:pt x="0" y="68346"/>
                  </a:cubicBezTo>
                  <a:lnTo>
                    <a:pt x="0" y="68346"/>
                  </a:lnTo>
                  <a:cubicBezTo>
                    <a:pt x="0" y="50219"/>
                    <a:pt x="7201" y="32835"/>
                    <a:pt x="20018" y="20018"/>
                  </a:cubicBezTo>
                  <a:cubicBezTo>
                    <a:pt x="32835" y="7201"/>
                    <a:pt x="50219" y="0"/>
                    <a:pt x="68346" y="0"/>
                  </a:cubicBezTo>
                  <a:close/>
                </a:path>
              </a:pathLst>
            </a:custGeom>
            <a:solidFill>
              <a:srgbClr val="51CFBD"/>
            </a:solidFill>
          </p:spPr>
        </p:sp>
        <p:sp>
          <p:nvSpPr>
            <p:cNvPr name="TextBox 53" id="53"/>
            <p:cNvSpPr txBox="true"/>
            <p:nvPr/>
          </p:nvSpPr>
          <p:spPr>
            <a:xfrm>
              <a:off x="0" y="0"/>
              <a:ext cx="572500" cy="136691"/>
            </a:xfrm>
            <a:prstGeom prst="rect">
              <a:avLst/>
            </a:prstGeom>
          </p:spPr>
          <p:txBody>
            <a:bodyPr anchor="ctr" rtlCol="false" tIns="50800" lIns="50800" bIns="50800" rIns="50800"/>
            <a:lstStyle/>
            <a:p>
              <a:pPr algn="ctr">
                <a:lnSpc>
                  <a:spcPts val="1574"/>
                </a:lnSpc>
              </a:pPr>
            </a:p>
          </p:txBody>
        </p:sp>
      </p:grpSp>
      <p:sp>
        <p:nvSpPr>
          <p:cNvPr name="TextBox 54" id="54"/>
          <p:cNvSpPr txBox="true"/>
          <p:nvPr/>
        </p:nvSpPr>
        <p:spPr>
          <a:xfrm rot="0">
            <a:off x="1651476" y="2106021"/>
            <a:ext cx="1210042" cy="379256"/>
          </a:xfrm>
          <a:prstGeom prst="rect">
            <a:avLst/>
          </a:prstGeom>
        </p:spPr>
        <p:txBody>
          <a:bodyPr anchor="t" rtlCol="false" tIns="0" lIns="0" bIns="0" rIns="0">
            <a:spAutoFit/>
          </a:bodyPr>
          <a:lstStyle/>
          <a:p>
            <a:pPr algn="l">
              <a:lnSpc>
                <a:spcPts val="2726"/>
              </a:lnSpc>
              <a:spcBef>
                <a:spcPct val="0"/>
              </a:spcBef>
            </a:pPr>
            <a:r>
              <a:rPr lang="en-US" b="true" sz="2596" spc="-64">
                <a:solidFill>
                  <a:srgbClr val="231F20"/>
                </a:solidFill>
                <a:latin typeface="Telegraf Bold"/>
                <a:ea typeface="Telegraf Bold"/>
                <a:cs typeface="Telegraf Bold"/>
                <a:sym typeface="Telegraf Bold"/>
              </a:rPr>
              <a:t>TASKS</a:t>
            </a:r>
          </a:p>
        </p:txBody>
      </p:sp>
      <p:grpSp>
        <p:nvGrpSpPr>
          <p:cNvPr name="Group 55" id="55"/>
          <p:cNvGrpSpPr/>
          <p:nvPr/>
        </p:nvGrpSpPr>
        <p:grpSpPr>
          <a:xfrm rot="0">
            <a:off x="4271435" y="2009027"/>
            <a:ext cx="12436401" cy="551796"/>
            <a:chOff x="0" y="0"/>
            <a:chExt cx="3080750" cy="136691"/>
          </a:xfrm>
        </p:grpSpPr>
        <p:sp>
          <p:nvSpPr>
            <p:cNvPr name="Freeform 56" id="56"/>
            <p:cNvSpPr/>
            <p:nvPr/>
          </p:nvSpPr>
          <p:spPr>
            <a:xfrm flipH="false" flipV="false" rot="0">
              <a:off x="0" y="0"/>
              <a:ext cx="3080750" cy="136691"/>
            </a:xfrm>
            <a:custGeom>
              <a:avLst/>
              <a:gdLst/>
              <a:ahLst/>
              <a:cxnLst/>
              <a:rect r="r" b="b" t="t" l="l"/>
              <a:pathLst>
                <a:path h="136691" w="3080750">
                  <a:moveTo>
                    <a:pt x="62252" y="0"/>
                  </a:moveTo>
                  <a:lnTo>
                    <a:pt x="3018498" y="0"/>
                  </a:lnTo>
                  <a:cubicBezTo>
                    <a:pt x="3052879" y="0"/>
                    <a:pt x="3080750" y="27871"/>
                    <a:pt x="3080750" y="62252"/>
                  </a:cubicBezTo>
                  <a:lnTo>
                    <a:pt x="3080750" y="74439"/>
                  </a:lnTo>
                  <a:cubicBezTo>
                    <a:pt x="3080750" y="108820"/>
                    <a:pt x="3052879" y="136691"/>
                    <a:pt x="3018498" y="136691"/>
                  </a:cubicBezTo>
                  <a:lnTo>
                    <a:pt x="62252" y="136691"/>
                  </a:lnTo>
                  <a:cubicBezTo>
                    <a:pt x="27871" y="136691"/>
                    <a:pt x="0" y="108820"/>
                    <a:pt x="0" y="74439"/>
                  </a:cubicBezTo>
                  <a:lnTo>
                    <a:pt x="0" y="62252"/>
                  </a:lnTo>
                  <a:cubicBezTo>
                    <a:pt x="0" y="27871"/>
                    <a:pt x="27871" y="0"/>
                    <a:pt x="62252" y="0"/>
                  </a:cubicBezTo>
                  <a:close/>
                </a:path>
              </a:pathLst>
            </a:custGeom>
            <a:solidFill>
              <a:srgbClr val="51CFBD"/>
            </a:solidFill>
          </p:spPr>
        </p:sp>
        <p:sp>
          <p:nvSpPr>
            <p:cNvPr name="TextBox 57" id="57"/>
            <p:cNvSpPr txBox="true"/>
            <p:nvPr/>
          </p:nvSpPr>
          <p:spPr>
            <a:xfrm>
              <a:off x="0" y="0"/>
              <a:ext cx="3080750" cy="136691"/>
            </a:xfrm>
            <a:prstGeom prst="rect">
              <a:avLst/>
            </a:prstGeom>
          </p:spPr>
          <p:txBody>
            <a:bodyPr anchor="ctr" rtlCol="false" tIns="50800" lIns="50800" bIns="50800" rIns="50800"/>
            <a:lstStyle/>
            <a:p>
              <a:pPr algn="ctr">
                <a:lnSpc>
                  <a:spcPts val="1574"/>
                </a:lnSpc>
              </a:pPr>
            </a:p>
          </p:txBody>
        </p:sp>
      </p:grpSp>
      <p:sp>
        <p:nvSpPr>
          <p:cNvPr name="TextBox 58" id="58"/>
          <p:cNvSpPr txBox="true"/>
          <p:nvPr/>
        </p:nvSpPr>
        <p:spPr>
          <a:xfrm rot="0">
            <a:off x="4528696" y="2141403"/>
            <a:ext cx="1507256" cy="318017"/>
          </a:xfrm>
          <a:prstGeom prst="rect">
            <a:avLst/>
          </a:prstGeom>
        </p:spPr>
        <p:txBody>
          <a:bodyPr anchor="t" rtlCol="false" tIns="0" lIns="0" bIns="0" rIns="0">
            <a:spAutoFit/>
          </a:bodyPr>
          <a:lstStyle/>
          <a:p>
            <a:pPr algn="ctr">
              <a:lnSpc>
                <a:spcPts val="2354"/>
              </a:lnSpc>
              <a:spcBef>
                <a:spcPct val="0"/>
              </a:spcBef>
            </a:pPr>
            <a:r>
              <a:rPr lang="en-US" b="true" sz="2242" spc="-56">
                <a:solidFill>
                  <a:srgbClr val="004AAD"/>
                </a:solidFill>
                <a:latin typeface="Telegraf Bold"/>
                <a:ea typeface="Telegraf Bold"/>
                <a:cs typeface="Telegraf Bold"/>
                <a:sym typeface="Telegraf Bold"/>
              </a:rPr>
              <a:t>MONTH -1</a:t>
            </a:r>
          </a:p>
        </p:txBody>
      </p:sp>
      <p:sp>
        <p:nvSpPr>
          <p:cNvPr name="TextBox 59" id="59"/>
          <p:cNvSpPr txBox="true"/>
          <p:nvPr/>
        </p:nvSpPr>
        <p:spPr>
          <a:xfrm rot="0">
            <a:off x="6285552" y="2141403"/>
            <a:ext cx="1507256" cy="318017"/>
          </a:xfrm>
          <a:prstGeom prst="rect">
            <a:avLst/>
          </a:prstGeom>
        </p:spPr>
        <p:txBody>
          <a:bodyPr anchor="t" rtlCol="false" tIns="0" lIns="0" bIns="0" rIns="0">
            <a:spAutoFit/>
          </a:bodyPr>
          <a:lstStyle/>
          <a:p>
            <a:pPr algn="ctr">
              <a:lnSpc>
                <a:spcPts val="2354"/>
              </a:lnSpc>
              <a:spcBef>
                <a:spcPct val="0"/>
              </a:spcBef>
            </a:pPr>
            <a:r>
              <a:rPr lang="en-US" b="true" sz="2242" spc="-56">
                <a:solidFill>
                  <a:srgbClr val="004AAD"/>
                </a:solidFill>
                <a:latin typeface="Telegraf Bold"/>
                <a:ea typeface="Telegraf Bold"/>
                <a:cs typeface="Telegraf Bold"/>
                <a:sym typeface="Telegraf Bold"/>
              </a:rPr>
              <a:t>MONTH -2</a:t>
            </a:r>
          </a:p>
        </p:txBody>
      </p:sp>
      <p:sp>
        <p:nvSpPr>
          <p:cNvPr name="TextBox 60" id="60"/>
          <p:cNvSpPr txBox="true"/>
          <p:nvPr/>
        </p:nvSpPr>
        <p:spPr>
          <a:xfrm rot="0">
            <a:off x="8042407" y="2141403"/>
            <a:ext cx="1507256" cy="318017"/>
          </a:xfrm>
          <a:prstGeom prst="rect">
            <a:avLst/>
          </a:prstGeom>
        </p:spPr>
        <p:txBody>
          <a:bodyPr anchor="t" rtlCol="false" tIns="0" lIns="0" bIns="0" rIns="0">
            <a:spAutoFit/>
          </a:bodyPr>
          <a:lstStyle/>
          <a:p>
            <a:pPr algn="ctr">
              <a:lnSpc>
                <a:spcPts val="2354"/>
              </a:lnSpc>
              <a:spcBef>
                <a:spcPct val="0"/>
              </a:spcBef>
            </a:pPr>
            <a:r>
              <a:rPr lang="en-US" b="true" sz="2242" spc="-56">
                <a:solidFill>
                  <a:srgbClr val="004AAD"/>
                </a:solidFill>
                <a:latin typeface="Telegraf Bold"/>
                <a:ea typeface="Telegraf Bold"/>
                <a:cs typeface="Telegraf Bold"/>
                <a:sym typeface="Telegraf Bold"/>
              </a:rPr>
              <a:t>MONTH -3</a:t>
            </a:r>
          </a:p>
        </p:txBody>
      </p:sp>
      <p:sp>
        <p:nvSpPr>
          <p:cNvPr name="TextBox 61" id="61"/>
          <p:cNvSpPr txBox="true"/>
          <p:nvPr/>
        </p:nvSpPr>
        <p:spPr>
          <a:xfrm rot="0">
            <a:off x="9799262" y="2141403"/>
            <a:ext cx="1507256" cy="318017"/>
          </a:xfrm>
          <a:prstGeom prst="rect">
            <a:avLst/>
          </a:prstGeom>
        </p:spPr>
        <p:txBody>
          <a:bodyPr anchor="t" rtlCol="false" tIns="0" lIns="0" bIns="0" rIns="0">
            <a:spAutoFit/>
          </a:bodyPr>
          <a:lstStyle/>
          <a:p>
            <a:pPr algn="ctr">
              <a:lnSpc>
                <a:spcPts val="2354"/>
              </a:lnSpc>
              <a:spcBef>
                <a:spcPct val="0"/>
              </a:spcBef>
            </a:pPr>
            <a:r>
              <a:rPr lang="en-US" b="true" sz="2242" spc="-56">
                <a:solidFill>
                  <a:srgbClr val="004AAD"/>
                </a:solidFill>
                <a:latin typeface="Telegraf Bold"/>
                <a:ea typeface="Telegraf Bold"/>
                <a:cs typeface="Telegraf Bold"/>
                <a:sym typeface="Telegraf Bold"/>
              </a:rPr>
              <a:t>MONTH -4</a:t>
            </a:r>
          </a:p>
        </p:txBody>
      </p:sp>
      <p:sp>
        <p:nvSpPr>
          <p:cNvPr name="TextBox 62" id="62"/>
          <p:cNvSpPr txBox="true"/>
          <p:nvPr/>
        </p:nvSpPr>
        <p:spPr>
          <a:xfrm rot="0">
            <a:off x="11556118" y="2141403"/>
            <a:ext cx="1507256" cy="318017"/>
          </a:xfrm>
          <a:prstGeom prst="rect">
            <a:avLst/>
          </a:prstGeom>
        </p:spPr>
        <p:txBody>
          <a:bodyPr anchor="t" rtlCol="false" tIns="0" lIns="0" bIns="0" rIns="0">
            <a:spAutoFit/>
          </a:bodyPr>
          <a:lstStyle/>
          <a:p>
            <a:pPr algn="ctr">
              <a:lnSpc>
                <a:spcPts val="2354"/>
              </a:lnSpc>
              <a:spcBef>
                <a:spcPct val="0"/>
              </a:spcBef>
            </a:pPr>
            <a:r>
              <a:rPr lang="en-US" b="true" sz="2242" spc="-56">
                <a:solidFill>
                  <a:srgbClr val="004AAD"/>
                </a:solidFill>
                <a:latin typeface="Telegraf Bold"/>
                <a:ea typeface="Telegraf Bold"/>
                <a:cs typeface="Telegraf Bold"/>
                <a:sym typeface="Telegraf Bold"/>
              </a:rPr>
              <a:t>MONTH -5</a:t>
            </a:r>
          </a:p>
        </p:txBody>
      </p:sp>
      <p:sp>
        <p:nvSpPr>
          <p:cNvPr name="TextBox 63" id="63"/>
          <p:cNvSpPr txBox="true"/>
          <p:nvPr/>
        </p:nvSpPr>
        <p:spPr>
          <a:xfrm rot="0">
            <a:off x="13312973" y="2141403"/>
            <a:ext cx="1507256" cy="318017"/>
          </a:xfrm>
          <a:prstGeom prst="rect">
            <a:avLst/>
          </a:prstGeom>
        </p:spPr>
        <p:txBody>
          <a:bodyPr anchor="t" rtlCol="false" tIns="0" lIns="0" bIns="0" rIns="0">
            <a:spAutoFit/>
          </a:bodyPr>
          <a:lstStyle/>
          <a:p>
            <a:pPr algn="ctr">
              <a:lnSpc>
                <a:spcPts val="2354"/>
              </a:lnSpc>
              <a:spcBef>
                <a:spcPct val="0"/>
              </a:spcBef>
            </a:pPr>
            <a:r>
              <a:rPr lang="en-US" b="true" sz="2242" spc="-56">
                <a:solidFill>
                  <a:srgbClr val="004AAD"/>
                </a:solidFill>
                <a:latin typeface="Telegraf Bold"/>
                <a:ea typeface="Telegraf Bold"/>
                <a:cs typeface="Telegraf Bold"/>
                <a:sym typeface="Telegraf Bold"/>
              </a:rPr>
              <a:t>MONTH -6</a:t>
            </a:r>
          </a:p>
        </p:txBody>
      </p:sp>
      <p:sp>
        <p:nvSpPr>
          <p:cNvPr name="TextBox 64" id="64"/>
          <p:cNvSpPr txBox="true"/>
          <p:nvPr/>
        </p:nvSpPr>
        <p:spPr>
          <a:xfrm rot="0">
            <a:off x="15017392" y="2141403"/>
            <a:ext cx="1507256" cy="318017"/>
          </a:xfrm>
          <a:prstGeom prst="rect">
            <a:avLst/>
          </a:prstGeom>
        </p:spPr>
        <p:txBody>
          <a:bodyPr anchor="t" rtlCol="false" tIns="0" lIns="0" bIns="0" rIns="0">
            <a:spAutoFit/>
          </a:bodyPr>
          <a:lstStyle/>
          <a:p>
            <a:pPr algn="ctr">
              <a:lnSpc>
                <a:spcPts val="2354"/>
              </a:lnSpc>
              <a:spcBef>
                <a:spcPct val="0"/>
              </a:spcBef>
            </a:pPr>
            <a:r>
              <a:rPr lang="en-US" b="true" sz="2242" spc="-56">
                <a:solidFill>
                  <a:srgbClr val="004AAD"/>
                </a:solidFill>
                <a:latin typeface="Telegraf Bold"/>
                <a:ea typeface="Telegraf Bold"/>
                <a:cs typeface="Telegraf Bold"/>
                <a:sym typeface="Telegraf Bold"/>
              </a:rPr>
              <a:t>MONTH -7</a:t>
            </a:r>
          </a:p>
        </p:txBody>
      </p:sp>
      <p:sp>
        <p:nvSpPr>
          <p:cNvPr name="AutoShape 65" id="65"/>
          <p:cNvSpPr/>
          <p:nvPr/>
        </p:nvSpPr>
        <p:spPr>
          <a:xfrm>
            <a:off x="4700519" y="2819994"/>
            <a:ext cx="11824173" cy="109538"/>
          </a:xfrm>
          <a:prstGeom prst="line">
            <a:avLst/>
          </a:prstGeom>
          <a:ln cap="flat" w="9525">
            <a:solidFill>
              <a:srgbClr val="8B9CFF"/>
            </a:solidFill>
            <a:prstDash val="solid"/>
            <a:headEnd type="none" len="sm" w="sm"/>
            <a:tailEnd type="none" len="sm" w="sm"/>
          </a:ln>
        </p:spPr>
      </p:sp>
      <p:sp>
        <p:nvSpPr>
          <p:cNvPr name="TextBox 66" id="66"/>
          <p:cNvSpPr txBox="true"/>
          <p:nvPr/>
        </p:nvSpPr>
        <p:spPr>
          <a:xfrm rot="0">
            <a:off x="5054940" y="190293"/>
            <a:ext cx="8382000" cy="770984"/>
          </a:xfrm>
          <a:prstGeom prst="rect">
            <a:avLst/>
          </a:prstGeom>
        </p:spPr>
        <p:txBody>
          <a:bodyPr anchor="t" rtlCol="false" tIns="0" lIns="0" bIns="0" rIns="0">
            <a:spAutoFit/>
          </a:bodyPr>
          <a:lstStyle/>
          <a:p>
            <a:pPr algn="ctr">
              <a:lnSpc>
                <a:spcPts val="5824"/>
              </a:lnSpc>
            </a:pPr>
            <a:r>
              <a:rPr lang="en-US" b="true" sz="5600">
                <a:solidFill>
                  <a:srgbClr val="021E47"/>
                </a:solidFill>
                <a:latin typeface="Gotham Bold"/>
                <a:ea typeface="Gotham Bold"/>
                <a:cs typeface="Gotham Bold"/>
                <a:sym typeface="Gotham Bold"/>
              </a:rPr>
              <a:t>GANTT CHART</a:t>
            </a:r>
          </a:p>
        </p:txBody>
      </p:sp>
      <p:sp>
        <p:nvSpPr>
          <p:cNvPr name="TextBox 67" id="67"/>
          <p:cNvSpPr txBox="true"/>
          <p:nvPr/>
        </p:nvSpPr>
        <p:spPr>
          <a:xfrm rot="0">
            <a:off x="4930973" y="1066800"/>
            <a:ext cx="8382000" cy="413451"/>
          </a:xfrm>
          <a:prstGeom prst="rect">
            <a:avLst/>
          </a:prstGeom>
        </p:spPr>
        <p:txBody>
          <a:bodyPr anchor="t" rtlCol="false" tIns="0" lIns="0" bIns="0" rIns="0">
            <a:spAutoFit/>
          </a:bodyPr>
          <a:lstStyle/>
          <a:p>
            <a:pPr algn="ctr">
              <a:lnSpc>
                <a:spcPts val="3120"/>
              </a:lnSpc>
            </a:pPr>
            <a:r>
              <a:rPr lang="en-US" sz="3000" b="true">
                <a:solidFill>
                  <a:srgbClr val="021E47"/>
                </a:solidFill>
                <a:latin typeface="Gotham Bold"/>
                <a:ea typeface="Gotham Bold"/>
                <a:cs typeface="Gotham Bold"/>
                <a:sym typeface="Gotham Bold"/>
              </a:rPr>
              <a:t>Time line</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3F6FC"/>
        </a:solidFill>
      </p:bgPr>
    </p:bg>
    <p:spTree>
      <p:nvGrpSpPr>
        <p:cNvPr id="1" name=""/>
        <p:cNvGrpSpPr/>
        <p:nvPr/>
      </p:nvGrpSpPr>
      <p:grpSpPr>
        <a:xfrm>
          <a:off x="0" y="0"/>
          <a:ext cx="0" cy="0"/>
          <a:chOff x="0" y="0"/>
          <a:chExt cx="0" cy="0"/>
        </a:xfrm>
      </p:grpSpPr>
      <p:sp>
        <p:nvSpPr>
          <p:cNvPr name="Freeform 2" id="2"/>
          <p:cNvSpPr/>
          <p:nvPr/>
        </p:nvSpPr>
        <p:spPr>
          <a:xfrm flipH="false" flipV="false" rot="2700000">
            <a:off x="16299339" y="8162409"/>
            <a:ext cx="3258582" cy="3258582"/>
          </a:xfrm>
          <a:custGeom>
            <a:avLst/>
            <a:gdLst/>
            <a:ahLst/>
            <a:cxnLst/>
            <a:rect r="r" b="b" t="t" l="l"/>
            <a:pathLst>
              <a:path h="3258582" w="3258582">
                <a:moveTo>
                  <a:pt x="0" y="0"/>
                </a:moveTo>
                <a:lnTo>
                  <a:pt x="3258582" y="0"/>
                </a:lnTo>
                <a:lnTo>
                  <a:pt x="3258582" y="3258582"/>
                </a:lnTo>
                <a:lnTo>
                  <a:pt x="0" y="3258582"/>
                </a:lnTo>
                <a:lnTo>
                  <a:pt x="0" y="0"/>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2700000">
            <a:off x="-1269921" y="8162409"/>
            <a:ext cx="3258582" cy="3258582"/>
          </a:xfrm>
          <a:custGeom>
            <a:avLst/>
            <a:gdLst/>
            <a:ahLst/>
            <a:cxnLst/>
            <a:rect r="r" b="b" t="t" l="l"/>
            <a:pathLst>
              <a:path h="3258582" w="3258582">
                <a:moveTo>
                  <a:pt x="0" y="0"/>
                </a:moveTo>
                <a:lnTo>
                  <a:pt x="3258582" y="0"/>
                </a:lnTo>
                <a:lnTo>
                  <a:pt x="3258582" y="3258582"/>
                </a:lnTo>
                <a:lnTo>
                  <a:pt x="0" y="3258582"/>
                </a:lnTo>
                <a:lnTo>
                  <a:pt x="0" y="0"/>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2180970" y="2955192"/>
            <a:ext cx="4591545" cy="7331808"/>
          </a:xfrm>
          <a:custGeom>
            <a:avLst/>
            <a:gdLst/>
            <a:ahLst/>
            <a:cxnLst/>
            <a:rect r="r" b="b" t="t" l="l"/>
            <a:pathLst>
              <a:path h="7331808" w="4591545">
                <a:moveTo>
                  <a:pt x="0" y="0"/>
                </a:moveTo>
                <a:lnTo>
                  <a:pt x="4591544" y="0"/>
                </a:lnTo>
                <a:lnTo>
                  <a:pt x="4591544" y="7331808"/>
                </a:lnTo>
                <a:lnTo>
                  <a:pt x="0" y="7331808"/>
                </a:lnTo>
                <a:lnTo>
                  <a:pt x="0" y="0"/>
                </a:lnTo>
                <a:close/>
              </a:path>
            </a:pathLst>
          </a:custGeom>
          <a:blipFill>
            <a:blip r:embed="rId4"/>
            <a:stretch>
              <a:fillRect l="0" t="0" r="0" b="0"/>
            </a:stretch>
          </a:blipFill>
        </p:spPr>
      </p:sp>
      <p:sp>
        <p:nvSpPr>
          <p:cNvPr name="TextBox 5" id="5"/>
          <p:cNvSpPr txBox="true"/>
          <p:nvPr/>
        </p:nvSpPr>
        <p:spPr>
          <a:xfrm rot="0">
            <a:off x="571500" y="4059539"/>
            <a:ext cx="8382000" cy="1504376"/>
          </a:xfrm>
          <a:prstGeom prst="rect">
            <a:avLst/>
          </a:prstGeom>
        </p:spPr>
        <p:txBody>
          <a:bodyPr anchor="t" rtlCol="false" tIns="0" lIns="0" bIns="0" rIns="0">
            <a:spAutoFit/>
          </a:bodyPr>
          <a:lstStyle/>
          <a:p>
            <a:pPr algn="ctr">
              <a:lnSpc>
                <a:spcPts val="5824"/>
              </a:lnSpc>
            </a:pPr>
            <a:r>
              <a:rPr lang="en-US" sz="5600" b="true">
                <a:solidFill>
                  <a:srgbClr val="00BF63"/>
                </a:solidFill>
                <a:latin typeface="Gotham Bold"/>
                <a:ea typeface="Gotham Bold"/>
                <a:cs typeface="Gotham Bold"/>
                <a:sym typeface="Gotham Bold"/>
              </a:rPr>
              <a:t>Do you have </a:t>
            </a:r>
            <a:r>
              <a:rPr lang="en-US" sz="5600" b="true">
                <a:solidFill>
                  <a:srgbClr val="46C0FF"/>
                </a:solidFill>
                <a:latin typeface="Gotham Bold"/>
                <a:ea typeface="Gotham Bold"/>
                <a:cs typeface="Gotham Bold"/>
                <a:sym typeface="Gotham Bold"/>
              </a:rPr>
              <a:t>Any Questions ?</a:t>
            </a:r>
          </a:p>
        </p:txBody>
      </p:sp>
      <p:sp>
        <p:nvSpPr>
          <p:cNvPr name="Freeform 6" id="6"/>
          <p:cNvSpPr/>
          <p:nvPr/>
        </p:nvSpPr>
        <p:spPr>
          <a:xfrm flipH="false" flipV="false" rot="0">
            <a:off x="14358712" y="0"/>
            <a:ext cx="3929288" cy="1951633"/>
          </a:xfrm>
          <a:custGeom>
            <a:avLst/>
            <a:gdLst/>
            <a:ahLst/>
            <a:cxnLst/>
            <a:rect r="r" b="b" t="t" l="l"/>
            <a:pathLst>
              <a:path h="1951633" w="3929288">
                <a:moveTo>
                  <a:pt x="0" y="0"/>
                </a:moveTo>
                <a:lnTo>
                  <a:pt x="3929288" y="0"/>
                </a:lnTo>
                <a:lnTo>
                  <a:pt x="3929288" y="1951633"/>
                </a:lnTo>
                <a:lnTo>
                  <a:pt x="0" y="1951633"/>
                </a:lnTo>
                <a:lnTo>
                  <a:pt x="0" y="0"/>
                </a:lnTo>
                <a:close/>
              </a:path>
            </a:pathLst>
          </a:custGeom>
          <a:blipFill>
            <a:blip r:embed="rId5"/>
            <a:stretch>
              <a:fillRect l="0" t="0" r="0" b="0"/>
            </a:stretch>
          </a:blipFill>
        </p:spPr>
      </p:sp>
      <p:sp>
        <p:nvSpPr>
          <p:cNvPr name="AutoShape 7" id="7"/>
          <p:cNvSpPr/>
          <p:nvPr/>
        </p:nvSpPr>
        <p:spPr>
          <a:xfrm>
            <a:off x="0" y="2040670"/>
            <a:ext cx="18288000" cy="0"/>
          </a:xfrm>
          <a:prstGeom prst="line">
            <a:avLst/>
          </a:prstGeom>
          <a:ln cap="flat" w="38100">
            <a:solidFill>
              <a:srgbClr val="000000"/>
            </a:solidFill>
            <a:prstDash val="solid"/>
            <a:headEnd type="none" len="sm" w="sm"/>
            <a:tailEnd type="none" len="sm" w="sm"/>
          </a:ln>
        </p:spPr>
      </p:sp>
      <p:sp>
        <p:nvSpPr>
          <p:cNvPr name="TextBox 8" id="8"/>
          <p:cNvSpPr txBox="true"/>
          <p:nvPr/>
        </p:nvSpPr>
        <p:spPr>
          <a:xfrm rot="0">
            <a:off x="0" y="78758"/>
            <a:ext cx="12755695" cy="683242"/>
          </a:xfrm>
          <a:prstGeom prst="rect">
            <a:avLst/>
          </a:prstGeom>
        </p:spPr>
        <p:txBody>
          <a:bodyPr anchor="t" rtlCol="false" tIns="0" lIns="0" bIns="0" rIns="0">
            <a:spAutoFit/>
          </a:bodyPr>
          <a:lstStyle/>
          <a:p>
            <a:pPr algn="ctr">
              <a:lnSpc>
                <a:spcPts val="5394"/>
              </a:lnSpc>
            </a:pPr>
            <a:r>
              <a:rPr lang="en-US" sz="3853">
                <a:solidFill>
                  <a:srgbClr val="000000"/>
                </a:solidFill>
                <a:latin typeface="Poppins"/>
                <a:ea typeface="Poppins"/>
                <a:cs typeface="Poppins"/>
                <a:sym typeface="Poppins"/>
              </a:rPr>
              <a:t>Department of Computer Science and Engineering</a:t>
            </a:r>
          </a:p>
        </p:txBody>
      </p:sp>
      <p:sp>
        <p:nvSpPr>
          <p:cNvPr name="TextBox 9" id="9"/>
          <p:cNvSpPr txBox="true"/>
          <p:nvPr/>
        </p:nvSpPr>
        <p:spPr>
          <a:xfrm rot="0">
            <a:off x="-246328" y="890092"/>
            <a:ext cx="4246828" cy="566354"/>
          </a:xfrm>
          <a:prstGeom prst="rect">
            <a:avLst/>
          </a:prstGeom>
        </p:spPr>
        <p:txBody>
          <a:bodyPr anchor="t" rtlCol="false" tIns="0" lIns="0" bIns="0" rIns="0">
            <a:spAutoFit/>
          </a:bodyPr>
          <a:lstStyle/>
          <a:p>
            <a:pPr algn="ctr">
              <a:lnSpc>
                <a:spcPts val="4480"/>
              </a:lnSpc>
            </a:pPr>
            <a:r>
              <a:rPr lang="en-US" sz="3200">
                <a:solidFill>
                  <a:srgbClr val="000000"/>
                </a:solidFill>
                <a:latin typeface="Poppins"/>
                <a:ea typeface="Poppins"/>
                <a:cs typeface="Poppins"/>
                <a:sym typeface="Poppins"/>
              </a:rPr>
              <a:t>Uttara University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DAG9bsWWnNs</dc:identifier>
  <dcterms:modified xsi:type="dcterms:W3CDTF">2011-08-01T06:04:30Z</dcterms:modified>
  <cp:revision>1</cp:revision>
  <dc:title>Blue and Yellow Geometric Product Development Flow Presentation</dc:title>
</cp:coreProperties>
</file>