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type="screen16x9"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1200FF"/>
    <a:srgbClr val="DDD5FD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tableStyles" Target="tableStyle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101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0101B"/>
                </a:solidFill>
                <a:latin typeface="Arial"/>
              </a:rPr>
              <a:t>Total: 9,409 images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00FF"/>
              </a:solidFill>
              <a:effectLst/>
            </c:spPr>
          </c:dPt>
          <c:dPt>
            <c:idx val="1"/>
            <c:bubble3D val="0"/>
            <c:spPr>
              <a:solidFill>
                <a:srgbClr val="8F89FF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Normal</c:v>
                </c:pt>
                <c:pt idx="1">
                  <c:v>Pneumonia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5264.0</c:v>
                </c:pt>
                <c:pt idx="1">
                  <c:v>4145.0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1200F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0101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CNN</c:v>
                </c:pt>
                <c:pt idx="1">
                  <c:v>DenseNet121</c:v>
                </c:pt>
                <c:pt idx="2">
                  <c:v>ResNet50</c:v>
                </c:pt>
                <c:pt idx="3">
                  <c:v>VGG16</c:v>
                </c:pt>
                <c:pt idx="4">
                  <c:v>EfficientNetB4</c:v>
                </c:pt>
                <c:pt idx="5">
                  <c:v>Ensemble A</c:v>
                </c:pt>
                <c:pt idx="6">
                  <c:v>Ensemble B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97.45</c:v>
                </c:pt>
                <c:pt idx="1">
                  <c:v>96.25</c:v>
                </c:pt>
                <c:pt idx="2">
                  <c:v>97.17</c:v>
                </c:pt>
                <c:pt idx="3">
                  <c:v>96.32</c:v>
                </c:pt>
                <c:pt idx="4">
                  <c:v>97.1</c:v>
                </c:pt>
                <c:pt idx="5">
                  <c:v>97.17</c:v>
                </c:pt>
                <c:pt idx="6">
                  <c:v>98.09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9.0"/>
          <c:min val="94.0"/>
        </c:scaling>
        <c:delete val="0"/>
        <c:axPos val="l"/>
        <c:majorGridlines>
          <c:spPr>
            <a:ln w="6350" cap="flat">
              <a:solidFill>
                <a:srgbClr val="E1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.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Welcome the committee, introduce yourselves and the thesis title.</a:t>
            </a:r>
          </a:p>
        </p:txBody>
      </p:sp>
      <p:sp>
        <p:nvSpPr>
          <p:cNvPr id="104858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Walk through the outline in one breath.</a:t>
            </a:r>
          </a:p>
        </p:txBody>
      </p:sp>
      <p:sp>
        <p:nvSpPr>
          <p:cNvPr id="10486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Set the context: why pneumonia and why chest X-rays.</a:t>
            </a:r>
          </a:p>
        </p:txBody>
      </p:sp>
      <p:sp>
        <p:nvSpPr>
          <p:cNvPr id="10486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State the gap in one sentence, then the three points.</a:t>
            </a:r>
          </a:p>
        </p:txBody>
      </p:sp>
      <p:sp>
        <p:nvSpPr>
          <p:cNvPr id="104865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Each objective maps to a result shown later.</a:t>
            </a:r>
          </a:p>
        </p:txBody>
      </p:sp>
      <p:sp>
        <p:nvSpPr>
          <p:cNvPr id="104867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Group by approach; end with our contribution.</a:t>
            </a:r>
          </a:p>
        </p:txBody>
      </p:sp>
      <p:sp>
        <p:nvSpPr>
          <p:cNvPr id="104867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9,409 images split 70 / 15 / 15 with a fixed random seed.</a:t>
            </a:r>
          </a:p>
        </p:txBody>
      </p:sp>
      <p:sp>
        <p:nvSpPr>
          <p:cNvPr id="104868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Augmentation is applied to training images only.</a:t>
            </a:r>
          </a:p>
        </p:txBody>
      </p:sp>
      <p:sp>
        <p:nvSpPr>
          <p:cNvPr id="10487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Point to each block as you name it.</a:t>
            </a:r>
          </a:p>
        </p:txBody>
      </p:sp>
      <p:sp>
        <p:nvSpPr>
          <p:cNvPr id="104873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Mention only the settings the committee may ask about.</a:t>
            </a:r>
          </a:p>
        </p:txBody>
      </p:sp>
      <p:sp>
        <p:nvSpPr>
          <p:cNvPr id="10487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Walk left to right through the blocks.</a:t>
            </a:r>
          </a:p>
        </p:txBody>
      </p:sp>
      <p:sp>
        <p:nvSpPr>
          <p:cNvPr id="104879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High precision, lower recall.</a:t>
            </a:r>
          </a:p>
        </p:txBody>
      </p:sp>
      <p:sp>
        <p:nvSpPr>
          <p:cNvPr id="10488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7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Residual connections help deep networks train.</a:t>
            </a:r>
          </a:p>
        </p:txBody>
      </p:sp>
      <p:sp>
        <p:nvSpPr>
          <p:cNvPr id="104887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Highest precision but lowest recall.</a:t>
            </a:r>
          </a:p>
        </p:txBody>
      </p:sp>
      <p:sp>
        <p:nvSpPr>
          <p:cNvPr id="104890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Larger input size, so training is slower.</a:t>
            </a:r>
          </a:p>
        </p:txBody>
      </p:sp>
      <p:sp>
        <p:nvSpPr>
          <p:cNvPr id="10489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Two pretrained networks combined into one saved model.</a:t>
            </a:r>
          </a:p>
        </p:txBody>
      </p:sp>
      <p:sp>
        <p:nvSpPr>
          <p:cNvPr id="10489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Weights come from validation accuracy.</a:t>
            </a:r>
          </a:p>
        </p:txBody>
      </p:sp>
      <p:sp>
        <p:nvSpPr>
          <p:cNvPr id="104900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4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TP = pneumonia found, TN = normal found.</a:t>
            </a:r>
          </a:p>
        </p:txBody>
      </p:sp>
      <p:sp>
        <p:nvSpPr>
          <p:cNvPr id="10490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4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Lead with the headline number, then the chart.</a:t>
            </a:r>
          </a:p>
        </p:txBody>
      </p:sp>
      <p:sp>
        <p:nvSpPr>
          <p:cNvPr id="104905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5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Highlight the row where the ensemble wins.</a:t>
            </a:r>
          </a:p>
        </p:txBody>
      </p:sp>
      <p:sp>
        <p:nvSpPr>
          <p:cNvPr id="104905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6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Close the loop back to the objectives.</a:t>
            </a:r>
          </a:p>
        </p:txBody>
      </p:sp>
      <p:sp>
        <p:nvSpPr>
          <p:cNvPr id="104907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7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No need to read these aloud.</a:t>
            </a:r>
          </a:p>
        </p:txBody>
      </p:sp>
      <p:sp>
        <p:nvSpPr>
          <p:cNvPr id="104907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8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Keep this brief and sincere.</a:t>
            </a:r>
          </a:p>
        </p:txBody>
      </p:sp>
      <p:sp>
        <p:nvSpPr>
          <p:cNvPr id="104908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9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Invite questions from the committee.</a:t>
            </a:r>
          </a:p>
        </p:txBody>
      </p:sp>
      <p:sp>
        <p:nvSpPr>
          <p:cNvPr id="104909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0FF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Image 0" descr="logo_whit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365760"/>
            <a:ext cx="1304483" cy="640080"/>
          </a:xfrm>
          <a:prstGeom prst="rect"/>
        </p:spPr>
      </p:pic>
      <p:sp>
        <p:nvSpPr>
          <p:cNvPr id="1048576" name="Text 0"/>
          <p:cNvSpPr txBox="1"/>
          <p:nvPr/>
        </p:nvSpPr>
        <p:spPr>
          <a:xfrm>
            <a:off x="457200" y="1417320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· UTTARA UNIVERSITY</a:t>
            </a:r>
            <a:endParaRPr dirty="0" sz="1000" lang="en-US"/>
          </a:p>
        </p:txBody>
      </p:sp>
      <p:sp>
        <p:nvSpPr>
          <p:cNvPr id="1048577" name="Text 1"/>
          <p:cNvSpPr txBox="1"/>
          <p:nvPr/>
        </p:nvSpPr>
        <p:spPr>
          <a:xfrm>
            <a:off x="457200" y="1691640"/>
            <a:ext cx="8229600" cy="10972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 Detection from Chest X-ray Images</a:t>
            </a:r>
            <a:endParaRPr dirty="0" sz="3200" lang="en-US"/>
          </a:p>
        </p:txBody>
      </p:sp>
      <p:sp>
        <p:nvSpPr>
          <p:cNvPr id="1048578" name="Text 2"/>
          <p:cNvSpPr txBox="1"/>
          <p:nvPr/>
        </p:nvSpPr>
        <p:spPr>
          <a:xfrm>
            <a:off x="457200" y="2926080"/>
            <a:ext cx="731520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E1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five deep learning models and a weighted ensemble to classify Normal vs Pneumonia</a:t>
            </a:r>
            <a:endParaRPr dirty="0" sz="1500" lang="en-US"/>
          </a:p>
        </p:txBody>
      </p:sp>
      <p:sp>
        <p:nvSpPr>
          <p:cNvPr id="1048579" name="Text 3"/>
          <p:cNvSpPr txBox="1"/>
          <p:nvPr/>
        </p:nvSpPr>
        <p:spPr>
          <a:xfrm>
            <a:off x="457200" y="3657600"/>
            <a:ext cx="27432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C9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dirty="0" sz="1000" lang="en-US"/>
          </a:p>
        </p:txBody>
      </p:sp>
      <p:sp>
        <p:nvSpPr>
          <p:cNvPr id="1048580" name="Text 4"/>
          <p:cNvSpPr txBox="1"/>
          <p:nvPr/>
        </p:nvSpPr>
        <p:spPr>
          <a:xfrm>
            <a:off x="457200" y="3858768"/>
            <a:ext cx="2743200" cy="9144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Humaira Akter Mim</a:t>
            </a:r>
            <a:endParaRPr dirty="0" sz="1100" lang="en-US"/>
          </a:p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2223081050</a:t>
            </a:r>
          </a:p>
          <a:p>
            <a:pPr indent="0" marL="0">
              <a:buNone/>
            </a:pPr>
            <a:endParaRPr dirty="0" sz="1100" lang="en-US"/>
          </a:p>
          <a:p>
            <a:pPr indent="0" marL="0">
              <a:buNone/>
            </a:pPr>
            <a:r>
              <a:rPr b="1" dirty="0" sz="1100" lang="en-US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Sumiya</a:t>
            </a:r>
            <a:r>
              <a:rPr b="1" dirty="0" sz="1100" lang="en-US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Akter</a:t>
            </a:r>
            <a:endParaRPr dirty="0" sz="1100" lang="en-US"/>
          </a:p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</a:t>
            </a:r>
            <a:r>
              <a:rPr dirty="0" sz="1100" lang="en-US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2222081078</a:t>
            </a:r>
            <a:endParaRPr dirty="0" sz="1100" lang="en-US"/>
          </a:p>
        </p:txBody>
      </p:sp>
      <p:sp>
        <p:nvSpPr>
          <p:cNvPr id="1048581" name="Text 5"/>
          <p:cNvSpPr txBox="1"/>
          <p:nvPr/>
        </p:nvSpPr>
        <p:spPr>
          <a:xfrm>
            <a:off x="3840480" y="3657600"/>
            <a:ext cx="27432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C9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BY</a:t>
            </a:r>
            <a:endParaRPr dirty="0" sz="1000" lang="en-US"/>
          </a:p>
        </p:txBody>
      </p:sp>
      <p:sp>
        <p:nvSpPr>
          <p:cNvPr id="1048582" name="Text 6"/>
          <p:cNvSpPr txBox="1"/>
          <p:nvPr/>
        </p:nvSpPr>
        <p:spPr>
          <a:xfrm>
            <a:off x="3840480" y="3858768"/>
            <a:ext cx="274320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Shamima</a:t>
            </a:r>
            <a:r>
              <a:rPr b="1" dirty="0" sz="1100" lang="en-US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Nasrin</a:t>
            </a:r>
          </a:p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Lecturer Dept. of CSE</a:t>
            </a:r>
            <a:endParaRPr dirty="0" sz="1100" lang="en-US"/>
          </a:p>
        </p:txBody>
      </p:sp>
      <p:sp>
        <p:nvSpPr>
          <p:cNvPr id="1048583" name="Text 7"/>
          <p:cNvSpPr txBox="1"/>
          <p:nvPr/>
        </p:nvSpPr>
        <p:spPr>
          <a:xfrm>
            <a:off x="7132320" y="3858768"/>
            <a:ext cx="1554480" cy="54864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Defense</a:t>
            </a:r>
            <a:endParaRPr dirty="0" sz="1100" lang="en-US"/>
          </a:p>
          <a:p>
            <a:pPr algn="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dirty="0" sz="11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dirty="0" sz="1000" lang="en-US"/>
          </a:p>
        </p:txBody>
      </p:sp>
      <p:sp>
        <p:nvSpPr>
          <p:cNvPr id="1048588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We’ll Cover</a:t>
            </a:r>
            <a:endParaRPr dirty="0" sz="2800" lang="en-US"/>
          </a:p>
        </p:txBody>
      </p:sp>
      <p:pic>
        <p:nvPicPr>
          <p:cNvPr id="2097153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8589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8590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25</a:t>
            </a:r>
            <a:endParaRPr dirty="0" sz="1000" lang="en-US"/>
          </a:p>
        </p:txBody>
      </p:sp>
      <p:sp>
        <p:nvSpPr>
          <p:cNvPr id="1048591" name="Shape 4"/>
          <p:cNvSpPr/>
          <p:nvPr/>
        </p:nvSpPr>
        <p:spPr>
          <a:xfrm>
            <a:off x="457200" y="1371600"/>
            <a:ext cx="4023360" cy="530352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592" name="Text 5"/>
          <p:cNvSpPr txBox="1"/>
          <p:nvPr/>
        </p:nvSpPr>
        <p:spPr>
          <a:xfrm>
            <a:off x="640080" y="1371600"/>
            <a:ext cx="4572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dirty="0" sz="1600" lang="en-US"/>
          </a:p>
        </p:txBody>
      </p:sp>
      <p:sp>
        <p:nvSpPr>
          <p:cNvPr id="1048593" name="Text 6"/>
          <p:cNvSpPr txBox="1"/>
          <p:nvPr/>
        </p:nvSpPr>
        <p:spPr>
          <a:xfrm>
            <a:off x="1188720" y="1371600"/>
            <a:ext cx="32004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Background</a:t>
            </a:r>
            <a:endParaRPr dirty="0" sz="1400" lang="en-US"/>
          </a:p>
        </p:txBody>
      </p:sp>
      <p:sp>
        <p:nvSpPr>
          <p:cNvPr id="1048594" name="Shape 7"/>
          <p:cNvSpPr/>
          <p:nvPr/>
        </p:nvSpPr>
        <p:spPr>
          <a:xfrm>
            <a:off x="4663440" y="1371600"/>
            <a:ext cx="4023360" cy="530352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595" name="Text 8"/>
          <p:cNvSpPr txBox="1"/>
          <p:nvPr/>
        </p:nvSpPr>
        <p:spPr>
          <a:xfrm>
            <a:off x="4846320" y="1371600"/>
            <a:ext cx="4572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dirty="0" sz="1600" lang="en-US"/>
          </a:p>
        </p:txBody>
      </p:sp>
      <p:sp>
        <p:nvSpPr>
          <p:cNvPr id="1048596" name="Text 9"/>
          <p:cNvSpPr txBox="1"/>
          <p:nvPr/>
        </p:nvSpPr>
        <p:spPr>
          <a:xfrm>
            <a:off x="5394960" y="1371600"/>
            <a:ext cx="32004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dirty="0" sz="1400" lang="en-US"/>
          </a:p>
        </p:txBody>
      </p:sp>
      <p:sp>
        <p:nvSpPr>
          <p:cNvPr id="1048597" name="Shape 10"/>
          <p:cNvSpPr/>
          <p:nvPr/>
        </p:nvSpPr>
        <p:spPr>
          <a:xfrm>
            <a:off x="457200" y="2029968"/>
            <a:ext cx="4023360" cy="530352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598" name="Text 11"/>
          <p:cNvSpPr txBox="1"/>
          <p:nvPr/>
        </p:nvSpPr>
        <p:spPr>
          <a:xfrm>
            <a:off x="640080" y="2029968"/>
            <a:ext cx="4572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dirty="0" sz="1600" lang="en-US"/>
          </a:p>
        </p:txBody>
      </p:sp>
      <p:sp>
        <p:nvSpPr>
          <p:cNvPr id="1048599" name="Text 12"/>
          <p:cNvSpPr txBox="1"/>
          <p:nvPr/>
        </p:nvSpPr>
        <p:spPr>
          <a:xfrm>
            <a:off x="1188720" y="2029968"/>
            <a:ext cx="32004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dirty="0" sz="1400" lang="en-US"/>
          </a:p>
        </p:txBody>
      </p:sp>
      <p:sp>
        <p:nvSpPr>
          <p:cNvPr id="1048600" name="Shape 13"/>
          <p:cNvSpPr/>
          <p:nvPr/>
        </p:nvSpPr>
        <p:spPr>
          <a:xfrm>
            <a:off x="4663440" y="2029968"/>
            <a:ext cx="4023360" cy="530352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601" name="Text 14"/>
          <p:cNvSpPr txBox="1"/>
          <p:nvPr/>
        </p:nvSpPr>
        <p:spPr>
          <a:xfrm>
            <a:off x="4846320" y="2029968"/>
            <a:ext cx="4572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dirty="0" sz="1600" lang="en-US"/>
          </a:p>
        </p:txBody>
      </p:sp>
      <p:sp>
        <p:nvSpPr>
          <p:cNvPr id="1048602" name="Text 15"/>
          <p:cNvSpPr txBox="1"/>
          <p:nvPr/>
        </p:nvSpPr>
        <p:spPr>
          <a:xfrm>
            <a:off x="5394960" y="2029968"/>
            <a:ext cx="32004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dirty="0" sz="1400" lang="en-US"/>
          </a:p>
        </p:txBody>
      </p:sp>
      <p:sp>
        <p:nvSpPr>
          <p:cNvPr id="1048603" name="Shape 16"/>
          <p:cNvSpPr/>
          <p:nvPr/>
        </p:nvSpPr>
        <p:spPr>
          <a:xfrm>
            <a:off x="457200" y="2688336"/>
            <a:ext cx="4023360" cy="530352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604" name="Text 17"/>
          <p:cNvSpPr txBox="1"/>
          <p:nvPr/>
        </p:nvSpPr>
        <p:spPr>
          <a:xfrm>
            <a:off x="640080" y="2688336"/>
            <a:ext cx="4572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dirty="0" sz="1600" lang="en-US"/>
          </a:p>
        </p:txBody>
      </p:sp>
      <p:sp>
        <p:nvSpPr>
          <p:cNvPr id="1048605" name="Text 18"/>
          <p:cNvSpPr txBox="1"/>
          <p:nvPr/>
        </p:nvSpPr>
        <p:spPr>
          <a:xfrm>
            <a:off x="1188720" y="2688336"/>
            <a:ext cx="32004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Preprocessing</a:t>
            </a:r>
            <a:endParaRPr dirty="0" sz="1400" lang="en-US"/>
          </a:p>
        </p:txBody>
      </p:sp>
      <p:sp>
        <p:nvSpPr>
          <p:cNvPr id="1048606" name="Shape 19"/>
          <p:cNvSpPr/>
          <p:nvPr/>
        </p:nvSpPr>
        <p:spPr>
          <a:xfrm>
            <a:off x="4663440" y="2688336"/>
            <a:ext cx="4023360" cy="530352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607" name="Text 20"/>
          <p:cNvSpPr txBox="1"/>
          <p:nvPr/>
        </p:nvSpPr>
        <p:spPr>
          <a:xfrm>
            <a:off x="4846320" y="2688336"/>
            <a:ext cx="4572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dirty="0" sz="1600" lang="en-US"/>
          </a:p>
        </p:txBody>
      </p:sp>
      <p:sp>
        <p:nvSpPr>
          <p:cNvPr id="1048608" name="Text 21"/>
          <p:cNvSpPr txBox="1"/>
          <p:nvPr/>
        </p:nvSpPr>
        <p:spPr>
          <a:xfrm>
            <a:off x="5394960" y="2688336"/>
            <a:ext cx="32004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&amp; Models</a:t>
            </a:r>
            <a:endParaRPr dirty="0" sz="1400" lang="en-US"/>
          </a:p>
        </p:txBody>
      </p:sp>
      <p:sp>
        <p:nvSpPr>
          <p:cNvPr id="1048609" name="Shape 22"/>
          <p:cNvSpPr/>
          <p:nvPr/>
        </p:nvSpPr>
        <p:spPr>
          <a:xfrm>
            <a:off x="457200" y="3346704"/>
            <a:ext cx="4023360" cy="530352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610" name="Text 23"/>
          <p:cNvSpPr txBox="1"/>
          <p:nvPr/>
        </p:nvSpPr>
        <p:spPr>
          <a:xfrm>
            <a:off x="640080" y="3346704"/>
            <a:ext cx="4572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dirty="0" sz="1600" lang="en-US"/>
          </a:p>
        </p:txBody>
      </p:sp>
      <p:sp>
        <p:nvSpPr>
          <p:cNvPr id="1048611" name="Text 24"/>
          <p:cNvSpPr txBox="1"/>
          <p:nvPr/>
        </p:nvSpPr>
        <p:spPr>
          <a:xfrm>
            <a:off x="1188720" y="3346704"/>
            <a:ext cx="32004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Model</a:t>
            </a:r>
            <a:endParaRPr dirty="0" sz="1400" lang="en-US"/>
          </a:p>
        </p:txBody>
      </p:sp>
      <p:sp>
        <p:nvSpPr>
          <p:cNvPr id="1048612" name="Shape 25"/>
          <p:cNvSpPr/>
          <p:nvPr/>
        </p:nvSpPr>
        <p:spPr>
          <a:xfrm>
            <a:off x="4663440" y="3346704"/>
            <a:ext cx="4023360" cy="530352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613" name="Text 26"/>
          <p:cNvSpPr txBox="1"/>
          <p:nvPr/>
        </p:nvSpPr>
        <p:spPr>
          <a:xfrm>
            <a:off x="4846320" y="3346704"/>
            <a:ext cx="4572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dirty="0" sz="1600" lang="en-US"/>
          </a:p>
        </p:txBody>
      </p:sp>
      <p:sp>
        <p:nvSpPr>
          <p:cNvPr id="1048614" name="Text 27"/>
          <p:cNvSpPr txBox="1"/>
          <p:nvPr/>
        </p:nvSpPr>
        <p:spPr>
          <a:xfrm>
            <a:off x="5394960" y="3346704"/>
            <a:ext cx="32004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Analysis</a:t>
            </a:r>
            <a:endParaRPr dirty="0" sz="1400" lang="en-US"/>
          </a:p>
        </p:txBody>
      </p:sp>
      <p:sp>
        <p:nvSpPr>
          <p:cNvPr id="1048615" name="Shape 28"/>
          <p:cNvSpPr/>
          <p:nvPr/>
        </p:nvSpPr>
        <p:spPr>
          <a:xfrm>
            <a:off x="457200" y="4005072"/>
            <a:ext cx="4023360" cy="530352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616" name="Text 29"/>
          <p:cNvSpPr txBox="1"/>
          <p:nvPr/>
        </p:nvSpPr>
        <p:spPr>
          <a:xfrm>
            <a:off x="640080" y="4005072"/>
            <a:ext cx="4572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dirty="0" sz="1600" lang="en-US"/>
          </a:p>
        </p:txBody>
      </p:sp>
      <p:sp>
        <p:nvSpPr>
          <p:cNvPr id="1048617" name="Text 30"/>
          <p:cNvSpPr txBox="1"/>
          <p:nvPr/>
        </p:nvSpPr>
        <p:spPr>
          <a:xfrm>
            <a:off x="1188720" y="4005072"/>
            <a:ext cx="32004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Discussion</a:t>
            </a:r>
            <a:endParaRPr dirty="0" sz="1400" lang="en-US"/>
          </a:p>
        </p:txBody>
      </p:sp>
      <p:sp>
        <p:nvSpPr>
          <p:cNvPr id="1048618" name="Shape 31"/>
          <p:cNvSpPr/>
          <p:nvPr/>
        </p:nvSpPr>
        <p:spPr>
          <a:xfrm>
            <a:off x="4663440" y="4005072"/>
            <a:ext cx="4023360" cy="530352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619" name="Text 32"/>
          <p:cNvSpPr txBox="1"/>
          <p:nvPr/>
        </p:nvSpPr>
        <p:spPr>
          <a:xfrm>
            <a:off x="4846320" y="4005072"/>
            <a:ext cx="4572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dirty="0" sz="1600" lang="en-US"/>
          </a:p>
        </p:txBody>
      </p:sp>
      <p:sp>
        <p:nvSpPr>
          <p:cNvPr id="1048620" name="Text 33"/>
          <p:cNvSpPr txBox="1"/>
          <p:nvPr/>
        </p:nvSpPr>
        <p:spPr>
          <a:xfrm>
            <a:off x="5394960" y="4005072"/>
            <a:ext cx="3200400" cy="53035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dirty="0" sz="14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INTRODUCTION</a:t>
            </a:r>
            <a:endParaRPr dirty="0" sz="1000" lang="en-US"/>
          </a:p>
        </p:txBody>
      </p:sp>
      <p:sp>
        <p:nvSpPr>
          <p:cNvPr id="1048625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Background</a:t>
            </a:r>
            <a:endParaRPr dirty="0" sz="2800" lang="en-US"/>
          </a:p>
        </p:txBody>
      </p:sp>
      <p:pic>
        <p:nvPicPr>
          <p:cNvPr id="2097154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8626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8627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25</a:t>
            </a:r>
            <a:endParaRPr dirty="0" sz="1000" lang="en-US"/>
          </a:p>
        </p:txBody>
      </p:sp>
      <p:pic>
        <p:nvPicPr>
          <p:cNvPr id="2097155" name="Image 1" descr="/home/claude/xray.jp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120640" y="1280160"/>
            <a:ext cx="3566160" cy="1871741"/>
          </a:xfrm>
          <a:prstGeom prst="rect"/>
        </p:spPr>
      </p:pic>
      <p:sp>
        <p:nvSpPr>
          <p:cNvPr id="1048628" name="Text 4"/>
          <p:cNvSpPr txBox="1"/>
          <p:nvPr/>
        </p:nvSpPr>
        <p:spPr>
          <a:xfrm>
            <a:off x="5120640" y="3200400"/>
            <a:ext cx="3566160" cy="22860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 X-ray showing pneumonia</a:t>
            </a:r>
            <a:endParaRPr dirty="0" sz="1000" lang="en-US"/>
          </a:p>
        </p:txBody>
      </p:sp>
      <p:sp>
        <p:nvSpPr>
          <p:cNvPr id="1048629" name="Text 5"/>
          <p:cNvSpPr txBox="1"/>
          <p:nvPr/>
        </p:nvSpPr>
        <p:spPr>
          <a:xfrm>
            <a:off x="457200" y="1280160"/>
            <a:ext cx="4389120" cy="10058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pneumonia?</a:t>
            </a:r>
            <a:endParaRPr dirty="0" sz="1300" lang="en-US"/>
          </a:p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lung infection that inflames the air sacs. It can be caused by bacteria, viruses or fungi and is dangerous for children and the elderly.</a:t>
            </a:r>
            <a:endParaRPr dirty="0" sz="1300" lang="en-US"/>
          </a:p>
        </p:txBody>
      </p:sp>
      <p:sp>
        <p:nvSpPr>
          <p:cNvPr id="1048630" name="Text 6"/>
          <p:cNvSpPr txBox="1"/>
          <p:nvPr/>
        </p:nvSpPr>
        <p:spPr>
          <a:xfrm>
            <a:off x="457200" y="2377440"/>
            <a:ext cx="438912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chest X-ray?</a:t>
            </a:r>
            <a:endParaRPr dirty="0" sz="1300" lang="en-US"/>
          </a:p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low cost and widely available, so it is the first test used for diagnosis.</a:t>
            </a:r>
            <a:endParaRPr dirty="0" sz="1300" lang="en-US"/>
          </a:p>
        </p:txBody>
      </p:sp>
      <p:sp>
        <p:nvSpPr>
          <p:cNvPr id="1048631" name="Text 7"/>
          <p:cNvSpPr txBox="1"/>
          <p:nvPr/>
        </p:nvSpPr>
        <p:spPr>
          <a:xfrm>
            <a:off x="457200" y="3289619"/>
            <a:ext cx="4389120" cy="631767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scope</a:t>
            </a:r>
            <a:endParaRPr dirty="0" sz="1300" lang="en-US"/>
          </a:p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X-rays as Normal or Pneumonia with deep learning.</a:t>
            </a:r>
            <a:endParaRPr dirty="0" sz="1300" lang="en-US"/>
          </a:p>
        </p:txBody>
      </p:sp>
      <p:sp>
        <p:nvSpPr>
          <p:cNvPr id="1048632" name="Shape 8"/>
          <p:cNvSpPr/>
          <p:nvPr/>
        </p:nvSpPr>
        <p:spPr>
          <a:xfrm>
            <a:off x="5120640" y="3611880"/>
            <a:ext cx="3566160" cy="914400"/>
          </a:xfrm>
          <a:prstGeom prst="roundRect">
            <a:avLst>
              <a:gd name="adj" fmla="val 6000"/>
            </a:avLst>
          </a:prstGeom>
          <a:noFill/>
          <a:ln w="9525">
            <a:noFill/>
            <a:prstDash val="solid"/>
          </a:ln>
        </p:spPr>
      </p:sp>
      <p:sp>
        <p:nvSpPr>
          <p:cNvPr id="1048633" name="Text 9"/>
          <p:cNvSpPr txBox="1"/>
          <p:nvPr/>
        </p:nvSpPr>
        <p:spPr>
          <a:xfrm>
            <a:off x="4846320" y="3592203"/>
            <a:ext cx="4505498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r>
              <a:rPr dirty="0" sz="1300" lang="en-US">
                <a:latin typeface="Arial" pitchFamily="34" charset="0"/>
                <a:ea typeface="Arial" pitchFamily="34" charset="-122"/>
                <a:cs typeface="Arial" pitchFamily="34" charset="-120"/>
              </a:rPr>
              <a:t>detect pneumonia from chest X-rays automatically, with high accuracy.</a:t>
            </a: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accurate screening aid for early detection.</a:t>
            </a:r>
            <a:endParaRPr dirty="0" sz="13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PROBLEM STATEMENT</a:t>
            </a:r>
            <a:endParaRPr dirty="0" sz="1000" lang="en-US"/>
          </a:p>
        </p:txBody>
      </p:sp>
      <p:sp>
        <p:nvSpPr>
          <p:cNvPr id="1048638" name="Text 1"/>
          <p:cNvSpPr txBox="1"/>
          <p:nvPr/>
        </p:nvSpPr>
        <p:spPr>
          <a:xfrm>
            <a:off x="457200" y="543864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Address</a:t>
            </a:r>
            <a:endParaRPr dirty="0" sz="2800" lang="en-US"/>
          </a:p>
        </p:txBody>
      </p:sp>
      <p:pic>
        <p:nvPicPr>
          <p:cNvPr id="2097156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8639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8640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25</a:t>
            </a:r>
            <a:endParaRPr dirty="0" sz="1000" lang="en-US"/>
          </a:p>
        </p:txBody>
      </p:sp>
      <p:sp>
        <p:nvSpPr>
          <p:cNvPr id="1048641" name="Shape 4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6000"/>
            </a:avLst>
          </a:prstGeom>
          <a:noFill/>
          <a:ln w="12700">
            <a:noFill/>
            <a:prstDash val="solid"/>
          </a:ln>
        </p:spPr>
      </p:sp>
      <p:sp>
        <p:nvSpPr>
          <p:cNvPr id="1048642" name="Text 5"/>
          <p:cNvSpPr txBox="1"/>
          <p:nvPr/>
        </p:nvSpPr>
        <p:spPr>
          <a:xfrm>
            <a:off x="731520" y="1371600"/>
            <a:ext cx="7680960" cy="914400"/>
          </a:xfrm>
          <a:prstGeom prst="rect"/>
          <a:noFill/>
          <a:ln>
            <a:noFill/>
          </a:ln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reading of chest X-rays is slow and can be wrong, so we need an accurate automatic system to detect pneumonia early.</a:t>
            </a:r>
            <a:endParaRPr dirty="0" sz="1600" lang="en-US"/>
          </a:p>
        </p:txBody>
      </p:sp>
      <p:sp>
        <p:nvSpPr>
          <p:cNvPr id="1048643" name="Shape 6"/>
          <p:cNvSpPr/>
          <p:nvPr/>
        </p:nvSpPr>
        <p:spPr>
          <a:xfrm>
            <a:off x="457200" y="2606040"/>
            <a:ext cx="2560320" cy="1828800"/>
          </a:xfrm>
          <a:prstGeom prst="roundRect">
            <a:avLst>
              <a:gd name="adj" fmla="val 3000"/>
            </a:avLst>
          </a:prstGeom>
          <a:noFill/>
          <a:ln w="9525">
            <a:noFill/>
            <a:prstDash val="solid"/>
          </a:ln>
        </p:spPr>
      </p:sp>
      <p:sp>
        <p:nvSpPr>
          <p:cNvPr id="1048644" name="Text 7"/>
          <p:cNvSpPr txBox="1"/>
          <p:nvPr/>
        </p:nvSpPr>
        <p:spPr>
          <a:xfrm>
            <a:off x="640080" y="2743200"/>
            <a:ext cx="219456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</a:t>
            </a:r>
            <a:endParaRPr dirty="0" sz="1000" lang="en-US"/>
          </a:p>
        </p:txBody>
      </p:sp>
      <p:sp>
        <p:nvSpPr>
          <p:cNvPr id="1048645" name="Text 8"/>
          <p:cNvSpPr txBox="1"/>
          <p:nvPr/>
        </p:nvSpPr>
        <p:spPr>
          <a:xfrm>
            <a:off x="640080" y="3108960"/>
            <a:ext cx="219456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Patients, especially children and the elderly, and radiologists with heavy workloads.</a:t>
            </a:r>
            <a:endParaRPr dirty="0" sz="1300" lang="en-US"/>
          </a:p>
        </p:txBody>
      </p:sp>
      <p:sp>
        <p:nvSpPr>
          <p:cNvPr id="1048646" name="Shape 9"/>
          <p:cNvSpPr/>
          <p:nvPr/>
        </p:nvSpPr>
        <p:spPr>
          <a:xfrm>
            <a:off x="3291840" y="2606040"/>
            <a:ext cx="2560320" cy="1828800"/>
          </a:xfrm>
          <a:prstGeom prst="roundRect">
            <a:avLst>
              <a:gd name="adj" fmla="val 3000"/>
            </a:avLst>
          </a:prstGeom>
          <a:noFill/>
          <a:ln w="9525">
            <a:noFill/>
            <a:prstDash val="solid"/>
          </a:ln>
        </p:spPr>
      </p:sp>
      <p:sp>
        <p:nvSpPr>
          <p:cNvPr id="1048647" name="Text 10"/>
          <p:cNvSpPr txBox="1"/>
          <p:nvPr/>
        </p:nvSpPr>
        <p:spPr>
          <a:xfrm>
            <a:off x="3474720" y="2743200"/>
            <a:ext cx="219456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</a:t>
            </a:r>
            <a:endParaRPr dirty="0" sz="1000" lang="en-US"/>
          </a:p>
        </p:txBody>
      </p:sp>
      <p:sp>
        <p:nvSpPr>
          <p:cNvPr id="1048648" name="Text 11"/>
          <p:cNvSpPr txBox="1"/>
          <p:nvPr/>
        </p:nvSpPr>
        <p:spPr>
          <a:xfrm>
            <a:off x="3474720" y="3108960"/>
            <a:ext cx="219456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 looks like other lung diseases, and one model alone may not be reliable.</a:t>
            </a:r>
            <a:endParaRPr dirty="0" sz="1300" lang="en-US"/>
          </a:p>
        </p:txBody>
      </p:sp>
      <p:sp>
        <p:nvSpPr>
          <p:cNvPr id="1048649" name="Shape 12"/>
          <p:cNvSpPr/>
          <p:nvPr/>
        </p:nvSpPr>
        <p:spPr>
          <a:xfrm>
            <a:off x="6035040" y="2638044"/>
            <a:ext cx="2560320" cy="1828800"/>
          </a:xfrm>
          <a:prstGeom prst="roundRect">
            <a:avLst>
              <a:gd name="adj" fmla="val 3000"/>
            </a:avLst>
          </a:prstGeom>
          <a:noFill/>
          <a:ln w="9525">
            <a:noFill/>
            <a:prstDash val="solid"/>
          </a:ln>
        </p:spPr>
      </p:sp>
      <p:sp>
        <p:nvSpPr>
          <p:cNvPr id="1048650" name="Text 13"/>
          <p:cNvSpPr txBox="1"/>
          <p:nvPr/>
        </p:nvSpPr>
        <p:spPr>
          <a:xfrm>
            <a:off x="6273876" y="2857500"/>
            <a:ext cx="219456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dirty="0" sz="1000" lang="en-US"/>
          </a:p>
        </p:txBody>
      </p:sp>
      <p:sp>
        <p:nvSpPr>
          <p:cNvPr id="1048651" name="Text 14"/>
          <p:cNvSpPr txBox="1"/>
          <p:nvPr/>
        </p:nvSpPr>
        <p:spPr>
          <a:xfrm>
            <a:off x="6309360" y="3108960"/>
            <a:ext cx="2194560" cy="11887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and free GPUs make strong medical-image models possible.</a:t>
            </a:r>
            <a:endParaRPr dirty="0" sz="13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OBJECTIVES</a:t>
            </a:r>
            <a:endParaRPr dirty="0" sz="1000" lang="en-US"/>
          </a:p>
        </p:txBody>
      </p:sp>
      <p:sp>
        <p:nvSpPr>
          <p:cNvPr id="1048656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dirty="0" sz="2800" lang="en-US"/>
          </a:p>
        </p:txBody>
      </p:sp>
      <p:pic>
        <p:nvPicPr>
          <p:cNvPr id="2097157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8657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8658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25</a:t>
            </a:r>
            <a:endParaRPr dirty="0" sz="1000" lang="en-US"/>
          </a:p>
        </p:txBody>
      </p:sp>
      <p:sp>
        <p:nvSpPr>
          <p:cNvPr id="1048659" name="Shape 4"/>
          <p:cNvSpPr/>
          <p:nvPr/>
        </p:nvSpPr>
        <p:spPr>
          <a:xfrm>
            <a:off x="457200" y="137160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1200FF"/>
            </a:solidFill>
            <a:prstDash val="solid"/>
          </a:ln>
        </p:spPr>
      </p:sp>
      <p:sp>
        <p:nvSpPr>
          <p:cNvPr id="1048660" name="Text 5"/>
          <p:cNvSpPr txBox="1"/>
          <p:nvPr/>
        </p:nvSpPr>
        <p:spPr>
          <a:xfrm>
            <a:off x="685800" y="1554480"/>
            <a:ext cx="91440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dirty="0" sz="2200" lang="en-US"/>
          </a:p>
        </p:txBody>
      </p:sp>
      <p:sp>
        <p:nvSpPr>
          <p:cNvPr id="1048661" name="Text 6"/>
          <p:cNvSpPr txBox="1"/>
          <p:nvPr/>
        </p:nvSpPr>
        <p:spPr>
          <a:xfrm>
            <a:off x="685800" y="2011680"/>
            <a:ext cx="356616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five models (CNN, DenseNet121, ResNet50, VGG16, EfficientNetB4) to classify Normal vs Pneumonia.</a:t>
            </a:r>
            <a:endParaRPr dirty="0" sz="1300" lang="en-US"/>
          </a:p>
        </p:txBody>
      </p:sp>
      <p:sp>
        <p:nvSpPr>
          <p:cNvPr id="1048662" name="Shape 7"/>
          <p:cNvSpPr/>
          <p:nvPr/>
        </p:nvSpPr>
        <p:spPr>
          <a:xfrm>
            <a:off x="4663440" y="137160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1200FF"/>
            </a:solidFill>
            <a:prstDash val="solid"/>
          </a:ln>
        </p:spPr>
      </p:sp>
      <p:sp>
        <p:nvSpPr>
          <p:cNvPr id="1048663" name="Text 8"/>
          <p:cNvSpPr txBox="1"/>
          <p:nvPr/>
        </p:nvSpPr>
        <p:spPr>
          <a:xfrm>
            <a:off x="4892040" y="1554480"/>
            <a:ext cx="91440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dirty="0" sz="2200" lang="en-US"/>
          </a:p>
        </p:txBody>
      </p:sp>
      <p:sp>
        <p:nvSpPr>
          <p:cNvPr id="1048664" name="Text 9"/>
          <p:cNvSpPr txBox="1"/>
          <p:nvPr/>
        </p:nvSpPr>
        <p:spPr>
          <a:xfrm>
            <a:off x="4892040" y="2011680"/>
            <a:ext cx="356616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models using accuracy, precision, recall, F1-score and AUC.</a:t>
            </a:r>
            <a:endParaRPr dirty="0" sz="1300" lang="en-US"/>
          </a:p>
        </p:txBody>
      </p:sp>
      <p:sp>
        <p:nvSpPr>
          <p:cNvPr id="1048665" name="Shape 10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1200FF"/>
            </a:solidFill>
            <a:prstDash val="solid"/>
          </a:ln>
        </p:spPr>
      </p:sp>
      <p:sp>
        <p:nvSpPr>
          <p:cNvPr id="1048666" name="Text 11"/>
          <p:cNvSpPr txBox="1"/>
          <p:nvPr/>
        </p:nvSpPr>
        <p:spPr>
          <a:xfrm>
            <a:off x="685800" y="3200400"/>
            <a:ext cx="91440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dirty="0" sz="2200" lang="en-US"/>
          </a:p>
        </p:txBody>
      </p:sp>
      <p:sp>
        <p:nvSpPr>
          <p:cNvPr id="1048667" name="Text 12"/>
          <p:cNvSpPr txBox="1"/>
          <p:nvPr/>
        </p:nvSpPr>
        <p:spPr>
          <a:xfrm>
            <a:off x="685800" y="3657600"/>
            <a:ext cx="356616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weighted-average ensemble to improve accuracy and reliability.</a:t>
            </a:r>
            <a:endParaRPr dirty="0" sz="1300" lang="en-US"/>
          </a:p>
        </p:txBody>
      </p:sp>
      <p:sp>
        <p:nvSpPr>
          <p:cNvPr id="1048668" name="Shape 13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1200FF"/>
            </a:solidFill>
            <a:prstDash val="solid"/>
          </a:ln>
        </p:spPr>
      </p:sp>
      <p:sp>
        <p:nvSpPr>
          <p:cNvPr id="1048669" name="Text 14"/>
          <p:cNvSpPr txBox="1"/>
          <p:nvPr/>
        </p:nvSpPr>
        <p:spPr>
          <a:xfrm>
            <a:off x="4892040" y="3200400"/>
            <a:ext cx="91440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dirty="0" sz="2200" lang="en-US"/>
          </a:p>
        </p:txBody>
      </p:sp>
      <p:sp>
        <p:nvSpPr>
          <p:cNvPr id="1048670" name="Text 15"/>
          <p:cNvSpPr txBox="1"/>
          <p:nvPr/>
        </p:nvSpPr>
        <p:spPr>
          <a:xfrm>
            <a:off x="4892040" y="3657600"/>
            <a:ext cx="356616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most reliable system for supporting early pneumonia screening.</a:t>
            </a:r>
            <a:endParaRPr dirty="0" sz="13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LITERATURE REVIEW</a:t>
            </a:r>
            <a:endParaRPr dirty="0" sz="1000" lang="en-US"/>
          </a:p>
        </p:txBody>
      </p:sp>
      <p:sp>
        <p:nvSpPr>
          <p:cNvPr id="1048675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dirty="0" sz="2800" lang="en-US"/>
          </a:p>
        </p:txBody>
      </p:sp>
      <p:pic>
        <p:nvPicPr>
          <p:cNvPr id="2097158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1033272"/>
            <a:ext cx="8393987" cy="3845052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DATASET</a:t>
            </a:r>
            <a:endParaRPr dirty="0" sz="1000" lang="en-US"/>
          </a:p>
        </p:txBody>
      </p:sp>
      <p:sp>
        <p:nvSpPr>
          <p:cNvPr id="1048680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Class Distribution</a:t>
            </a:r>
            <a:endParaRPr dirty="0" sz="2800" lang="en-US"/>
          </a:p>
        </p:txBody>
      </p:sp>
      <p:pic>
        <p:nvPicPr>
          <p:cNvPr id="2097159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8681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8682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25</a:t>
            </a:r>
            <a:endParaRPr dirty="0" sz="1000" lang="en-US"/>
          </a:p>
        </p:txBody>
      </p:sp>
      <p:graphicFrame>
        <p:nvGraphicFramePr>
          <p:cNvPr id="4194304" name="Chart 0"/>
          <p:cNvGraphicFramePr>
            <a:graphicFrameLocks/>
          </p:cNvGraphicFramePr>
          <p:nvPr/>
        </p:nvGraphicFramePr>
        <p:xfrm>
          <a:off x="365760" y="1188720"/>
          <a:ext cx="3657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8683" name="Text 4"/>
          <p:cNvSpPr txBox="1"/>
          <p:nvPr/>
        </p:nvSpPr>
        <p:spPr>
          <a:xfrm>
            <a:off x="4389120" y="1239012"/>
            <a:ext cx="429768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come from public chest X-ray data (NIH ChestX-ray14 metadata  112,000 images and Chest X-Ray Images (Pneumonia) 5,863 images, 2 categories). Images with other diseases were removed</a:t>
            </a:r>
            <a:r>
              <a:rPr dirty="0" sz="12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dirty="0" sz="1200" lang="en-US"/>
          </a:p>
        </p:txBody>
      </p:sp>
      <p:graphicFrame>
        <p:nvGraphicFramePr>
          <p:cNvPr id="4194305" name="Table 0"/>
          <p:cNvGraphicFramePr>
            <a:graphicFrameLocks noGrp="1"/>
          </p:cNvGraphicFramePr>
          <p:nvPr/>
        </p:nvGraphicFramePr>
        <p:xfrm>
          <a:off x="4389120" y="2103120"/>
          <a:ext cx="4297680" cy="192024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1188720"/>
                <a:gridCol w="914400"/>
              </a:tblGrid>
              <a:tr h="384048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000" lang="en-US">
                          <a:solidFill>
                            <a:srgbClr val="4A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</a:t>
                      </a:r>
                      <a:endParaRPr dirty="0" sz="10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000" lang="en-US">
                          <a:solidFill>
                            <a:srgbClr val="4A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dirty="0" sz="10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000" lang="en-US">
                          <a:solidFill>
                            <a:srgbClr val="4A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PNEUMONIA</a:t>
                      </a:r>
                      <a:endParaRPr dirty="0" sz="10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000" lang="en-US">
                          <a:solidFill>
                            <a:srgbClr val="4A4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dirty="0" sz="10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3,687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2,901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6,588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010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621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1,409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789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1,412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5,264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4,145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200" lang="en-US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9,409</a:t>
                      </a:r>
                      <a:endParaRPr dirty="0" sz="1200" lang="en-US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DATA PREPROCESSING</a:t>
            </a:r>
            <a:endParaRPr dirty="0" sz="1000" lang="en-US"/>
          </a:p>
        </p:txBody>
      </p:sp>
      <p:sp>
        <p:nvSpPr>
          <p:cNvPr id="1048688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&amp; Augmentation</a:t>
            </a:r>
            <a:endParaRPr dirty="0" sz="2800" lang="en-US"/>
          </a:p>
        </p:txBody>
      </p:sp>
      <p:pic>
        <p:nvPicPr>
          <p:cNvPr id="2097160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8689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8690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25</a:t>
            </a:r>
            <a:endParaRPr dirty="0" sz="1000" lang="en-US"/>
          </a:p>
        </p:txBody>
      </p:sp>
      <p:sp>
        <p:nvSpPr>
          <p:cNvPr id="1048691" name="Shape 4"/>
          <p:cNvSpPr/>
          <p:nvPr/>
        </p:nvSpPr>
        <p:spPr>
          <a:xfrm>
            <a:off x="457200" y="1325880"/>
            <a:ext cx="1657847" cy="1097280"/>
          </a:xfrm>
          <a:prstGeom prst="roundRect">
            <a:avLst>
              <a:gd name="adj" fmla="val 5000"/>
            </a:avLst>
          </a:prstGeom>
          <a:solidFill>
            <a:srgbClr val="F4F5FC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692" name="Text 5"/>
          <p:cNvSpPr txBox="1"/>
          <p:nvPr/>
        </p:nvSpPr>
        <p:spPr>
          <a:xfrm>
            <a:off x="502920" y="1325880"/>
            <a:ext cx="1566407" cy="1097280"/>
          </a:xfrm>
          <a:prstGeom prst="rect"/>
          <a:solidFill>
            <a:schemeClr val="bg1"/>
          </a:solidFill>
          <a:ln>
            <a:solidFill>
              <a:srgbClr val="1200FF"/>
            </a:solidFill>
          </a:ln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Original X-ray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various sizes</a:t>
            </a:r>
            <a:endParaRPr dirty="0" sz="1200" lang="en-US"/>
          </a:p>
        </p:txBody>
      </p:sp>
      <p:sp>
        <p:nvSpPr>
          <p:cNvPr id="1048693" name="Shape 6"/>
          <p:cNvSpPr/>
          <p:nvPr/>
        </p:nvSpPr>
        <p:spPr>
          <a:xfrm>
            <a:off x="2142479" y="1874520"/>
            <a:ext cx="146304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694" name="Shape 7"/>
          <p:cNvSpPr/>
          <p:nvPr/>
        </p:nvSpPr>
        <p:spPr>
          <a:xfrm>
            <a:off x="2316215" y="1325880"/>
            <a:ext cx="2072309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1200FF"/>
            </a:solidFill>
            <a:prstDash val="solid"/>
          </a:ln>
        </p:spPr>
      </p:sp>
      <p:sp>
        <p:nvSpPr>
          <p:cNvPr id="1048695" name="Text 8"/>
          <p:cNvSpPr txBox="1"/>
          <p:nvPr/>
        </p:nvSpPr>
        <p:spPr>
          <a:xfrm>
            <a:off x="2301903" y="1280160"/>
            <a:ext cx="1980869" cy="10972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Resize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 × 224, RGB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(380 × 380 for EfficientNetB4)</a:t>
            </a:r>
            <a:endParaRPr dirty="0" sz="1200" lang="en-US"/>
          </a:p>
        </p:txBody>
      </p:sp>
      <p:sp>
        <p:nvSpPr>
          <p:cNvPr id="1048696" name="Shape 9"/>
          <p:cNvSpPr/>
          <p:nvPr/>
        </p:nvSpPr>
        <p:spPr>
          <a:xfrm>
            <a:off x="4415956" y="1874520"/>
            <a:ext cx="146304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697" name="Shape 10"/>
          <p:cNvSpPr/>
          <p:nvPr/>
        </p:nvSpPr>
        <p:spPr>
          <a:xfrm>
            <a:off x="4589692" y="1325880"/>
            <a:ext cx="2238093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1200FF"/>
            </a:solidFill>
            <a:prstDash val="solid"/>
          </a:ln>
        </p:spPr>
      </p:sp>
      <p:sp>
        <p:nvSpPr>
          <p:cNvPr id="1048698" name="Text 11"/>
          <p:cNvSpPr txBox="1"/>
          <p:nvPr/>
        </p:nvSpPr>
        <p:spPr>
          <a:xfrm>
            <a:off x="4635412" y="1325880"/>
            <a:ext cx="2146653" cy="10972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Normalize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255 or model-specific preprocess_input</a:t>
            </a:r>
            <a:endParaRPr dirty="0" sz="1200" lang="en-US"/>
          </a:p>
        </p:txBody>
      </p:sp>
      <p:sp>
        <p:nvSpPr>
          <p:cNvPr id="1048699" name="Shape 12"/>
          <p:cNvSpPr/>
          <p:nvPr/>
        </p:nvSpPr>
        <p:spPr>
          <a:xfrm>
            <a:off x="6855217" y="1874520"/>
            <a:ext cx="146304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700" name="Shape 13"/>
          <p:cNvSpPr/>
          <p:nvPr/>
        </p:nvSpPr>
        <p:spPr>
          <a:xfrm>
            <a:off x="7074673" y="1307130"/>
            <a:ext cx="1657847" cy="10972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701" name="Text 14"/>
          <p:cNvSpPr txBox="1"/>
          <p:nvPr/>
        </p:nvSpPr>
        <p:spPr>
          <a:xfrm>
            <a:off x="7074673" y="1325880"/>
            <a:ext cx="1566407" cy="10972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Augment</a:t>
            </a:r>
            <a:endParaRPr dirty="0" sz="1200" lang="en-US"/>
          </a:p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(train only)</a:t>
            </a:r>
            <a:endParaRPr dirty="0" sz="1200" lang="en-US"/>
          </a:p>
        </p:txBody>
      </p:sp>
      <p:sp>
        <p:nvSpPr>
          <p:cNvPr id="1048702" name="Text 16"/>
          <p:cNvSpPr txBox="1"/>
          <p:nvPr/>
        </p:nvSpPr>
        <p:spPr>
          <a:xfrm>
            <a:off x="730924" y="2743200"/>
            <a:ext cx="36576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 SETTINGS</a:t>
            </a:r>
            <a:endParaRPr dirty="0" sz="1000" lang="en-US"/>
          </a:p>
        </p:txBody>
      </p:sp>
      <p:grpSp>
        <p:nvGrpSpPr>
          <p:cNvPr id="51" name="Group 6"/>
          <p:cNvGrpSpPr/>
          <p:nvPr/>
        </p:nvGrpSpPr>
        <p:grpSpPr>
          <a:xfrm>
            <a:off x="354017" y="2968842"/>
            <a:ext cx="8017405" cy="1691639"/>
            <a:chOff x="868412" y="4498849"/>
            <a:chExt cx="11274552" cy="1691639"/>
          </a:xfrm>
          <a:noFill/>
        </p:grpSpPr>
        <p:sp>
          <p:nvSpPr>
            <p:cNvPr id="1048703" name="Settings card"/>
            <p:cNvSpPr/>
            <p:nvPr/>
          </p:nvSpPr>
          <p:spPr>
            <a:xfrm>
              <a:off x="868412" y="4498849"/>
              <a:ext cx="11274552" cy="1691639"/>
            </a:xfrm>
            <a:prstGeom prst="roundRect">
              <a:avLst>
                <a:gd name="adj" fmla="val 3636"/>
              </a:avLst>
            </a:prstGeom>
            <a:grpFill/>
            <a:ln w="12700">
              <a:noFill/>
              <a:prstDash val="solid"/>
            </a:ln>
          </p:spPr>
        </p:sp>
        <p:pic>
          <p:nvPicPr>
            <p:cNvPr id="2097161" name="Setting check 1 icon" descr="Setting check 1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"/>
            <a:stretch>
              <a:fillRect/>
            </a:stretch>
          </p:blipFill>
          <p:spPr>
            <a:xfrm>
              <a:off x="921715" y="4707331"/>
              <a:ext cx="168250" cy="168250"/>
            </a:xfrm>
            <a:prstGeom prst="rect"/>
            <a:grpFill/>
            <a:ln>
              <a:noFill/>
            </a:ln>
          </p:spPr>
        </p:pic>
        <p:sp>
          <p:nvSpPr>
            <p:cNvPr id="1048704" name="Setting 1"/>
            <p:cNvSpPr txBox="1"/>
            <p:nvPr/>
          </p:nvSpPr>
          <p:spPr>
            <a:xfrm>
              <a:off x="1371600" y="4572000"/>
              <a:ext cx="4754880" cy="438912"/>
            </a:xfrm>
            <a:prstGeom prst="rect"/>
            <a:grpFill/>
            <a:ln>
              <a:noFill/>
            </a:ln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700" lang="en-US">
                  <a:solidFill>
                    <a:schemeClr val="tx1"/>
                  </a:solidFill>
                </a:rPr>
                <a:t>Rescale: 1/255</a:t>
              </a:r>
              <a:endParaRPr dirty="0" sz="1700" lang="en-US"/>
            </a:p>
          </p:txBody>
        </p:sp>
        <p:sp>
          <p:nvSpPr>
            <p:cNvPr id="1048705" name="Setting 2"/>
            <p:cNvSpPr txBox="1"/>
            <p:nvPr/>
          </p:nvSpPr>
          <p:spPr>
            <a:xfrm>
              <a:off x="6858000" y="4572000"/>
              <a:ext cx="4754880" cy="438912"/>
            </a:xfrm>
            <a:prstGeom prst="rect"/>
            <a:grpFill/>
            <a:ln>
              <a:noFill/>
            </a:ln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700" lang="en-US">
                  <a:solidFill>
                    <a:schemeClr val="tx1"/>
                  </a:solidFill>
                </a:rPr>
                <a:t>Rotation: 15°</a:t>
              </a:r>
              <a:endParaRPr dirty="0" sz="1700" lang="en-US"/>
            </a:p>
          </p:txBody>
        </p:sp>
        <p:sp>
          <p:nvSpPr>
            <p:cNvPr id="1048706" name="Setting 3"/>
            <p:cNvSpPr txBox="1"/>
            <p:nvPr/>
          </p:nvSpPr>
          <p:spPr>
            <a:xfrm>
              <a:off x="1371600" y="5138928"/>
              <a:ext cx="4754880" cy="438912"/>
            </a:xfrm>
            <a:prstGeom prst="rect"/>
            <a:grpFill/>
            <a:ln>
              <a:noFill/>
            </a:ln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700" lang="en-US">
                  <a:solidFill>
                    <a:schemeClr val="tx1"/>
                  </a:solidFill>
                </a:rPr>
                <a:t>Zoom: 0.2</a:t>
              </a:r>
              <a:endParaRPr dirty="0" sz="1700" lang="en-US"/>
            </a:p>
          </p:txBody>
        </p:sp>
        <p:sp>
          <p:nvSpPr>
            <p:cNvPr id="1048707" name="Setting 4"/>
            <p:cNvSpPr txBox="1"/>
            <p:nvPr/>
          </p:nvSpPr>
          <p:spPr>
            <a:xfrm>
              <a:off x="6858000" y="5138928"/>
              <a:ext cx="4754880" cy="438912"/>
            </a:xfrm>
            <a:prstGeom prst="rect"/>
            <a:grpFill/>
            <a:ln>
              <a:noFill/>
            </a:ln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700" lang="en-US">
                  <a:solidFill>
                    <a:schemeClr val="tx1"/>
                  </a:solidFill>
                </a:rPr>
                <a:t>Horizontal flip: True</a:t>
              </a:r>
              <a:endParaRPr dirty="0" sz="1700" lang="en-US"/>
            </a:p>
          </p:txBody>
        </p:sp>
        <p:sp>
          <p:nvSpPr>
            <p:cNvPr id="1048708" name="Setting 5"/>
            <p:cNvSpPr txBox="1"/>
            <p:nvPr/>
          </p:nvSpPr>
          <p:spPr>
            <a:xfrm>
              <a:off x="1371600" y="5705856"/>
              <a:ext cx="4754880" cy="438912"/>
            </a:xfrm>
            <a:prstGeom prst="rect"/>
            <a:grpFill/>
            <a:ln>
              <a:noFill/>
            </a:ln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700" lang="en-US">
                  <a:solidFill>
                    <a:schemeClr val="tx1"/>
                  </a:solidFill>
                </a:rPr>
                <a:t>Width / height shift: 0.1</a:t>
              </a:r>
              <a:endParaRPr dirty="0" sz="1700" lang="en-US"/>
            </a:p>
          </p:txBody>
        </p:sp>
        <p:sp>
          <p:nvSpPr>
            <p:cNvPr id="1048709" name="Setting 6"/>
            <p:cNvSpPr txBox="1"/>
            <p:nvPr/>
          </p:nvSpPr>
          <p:spPr>
            <a:xfrm>
              <a:off x="6858000" y="5705856"/>
              <a:ext cx="4754880" cy="438912"/>
            </a:xfrm>
            <a:prstGeom prst="rect"/>
            <a:grpFill/>
            <a:ln>
              <a:noFill/>
            </a:ln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dirty="0" sz="1700" lang="en-US">
                  <a:solidFill>
                    <a:schemeClr val="tx1"/>
                  </a:solidFill>
                </a:rPr>
                <a:t>Class weights: Normal 0.89, Pneumonia 1.14</a:t>
              </a:r>
              <a:endParaRPr dirty="0" sz="1700"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SYSTEM DESIGN</a:t>
            </a:r>
            <a:endParaRPr dirty="0" sz="1000" lang="en-US"/>
          </a:p>
        </p:txBody>
      </p:sp>
      <p:sp>
        <p:nvSpPr>
          <p:cNvPr id="1048714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dirty="0" sz="2800" lang="en-US"/>
          </a:p>
        </p:txBody>
      </p:sp>
      <p:pic>
        <p:nvPicPr>
          <p:cNvPr id="2097162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8715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8716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25</a:t>
            </a:r>
            <a:endParaRPr dirty="0" sz="1000" lang="en-US"/>
          </a:p>
        </p:txBody>
      </p:sp>
      <p:sp>
        <p:nvSpPr>
          <p:cNvPr id="1048717" name="Shape 4"/>
          <p:cNvSpPr/>
          <p:nvPr/>
        </p:nvSpPr>
        <p:spPr>
          <a:xfrm>
            <a:off x="457200" y="1371600"/>
            <a:ext cx="1142297" cy="2103120"/>
          </a:xfrm>
          <a:prstGeom prst="roundRect">
            <a:avLst>
              <a:gd name="adj" fmla="val 4803"/>
            </a:avLst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048718" name="Text 5"/>
          <p:cNvSpPr txBox="1"/>
          <p:nvPr/>
        </p:nvSpPr>
        <p:spPr>
          <a:xfrm>
            <a:off x="475488" y="1371600"/>
            <a:ext cx="1050857" cy="21031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 X-ray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dirty="0" sz="1200" lang="en-US"/>
          </a:p>
        </p:txBody>
      </p:sp>
      <p:sp>
        <p:nvSpPr>
          <p:cNvPr id="1048719" name="Shape 6"/>
          <p:cNvSpPr/>
          <p:nvPr/>
        </p:nvSpPr>
        <p:spPr>
          <a:xfrm>
            <a:off x="1626929" y="2423160"/>
            <a:ext cx="146304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720" name="Shape 7"/>
          <p:cNvSpPr/>
          <p:nvPr/>
        </p:nvSpPr>
        <p:spPr>
          <a:xfrm>
            <a:off x="1800665" y="1371600"/>
            <a:ext cx="1570658" cy="2103120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48721" name="Text 8"/>
          <p:cNvSpPr txBox="1"/>
          <p:nvPr/>
        </p:nvSpPr>
        <p:spPr>
          <a:xfrm>
            <a:off x="1910393" y="1371600"/>
            <a:ext cx="1351201" cy="20848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· normalize · augment</a:t>
            </a:r>
            <a:endParaRPr dirty="0" sz="1200" lang="en-US"/>
          </a:p>
        </p:txBody>
      </p:sp>
      <p:sp>
        <p:nvSpPr>
          <p:cNvPr id="1048722" name="Shape 9"/>
          <p:cNvSpPr/>
          <p:nvPr/>
        </p:nvSpPr>
        <p:spPr>
          <a:xfrm>
            <a:off x="3398754" y="2423160"/>
            <a:ext cx="146304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723" name="Shape 10"/>
          <p:cNvSpPr/>
          <p:nvPr/>
        </p:nvSpPr>
        <p:spPr>
          <a:xfrm>
            <a:off x="3572490" y="1371600"/>
            <a:ext cx="1713445" cy="2103120"/>
          </a:xfrm>
          <a:prstGeom prst="roundRect">
            <a:avLst>
              <a:gd name="adj" fmla="val 3202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48724" name="Text 11"/>
          <p:cNvSpPr txBox="1"/>
          <p:nvPr/>
        </p:nvSpPr>
        <p:spPr>
          <a:xfrm>
            <a:off x="3618210" y="1371600"/>
            <a:ext cx="1622005" cy="21031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latin typeface="Arial" pitchFamily="34" charset="0"/>
                <a:ea typeface="Arial" pitchFamily="34" charset="-122"/>
                <a:cs typeface="Arial" pitchFamily="34" charset="-120"/>
              </a:rPr>
              <a:t>Deep learning models</a:t>
            </a:r>
            <a:endParaRPr dirty="0" sz="1200" lang="en-US"/>
          </a:p>
          <a:p>
            <a:pPr algn="ctr" indent="0" marL="0">
              <a:buNone/>
            </a:pP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latin typeface="Arial" pitchFamily="34" charset="0"/>
                <a:ea typeface="Arial" pitchFamily="34" charset="-122"/>
                <a:cs typeface="Arial" pitchFamily="34" charset="-120"/>
              </a:rPr>
              <a:t>DenseNet121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latin typeface="Arial" pitchFamily="34" charset="0"/>
                <a:ea typeface="Arial" pitchFamily="34" charset="-122"/>
                <a:cs typeface="Arial" pitchFamily="34" charset="-120"/>
              </a:rPr>
              <a:t>ResNet50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latin typeface="Arial" pitchFamily="34" charset="0"/>
                <a:ea typeface="Arial" pitchFamily="34" charset="-122"/>
                <a:cs typeface="Arial" pitchFamily="34" charset="-120"/>
              </a:rPr>
              <a:t>VGG16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latin typeface="Arial" pitchFamily="34" charset="0"/>
                <a:ea typeface="Arial" pitchFamily="34" charset="-122"/>
                <a:cs typeface="Arial" pitchFamily="34" charset="-120"/>
              </a:rPr>
              <a:t>EfficientNetB4</a:t>
            </a:r>
            <a:endParaRPr dirty="0" sz="1200" lang="en-US"/>
          </a:p>
        </p:txBody>
      </p:sp>
      <p:sp>
        <p:nvSpPr>
          <p:cNvPr id="1048725" name="Shape 12"/>
          <p:cNvSpPr/>
          <p:nvPr/>
        </p:nvSpPr>
        <p:spPr>
          <a:xfrm>
            <a:off x="5313367" y="2423160"/>
            <a:ext cx="146304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726" name="Shape 13"/>
          <p:cNvSpPr/>
          <p:nvPr/>
        </p:nvSpPr>
        <p:spPr>
          <a:xfrm>
            <a:off x="5487103" y="1371600"/>
            <a:ext cx="1713445" cy="2103120"/>
          </a:xfrm>
          <a:prstGeom prst="roundRect">
            <a:avLst>
              <a:gd name="adj" fmla="val 3202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48727" name="Text 14"/>
          <p:cNvSpPr txBox="1"/>
          <p:nvPr/>
        </p:nvSpPr>
        <p:spPr>
          <a:xfrm>
            <a:off x="5532823" y="1371600"/>
            <a:ext cx="1622005" cy="21031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Ensembles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and B combine model outputs</a:t>
            </a:r>
            <a:endParaRPr dirty="0" sz="1200" lang="en-US"/>
          </a:p>
        </p:txBody>
      </p:sp>
      <p:sp>
        <p:nvSpPr>
          <p:cNvPr id="1048728" name="Shape 15"/>
          <p:cNvSpPr/>
          <p:nvPr/>
        </p:nvSpPr>
        <p:spPr>
          <a:xfrm>
            <a:off x="7227980" y="2423160"/>
            <a:ext cx="146304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729" name="Shape 16"/>
          <p:cNvSpPr/>
          <p:nvPr/>
        </p:nvSpPr>
        <p:spPr>
          <a:xfrm>
            <a:off x="7401716" y="1371600"/>
            <a:ext cx="1285084" cy="2103120"/>
          </a:xfrm>
          <a:prstGeom prst="roundRect">
            <a:avLst>
              <a:gd name="adj" fmla="val 4269"/>
            </a:avLst>
          </a:prstGeom>
          <a:solidFill>
            <a:schemeClr val="bg1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730" name="Text 17"/>
          <p:cNvSpPr txBox="1"/>
          <p:nvPr/>
        </p:nvSpPr>
        <p:spPr>
          <a:xfrm>
            <a:off x="7447436" y="1371600"/>
            <a:ext cx="1193644" cy="1957227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latin typeface="Arial" pitchFamily="34" charset="0"/>
                <a:ea typeface="Arial" pitchFamily="34" charset="-122"/>
                <a:cs typeface="Arial" pitchFamily="34" charset="-120"/>
              </a:rPr>
              <a:t>Normal / Pneumonia</a:t>
            </a:r>
            <a:endParaRPr dirty="0" sz="1200" lang="en-US"/>
          </a:p>
        </p:txBody>
      </p:sp>
      <p:sp>
        <p:nvSpPr>
          <p:cNvPr id="1048731" name="Shape 18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9525">
            <a:noFill/>
            <a:prstDash val="solid"/>
          </a:ln>
        </p:spPr>
      </p:sp>
      <p:sp>
        <p:nvSpPr>
          <p:cNvPr id="1048732" name="Text 19"/>
          <p:cNvSpPr txBox="1"/>
          <p:nvPr/>
        </p:nvSpPr>
        <p:spPr>
          <a:xfrm>
            <a:off x="685800" y="3749040"/>
            <a:ext cx="7772400" cy="7772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ensembles: A = DenseNet121 + EfficientNetB4, B = weighted average of CNN, DenseNet121, ResNet50 and VGG16 (best).</a:t>
            </a:r>
            <a:endParaRPr dirty="0" sz="13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IMPLEMENTATION</a:t>
            </a:r>
            <a:endParaRPr dirty="0" sz="1000" lang="en-US"/>
          </a:p>
        </p:txBody>
      </p:sp>
      <p:sp>
        <p:nvSpPr>
          <p:cNvPr id="1048737" name="Text 1"/>
          <p:cNvSpPr txBox="1"/>
          <p:nvPr/>
        </p:nvSpPr>
        <p:spPr>
          <a:xfrm>
            <a:off x="457200" y="521311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</a:t>
            </a:r>
            <a:endParaRPr dirty="0" sz="2800" lang="en-US"/>
          </a:p>
        </p:txBody>
      </p:sp>
      <p:pic>
        <p:nvPicPr>
          <p:cNvPr id="2097163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8738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8739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25</a:t>
            </a:r>
            <a:endParaRPr dirty="0" sz="1000" lang="en-US"/>
          </a:p>
        </p:txBody>
      </p:sp>
      <p:sp>
        <p:nvSpPr>
          <p:cNvPr id="1048740" name="Text 4"/>
          <p:cNvSpPr txBox="1"/>
          <p:nvPr/>
        </p:nvSpPr>
        <p:spPr>
          <a:xfrm>
            <a:off x="457200" y="1325880"/>
            <a:ext cx="36576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dirty="0" sz="1000" lang="en-US"/>
          </a:p>
        </p:txBody>
      </p:sp>
      <p:sp>
        <p:nvSpPr>
          <p:cNvPr id="1048741" name="Shape 5"/>
          <p:cNvSpPr/>
          <p:nvPr/>
        </p:nvSpPr>
        <p:spPr>
          <a:xfrm>
            <a:off x="457200" y="169164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F4F5FC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742" name="Text 6"/>
          <p:cNvSpPr txBox="1"/>
          <p:nvPr/>
        </p:nvSpPr>
        <p:spPr>
          <a:xfrm>
            <a:off x="457200" y="1691640"/>
            <a:ext cx="182880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dirty="0" sz="1200" lang="en-US"/>
          </a:p>
        </p:txBody>
      </p:sp>
      <p:sp>
        <p:nvSpPr>
          <p:cNvPr id="1048743" name="Shape 7"/>
          <p:cNvSpPr/>
          <p:nvPr/>
        </p:nvSpPr>
        <p:spPr>
          <a:xfrm>
            <a:off x="2423160" y="169164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F4F5FC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744" name="Text 8"/>
          <p:cNvSpPr txBox="1"/>
          <p:nvPr/>
        </p:nvSpPr>
        <p:spPr>
          <a:xfrm>
            <a:off x="2423160" y="1691640"/>
            <a:ext cx="182880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/ Keras</a:t>
            </a:r>
            <a:endParaRPr dirty="0" sz="1200" lang="en-US"/>
          </a:p>
        </p:txBody>
      </p:sp>
      <p:sp>
        <p:nvSpPr>
          <p:cNvPr id="1048745" name="Shape 9"/>
          <p:cNvSpPr/>
          <p:nvPr/>
        </p:nvSpPr>
        <p:spPr>
          <a:xfrm>
            <a:off x="457200" y="219456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F4F5FC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746" name="Text 10"/>
          <p:cNvSpPr txBox="1"/>
          <p:nvPr/>
        </p:nvSpPr>
        <p:spPr>
          <a:xfrm>
            <a:off x="457200" y="2194560"/>
            <a:ext cx="182880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dirty="0" sz="1200" lang="en-US"/>
          </a:p>
        </p:txBody>
      </p:sp>
      <p:sp>
        <p:nvSpPr>
          <p:cNvPr id="1048747" name="Shape 11"/>
          <p:cNvSpPr/>
          <p:nvPr/>
        </p:nvSpPr>
        <p:spPr>
          <a:xfrm>
            <a:off x="2423160" y="219456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F4F5FC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748" name="Text 12"/>
          <p:cNvSpPr txBox="1"/>
          <p:nvPr/>
        </p:nvSpPr>
        <p:spPr>
          <a:xfrm>
            <a:off x="2423160" y="2194560"/>
            <a:ext cx="182880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(GPU)</a:t>
            </a:r>
            <a:endParaRPr dirty="0" sz="1200" lang="en-US"/>
          </a:p>
        </p:txBody>
      </p:sp>
      <p:sp>
        <p:nvSpPr>
          <p:cNvPr id="1048749" name="Shape 13"/>
          <p:cNvSpPr/>
          <p:nvPr/>
        </p:nvSpPr>
        <p:spPr>
          <a:xfrm>
            <a:off x="457200" y="269748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F4F5FC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750" name="Text 14"/>
          <p:cNvSpPr txBox="1"/>
          <p:nvPr/>
        </p:nvSpPr>
        <p:spPr>
          <a:xfrm>
            <a:off x="457200" y="2697480"/>
            <a:ext cx="182880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/ Seaborn</a:t>
            </a:r>
            <a:endParaRPr dirty="0" sz="1200" lang="en-US"/>
          </a:p>
        </p:txBody>
      </p:sp>
      <p:sp>
        <p:nvSpPr>
          <p:cNvPr id="1048751" name="Text 15"/>
          <p:cNvSpPr txBox="1"/>
          <p:nvPr/>
        </p:nvSpPr>
        <p:spPr>
          <a:xfrm>
            <a:off x="457200" y="3383280"/>
            <a:ext cx="38404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use transfer learning from ImageNet (except </a:t>
            </a:r>
            <a:r>
              <a:rPr dirty="0" sz="1300" lang="en-US" smtClean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CNN) and a sigmoid output for the binary decision.</a:t>
            </a:r>
            <a:endParaRPr dirty="0" sz="1300" lang="en-US"/>
          </a:p>
        </p:txBody>
      </p:sp>
      <p:sp>
        <p:nvSpPr>
          <p:cNvPr id="1048752" name="Shape 16"/>
          <p:cNvSpPr/>
          <p:nvPr/>
        </p:nvSpPr>
        <p:spPr>
          <a:xfrm>
            <a:off x="4572000" y="1325880"/>
            <a:ext cx="4114800" cy="2944265"/>
          </a:xfrm>
          <a:prstGeom prst="roundRect">
            <a:avLst>
              <a:gd name="adj" fmla="val 2286"/>
            </a:avLst>
          </a:prstGeom>
          <a:solidFill>
            <a:srgbClr val="002060"/>
          </a:solidFill>
          <a:ln w="12700">
            <a:solidFill>
              <a:srgbClr val="10101B"/>
            </a:solidFill>
            <a:prstDash val="solid"/>
          </a:ln>
        </p:spPr>
      </p:sp>
      <p:sp>
        <p:nvSpPr>
          <p:cNvPr id="1048753" name="Text 17"/>
          <p:cNvSpPr txBox="1"/>
          <p:nvPr/>
        </p:nvSpPr>
        <p:spPr>
          <a:xfrm>
            <a:off x="4800600" y="1508760"/>
            <a:ext cx="3749040" cy="2834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setup (all models)</a:t>
            </a:r>
            <a:endParaRPr dirty="0" sz="1200" lang="en-US">
              <a:solidFill>
                <a:schemeClr val="bg1"/>
              </a:solidFill>
            </a:endParaRPr>
          </a:p>
          <a:p>
            <a:pPr indent="0" marL="0">
              <a:buNone/>
            </a:pPr>
            <a:r>
              <a:rPr dirty="0" sz="1200" lang="en-US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  = Adam(lr = 1e-4)</a:t>
            </a:r>
            <a:endParaRPr dirty="0" sz="1200" lang="en-US">
              <a:solidFill>
                <a:schemeClr val="bg1"/>
              </a:solidFill>
            </a:endParaRPr>
          </a:p>
          <a:p>
            <a:pPr indent="0" marL="0">
              <a:buNone/>
            </a:pPr>
            <a:r>
              <a:rPr dirty="0" sz="1200" lang="en-US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      = binary_crossentropy</a:t>
            </a:r>
            <a:endParaRPr dirty="0" sz="1200" lang="en-US">
              <a:solidFill>
                <a:schemeClr val="bg1"/>
              </a:solidFill>
            </a:endParaRPr>
          </a:p>
          <a:p>
            <a:pPr indent="0" marL="0">
              <a:buNone/>
            </a:pPr>
            <a:r>
              <a:rPr dirty="0" sz="1200" lang="en-US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 = 128  (EfficientNetB4: 32)</a:t>
            </a:r>
            <a:endParaRPr dirty="0" sz="1200" lang="en-US">
              <a:solidFill>
                <a:schemeClr val="bg1"/>
              </a:solidFill>
            </a:endParaRPr>
          </a:p>
          <a:p>
            <a:pPr indent="0" marL="0">
              <a:buNone/>
            </a:pPr>
            <a:r>
              <a:rPr dirty="0" sz="1200" lang="en-US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     = 50 (max)</a:t>
            </a:r>
            <a:endParaRPr dirty="0" sz="1200" lang="en-US">
              <a:solidFill>
                <a:schemeClr val="bg1"/>
              </a:solidFill>
            </a:endParaRPr>
          </a:p>
          <a:p>
            <a:pPr indent="0" marL="0">
              <a:buNone/>
            </a:pPr>
            <a:r>
              <a:rPr dirty="0" sz="1200" lang="en-US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 = "balanced"</a:t>
            </a:r>
            <a:endParaRPr dirty="0" sz="1200" lang="en-US">
              <a:solidFill>
                <a:schemeClr val="bg1"/>
              </a:solidFill>
            </a:endParaRPr>
          </a:p>
          <a:p>
            <a:pPr indent="0" marL="0">
              <a:buNone/>
            </a:pPr>
            <a:endParaRPr dirty="0" sz="1200" lang="en-US">
              <a:solidFill>
                <a:schemeClr val="bg1"/>
              </a:solidFill>
            </a:endParaRPr>
          </a:p>
          <a:p>
            <a:pPr indent="0" marL="0">
              <a:buNone/>
            </a:pPr>
            <a:r>
              <a:rPr dirty="0" sz="1200" lang="en-US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callbacks:</a:t>
            </a:r>
            <a:endParaRPr dirty="0" sz="1200" lang="en-US">
              <a:solidFill>
                <a:schemeClr val="bg1"/>
              </a:solidFill>
            </a:endParaRPr>
          </a:p>
          <a:p>
            <a:pPr indent="0" marL="0">
              <a:buNone/>
            </a:pPr>
            <a:r>
              <a:rPr dirty="0" sz="1200" lang="en-US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dirty="0" sz="1200" lang="en-US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ReduceLROnPlateau</a:t>
            </a:r>
            <a:endParaRPr dirty="0" sz="1200" lang="en-US">
              <a:solidFill>
                <a:schemeClr val="bg1"/>
              </a:solidFill>
            </a:endParaRPr>
          </a:p>
          <a:p>
            <a:pPr indent="0" marL="0">
              <a:buNone/>
            </a:pPr>
            <a:r>
              <a:rPr dirty="0" sz="1200" lang="en-US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ModelCheckpoint(best)</a:t>
            </a:r>
            <a:endParaRPr dirty="0" sz="1200"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MODEL 1 OF 5</a:t>
            </a:r>
            <a:endParaRPr dirty="0" sz="1000" lang="en-US"/>
          </a:p>
        </p:txBody>
      </p:sp>
      <p:sp>
        <p:nvSpPr>
          <p:cNvPr id="1048758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 smtClean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dirty="0" sz="2800" lang="en-US"/>
          </a:p>
        </p:txBody>
      </p:sp>
      <p:pic>
        <p:nvPicPr>
          <p:cNvPr id="2097164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8759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8760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25</a:t>
            </a:r>
            <a:endParaRPr dirty="0" sz="1000" lang="en-US"/>
          </a:p>
        </p:txBody>
      </p:sp>
      <p:sp>
        <p:nvSpPr>
          <p:cNvPr id="1048761" name="Text 4"/>
          <p:cNvSpPr txBox="1"/>
          <p:nvPr/>
        </p:nvSpPr>
        <p:spPr>
          <a:xfrm>
            <a:off x="457200" y="1005840"/>
            <a:ext cx="82296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scratch, 4 convolution blocks</a:t>
            </a:r>
            <a:endParaRPr dirty="0" sz="1200" lang="en-US"/>
          </a:p>
        </p:txBody>
      </p:sp>
      <p:sp>
        <p:nvSpPr>
          <p:cNvPr id="1048762" name="Shape 5"/>
          <p:cNvSpPr/>
          <p:nvPr/>
        </p:nvSpPr>
        <p:spPr>
          <a:xfrm>
            <a:off x="457200" y="1371600"/>
            <a:ext cx="822960" cy="1051560"/>
          </a:xfrm>
          <a:prstGeom prst="roundRect">
            <a:avLst>
              <a:gd name="adj" fmla="val 6667"/>
            </a:avLst>
          </a:prstGeom>
          <a:noFill/>
          <a:ln w="9525">
            <a:solidFill>
              <a:srgbClr val="1200FF"/>
            </a:solidFill>
            <a:prstDash val="solid"/>
          </a:ln>
        </p:spPr>
      </p:sp>
      <p:sp>
        <p:nvSpPr>
          <p:cNvPr id="1048763" name="Text 6"/>
          <p:cNvSpPr txBox="1"/>
          <p:nvPr/>
        </p:nvSpPr>
        <p:spPr>
          <a:xfrm>
            <a:off x="502920" y="1371600"/>
            <a:ext cx="731520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</a:t>
            </a:r>
            <a:endParaRPr dirty="0" sz="1100" lang="en-US"/>
          </a:p>
        </p:txBody>
      </p:sp>
      <p:sp>
        <p:nvSpPr>
          <p:cNvPr id="1048764" name="Shape 7"/>
          <p:cNvSpPr/>
          <p:nvPr/>
        </p:nvSpPr>
        <p:spPr>
          <a:xfrm>
            <a:off x="1307592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765" name="Shape 8"/>
          <p:cNvSpPr/>
          <p:nvPr/>
        </p:nvSpPr>
        <p:spPr>
          <a:xfrm>
            <a:off x="1463040" y="1371600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766" name="Text 9"/>
          <p:cNvSpPr txBox="1"/>
          <p:nvPr/>
        </p:nvSpPr>
        <p:spPr>
          <a:xfrm>
            <a:off x="1508760" y="1371600"/>
            <a:ext cx="822960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32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 · Pool</a:t>
            </a:r>
            <a:endParaRPr dirty="0" sz="1100" lang="en-US"/>
          </a:p>
        </p:txBody>
      </p:sp>
      <p:sp>
        <p:nvSpPr>
          <p:cNvPr id="1048767" name="Shape 10"/>
          <p:cNvSpPr/>
          <p:nvPr/>
        </p:nvSpPr>
        <p:spPr>
          <a:xfrm>
            <a:off x="2404872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768" name="Shape 11"/>
          <p:cNvSpPr/>
          <p:nvPr/>
        </p:nvSpPr>
        <p:spPr>
          <a:xfrm>
            <a:off x="2560320" y="1371600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769" name="Text 12"/>
          <p:cNvSpPr txBox="1"/>
          <p:nvPr/>
        </p:nvSpPr>
        <p:spPr>
          <a:xfrm>
            <a:off x="2606040" y="1371600"/>
            <a:ext cx="822960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64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 · Pool</a:t>
            </a:r>
            <a:endParaRPr dirty="0" sz="1100" lang="en-US"/>
          </a:p>
        </p:txBody>
      </p:sp>
      <p:sp>
        <p:nvSpPr>
          <p:cNvPr id="1048770" name="Shape 13"/>
          <p:cNvSpPr/>
          <p:nvPr/>
        </p:nvSpPr>
        <p:spPr>
          <a:xfrm>
            <a:off x="3502152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771" name="Shape 14"/>
          <p:cNvSpPr/>
          <p:nvPr/>
        </p:nvSpPr>
        <p:spPr>
          <a:xfrm>
            <a:off x="3657600" y="1371600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772" name="Text 15"/>
          <p:cNvSpPr txBox="1"/>
          <p:nvPr/>
        </p:nvSpPr>
        <p:spPr>
          <a:xfrm>
            <a:off x="3703320" y="1371600"/>
            <a:ext cx="822960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128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 · Pool</a:t>
            </a:r>
            <a:endParaRPr dirty="0" sz="1100" lang="en-US"/>
          </a:p>
        </p:txBody>
      </p:sp>
      <p:sp>
        <p:nvSpPr>
          <p:cNvPr id="1048773" name="Shape 16"/>
          <p:cNvSpPr/>
          <p:nvPr/>
        </p:nvSpPr>
        <p:spPr>
          <a:xfrm>
            <a:off x="4599432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774" name="Shape 17"/>
          <p:cNvSpPr/>
          <p:nvPr/>
        </p:nvSpPr>
        <p:spPr>
          <a:xfrm>
            <a:off x="4754880" y="1371600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775" name="Text 18"/>
          <p:cNvSpPr txBox="1"/>
          <p:nvPr/>
        </p:nvSpPr>
        <p:spPr>
          <a:xfrm>
            <a:off x="4800600" y="1371600"/>
            <a:ext cx="822960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256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 · Pool</a:t>
            </a:r>
            <a:endParaRPr dirty="0" sz="1100" lang="en-US"/>
          </a:p>
        </p:txBody>
      </p:sp>
      <p:sp>
        <p:nvSpPr>
          <p:cNvPr id="1048776" name="Shape 19"/>
          <p:cNvSpPr/>
          <p:nvPr/>
        </p:nvSpPr>
        <p:spPr>
          <a:xfrm>
            <a:off x="5696712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777" name="Shape 20"/>
          <p:cNvSpPr/>
          <p:nvPr/>
        </p:nvSpPr>
        <p:spPr>
          <a:xfrm>
            <a:off x="5852160" y="1371600"/>
            <a:ext cx="731520" cy="1051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778" name="Text 21"/>
          <p:cNvSpPr txBox="1"/>
          <p:nvPr/>
        </p:nvSpPr>
        <p:spPr>
          <a:xfrm>
            <a:off x="5897880" y="1371600"/>
            <a:ext cx="640080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dirty="0" sz="1100" lang="en-US"/>
          </a:p>
        </p:txBody>
      </p:sp>
      <p:sp>
        <p:nvSpPr>
          <p:cNvPr id="1048779" name="Shape 22"/>
          <p:cNvSpPr/>
          <p:nvPr/>
        </p:nvSpPr>
        <p:spPr>
          <a:xfrm>
            <a:off x="6611112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780" name="Shape 23"/>
          <p:cNvSpPr/>
          <p:nvPr/>
        </p:nvSpPr>
        <p:spPr>
          <a:xfrm>
            <a:off x="6766560" y="1371600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781" name="Text 24"/>
          <p:cNvSpPr txBox="1"/>
          <p:nvPr/>
        </p:nvSpPr>
        <p:spPr>
          <a:xfrm>
            <a:off x="6812280" y="1371600"/>
            <a:ext cx="822960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512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0.5</a:t>
            </a:r>
            <a:endParaRPr dirty="0" sz="1100" lang="en-US"/>
          </a:p>
        </p:txBody>
      </p:sp>
      <p:sp>
        <p:nvSpPr>
          <p:cNvPr id="1048782" name="Shape 25"/>
          <p:cNvSpPr/>
          <p:nvPr/>
        </p:nvSpPr>
        <p:spPr>
          <a:xfrm>
            <a:off x="7708392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783" name="Shape 26"/>
          <p:cNvSpPr/>
          <p:nvPr/>
        </p:nvSpPr>
        <p:spPr>
          <a:xfrm>
            <a:off x="7863840" y="1371600"/>
            <a:ext cx="822960" cy="105156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rgbClr val="10101B"/>
            </a:solidFill>
            <a:prstDash val="solid"/>
          </a:ln>
        </p:spPr>
      </p:sp>
      <p:sp>
        <p:nvSpPr>
          <p:cNvPr id="1048784" name="Text 27"/>
          <p:cNvSpPr txBox="1"/>
          <p:nvPr/>
        </p:nvSpPr>
        <p:spPr>
          <a:xfrm>
            <a:off x="7909560" y="1371600"/>
            <a:ext cx="731520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1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</a:t>
            </a:r>
            <a:b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/ </a:t>
            </a:r>
            <a:r>
              <a:rPr b="1" dirty="0" sz="1100" lang="en-US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Pnumonia</a:t>
            </a:r>
            <a:endParaRPr dirty="0" sz="1100" lang="en-US"/>
          </a:p>
        </p:txBody>
      </p:sp>
      <p:sp>
        <p:nvSpPr>
          <p:cNvPr id="1048785" name="Shape 28"/>
          <p:cNvSpPr/>
          <p:nvPr/>
        </p:nvSpPr>
        <p:spPr>
          <a:xfrm>
            <a:off x="45720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786" name="Text 29"/>
          <p:cNvSpPr txBox="1"/>
          <p:nvPr/>
        </p:nvSpPr>
        <p:spPr>
          <a:xfrm>
            <a:off x="59436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97.45%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dirty="0" sz="1400" lang="en-US"/>
          </a:p>
        </p:txBody>
      </p:sp>
      <p:sp>
        <p:nvSpPr>
          <p:cNvPr id="1048787" name="Shape 30"/>
          <p:cNvSpPr/>
          <p:nvPr/>
        </p:nvSpPr>
        <p:spPr>
          <a:xfrm>
            <a:off x="256032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788" name="Text 31"/>
          <p:cNvSpPr txBox="1"/>
          <p:nvPr/>
        </p:nvSpPr>
        <p:spPr>
          <a:xfrm>
            <a:off x="269748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97.72%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dirty="0" sz="1400" lang="en-US"/>
          </a:p>
        </p:txBody>
      </p:sp>
      <p:sp>
        <p:nvSpPr>
          <p:cNvPr id="1048789" name="Shape 32"/>
          <p:cNvSpPr/>
          <p:nvPr/>
        </p:nvSpPr>
        <p:spPr>
          <a:xfrm>
            <a:off x="466344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790" name="Text 33"/>
          <p:cNvSpPr txBox="1"/>
          <p:nvPr/>
        </p:nvSpPr>
        <p:spPr>
          <a:xfrm>
            <a:off x="480060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96.47%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dirty="0" sz="1400" lang="en-US"/>
          </a:p>
        </p:txBody>
      </p:sp>
      <p:sp>
        <p:nvSpPr>
          <p:cNvPr id="1048791" name="Shape 34"/>
          <p:cNvSpPr/>
          <p:nvPr/>
        </p:nvSpPr>
        <p:spPr>
          <a:xfrm>
            <a:off x="676656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792" name="Text 35"/>
          <p:cNvSpPr txBox="1"/>
          <p:nvPr/>
        </p:nvSpPr>
        <p:spPr>
          <a:xfrm>
            <a:off x="690372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97.09%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dirty="0" sz="1400" lang="en-US"/>
          </a:p>
        </p:txBody>
      </p:sp>
      <p:sp>
        <p:nvSpPr>
          <p:cNvPr id="1048793" name="Text 36"/>
          <p:cNvSpPr txBox="1"/>
          <p:nvPr/>
        </p:nvSpPr>
        <p:spPr>
          <a:xfrm>
            <a:off x="457200" y="37490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19.27 M, all trainable</a:t>
            </a:r>
            <a:endParaRPr dirty="0" sz="1400" lang="en-US"/>
          </a:p>
        </p:txBody>
      </p:sp>
      <p:sp>
        <p:nvSpPr>
          <p:cNvPr id="1048794" name="Text 37"/>
          <p:cNvSpPr txBox="1"/>
          <p:nvPr/>
        </p:nvSpPr>
        <p:spPr>
          <a:xfrm>
            <a:off x="4663440" y="37490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scratch, best epoch 18</a:t>
            </a:r>
            <a:endParaRPr dirty="0" sz="1400" lang="en-US"/>
          </a:p>
        </p:txBody>
      </p:sp>
      <p:sp>
        <p:nvSpPr>
          <p:cNvPr id="1048795" name="Text 38"/>
          <p:cNvSpPr txBox="1"/>
          <p:nvPr/>
        </p:nvSpPr>
        <p:spPr>
          <a:xfrm>
            <a:off x="457200" y="42062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Pixels ÷ 255</a:t>
            </a:r>
            <a:endParaRPr dirty="0" sz="1400" lang="en-US"/>
          </a:p>
        </p:txBody>
      </p:sp>
      <p:sp>
        <p:nvSpPr>
          <p:cNvPr id="1048796" name="Text 39"/>
          <p:cNvSpPr txBox="1"/>
          <p:nvPr/>
        </p:nvSpPr>
        <p:spPr>
          <a:xfrm>
            <a:off x="4663440" y="42062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 775 · FP 14 · FN 22 · TP 601</a:t>
            </a:r>
            <a:endParaRPr dirty="0" sz="14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Text 0"/>
          <p:cNvSpPr txBox="1"/>
          <p:nvPr/>
        </p:nvSpPr>
        <p:spPr>
          <a:xfrm>
            <a:off x="457200" y="320040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MODEL 2 OF 5</a:t>
            </a:r>
            <a:endParaRPr dirty="0" sz="1000" lang="en-US"/>
          </a:p>
        </p:txBody>
      </p:sp>
      <p:sp>
        <p:nvSpPr>
          <p:cNvPr id="1048801" name="Text 1"/>
          <p:cNvSpPr txBox="1"/>
          <p:nvPr/>
        </p:nvSpPr>
        <p:spPr>
          <a:xfrm>
            <a:off x="457200" y="513194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DenseNet121</a:t>
            </a:r>
            <a:endParaRPr dirty="0" sz="2800" lang="en-US"/>
          </a:p>
        </p:txBody>
      </p:sp>
      <p:pic>
        <p:nvPicPr>
          <p:cNvPr id="2097165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8802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8803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25</a:t>
            </a:r>
            <a:endParaRPr dirty="0" sz="1000" lang="en-US"/>
          </a:p>
        </p:txBody>
      </p:sp>
      <p:sp>
        <p:nvSpPr>
          <p:cNvPr id="1048804" name="Text 4"/>
          <p:cNvSpPr txBox="1"/>
          <p:nvPr/>
        </p:nvSpPr>
        <p:spPr>
          <a:xfrm>
            <a:off x="457200" y="1005840"/>
            <a:ext cx="82296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densely connected network</a:t>
            </a:r>
            <a:endParaRPr dirty="0" sz="1200" lang="en-US"/>
          </a:p>
        </p:txBody>
      </p:sp>
      <p:sp>
        <p:nvSpPr>
          <p:cNvPr id="1048805" name="Shape 5"/>
          <p:cNvSpPr/>
          <p:nvPr/>
        </p:nvSpPr>
        <p:spPr>
          <a:xfrm>
            <a:off x="457200" y="1371600"/>
            <a:ext cx="997527" cy="1051560"/>
          </a:xfrm>
          <a:prstGeom prst="roundRect">
            <a:avLst>
              <a:gd name="adj" fmla="val 5500"/>
            </a:avLst>
          </a:prstGeom>
          <a:solidFill>
            <a:schemeClr val="bg1"/>
          </a:solidFill>
          <a:ln w="9525">
            <a:solidFill>
              <a:srgbClr val="1200FF"/>
            </a:solidFill>
            <a:prstDash val="solid"/>
          </a:ln>
        </p:spPr>
      </p:sp>
      <p:sp>
        <p:nvSpPr>
          <p:cNvPr id="1048806" name="Text 6"/>
          <p:cNvSpPr txBox="1"/>
          <p:nvPr/>
        </p:nvSpPr>
        <p:spPr>
          <a:xfrm>
            <a:off x="502920" y="1371600"/>
            <a:ext cx="906087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224×224×3</a:t>
            </a:r>
            <a:endParaRPr dirty="0" sz="1100" lang="en-US"/>
          </a:p>
        </p:txBody>
      </p:sp>
      <p:sp>
        <p:nvSpPr>
          <p:cNvPr id="1048807" name="Shape 7"/>
          <p:cNvSpPr/>
          <p:nvPr/>
        </p:nvSpPr>
        <p:spPr>
          <a:xfrm>
            <a:off x="1482159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808" name="Shape 8"/>
          <p:cNvSpPr/>
          <p:nvPr/>
        </p:nvSpPr>
        <p:spPr>
          <a:xfrm>
            <a:off x="1637607" y="1371600"/>
            <a:ext cx="2438400" cy="10515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809" name="Text 9"/>
          <p:cNvSpPr txBox="1"/>
          <p:nvPr/>
        </p:nvSpPr>
        <p:spPr>
          <a:xfrm>
            <a:off x="1683327" y="1371600"/>
            <a:ext cx="2346960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latin typeface="Arial" pitchFamily="34" charset="0"/>
                <a:ea typeface="Arial" pitchFamily="34" charset="-122"/>
                <a:cs typeface="Arial" pitchFamily="34" charset="-120"/>
              </a:rPr>
              <a:t>Pretrained DenseNet121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latin typeface="Arial" pitchFamily="34" charset="0"/>
                <a:ea typeface="Arial" pitchFamily="34" charset="-122"/>
                <a:cs typeface="Arial" pitchFamily="34" charset="-120"/>
              </a:rPr>
              <a:t>121 layers · dense blocks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latin typeface="Arial" pitchFamily="34" charset="0"/>
                <a:ea typeface="Arial" pitchFamily="34" charset="-122"/>
                <a:cs typeface="Arial" pitchFamily="34" charset="-120"/>
              </a:rPr>
              <a:t>(ImageNet, frozen)</a:t>
            </a:r>
            <a:endParaRPr dirty="0" sz="1100" lang="en-US"/>
          </a:p>
        </p:txBody>
      </p:sp>
      <p:sp>
        <p:nvSpPr>
          <p:cNvPr id="1048810" name="Shape 10"/>
          <p:cNvSpPr/>
          <p:nvPr/>
        </p:nvSpPr>
        <p:spPr>
          <a:xfrm>
            <a:off x="4103439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811" name="Shape 11"/>
          <p:cNvSpPr/>
          <p:nvPr/>
        </p:nvSpPr>
        <p:spPr>
          <a:xfrm>
            <a:off x="4258887" y="1371600"/>
            <a:ext cx="105294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812" name="Text 12"/>
          <p:cNvSpPr txBox="1"/>
          <p:nvPr/>
        </p:nvSpPr>
        <p:spPr>
          <a:xfrm>
            <a:off x="4304607" y="1371600"/>
            <a:ext cx="961505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Avg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</a:t>
            </a:r>
            <a:endParaRPr dirty="0" sz="1100" lang="en-US"/>
          </a:p>
        </p:txBody>
      </p:sp>
      <p:sp>
        <p:nvSpPr>
          <p:cNvPr id="1048813" name="Shape 13"/>
          <p:cNvSpPr/>
          <p:nvPr/>
        </p:nvSpPr>
        <p:spPr>
          <a:xfrm>
            <a:off x="5339265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814" name="Shape 14"/>
          <p:cNvSpPr/>
          <p:nvPr/>
        </p:nvSpPr>
        <p:spPr>
          <a:xfrm>
            <a:off x="5494713" y="1371600"/>
            <a:ext cx="997527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815" name="Text 15"/>
          <p:cNvSpPr txBox="1"/>
          <p:nvPr/>
        </p:nvSpPr>
        <p:spPr>
          <a:xfrm>
            <a:off x="5540433" y="1371600"/>
            <a:ext cx="906087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512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dirty="0" sz="1100" lang="en-US"/>
          </a:p>
        </p:txBody>
      </p:sp>
      <p:sp>
        <p:nvSpPr>
          <p:cNvPr id="1048816" name="Shape 16"/>
          <p:cNvSpPr/>
          <p:nvPr/>
        </p:nvSpPr>
        <p:spPr>
          <a:xfrm>
            <a:off x="6519672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817" name="Shape 17"/>
          <p:cNvSpPr/>
          <p:nvPr/>
        </p:nvSpPr>
        <p:spPr>
          <a:xfrm>
            <a:off x="6675120" y="1371600"/>
            <a:ext cx="886691" cy="105156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818" name="Text 18"/>
          <p:cNvSpPr txBox="1"/>
          <p:nvPr/>
        </p:nvSpPr>
        <p:spPr>
          <a:xfrm>
            <a:off x="6720840" y="1371600"/>
            <a:ext cx="795251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dirty="0" sz="1100" lang="en-US"/>
          </a:p>
        </p:txBody>
      </p:sp>
      <p:sp>
        <p:nvSpPr>
          <p:cNvPr id="1048819" name="Shape 19"/>
          <p:cNvSpPr/>
          <p:nvPr/>
        </p:nvSpPr>
        <p:spPr>
          <a:xfrm>
            <a:off x="7589243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820" name="Shape 20"/>
          <p:cNvSpPr/>
          <p:nvPr/>
        </p:nvSpPr>
        <p:spPr>
          <a:xfrm>
            <a:off x="7744691" y="1371600"/>
            <a:ext cx="942109" cy="1051560"/>
          </a:xfrm>
          <a:prstGeom prst="roundRect">
            <a:avLst>
              <a:gd name="adj" fmla="val 5824"/>
            </a:avLst>
          </a:prstGeom>
          <a:solidFill>
            <a:schemeClr val="tx1"/>
          </a:solidFill>
          <a:ln w="12700">
            <a:solidFill>
              <a:srgbClr val="10101B"/>
            </a:solidFill>
            <a:prstDash val="solid"/>
          </a:ln>
        </p:spPr>
      </p:sp>
      <p:sp>
        <p:nvSpPr>
          <p:cNvPr id="1048821" name="Text 21"/>
          <p:cNvSpPr txBox="1"/>
          <p:nvPr/>
        </p:nvSpPr>
        <p:spPr>
          <a:xfrm>
            <a:off x="7790411" y="1371600"/>
            <a:ext cx="850669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1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</a:t>
            </a:r>
            <a:b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/ </a:t>
            </a:r>
            <a:r>
              <a:rPr b="1" dirty="0" sz="1100" lang="en-US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Pnumonia</a:t>
            </a:r>
            <a:endParaRPr dirty="0" sz="1100" lang="en-US"/>
          </a:p>
        </p:txBody>
      </p:sp>
      <p:sp>
        <p:nvSpPr>
          <p:cNvPr id="1048822" name="Shape 22"/>
          <p:cNvSpPr/>
          <p:nvPr/>
        </p:nvSpPr>
        <p:spPr>
          <a:xfrm>
            <a:off x="45720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823" name="Text 23"/>
          <p:cNvSpPr txBox="1"/>
          <p:nvPr/>
        </p:nvSpPr>
        <p:spPr>
          <a:xfrm>
            <a:off x="59436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96.25%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dirty="0" sz="1400" lang="en-US"/>
          </a:p>
        </p:txBody>
      </p:sp>
      <p:sp>
        <p:nvSpPr>
          <p:cNvPr id="1048824" name="Shape 24"/>
          <p:cNvSpPr/>
          <p:nvPr/>
        </p:nvSpPr>
        <p:spPr>
          <a:xfrm>
            <a:off x="256032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825" name="Text 25"/>
          <p:cNvSpPr txBox="1"/>
          <p:nvPr/>
        </p:nvSpPr>
        <p:spPr>
          <a:xfrm>
            <a:off x="269748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98.31%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dirty="0" sz="1400" lang="en-US"/>
          </a:p>
        </p:txBody>
      </p:sp>
      <p:sp>
        <p:nvSpPr>
          <p:cNvPr id="1048826" name="Shape 26"/>
          <p:cNvSpPr/>
          <p:nvPr/>
        </p:nvSpPr>
        <p:spPr>
          <a:xfrm>
            <a:off x="466344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827" name="Text 27"/>
          <p:cNvSpPr txBox="1"/>
          <p:nvPr/>
        </p:nvSpPr>
        <p:spPr>
          <a:xfrm>
            <a:off x="480060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93.10%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dirty="0" sz="1400" lang="en-US"/>
          </a:p>
        </p:txBody>
      </p:sp>
      <p:sp>
        <p:nvSpPr>
          <p:cNvPr id="1048828" name="Shape 28"/>
          <p:cNvSpPr/>
          <p:nvPr/>
        </p:nvSpPr>
        <p:spPr>
          <a:xfrm>
            <a:off x="676656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829" name="Text 29"/>
          <p:cNvSpPr txBox="1"/>
          <p:nvPr/>
        </p:nvSpPr>
        <p:spPr>
          <a:xfrm>
            <a:off x="690372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95.63%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dirty="0" sz="1400" lang="en-US"/>
          </a:p>
        </p:txBody>
      </p:sp>
      <p:sp>
        <p:nvSpPr>
          <p:cNvPr id="1048830" name="Text 30"/>
          <p:cNvSpPr txBox="1"/>
          <p:nvPr/>
        </p:nvSpPr>
        <p:spPr>
          <a:xfrm>
            <a:off x="457200" y="37490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7.56 M (0.53 M trainable)</a:t>
            </a:r>
            <a:endParaRPr dirty="0" sz="1400" lang="en-US"/>
          </a:p>
        </p:txBody>
      </p:sp>
      <p:sp>
        <p:nvSpPr>
          <p:cNvPr id="1048831" name="Text 31"/>
          <p:cNvSpPr txBox="1"/>
          <p:nvPr/>
        </p:nvSpPr>
        <p:spPr>
          <a:xfrm>
            <a:off x="4663440" y="37490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frozen, best val. acc 95.39%</a:t>
            </a:r>
            <a:endParaRPr dirty="0" sz="1400" lang="en-US"/>
          </a:p>
        </p:txBody>
      </p:sp>
      <p:sp>
        <p:nvSpPr>
          <p:cNvPr id="1048832" name="Text 32"/>
          <p:cNvSpPr txBox="1"/>
          <p:nvPr/>
        </p:nvSpPr>
        <p:spPr>
          <a:xfrm>
            <a:off x="457200" y="42062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Pixels ÷ 255</a:t>
            </a:r>
            <a:endParaRPr dirty="0" sz="1400" lang="en-US"/>
          </a:p>
        </p:txBody>
      </p:sp>
      <p:sp>
        <p:nvSpPr>
          <p:cNvPr id="1048833" name="Text 33"/>
          <p:cNvSpPr txBox="1"/>
          <p:nvPr/>
        </p:nvSpPr>
        <p:spPr>
          <a:xfrm>
            <a:off x="4663440" y="42062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 778 · FP 11 · FN 66 · TP 557</a:t>
            </a:r>
            <a:endParaRPr dirty="0" sz="1400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MODEL 3 OF 5</a:t>
            </a:r>
            <a:endParaRPr dirty="0" sz="1000" lang="en-US"/>
          </a:p>
        </p:txBody>
      </p:sp>
      <p:sp>
        <p:nvSpPr>
          <p:cNvPr id="1048838" name="Text 1"/>
          <p:cNvSpPr txBox="1"/>
          <p:nvPr/>
        </p:nvSpPr>
        <p:spPr>
          <a:xfrm>
            <a:off x="457200" y="52578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</a:t>
            </a:r>
            <a:endParaRPr dirty="0" sz="2800" lang="en-US"/>
          </a:p>
        </p:txBody>
      </p:sp>
      <p:pic>
        <p:nvPicPr>
          <p:cNvPr id="2097166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8839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8840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25</a:t>
            </a:r>
            <a:endParaRPr dirty="0" sz="1000" lang="en-US"/>
          </a:p>
        </p:txBody>
      </p:sp>
      <p:sp>
        <p:nvSpPr>
          <p:cNvPr id="1048841" name="Text 4"/>
          <p:cNvSpPr txBox="1"/>
          <p:nvPr/>
        </p:nvSpPr>
        <p:spPr>
          <a:xfrm>
            <a:off x="457200" y="1005840"/>
            <a:ext cx="82296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residual network</a:t>
            </a:r>
            <a:endParaRPr dirty="0" sz="1200" lang="en-US"/>
          </a:p>
        </p:txBody>
      </p:sp>
      <p:sp>
        <p:nvSpPr>
          <p:cNvPr id="1048842" name="Shape 5"/>
          <p:cNvSpPr/>
          <p:nvPr/>
        </p:nvSpPr>
        <p:spPr>
          <a:xfrm>
            <a:off x="457200" y="1371600"/>
            <a:ext cx="997527" cy="1051560"/>
          </a:xfrm>
          <a:prstGeom prst="roundRect">
            <a:avLst>
              <a:gd name="adj" fmla="val 5500"/>
            </a:avLst>
          </a:prstGeom>
          <a:solidFill>
            <a:schemeClr val="bg1"/>
          </a:solidFill>
          <a:ln w="9525">
            <a:solidFill>
              <a:srgbClr val="1200FF"/>
            </a:solidFill>
            <a:prstDash val="solid"/>
          </a:ln>
        </p:spPr>
      </p:sp>
      <p:sp>
        <p:nvSpPr>
          <p:cNvPr id="1048843" name="Text 6"/>
          <p:cNvSpPr txBox="1"/>
          <p:nvPr/>
        </p:nvSpPr>
        <p:spPr>
          <a:xfrm>
            <a:off x="502920" y="1371600"/>
            <a:ext cx="906087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224×224×3</a:t>
            </a:r>
            <a:endParaRPr dirty="0" sz="1100" lang="en-US"/>
          </a:p>
        </p:txBody>
      </p:sp>
      <p:sp>
        <p:nvSpPr>
          <p:cNvPr id="1048844" name="Shape 7"/>
          <p:cNvSpPr/>
          <p:nvPr/>
        </p:nvSpPr>
        <p:spPr>
          <a:xfrm>
            <a:off x="1482159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845" name="Shape 8"/>
          <p:cNvSpPr/>
          <p:nvPr/>
        </p:nvSpPr>
        <p:spPr>
          <a:xfrm>
            <a:off x="1637607" y="1371600"/>
            <a:ext cx="2438400" cy="10515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846" name="Text 9"/>
          <p:cNvSpPr txBox="1"/>
          <p:nvPr/>
        </p:nvSpPr>
        <p:spPr>
          <a:xfrm>
            <a:off x="1683327" y="1371600"/>
            <a:ext cx="2346960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latin typeface="Arial" pitchFamily="34" charset="0"/>
                <a:ea typeface="Arial" pitchFamily="34" charset="-122"/>
                <a:cs typeface="Arial" pitchFamily="34" charset="-120"/>
              </a:rPr>
              <a:t>Pretrained ResNet50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latin typeface="Arial" pitchFamily="34" charset="0"/>
                <a:ea typeface="Arial" pitchFamily="34" charset="-122"/>
                <a:cs typeface="Arial" pitchFamily="34" charset="-120"/>
              </a:rPr>
              <a:t>50 layers · residual blocks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latin typeface="Arial" pitchFamily="34" charset="0"/>
                <a:ea typeface="Arial" pitchFamily="34" charset="-122"/>
                <a:cs typeface="Arial" pitchFamily="34" charset="-120"/>
              </a:rPr>
              <a:t>(ImageNet, frozen)</a:t>
            </a:r>
            <a:endParaRPr dirty="0" sz="1100" lang="en-US"/>
          </a:p>
        </p:txBody>
      </p:sp>
      <p:sp>
        <p:nvSpPr>
          <p:cNvPr id="1048847" name="Shape 10"/>
          <p:cNvSpPr/>
          <p:nvPr/>
        </p:nvSpPr>
        <p:spPr>
          <a:xfrm>
            <a:off x="4103439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848" name="Shape 11"/>
          <p:cNvSpPr/>
          <p:nvPr/>
        </p:nvSpPr>
        <p:spPr>
          <a:xfrm>
            <a:off x="4258887" y="1371600"/>
            <a:ext cx="105294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849" name="Text 12"/>
          <p:cNvSpPr txBox="1"/>
          <p:nvPr/>
        </p:nvSpPr>
        <p:spPr>
          <a:xfrm>
            <a:off x="4304607" y="1371600"/>
            <a:ext cx="961505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Avg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</a:t>
            </a:r>
            <a:endParaRPr dirty="0" sz="1100" lang="en-US"/>
          </a:p>
        </p:txBody>
      </p:sp>
      <p:sp>
        <p:nvSpPr>
          <p:cNvPr id="1048850" name="Shape 13"/>
          <p:cNvSpPr/>
          <p:nvPr/>
        </p:nvSpPr>
        <p:spPr>
          <a:xfrm>
            <a:off x="5339265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851" name="Shape 14"/>
          <p:cNvSpPr/>
          <p:nvPr/>
        </p:nvSpPr>
        <p:spPr>
          <a:xfrm>
            <a:off x="5494713" y="1371600"/>
            <a:ext cx="997527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852" name="Text 15"/>
          <p:cNvSpPr txBox="1"/>
          <p:nvPr/>
        </p:nvSpPr>
        <p:spPr>
          <a:xfrm>
            <a:off x="5540433" y="1371600"/>
            <a:ext cx="906087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512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dirty="0" sz="1100" lang="en-US"/>
          </a:p>
        </p:txBody>
      </p:sp>
      <p:sp>
        <p:nvSpPr>
          <p:cNvPr id="1048853" name="Shape 16"/>
          <p:cNvSpPr/>
          <p:nvPr/>
        </p:nvSpPr>
        <p:spPr>
          <a:xfrm>
            <a:off x="6519672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854" name="Shape 17"/>
          <p:cNvSpPr/>
          <p:nvPr/>
        </p:nvSpPr>
        <p:spPr>
          <a:xfrm>
            <a:off x="6675120" y="1371600"/>
            <a:ext cx="886691" cy="105156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855" name="Text 18"/>
          <p:cNvSpPr txBox="1"/>
          <p:nvPr/>
        </p:nvSpPr>
        <p:spPr>
          <a:xfrm>
            <a:off x="6720840" y="1371600"/>
            <a:ext cx="795251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dirty="0" sz="1100" lang="en-US"/>
          </a:p>
        </p:txBody>
      </p:sp>
      <p:sp>
        <p:nvSpPr>
          <p:cNvPr id="1048856" name="Shape 19"/>
          <p:cNvSpPr/>
          <p:nvPr/>
        </p:nvSpPr>
        <p:spPr>
          <a:xfrm>
            <a:off x="7589243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857" name="Shape 20"/>
          <p:cNvSpPr/>
          <p:nvPr/>
        </p:nvSpPr>
        <p:spPr>
          <a:xfrm>
            <a:off x="7744691" y="1371600"/>
            <a:ext cx="942109" cy="1051560"/>
          </a:xfrm>
          <a:prstGeom prst="roundRect">
            <a:avLst>
              <a:gd name="adj" fmla="val 5824"/>
            </a:avLst>
          </a:prstGeom>
          <a:solidFill>
            <a:srgbClr val="10101B"/>
          </a:solidFill>
          <a:ln w="12700">
            <a:solidFill>
              <a:srgbClr val="10101B"/>
            </a:solidFill>
            <a:prstDash val="solid"/>
          </a:ln>
        </p:spPr>
      </p:sp>
      <p:sp>
        <p:nvSpPr>
          <p:cNvPr id="1048858" name="Text 21"/>
          <p:cNvSpPr txBox="1"/>
          <p:nvPr/>
        </p:nvSpPr>
        <p:spPr>
          <a:xfrm>
            <a:off x="7790411" y="1371600"/>
            <a:ext cx="850669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1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</a:t>
            </a:r>
            <a:b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/ </a:t>
            </a:r>
            <a:r>
              <a:rPr b="1" dirty="0" sz="1100" lang="en-US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Pnumonia</a:t>
            </a:r>
            <a:endParaRPr dirty="0" sz="1100" lang="en-US"/>
          </a:p>
        </p:txBody>
      </p:sp>
      <p:sp>
        <p:nvSpPr>
          <p:cNvPr id="1048859" name="Shape 22"/>
          <p:cNvSpPr/>
          <p:nvPr/>
        </p:nvSpPr>
        <p:spPr>
          <a:xfrm>
            <a:off x="45720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860" name="Text 23"/>
          <p:cNvSpPr txBox="1"/>
          <p:nvPr/>
        </p:nvSpPr>
        <p:spPr>
          <a:xfrm>
            <a:off x="59436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97.17%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dirty="0" sz="1400" lang="en-US"/>
          </a:p>
        </p:txBody>
      </p:sp>
      <p:sp>
        <p:nvSpPr>
          <p:cNvPr id="1048861" name="Shape 24"/>
          <p:cNvSpPr/>
          <p:nvPr/>
        </p:nvSpPr>
        <p:spPr>
          <a:xfrm>
            <a:off x="256032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862" name="Text 25"/>
          <p:cNvSpPr txBox="1"/>
          <p:nvPr/>
        </p:nvSpPr>
        <p:spPr>
          <a:xfrm>
            <a:off x="269748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97.40%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dirty="0" sz="1400" lang="en-US"/>
          </a:p>
        </p:txBody>
      </p:sp>
      <p:sp>
        <p:nvSpPr>
          <p:cNvPr id="1048863" name="Shape 26"/>
          <p:cNvSpPr/>
          <p:nvPr/>
        </p:nvSpPr>
        <p:spPr>
          <a:xfrm>
            <a:off x="466344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864" name="Text 27"/>
          <p:cNvSpPr txBox="1"/>
          <p:nvPr/>
        </p:nvSpPr>
        <p:spPr>
          <a:xfrm>
            <a:off x="480060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96.15%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dirty="0" sz="1400" lang="en-US"/>
          </a:p>
        </p:txBody>
      </p:sp>
      <p:sp>
        <p:nvSpPr>
          <p:cNvPr id="1048865" name="Shape 28"/>
          <p:cNvSpPr/>
          <p:nvPr/>
        </p:nvSpPr>
        <p:spPr>
          <a:xfrm>
            <a:off x="676656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866" name="Text 29"/>
          <p:cNvSpPr txBox="1"/>
          <p:nvPr/>
        </p:nvSpPr>
        <p:spPr>
          <a:xfrm>
            <a:off x="690372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96.77%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dirty="0" sz="1400" lang="en-US"/>
          </a:p>
        </p:txBody>
      </p:sp>
      <p:sp>
        <p:nvSpPr>
          <p:cNvPr id="1048867" name="Text 30"/>
          <p:cNvSpPr txBox="1"/>
          <p:nvPr/>
        </p:nvSpPr>
        <p:spPr>
          <a:xfrm>
            <a:off x="457200" y="37490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24.64 M (1.05 M trainable)</a:t>
            </a:r>
            <a:endParaRPr dirty="0" sz="1400" lang="en-US"/>
          </a:p>
        </p:txBody>
      </p:sp>
      <p:sp>
        <p:nvSpPr>
          <p:cNvPr id="1048868" name="Text 31"/>
          <p:cNvSpPr txBox="1"/>
          <p:nvPr/>
        </p:nvSpPr>
        <p:spPr>
          <a:xfrm>
            <a:off x="4663440" y="37490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frozen, best epoch 6, val. acc 97.23%</a:t>
            </a:r>
            <a:endParaRPr dirty="0" sz="1400" lang="en-US"/>
          </a:p>
        </p:txBody>
      </p:sp>
      <p:sp>
        <p:nvSpPr>
          <p:cNvPr id="1048869" name="Text 32"/>
          <p:cNvSpPr txBox="1"/>
          <p:nvPr/>
        </p:nvSpPr>
        <p:spPr>
          <a:xfrm>
            <a:off x="457200" y="42062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 preprocess_input</a:t>
            </a:r>
            <a:endParaRPr dirty="0" sz="1400" lang="en-US"/>
          </a:p>
        </p:txBody>
      </p:sp>
      <p:sp>
        <p:nvSpPr>
          <p:cNvPr id="1048870" name="Text 33"/>
          <p:cNvSpPr txBox="1"/>
          <p:nvPr/>
        </p:nvSpPr>
        <p:spPr>
          <a:xfrm>
            <a:off x="4663440" y="42062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 773 · FP 16 · FN 24 · TP 599</a:t>
            </a:r>
            <a:endParaRPr dirty="0" sz="140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4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MODEL 4 OF 5</a:t>
            </a:r>
            <a:endParaRPr dirty="0" sz="1000" lang="en-US"/>
          </a:p>
        </p:txBody>
      </p:sp>
      <p:sp>
        <p:nvSpPr>
          <p:cNvPr id="1048875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VGG16</a:t>
            </a:r>
            <a:endParaRPr dirty="0" sz="2800" lang="en-US"/>
          </a:p>
        </p:txBody>
      </p:sp>
      <p:pic>
        <p:nvPicPr>
          <p:cNvPr id="2097167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8876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8877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25</a:t>
            </a:r>
            <a:endParaRPr dirty="0" sz="1000" lang="en-US"/>
          </a:p>
        </p:txBody>
      </p:sp>
      <p:sp>
        <p:nvSpPr>
          <p:cNvPr id="1048878" name="Text 4"/>
          <p:cNvSpPr txBox="1"/>
          <p:nvPr/>
        </p:nvSpPr>
        <p:spPr>
          <a:xfrm>
            <a:off x="457200" y="1005840"/>
            <a:ext cx="82296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network with stacked 3×3 convolutions</a:t>
            </a:r>
            <a:endParaRPr dirty="0" sz="1200" lang="en-US"/>
          </a:p>
        </p:txBody>
      </p:sp>
      <p:sp>
        <p:nvSpPr>
          <p:cNvPr id="1048879" name="Shape 5"/>
          <p:cNvSpPr/>
          <p:nvPr/>
        </p:nvSpPr>
        <p:spPr>
          <a:xfrm>
            <a:off x="457200" y="1371600"/>
            <a:ext cx="1124712" cy="10515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1200FF"/>
            </a:solidFill>
            <a:prstDash val="solid"/>
          </a:ln>
        </p:spPr>
      </p:sp>
      <p:sp>
        <p:nvSpPr>
          <p:cNvPr id="1048880" name="Text 6"/>
          <p:cNvSpPr txBox="1"/>
          <p:nvPr/>
        </p:nvSpPr>
        <p:spPr>
          <a:xfrm>
            <a:off x="502920" y="1371600"/>
            <a:ext cx="1033272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224×224×3</a:t>
            </a:r>
            <a:endParaRPr dirty="0" sz="1100" lang="en-US"/>
          </a:p>
        </p:txBody>
      </p:sp>
      <p:sp>
        <p:nvSpPr>
          <p:cNvPr id="1048881" name="Shape 7"/>
          <p:cNvSpPr/>
          <p:nvPr/>
        </p:nvSpPr>
        <p:spPr>
          <a:xfrm>
            <a:off x="1609344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882" name="Shape 8"/>
          <p:cNvSpPr/>
          <p:nvPr/>
        </p:nvSpPr>
        <p:spPr>
          <a:xfrm>
            <a:off x="1764792" y="1371600"/>
            <a:ext cx="2749296" cy="10515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883" name="Text 9"/>
          <p:cNvSpPr txBox="1"/>
          <p:nvPr/>
        </p:nvSpPr>
        <p:spPr>
          <a:xfrm>
            <a:off x="1810512" y="1371600"/>
            <a:ext cx="2657856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latin typeface="Arial" pitchFamily="34" charset="0"/>
                <a:ea typeface="Arial" pitchFamily="34" charset="-122"/>
                <a:cs typeface="Arial" pitchFamily="34" charset="-120"/>
              </a:rPr>
              <a:t>Pretrained VGG16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latin typeface="Arial" pitchFamily="34" charset="0"/>
                <a:ea typeface="Arial" pitchFamily="34" charset="-122"/>
                <a:cs typeface="Arial" pitchFamily="34" charset="-120"/>
              </a:rPr>
              <a:t>16 layers · 3×3 conv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latin typeface="Arial" pitchFamily="34" charset="0"/>
                <a:ea typeface="Arial" pitchFamily="34" charset="-122"/>
                <a:cs typeface="Arial" pitchFamily="34" charset="-120"/>
              </a:rPr>
              <a:t>(ImageNet, frozen)</a:t>
            </a:r>
            <a:endParaRPr dirty="0" sz="1100" lang="en-US"/>
          </a:p>
        </p:txBody>
      </p:sp>
      <p:sp>
        <p:nvSpPr>
          <p:cNvPr id="1048884" name="Shape 10"/>
          <p:cNvSpPr/>
          <p:nvPr/>
        </p:nvSpPr>
        <p:spPr>
          <a:xfrm>
            <a:off x="4541520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885" name="Shape 11"/>
          <p:cNvSpPr/>
          <p:nvPr/>
        </p:nvSpPr>
        <p:spPr>
          <a:xfrm>
            <a:off x="4696968" y="1371600"/>
            <a:ext cx="118719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886" name="Text 12"/>
          <p:cNvSpPr txBox="1"/>
          <p:nvPr/>
        </p:nvSpPr>
        <p:spPr>
          <a:xfrm>
            <a:off x="4742688" y="1371600"/>
            <a:ext cx="1095756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Avg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</a:t>
            </a:r>
            <a:endParaRPr dirty="0" sz="1100" lang="en-US"/>
          </a:p>
        </p:txBody>
      </p:sp>
      <p:sp>
        <p:nvSpPr>
          <p:cNvPr id="1048887" name="Shape 13"/>
          <p:cNvSpPr/>
          <p:nvPr/>
        </p:nvSpPr>
        <p:spPr>
          <a:xfrm>
            <a:off x="5911596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888" name="Shape 14"/>
          <p:cNvSpPr/>
          <p:nvPr/>
        </p:nvSpPr>
        <p:spPr>
          <a:xfrm>
            <a:off x="6067044" y="1371600"/>
            <a:ext cx="137464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889" name="Text 15"/>
          <p:cNvSpPr txBox="1"/>
          <p:nvPr/>
        </p:nvSpPr>
        <p:spPr>
          <a:xfrm>
            <a:off x="6112764" y="1371600"/>
            <a:ext cx="1283208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layers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 · Dropout</a:t>
            </a:r>
            <a:endParaRPr dirty="0" sz="1100" lang="en-US"/>
          </a:p>
        </p:txBody>
      </p:sp>
      <p:sp>
        <p:nvSpPr>
          <p:cNvPr id="1048890" name="Shape 16"/>
          <p:cNvSpPr/>
          <p:nvPr/>
        </p:nvSpPr>
        <p:spPr>
          <a:xfrm>
            <a:off x="7469124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891" name="Shape 17"/>
          <p:cNvSpPr/>
          <p:nvPr/>
        </p:nvSpPr>
        <p:spPr>
          <a:xfrm>
            <a:off x="7624572" y="1371600"/>
            <a:ext cx="1062228" cy="1051560"/>
          </a:xfrm>
          <a:prstGeom prst="roundRect">
            <a:avLst>
              <a:gd name="adj" fmla="val 5217"/>
            </a:avLst>
          </a:prstGeom>
          <a:solidFill>
            <a:srgbClr val="10101B"/>
          </a:solidFill>
          <a:ln w="12700">
            <a:solidFill>
              <a:srgbClr val="10101B"/>
            </a:solidFill>
            <a:prstDash val="solid"/>
          </a:ln>
        </p:spPr>
      </p:sp>
      <p:sp>
        <p:nvSpPr>
          <p:cNvPr id="1048892" name="Text 18"/>
          <p:cNvSpPr txBox="1"/>
          <p:nvPr/>
        </p:nvSpPr>
        <p:spPr>
          <a:xfrm>
            <a:off x="7670292" y="1371600"/>
            <a:ext cx="970788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1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</a:t>
            </a:r>
            <a:b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/ </a:t>
            </a:r>
            <a:r>
              <a:rPr b="1" dirty="0" sz="1100" lang="en-US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Pnumonia</a:t>
            </a:r>
            <a:endParaRPr dirty="0" sz="1100" lang="en-US"/>
          </a:p>
        </p:txBody>
      </p:sp>
      <p:sp>
        <p:nvSpPr>
          <p:cNvPr id="1048893" name="Shape 19"/>
          <p:cNvSpPr/>
          <p:nvPr/>
        </p:nvSpPr>
        <p:spPr>
          <a:xfrm>
            <a:off x="45720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894" name="Text 20"/>
          <p:cNvSpPr txBox="1"/>
          <p:nvPr/>
        </p:nvSpPr>
        <p:spPr>
          <a:xfrm>
            <a:off x="59436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96.32%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dirty="0" sz="1400" lang="en-US"/>
          </a:p>
        </p:txBody>
      </p:sp>
      <p:sp>
        <p:nvSpPr>
          <p:cNvPr id="1048895" name="Shape 21"/>
          <p:cNvSpPr/>
          <p:nvPr/>
        </p:nvSpPr>
        <p:spPr>
          <a:xfrm>
            <a:off x="256032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896" name="Text 22"/>
          <p:cNvSpPr txBox="1"/>
          <p:nvPr/>
        </p:nvSpPr>
        <p:spPr>
          <a:xfrm>
            <a:off x="269748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98.80%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dirty="0" sz="1400" lang="en-US"/>
          </a:p>
        </p:txBody>
      </p:sp>
      <p:sp>
        <p:nvSpPr>
          <p:cNvPr id="1048897" name="Shape 23"/>
          <p:cNvSpPr/>
          <p:nvPr/>
        </p:nvSpPr>
        <p:spPr>
          <a:xfrm>
            <a:off x="466344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898" name="Text 24"/>
          <p:cNvSpPr txBox="1"/>
          <p:nvPr/>
        </p:nvSpPr>
        <p:spPr>
          <a:xfrm>
            <a:off x="480060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92.78%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dirty="0" sz="1400" lang="en-US"/>
          </a:p>
        </p:txBody>
      </p:sp>
      <p:sp>
        <p:nvSpPr>
          <p:cNvPr id="1048899" name="Shape 25"/>
          <p:cNvSpPr/>
          <p:nvPr/>
        </p:nvSpPr>
        <p:spPr>
          <a:xfrm>
            <a:off x="676656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900" name="Text 26"/>
          <p:cNvSpPr txBox="1"/>
          <p:nvPr/>
        </p:nvSpPr>
        <p:spPr>
          <a:xfrm>
            <a:off x="690372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95.70%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dirty="0" sz="1400" lang="en-US"/>
          </a:p>
        </p:txBody>
      </p:sp>
      <p:sp>
        <p:nvSpPr>
          <p:cNvPr id="1048901" name="Text 27"/>
          <p:cNvSpPr txBox="1"/>
          <p:nvPr/>
        </p:nvSpPr>
        <p:spPr>
          <a:xfrm>
            <a:off x="457200" y="37490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14.9 M, only dense head trained</a:t>
            </a:r>
            <a:endParaRPr dirty="0" sz="1400" lang="en-US"/>
          </a:p>
        </p:txBody>
      </p:sp>
      <p:sp>
        <p:nvSpPr>
          <p:cNvPr id="1048902" name="Text 28"/>
          <p:cNvSpPr txBox="1"/>
          <p:nvPr/>
        </p:nvSpPr>
        <p:spPr>
          <a:xfrm>
            <a:off x="4663440" y="37490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frozen, best epoch 14, val. acc 95.60%</a:t>
            </a:r>
            <a:endParaRPr dirty="0" sz="1400" lang="en-US"/>
          </a:p>
        </p:txBody>
      </p:sp>
      <p:sp>
        <p:nvSpPr>
          <p:cNvPr id="1048903" name="Text 29"/>
          <p:cNvSpPr txBox="1"/>
          <p:nvPr/>
        </p:nvSpPr>
        <p:spPr>
          <a:xfrm>
            <a:off x="457200" y="42062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VGG16 preprocess_input</a:t>
            </a:r>
            <a:endParaRPr dirty="0" sz="1400" lang="en-US"/>
          </a:p>
        </p:txBody>
      </p:sp>
      <p:sp>
        <p:nvSpPr>
          <p:cNvPr id="1048904" name="Text 30"/>
          <p:cNvSpPr txBox="1"/>
          <p:nvPr/>
        </p:nvSpPr>
        <p:spPr>
          <a:xfrm>
            <a:off x="4663440" y="42062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0.9963</a:t>
            </a:r>
            <a:endParaRPr dirty="0" sz="140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8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MODEL 5 OF 5</a:t>
            </a:r>
            <a:endParaRPr dirty="0" sz="1000" lang="en-US"/>
          </a:p>
        </p:txBody>
      </p:sp>
      <p:sp>
        <p:nvSpPr>
          <p:cNvPr id="1048909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EfficientNetB4</a:t>
            </a:r>
            <a:endParaRPr dirty="0" sz="2800" lang="en-US"/>
          </a:p>
        </p:txBody>
      </p:sp>
      <p:pic>
        <p:nvPicPr>
          <p:cNvPr id="2097168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8910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8911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25</a:t>
            </a:r>
            <a:endParaRPr dirty="0" sz="1000" lang="en-US"/>
          </a:p>
        </p:txBody>
      </p:sp>
      <p:sp>
        <p:nvSpPr>
          <p:cNvPr id="1048912" name="Text 4"/>
          <p:cNvSpPr txBox="1"/>
          <p:nvPr/>
        </p:nvSpPr>
        <p:spPr>
          <a:xfrm>
            <a:off x="457200" y="1005840"/>
            <a:ext cx="82296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network with compound scaling</a:t>
            </a:r>
            <a:endParaRPr dirty="0" sz="1200" lang="en-US"/>
          </a:p>
        </p:txBody>
      </p:sp>
      <p:sp>
        <p:nvSpPr>
          <p:cNvPr id="1048913" name="Shape 5"/>
          <p:cNvSpPr/>
          <p:nvPr/>
        </p:nvSpPr>
        <p:spPr>
          <a:xfrm>
            <a:off x="457200" y="1371600"/>
            <a:ext cx="997527" cy="1051560"/>
          </a:xfrm>
          <a:prstGeom prst="roundRect">
            <a:avLst>
              <a:gd name="adj" fmla="val 5500"/>
            </a:avLst>
          </a:prstGeom>
          <a:solidFill>
            <a:schemeClr val="bg1"/>
          </a:solidFill>
          <a:ln w="9525">
            <a:solidFill>
              <a:srgbClr val="1200FF"/>
            </a:solidFill>
            <a:prstDash val="solid"/>
          </a:ln>
        </p:spPr>
      </p:sp>
      <p:sp>
        <p:nvSpPr>
          <p:cNvPr id="1048914" name="Text 6"/>
          <p:cNvSpPr txBox="1"/>
          <p:nvPr/>
        </p:nvSpPr>
        <p:spPr>
          <a:xfrm>
            <a:off x="502920" y="1371600"/>
            <a:ext cx="906087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380×380×3</a:t>
            </a:r>
            <a:endParaRPr dirty="0" sz="1100" lang="en-US"/>
          </a:p>
        </p:txBody>
      </p:sp>
      <p:sp>
        <p:nvSpPr>
          <p:cNvPr id="1048915" name="Shape 7"/>
          <p:cNvSpPr/>
          <p:nvPr/>
        </p:nvSpPr>
        <p:spPr>
          <a:xfrm>
            <a:off x="1482159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16" name="Shape 8"/>
          <p:cNvSpPr/>
          <p:nvPr/>
        </p:nvSpPr>
        <p:spPr>
          <a:xfrm>
            <a:off x="1637607" y="1371600"/>
            <a:ext cx="2438400" cy="10515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917" name="Text 9"/>
          <p:cNvSpPr txBox="1"/>
          <p:nvPr/>
        </p:nvSpPr>
        <p:spPr>
          <a:xfrm>
            <a:off x="1683327" y="1371600"/>
            <a:ext cx="2346960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latin typeface="Arial" pitchFamily="34" charset="0"/>
                <a:ea typeface="Arial" pitchFamily="34" charset="-122"/>
                <a:cs typeface="Arial" pitchFamily="34" charset="-120"/>
              </a:rPr>
              <a:t>Pretrained EfficientNetB4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latin typeface="Arial" pitchFamily="34" charset="0"/>
                <a:ea typeface="Arial" pitchFamily="34" charset="-122"/>
                <a:cs typeface="Arial" pitchFamily="34" charset="-120"/>
              </a:rPr>
              <a:t>MBConv blocks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latin typeface="Arial" pitchFamily="34" charset="0"/>
                <a:ea typeface="Arial" pitchFamily="34" charset="-122"/>
                <a:cs typeface="Arial" pitchFamily="34" charset="-120"/>
              </a:rPr>
              <a:t>(ImageNet, frozen)</a:t>
            </a:r>
            <a:endParaRPr dirty="0" sz="1100" lang="en-US"/>
          </a:p>
        </p:txBody>
      </p:sp>
      <p:sp>
        <p:nvSpPr>
          <p:cNvPr id="1048918" name="Shape 10"/>
          <p:cNvSpPr/>
          <p:nvPr/>
        </p:nvSpPr>
        <p:spPr>
          <a:xfrm>
            <a:off x="4103439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19" name="Shape 11"/>
          <p:cNvSpPr/>
          <p:nvPr/>
        </p:nvSpPr>
        <p:spPr>
          <a:xfrm>
            <a:off x="4258887" y="1371600"/>
            <a:ext cx="1052945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920" name="Text 12"/>
          <p:cNvSpPr txBox="1"/>
          <p:nvPr/>
        </p:nvSpPr>
        <p:spPr>
          <a:xfrm>
            <a:off x="4304607" y="1371600"/>
            <a:ext cx="961505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Avg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</a:t>
            </a:r>
            <a:endParaRPr dirty="0" sz="1100" lang="en-US"/>
          </a:p>
        </p:txBody>
      </p:sp>
      <p:sp>
        <p:nvSpPr>
          <p:cNvPr id="1048921" name="Shape 13"/>
          <p:cNvSpPr/>
          <p:nvPr/>
        </p:nvSpPr>
        <p:spPr>
          <a:xfrm>
            <a:off x="5339265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22" name="Shape 14"/>
          <p:cNvSpPr/>
          <p:nvPr/>
        </p:nvSpPr>
        <p:spPr>
          <a:xfrm>
            <a:off x="5494713" y="1371600"/>
            <a:ext cx="997527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923" name="Text 15"/>
          <p:cNvSpPr txBox="1"/>
          <p:nvPr/>
        </p:nvSpPr>
        <p:spPr>
          <a:xfrm>
            <a:off x="5540433" y="1371600"/>
            <a:ext cx="906087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512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dirty="0" sz="1100" lang="en-US"/>
          </a:p>
        </p:txBody>
      </p:sp>
      <p:sp>
        <p:nvSpPr>
          <p:cNvPr id="1048924" name="Shape 16"/>
          <p:cNvSpPr/>
          <p:nvPr/>
        </p:nvSpPr>
        <p:spPr>
          <a:xfrm>
            <a:off x="6519672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25" name="Shape 17"/>
          <p:cNvSpPr/>
          <p:nvPr/>
        </p:nvSpPr>
        <p:spPr>
          <a:xfrm>
            <a:off x="6675120" y="1371600"/>
            <a:ext cx="886691" cy="105156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926" name="Text 18"/>
          <p:cNvSpPr txBox="1"/>
          <p:nvPr/>
        </p:nvSpPr>
        <p:spPr>
          <a:xfrm>
            <a:off x="6720840" y="1371600"/>
            <a:ext cx="795251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dirty="0" sz="1100" lang="en-US"/>
          </a:p>
          <a:p>
            <a:pPr algn="ctr" indent="0" marL="0">
              <a:buNone/>
            </a:pPr>
            <a:r>
              <a:rPr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dirty="0" sz="1100" lang="en-US"/>
          </a:p>
        </p:txBody>
      </p:sp>
      <p:sp>
        <p:nvSpPr>
          <p:cNvPr id="1048927" name="Shape 19"/>
          <p:cNvSpPr/>
          <p:nvPr/>
        </p:nvSpPr>
        <p:spPr>
          <a:xfrm>
            <a:off x="7589243" y="1897380"/>
            <a:ext cx="12801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28" name="Shape 20"/>
          <p:cNvSpPr/>
          <p:nvPr/>
        </p:nvSpPr>
        <p:spPr>
          <a:xfrm>
            <a:off x="7744691" y="1371600"/>
            <a:ext cx="942109" cy="1051560"/>
          </a:xfrm>
          <a:prstGeom prst="roundRect">
            <a:avLst>
              <a:gd name="adj" fmla="val 5824"/>
            </a:avLst>
          </a:prstGeom>
          <a:solidFill>
            <a:srgbClr val="10101B"/>
          </a:solidFill>
          <a:ln w="12700">
            <a:solidFill>
              <a:srgbClr val="10101B"/>
            </a:solidFill>
            <a:prstDash val="solid"/>
          </a:ln>
        </p:spPr>
      </p:sp>
      <p:sp>
        <p:nvSpPr>
          <p:cNvPr id="1048929" name="Text 21"/>
          <p:cNvSpPr txBox="1"/>
          <p:nvPr/>
        </p:nvSpPr>
        <p:spPr>
          <a:xfrm>
            <a:off x="7790411" y="1371600"/>
            <a:ext cx="850669" cy="10515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1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</a:t>
            </a:r>
            <a:b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b="1" dirty="0" sz="11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/ </a:t>
            </a:r>
            <a:r>
              <a:rPr b="1" dirty="0" sz="1100" lang="en-US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Pnumonia</a:t>
            </a:r>
            <a:endParaRPr dirty="0" sz="1100" lang="en-US"/>
          </a:p>
        </p:txBody>
      </p:sp>
      <p:sp>
        <p:nvSpPr>
          <p:cNvPr id="1048930" name="Shape 22"/>
          <p:cNvSpPr/>
          <p:nvPr/>
        </p:nvSpPr>
        <p:spPr>
          <a:xfrm>
            <a:off x="45720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931" name="Text 23"/>
          <p:cNvSpPr txBox="1"/>
          <p:nvPr/>
        </p:nvSpPr>
        <p:spPr>
          <a:xfrm>
            <a:off x="59436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97.10%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dirty="0" sz="1400" lang="en-US"/>
          </a:p>
        </p:txBody>
      </p:sp>
      <p:sp>
        <p:nvSpPr>
          <p:cNvPr id="1048932" name="Shape 24"/>
          <p:cNvSpPr/>
          <p:nvPr/>
        </p:nvSpPr>
        <p:spPr>
          <a:xfrm>
            <a:off x="256032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933" name="Text 25"/>
          <p:cNvSpPr txBox="1"/>
          <p:nvPr/>
        </p:nvSpPr>
        <p:spPr>
          <a:xfrm>
            <a:off x="269748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98.18%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dirty="0" sz="1400" lang="en-US"/>
          </a:p>
        </p:txBody>
      </p:sp>
      <p:sp>
        <p:nvSpPr>
          <p:cNvPr id="1048934" name="Shape 26"/>
          <p:cNvSpPr/>
          <p:nvPr/>
        </p:nvSpPr>
        <p:spPr>
          <a:xfrm>
            <a:off x="466344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935" name="Text 27"/>
          <p:cNvSpPr txBox="1"/>
          <p:nvPr/>
        </p:nvSpPr>
        <p:spPr>
          <a:xfrm>
            <a:off x="480060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95.18%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dirty="0" sz="1400" lang="en-US"/>
          </a:p>
        </p:txBody>
      </p:sp>
      <p:sp>
        <p:nvSpPr>
          <p:cNvPr id="1048936" name="Shape 28"/>
          <p:cNvSpPr/>
          <p:nvPr/>
        </p:nvSpPr>
        <p:spPr>
          <a:xfrm>
            <a:off x="6766560" y="26974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937" name="Text 29"/>
          <p:cNvSpPr txBox="1"/>
          <p:nvPr/>
        </p:nvSpPr>
        <p:spPr>
          <a:xfrm>
            <a:off x="6903720" y="278892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96.66%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dirty="0" sz="1400" lang="en-US"/>
          </a:p>
        </p:txBody>
      </p:sp>
      <p:sp>
        <p:nvSpPr>
          <p:cNvPr id="1048938" name="Text 30"/>
          <p:cNvSpPr txBox="1"/>
          <p:nvPr/>
        </p:nvSpPr>
        <p:spPr>
          <a:xfrm>
            <a:off x="457200" y="37490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18.59 M (0.92 M trainable)</a:t>
            </a:r>
            <a:endParaRPr dirty="0" sz="1400" lang="en-US"/>
          </a:p>
        </p:txBody>
      </p:sp>
      <p:sp>
        <p:nvSpPr>
          <p:cNvPr id="1048939" name="Text 31"/>
          <p:cNvSpPr txBox="1"/>
          <p:nvPr/>
        </p:nvSpPr>
        <p:spPr>
          <a:xfrm>
            <a:off x="4663440" y="37490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frozen, best epoch 8, val. acc 96.81%</a:t>
            </a:r>
            <a:endParaRPr dirty="0" sz="1400" lang="en-US"/>
          </a:p>
        </p:txBody>
      </p:sp>
      <p:sp>
        <p:nvSpPr>
          <p:cNvPr id="1048940" name="Text 32"/>
          <p:cNvSpPr txBox="1"/>
          <p:nvPr/>
        </p:nvSpPr>
        <p:spPr>
          <a:xfrm>
            <a:off x="457200" y="42062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SIZE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380×380, batch size 32</a:t>
            </a:r>
            <a:endParaRPr dirty="0" sz="1400" lang="en-US"/>
          </a:p>
        </p:txBody>
      </p:sp>
      <p:sp>
        <p:nvSpPr>
          <p:cNvPr id="1048941" name="Text 33"/>
          <p:cNvSpPr txBox="1"/>
          <p:nvPr/>
        </p:nvSpPr>
        <p:spPr>
          <a:xfrm>
            <a:off x="4663440" y="4206240"/>
            <a:ext cx="402336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 778 · FP 11 · FN 30 · TP 593</a:t>
            </a:r>
            <a:endParaRPr dirty="0" sz="1400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5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ENSEMBLE MODEL 1 OF 2</a:t>
            </a:r>
            <a:endParaRPr dirty="0" sz="1000" lang="en-US"/>
          </a:p>
        </p:txBody>
      </p:sp>
      <p:sp>
        <p:nvSpPr>
          <p:cNvPr id="1048946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A: DenseNet121 + EfficientNetB4</a:t>
            </a:r>
            <a:endParaRPr dirty="0" sz="2800" lang="en-US"/>
          </a:p>
        </p:txBody>
      </p:sp>
      <p:pic>
        <p:nvPicPr>
          <p:cNvPr id="2097169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8947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8948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25</a:t>
            </a:r>
            <a:endParaRPr dirty="0" sz="1000" lang="en-US"/>
          </a:p>
        </p:txBody>
      </p:sp>
      <p:sp>
        <p:nvSpPr>
          <p:cNvPr id="1048949" name="Text 4"/>
          <p:cNvSpPr txBox="1"/>
          <p:nvPr/>
        </p:nvSpPr>
        <p:spPr>
          <a:xfrm>
            <a:off x="457200" y="1005840"/>
            <a:ext cx="82296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networks see the same X-ray and their outputs are combined into one prediction</a:t>
            </a:r>
            <a:endParaRPr dirty="0" sz="1200" lang="en-US"/>
          </a:p>
        </p:txBody>
      </p:sp>
      <p:sp>
        <p:nvSpPr>
          <p:cNvPr id="1048950" name="Shape 5"/>
          <p:cNvSpPr/>
          <p:nvPr/>
        </p:nvSpPr>
        <p:spPr>
          <a:xfrm>
            <a:off x="457200" y="1737360"/>
            <a:ext cx="1280160" cy="1097280"/>
          </a:xfrm>
          <a:prstGeom prst="roundRect">
            <a:avLst>
              <a:gd name="adj" fmla="val 5000"/>
            </a:avLst>
          </a:prstGeom>
          <a:solidFill>
            <a:srgbClr val="F4F5FC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951" name="Text 6"/>
          <p:cNvSpPr txBox="1"/>
          <p:nvPr/>
        </p:nvSpPr>
        <p:spPr>
          <a:xfrm>
            <a:off x="457200" y="1737360"/>
            <a:ext cx="1280160" cy="1097280"/>
          </a:xfrm>
          <a:prstGeom prst="rect"/>
          <a:solidFill>
            <a:schemeClr val="bg1"/>
          </a:solidFill>
          <a:ln>
            <a:solidFill>
              <a:srgbClr val="1200FF"/>
            </a:solidFill>
          </a:ln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X-ray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380×380×3</a:t>
            </a:r>
            <a:endParaRPr dirty="0" sz="1200" lang="en-US"/>
          </a:p>
        </p:txBody>
      </p:sp>
      <p:sp>
        <p:nvSpPr>
          <p:cNvPr id="1048952" name="Shape 7"/>
          <p:cNvSpPr/>
          <p:nvPr/>
        </p:nvSpPr>
        <p:spPr>
          <a:xfrm>
            <a:off x="2194560" y="137160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953" name="Text 8"/>
          <p:cNvSpPr txBox="1"/>
          <p:nvPr/>
        </p:nvSpPr>
        <p:spPr>
          <a:xfrm>
            <a:off x="2194560" y="1371600"/>
            <a:ext cx="274320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DenseNet121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(ImageNet, GAP + Dense)</a:t>
            </a:r>
            <a:endParaRPr dirty="0" sz="1100" lang="en-US"/>
          </a:p>
        </p:txBody>
      </p:sp>
      <p:sp>
        <p:nvSpPr>
          <p:cNvPr id="1048954" name="Shape 9"/>
          <p:cNvSpPr/>
          <p:nvPr/>
        </p:nvSpPr>
        <p:spPr>
          <a:xfrm flipV="1">
            <a:off x="1764792" y="1691640"/>
            <a:ext cx="402336" cy="59436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55" name="Shape 10"/>
          <p:cNvSpPr/>
          <p:nvPr/>
        </p:nvSpPr>
        <p:spPr>
          <a:xfrm>
            <a:off x="4965192" y="1691640"/>
            <a:ext cx="402336" cy="59436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56" name="Shape 11"/>
          <p:cNvSpPr/>
          <p:nvPr/>
        </p:nvSpPr>
        <p:spPr>
          <a:xfrm>
            <a:off x="2194560" y="219456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957" name="Text 12"/>
          <p:cNvSpPr txBox="1"/>
          <p:nvPr/>
        </p:nvSpPr>
        <p:spPr>
          <a:xfrm>
            <a:off x="2194560" y="2194560"/>
            <a:ext cx="274320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EfficientNetB4</a:t>
            </a:r>
            <a:endParaRPr dirty="0" sz="1100" lang="en-US"/>
          </a:p>
          <a:p>
            <a:pPr algn="ctr" indent="0" marL="0">
              <a:buNone/>
            </a:pPr>
            <a:r>
              <a:rPr b="1" dirty="0" sz="11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(ImageNet, GAP + Dense)</a:t>
            </a:r>
            <a:endParaRPr dirty="0" sz="1100" lang="en-US"/>
          </a:p>
        </p:txBody>
      </p:sp>
      <p:sp>
        <p:nvSpPr>
          <p:cNvPr id="1048958" name="Shape 13"/>
          <p:cNvSpPr/>
          <p:nvPr/>
        </p:nvSpPr>
        <p:spPr>
          <a:xfrm>
            <a:off x="1764792" y="2286000"/>
            <a:ext cx="402336" cy="22860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59" name="Shape 14"/>
          <p:cNvSpPr/>
          <p:nvPr/>
        </p:nvSpPr>
        <p:spPr>
          <a:xfrm flipV="1">
            <a:off x="4965192" y="2286000"/>
            <a:ext cx="402336" cy="22860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60" name="Shape 15"/>
          <p:cNvSpPr/>
          <p:nvPr/>
        </p:nvSpPr>
        <p:spPr>
          <a:xfrm>
            <a:off x="5394960" y="1737360"/>
            <a:ext cx="1463040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48961" name="Text 16"/>
          <p:cNvSpPr txBox="1"/>
          <p:nvPr/>
        </p:nvSpPr>
        <p:spPr>
          <a:xfrm>
            <a:off x="5394960" y="1737360"/>
            <a:ext cx="1463040" cy="1097280"/>
          </a:xfrm>
          <a:prstGeom prst="rect"/>
          <a:noFill/>
          <a:ln>
            <a:solidFill>
              <a:srgbClr val="1200FF"/>
            </a:solidFill>
          </a:ln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300" lang="en-US"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endParaRPr dirty="0" sz="1300" lang="en-US"/>
          </a:p>
          <a:p>
            <a:pPr algn="ctr" indent="0" marL="0">
              <a:buNone/>
            </a:pPr>
            <a:r>
              <a:rPr dirty="0" sz="1300" lang="en-US"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dirty="0" sz="1300" lang="en-US"/>
          </a:p>
        </p:txBody>
      </p:sp>
      <p:sp>
        <p:nvSpPr>
          <p:cNvPr id="1048962" name="Shape 17"/>
          <p:cNvSpPr/>
          <p:nvPr/>
        </p:nvSpPr>
        <p:spPr>
          <a:xfrm>
            <a:off x="6885432" y="2286000"/>
            <a:ext cx="31089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63" name="Shape 18"/>
          <p:cNvSpPr/>
          <p:nvPr/>
        </p:nvSpPr>
        <p:spPr>
          <a:xfrm>
            <a:off x="7223760" y="1737360"/>
            <a:ext cx="1463040" cy="1097280"/>
          </a:xfrm>
          <a:prstGeom prst="roundRect">
            <a:avLst>
              <a:gd name="adj" fmla="val 5000"/>
            </a:avLst>
          </a:prstGeom>
          <a:solidFill>
            <a:srgbClr val="10101B"/>
          </a:solidFill>
          <a:ln w="12700">
            <a:solidFill>
              <a:srgbClr val="10101B"/>
            </a:solidFill>
            <a:prstDash val="solid"/>
          </a:ln>
        </p:spPr>
      </p:sp>
      <p:sp>
        <p:nvSpPr>
          <p:cNvPr id="1048964" name="Text 19"/>
          <p:cNvSpPr txBox="1"/>
          <p:nvPr/>
        </p:nvSpPr>
        <p:spPr>
          <a:xfrm>
            <a:off x="7223760" y="1737360"/>
            <a:ext cx="1463040" cy="10972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</a:t>
            </a:r>
            <a:endParaRPr dirty="0" sz="1200" lang="en-US"/>
          </a:p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/</a:t>
            </a:r>
            <a:endParaRPr dirty="0" sz="1200" lang="en-US"/>
          </a:p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</a:t>
            </a:r>
            <a:endParaRPr dirty="0" sz="1200" lang="en-US"/>
          </a:p>
        </p:txBody>
      </p:sp>
      <p:sp>
        <p:nvSpPr>
          <p:cNvPr id="1048965" name="Shape 20"/>
          <p:cNvSpPr/>
          <p:nvPr/>
        </p:nvSpPr>
        <p:spPr>
          <a:xfrm>
            <a:off x="457200" y="32004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966" name="Text 21"/>
          <p:cNvSpPr txBox="1"/>
          <p:nvPr/>
        </p:nvSpPr>
        <p:spPr>
          <a:xfrm>
            <a:off x="594360" y="329184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97.17%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dirty="0" sz="1400" lang="en-US"/>
          </a:p>
        </p:txBody>
      </p:sp>
      <p:sp>
        <p:nvSpPr>
          <p:cNvPr id="1048967" name="Shape 22"/>
          <p:cNvSpPr/>
          <p:nvPr/>
        </p:nvSpPr>
        <p:spPr>
          <a:xfrm>
            <a:off x="2560320" y="32004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968" name="Text 23"/>
          <p:cNvSpPr txBox="1"/>
          <p:nvPr/>
        </p:nvSpPr>
        <p:spPr>
          <a:xfrm>
            <a:off x="2697480" y="329184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99.32%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dirty="0" sz="1400" lang="en-US"/>
          </a:p>
        </p:txBody>
      </p:sp>
      <p:sp>
        <p:nvSpPr>
          <p:cNvPr id="1048969" name="Shape 24"/>
          <p:cNvSpPr/>
          <p:nvPr/>
        </p:nvSpPr>
        <p:spPr>
          <a:xfrm>
            <a:off x="4663440" y="32004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970" name="Text 25"/>
          <p:cNvSpPr txBox="1"/>
          <p:nvPr/>
        </p:nvSpPr>
        <p:spPr>
          <a:xfrm>
            <a:off x="4800600" y="329184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94.22%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dirty="0" sz="1400" lang="en-US"/>
          </a:p>
        </p:txBody>
      </p:sp>
      <p:sp>
        <p:nvSpPr>
          <p:cNvPr id="1048971" name="Shape 26"/>
          <p:cNvSpPr/>
          <p:nvPr/>
        </p:nvSpPr>
        <p:spPr>
          <a:xfrm>
            <a:off x="6766560" y="32004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8972" name="Text 27"/>
          <p:cNvSpPr txBox="1"/>
          <p:nvPr/>
        </p:nvSpPr>
        <p:spPr>
          <a:xfrm>
            <a:off x="6903720" y="3291840"/>
            <a:ext cx="1737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4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96.71%</a:t>
            </a:r>
            <a:endParaRPr dirty="0" sz="1400" lang="en-US"/>
          </a:p>
          <a:p>
            <a:pPr indent="0" marL="0">
              <a:buNone/>
            </a:pP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dirty="0" sz="1400" lang="en-US"/>
          </a:p>
        </p:txBody>
      </p:sp>
      <p:sp>
        <p:nvSpPr>
          <p:cNvPr id="1048973" name="Text 28"/>
          <p:cNvSpPr txBox="1"/>
          <p:nvPr/>
        </p:nvSpPr>
        <p:spPr>
          <a:xfrm>
            <a:off x="457200" y="4251960"/>
            <a:ext cx="822960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 785 · FP 4 · FN 36 · TP 587</a:t>
            </a:r>
            <a:r>
              <a:rPr b="1" dirty="0" sz="1000" lang="en-US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INPUT   </a:t>
            </a: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380×380, EfficientNet preprocessing</a:t>
            </a:r>
            <a:endParaRPr dirty="0" sz="1400"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7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ENSEMBLE MODEL 2 OF 2</a:t>
            </a:r>
            <a:endParaRPr dirty="0" sz="1000" lang="en-US"/>
          </a:p>
        </p:txBody>
      </p:sp>
      <p:sp>
        <p:nvSpPr>
          <p:cNvPr id="1048978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B: Weighted Average (4 Models)</a:t>
            </a:r>
            <a:endParaRPr dirty="0" sz="2800" lang="en-US"/>
          </a:p>
        </p:txBody>
      </p:sp>
      <p:pic>
        <p:nvPicPr>
          <p:cNvPr id="2097170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8979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8980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25</a:t>
            </a:r>
            <a:endParaRPr dirty="0" sz="1000" lang="en-US"/>
          </a:p>
        </p:txBody>
      </p:sp>
      <p:sp>
        <p:nvSpPr>
          <p:cNvPr id="1048981" name="Shape 4"/>
          <p:cNvSpPr/>
          <p:nvPr/>
        </p:nvSpPr>
        <p:spPr>
          <a:xfrm>
            <a:off x="457200" y="1737360"/>
            <a:ext cx="1188720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1200FF"/>
            </a:solidFill>
            <a:prstDash val="solid"/>
          </a:ln>
        </p:spPr>
      </p:sp>
      <p:sp>
        <p:nvSpPr>
          <p:cNvPr id="1048982" name="Text 5"/>
          <p:cNvSpPr txBox="1"/>
          <p:nvPr/>
        </p:nvSpPr>
        <p:spPr>
          <a:xfrm>
            <a:off x="457200" y="1737360"/>
            <a:ext cx="1104472" cy="10972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X-ray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</a:t>
            </a:r>
            <a:endParaRPr dirty="0" sz="1200" lang="en-US"/>
          </a:p>
        </p:txBody>
      </p:sp>
      <p:sp>
        <p:nvSpPr>
          <p:cNvPr id="1048983" name="Shape 6"/>
          <p:cNvSpPr/>
          <p:nvPr/>
        </p:nvSpPr>
        <p:spPr>
          <a:xfrm>
            <a:off x="2194560" y="118872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984" name="Text 7"/>
          <p:cNvSpPr txBox="1"/>
          <p:nvPr/>
        </p:nvSpPr>
        <p:spPr>
          <a:xfrm>
            <a:off x="2194560" y="1188720"/>
            <a:ext cx="219456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</a:t>
            </a: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weight 0.2563</a:t>
            </a:r>
            <a:endParaRPr dirty="0" sz="1200" lang="en-US"/>
          </a:p>
          <a:p>
            <a:pPr algn="ct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 preprocess_input</a:t>
            </a:r>
            <a:endParaRPr dirty="0" sz="1200" lang="en-US"/>
          </a:p>
        </p:txBody>
      </p:sp>
      <p:sp>
        <p:nvSpPr>
          <p:cNvPr id="1048985" name="Shape 8"/>
          <p:cNvSpPr/>
          <p:nvPr/>
        </p:nvSpPr>
        <p:spPr>
          <a:xfrm flipV="1">
            <a:off x="1673352" y="1463040"/>
            <a:ext cx="493776" cy="82296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86" name="Shape 9"/>
          <p:cNvSpPr/>
          <p:nvPr/>
        </p:nvSpPr>
        <p:spPr>
          <a:xfrm>
            <a:off x="4416552" y="1463040"/>
            <a:ext cx="493776" cy="82296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87" name="Shape 10"/>
          <p:cNvSpPr/>
          <p:nvPr/>
        </p:nvSpPr>
        <p:spPr>
          <a:xfrm>
            <a:off x="2194560" y="1901952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988" name="Text 11"/>
          <p:cNvSpPr txBox="1"/>
          <p:nvPr/>
        </p:nvSpPr>
        <p:spPr>
          <a:xfrm>
            <a:off x="2194560" y="1901952"/>
            <a:ext cx="219456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weight 0.2573</a:t>
            </a:r>
            <a:endParaRPr dirty="0" sz="1200" lang="en-US"/>
          </a:p>
          <a:p>
            <a:pPr algn="ct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pixels ÷ 255</a:t>
            </a:r>
            <a:endParaRPr dirty="0" sz="1200" lang="en-US"/>
          </a:p>
        </p:txBody>
      </p:sp>
      <p:sp>
        <p:nvSpPr>
          <p:cNvPr id="1048989" name="Shape 12"/>
          <p:cNvSpPr/>
          <p:nvPr/>
        </p:nvSpPr>
        <p:spPr>
          <a:xfrm flipV="1">
            <a:off x="1673352" y="2176272"/>
            <a:ext cx="493776" cy="109728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90" name="Shape 13"/>
          <p:cNvSpPr/>
          <p:nvPr/>
        </p:nvSpPr>
        <p:spPr>
          <a:xfrm>
            <a:off x="4416552" y="2176272"/>
            <a:ext cx="493776" cy="109728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91" name="Shape 14"/>
          <p:cNvSpPr/>
          <p:nvPr/>
        </p:nvSpPr>
        <p:spPr>
          <a:xfrm>
            <a:off x="2194560" y="2615184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992" name="Text 15"/>
          <p:cNvSpPr txBox="1"/>
          <p:nvPr/>
        </p:nvSpPr>
        <p:spPr>
          <a:xfrm>
            <a:off x="2194560" y="2615184"/>
            <a:ext cx="219456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DenseNet121</a:t>
            </a: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weight 0.2520</a:t>
            </a:r>
            <a:endParaRPr dirty="0" sz="1200" lang="en-US"/>
          </a:p>
          <a:p>
            <a:pPr algn="ct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pixels ÷ 255</a:t>
            </a:r>
            <a:endParaRPr dirty="0" sz="1200" lang="en-US"/>
          </a:p>
        </p:txBody>
      </p:sp>
      <p:sp>
        <p:nvSpPr>
          <p:cNvPr id="1048993" name="Shape 16"/>
          <p:cNvSpPr/>
          <p:nvPr/>
        </p:nvSpPr>
        <p:spPr>
          <a:xfrm>
            <a:off x="1673352" y="2286000"/>
            <a:ext cx="493776" cy="603504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94" name="Shape 17"/>
          <p:cNvSpPr/>
          <p:nvPr/>
        </p:nvSpPr>
        <p:spPr>
          <a:xfrm flipV="1">
            <a:off x="4416552" y="2286000"/>
            <a:ext cx="493776" cy="603504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95" name="Shape 18"/>
          <p:cNvSpPr/>
          <p:nvPr/>
        </p:nvSpPr>
        <p:spPr>
          <a:xfrm>
            <a:off x="2194560" y="3328416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8996" name="Text 19"/>
          <p:cNvSpPr txBox="1"/>
          <p:nvPr/>
        </p:nvSpPr>
        <p:spPr>
          <a:xfrm>
            <a:off x="2194560" y="3328416"/>
            <a:ext cx="219456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VGG16</a:t>
            </a:r>
            <a:r>
              <a:rPr dirty="0" sz="11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weight 0.2344</a:t>
            </a:r>
            <a:endParaRPr dirty="0" sz="1200" lang="en-US"/>
          </a:p>
          <a:p>
            <a:pPr algn="ct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pixels ÷ 255</a:t>
            </a:r>
            <a:endParaRPr dirty="0" sz="1200" lang="en-US"/>
          </a:p>
        </p:txBody>
      </p:sp>
      <p:sp>
        <p:nvSpPr>
          <p:cNvPr id="1048997" name="Shape 20"/>
          <p:cNvSpPr/>
          <p:nvPr/>
        </p:nvSpPr>
        <p:spPr>
          <a:xfrm>
            <a:off x="1673352" y="2286000"/>
            <a:ext cx="493776" cy="1316736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98" name="Shape 21"/>
          <p:cNvSpPr/>
          <p:nvPr/>
        </p:nvSpPr>
        <p:spPr>
          <a:xfrm flipV="1">
            <a:off x="4416552" y="2286000"/>
            <a:ext cx="493776" cy="1316736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8999" name="Shape 22"/>
          <p:cNvSpPr/>
          <p:nvPr/>
        </p:nvSpPr>
        <p:spPr>
          <a:xfrm>
            <a:off x="4937760" y="1737360"/>
            <a:ext cx="1554480" cy="10972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1200FF"/>
            </a:solidFill>
            <a:prstDash val="solid"/>
          </a:ln>
        </p:spPr>
      </p:sp>
      <p:sp>
        <p:nvSpPr>
          <p:cNvPr id="1049000" name="Text 23"/>
          <p:cNvSpPr txBox="1"/>
          <p:nvPr/>
        </p:nvSpPr>
        <p:spPr>
          <a:xfrm>
            <a:off x="5034698" y="1796796"/>
            <a:ext cx="1421943" cy="9784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300" lang="en-US">
                <a:latin typeface="Arial" pitchFamily="34" charset="0"/>
                <a:ea typeface="Arial" pitchFamily="34" charset="-122"/>
                <a:cs typeface="Arial" pitchFamily="34" charset="-120"/>
              </a:rPr>
              <a:t>Weighted</a:t>
            </a:r>
            <a:endParaRPr dirty="0" sz="1300" lang="en-US"/>
          </a:p>
          <a:p>
            <a:pPr algn="ctr" indent="0" marL="0">
              <a:buNone/>
            </a:pPr>
            <a:r>
              <a:rPr dirty="0" sz="1300" lang="en-US">
                <a:latin typeface="Arial" pitchFamily="34" charset="0"/>
                <a:ea typeface="Arial" pitchFamily="34" charset="-122"/>
                <a:cs typeface="Arial" pitchFamily="34" charset="-120"/>
              </a:rPr>
              <a:t>average</a:t>
            </a:r>
            <a:endParaRPr dirty="0" sz="1300" lang="en-US"/>
          </a:p>
        </p:txBody>
      </p:sp>
      <p:sp>
        <p:nvSpPr>
          <p:cNvPr id="1049001" name="Shape 24"/>
          <p:cNvSpPr/>
          <p:nvPr/>
        </p:nvSpPr>
        <p:spPr>
          <a:xfrm>
            <a:off x="6519672" y="2286000"/>
            <a:ext cx="402336" cy="0"/>
          </a:xfrm>
          <a:prstGeom prst="line"/>
          <a:noFill/>
          <a:ln w="19050">
            <a:solidFill>
              <a:srgbClr val="4A4A5C"/>
            </a:solidFill>
            <a:prstDash val="solid"/>
            <a:tailEnd type="triangle"/>
          </a:ln>
        </p:spPr>
      </p:sp>
      <p:sp>
        <p:nvSpPr>
          <p:cNvPr id="1049002" name="Shape 25"/>
          <p:cNvSpPr/>
          <p:nvPr/>
        </p:nvSpPr>
        <p:spPr>
          <a:xfrm>
            <a:off x="6949440" y="173736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10101B"/>
          </a:solidFill>
          <a:ln w="12700">
            <a:solidFill>
              <a:srgbClr val="10101B"/>
            </a:solidFill>
            <a:prstDash val="solid"/>
          </a:ln>
        </p:spPr>
      </p:sp>
      <p:sp>
        <p:nvSpPr>
          <p:cNvPr id="1049003" name="Text 26"/>
          <p:cNvSpPr txBox="1"/>
          <p:nvPr/>
        </p:nvSpPr>
        <p:spPr>
          <a:xfrm>
            <a:off x="6949440" y="1737360"/>
            <a:ext cx="1737360" cy="10972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≥ 0.5</a:t>
            </a:r>
            <a:endParaRPr dirty="0" sz="1200" lang="en-US"/>
          </a:p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</a:t>
            </a:r>
            <a:endParaRPr dirty="0" sz="1200" lang="en-US"/>
          </a:p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 Normal</a:t>
            </a:r>
            <a:endParaRPr dirty="0" sz="1200" lang="en-US"/>
          </a:p>
        </p:txBody>
      </p:sp>
      <p:sp>
        <p:nvSpPr>
          <p:cNvPr id="1049004" name="Shape 27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2000"/>
            </a:avLst>
          </a:prstGeom>
          <a:noFill/>
          <a:ln w="9525">
            <a:noFill/>
            <a:prstDash val="solid"/>
          </a:ln>
        </p:spPr>
      </p:sp>
      <p:sp>
        <p:nvSpPr>
          <p:cNvPr id="1049005" name="Text 28"/>
          <p:cNvSpPr txBox="1"/>
          <p:nvPr/>
        </p:nvSpPr>
        <p:spPr>
          <a:xfrm>
            <a:off x="457200" y="4160520"/>
            <a:ext cx="7998431" cy="457200"/>
          </a:xfrm>
          <a:prstGeom prst="rect"/>
          <a:noFill/>
          <a:ln>
            <a:noFill/>
          </a:ln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Σ (weight × probability);  weight = validation accuracy ÷ sum of the 4 accuracies</a:t>
            </a:r>
            <a:endParaRPr dirty="0" sz="1300"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9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EVALUATION METRICS</a:t>
            </a:r>
            <a:endParaRPr dirty="0" sz="1000" lang="en-US"/>
          </a:p>
        </p:txBody>
      </p:sp>
      <p:sp>
        <p:nvSpPr>
          <p:cNvPr id="1049010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dirty="0" sz="2800" lang="en-US"/>
          </a:p>
        </p:txBody>
      </p:sp>
      <p:pic>
        <p:nvPicPr>
          <p:cNvPr id="2097171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9011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9012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25</a:t>
            </a:r>
            <a:endParaRPr dirty="0" sz="1000" lang="en-US"/>
          </a:p>
        </p:txBody>
      </p:sp>
      <p:sp>
        <p:nvSpPr>
          <p:cNvPr id="1049013" name="Shape 4"/>
          <p:cNvSpPr/>
          <p:nvPr/>
        </p:nvSpPr>
        <p:spPr>
          <a:xfrm>
            <a:off x="457200" y="128016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9014" name="Text 5"/>
          <p:cNvSpPr txBox="1"/>
          <p:nvPr/>
        </p:nvSpPr>
        <p:spPr>
          <a:xfrm>
            <a:off x="640080" y="1280160"/>
            <a:ext cx="146304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dirty="0" sz="1400" lang="en-US"/>
          </a:p>
        </p:txBody>
      </p:sp>
      <p:sp>
        <p:nvSpPr>
          <p:cNvPr id="1049015" name="Text 6"/>
          <p:cNvSpPr txBox="1"/>
          <p:nvPr/>
        </p:nvSpPr>
        <p:spPr>
          <a:xfrm>
            <a:off x="2103120" y="1280160"/>
            <a:ext cx="246888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(TP + TN) ÷ Total</a:t>
            </a:r>
            <a:endParaRPr dirty="0" sz="1300" lang="en-US"/>
          </a:p>
        </p:txBody>
      </p:sp>
      <p:sp>
        <p:nvSpPr>
          <p:cNvPr id="1049016" name="Shape 7"/>
          <p:cNvSpPr/>
          <p:nvPr/>
        </p:nvSpPr>
        <p:spPr>
          <a:xfrm>
            <a:off x="457200" y="1938528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9017" name="Text 8"/>
          <p:cNvSpPr txBox="1"/>
          <p:nvPr/>
        </p:nvSpPr>
        <p:spPr>
          <a:xfrm>
            <a:off x="594360" y="1947672"/>
            <a:ext cx="146304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dirty="0" sz="1400" lang="en-US"/>
          </a:p>
        </p:txBody>
      </p:sp>
      <p:sp>
        <p:nvSpPr>
          <p:cNvPr id="1049018" name="Text 9"/>
          <p:cNvSpPr txBox="1"/>
          <p:nvPr/>
        </p:nvSpPr>
        <p:spPr>
          <a:xfrm>
            <a:off x="2103120" y="1938528"/>
            <a:ext cx="246888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÷ (TP + FP)</a:t>
            </a:r>
            <a:endParaRPr dirty="0" sz="1300" lang="en-US"/>
          </a:p>
        </p:txBody>
      </p:sp>
      <p:sp>
        <p:nvSpPr>
          <p:cNvPr id="1049019" name="Shape 10"/>
          <p:cNvSpPr/>
          <p:nvPr/>
        </p:nvSpPr>
        <p:spPr>
          <a:xfrm>
            <a:off x="457200" y="2596896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9020" name="Text 11"/>
          <p:cNvSpPr txBox="1"/>
          <p:nvPr/>
        </p:nvSpPr>
        <p:spPr>
          <a:xfrm>
            <a:off x="640080" y="2596896"/>
            <a:ext cx="146304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dirty="0" sz="1400" lang="en-US"/>
          </a:p>
        </p:txBody>
      </p:sp>
      <p:sp>
        <p:nvSpPr>
          <p:cNvPr id="1049021" name="Text 12"/>
          <p:cNvSpPr txBox="1"/>
          <p:nvPr/>
        </p:nvSpPr>
        <p:spPr>
          <a:xfrm>
            <a:off x="2103120" y="2596896"/>
            <a:ext cx="246888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÷ (TP + FN)</a:t>
            </a:r>
            <a:endParaRPr dirty="0" sz="1300" lang="en-US"/>
          </a:p>
        </p:txBody>
      </p:sp>
      <p:sp>
        <p:nvSpPr>
          <p:cNvPr id="1049022" name="Shape 13"/>
          <p:cNvSpPr/>
          <p:nvPr/>
        </p:nvSpPr>
        <p:spPr>
          <a:xfrm>
            <a:off x="457200" y="3255264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9023" name="Text 14"/>
          <p:cNvSpPr txBox="1"/>
          <p:nvPr/>
        </p:nvSpPr>
        <p:spPr>
          <a:xfrm>
            <a:off x="640080" y="3255264"/>
            <a:ext cx="146304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latin typeface="Arial" pitchFamily="34" charset="0"/>
                <a:ea typeface="Arial" pitchFamily="34" charset="-122"/>
                <a:cs typeface="Arial" pitchFamily="34" charset="-120"/>
              </a:rPr>
              <a:t>Specificity</a:t>
            </a:r>
            <a:endParaRPr dirty="0" sz="1400" lang="en-US"/>
          </a:p>
        </p:txBody>
      </p:sp>
      <p:sp>
        <p:nvSpPr>
          <p:cNvPr id="1049024" name="Text 15"/>
          <p:cNvSpPr txBox="1"/>
          <p:nvPr/>
        </p:nvSpPr>
        <p:spPr>
          <a:xfrm>
            <a:off x="2103120" y="3255264"/>
            <a:ext cx="246888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 ÷ (TN + FP)</a:t>
            </a:r>
            <a:endParaRPr dirty="0" sz="1300" lang="en-US"/>
          </a:p>
        </p:txBody>
      </p:sp>
      <p:sp>
        <p:nvSpPr>
          <p:cNvPr id="1049025" name="Shape 16"/>
          <p:cNvSpPr/>
          <p:nvPr/>
        </p:nvSpPr>
        <p:spPr>
          <a:xfrm>
            <a:off x="457200" y="3913632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3F0"/>
            </a:solidFill>
            <a:prstDash val="solid"/>
          </a:ln>
        </p:spPr>
      </p:sp>
      <p:sp>
        <p:nvSpPr>
          <p:cNvPr id="1049026" name="Text 17"/>
          <p:cNvSpPr txBox="1"/>
          <p:nvPr/>
        </p:nvSpPr>
        <p:spPr>
          <a:xfrm>
            <a:off x="640080" y="3913632"/>
            <a:ext cx="146304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dirty="0" sz="1400" lang="en-US"/>
          </a:p>
        </p:txBody>
      </p:sp>
      <p:sp>
        <p:nvSpPr>
          <p:cNvPr id="1049027" name="Text 18"/>
          <p:cNvSpPr txBox="1"/>
          <p:nvPr/>
        </p:nvSpPr>
        <p:spPr>
          <a:xfrm>
            <a:off x="2103120" y="3913632"/>
            <a:ext cx="246888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P × R ÷ (P + R)</a:t>
            </a:r>
            <a:endParaRPr dirty="0" sz="1300" lang="en-US"/>
          </a:p>
        </p:txBody>
      </p:sp>
      <p:sp>
        <p:nvSpPr>
          <p:cNvPr id="1049028" name="Text 19"/>
          <p:cNvSpPr txBox="1"/>
          <p:nvPr/>
        </p:nvSpPr>
        <p:spPr>
          <a:xfrm>
            <a:off x="5212080" y="4197096"/>
            <a:ext cx="36576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latin typeface="Arial" pitchFamily="34" charset="0"/>
                <a:ea typeface="Arial" pitchFamily="34" charset="-122"/>
                <a:cs typeface="Arial" pitchFamily="34" charset="-120"/>
              </a:rPr>
              <a:t>Ensemble B confusion matrix (test set, n = 1,412)</a:t>
            </a:r>
            <a:endParaRPr dirty="0" sz="1100" lang="en-US"/>
          </a:p>
        </p:txBody>
      </p:sp>
      <p:grpSp>
        <p:nvGrpSpPr>
          <p:cNvPr id="82" name="Group 6"/>
          <p:cNvGrpSpPr/>
          <p:nvPr/>
        </p:nvGrpSpPr>
        <p:grpSpPr>
          <a:xfrm>
            <a:off x="5029200" y="1259612"/>
            <a:ext cx="3657600" cy="2606040"/>
            <a:chOff x="5029200" y="1600200"/>
            <a:chExt cx="3657600" cy="2606040"/>
          </a:xfrm>
        </p:grpSpPr>
        <p:sp>
          <p:nvSpPr>
            <p:cNvPr id="1049029" name="Text 20"/>
            <p:cNvSpPr txBox="1"/>
            <p:nvPr/>
          </p:nvSpPr>
          <p:spPr>
            <a:xfrm>
              <a:off x="5897880" y="1600200"/>
              <a:ext cx="1371600" cy="274320"/>
            </a:xfrm>
            <a:prstGeom prst="rect"/>
            <a:noFill/>
          </p:spPr>
          <p:txBody>
            <a:bodyPr anchor="t" bIns="0" lIns="0" rIns="0" rtlCol="0" tIns="0" wrap="square"/>
            <a:p>
              <a:pPr algn="ctr" indent="0" marL="0">
                <a:buNone/>
              </a:pPr>
              <a:r>
                <a:rPr b="1" dirty="0" sz="1000" lang="en-US">
                  <a:solidFill>
                    <a:srgbClr val="4A4A5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Predicted Normal</a:t>
              </a:r>
              <a:endParaRPr dirty="0" sz="1000" lang="en-US"/>
            </a:p>
          </p:txBody>
        </p:sp>
        <p:sp>
          <p:nvSpPr>
            <p:cNvPr id="1049030" name="Text 21"/>
            <p:cNvSpPr txBox="1"/>
            <p:nvPr/>
          </p:nvSpPr>
          <p:spPr>
            <a:xfrm>
              <a:off x="7315200" y="1600200"/>
              <a:ext cx="1371600" cy="274320"/>
            </a:xfrm>
            <a:prstGeom prst="rect"/>
            <a:noFill/>
          </p:spPr>
          <p:txBody>
            <a:bodyPr anchor="t" bIns="0" lIns="0" rIns="0" rtlCol="0" tIns="0" wrap="square"/>
            <a:p>
              <a:pPr algn="ctr" indent="0" marL="0">
                <a:buNone/>
              </a:pPr>
              <a:r>
                <a:rPr b="1" dirty="0" sz="1000" lang="en-US">
                  <a:solidFill>
                    <a:srgbClr val="4A4A5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Predicted Pneumonia</a:t>
              </a:r>
              <a:endParaRPr dirty="0" sz="1000" lang="en-US"/>
            </a:p>
          </p:txBody>
        </p:sp>
        <p:sp>
          <p:nvSpPr>
            <p:cNvPr id="1049031" name="Text 22"/>
            <p:cNvSpPr txBox="1"/>
            <p:nvPr/>
          </p:nvSpPr>
          <p:spPr>
            <a:xfrm>
              <a:off x="5029200" y="1920240"/>
              <a:ext cx="822960" cy="109728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000" lang="en-US">
                  <a:solidFill>
                    <a:srgbClr val="4A4A5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Actual</a:t>
              </a:r>
              <a:endParaRPr dirty="0" sz="1000" lang="en-US"/>
            </a:p>
            <a:p>
              <a:pPr indent="0" marL="0">
                <a:buNone/>
              </a:pPr>
              <a:r>
                <a:rPr b="1" dirty="0" sz="1000" lang="en-US">
                  <a:solidFill>
                    <a:srgbClr val="4A4A5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Normal</a:t>
              </a:r>
              <a:endParaRPr dirty="0" sz="1000" lang="en-US"/>
            </a:p>
          </p:txBody>
        </p:sp>
        <p:sp>
          <p:nvSpPr>
            <p:cNvPr id="1049032" name="Shape 23"/>
            <p:cNvSpPr/>
            <p:nvPr/>
          </p:nvSpPr>
          <p:spPr>
            <a:xfrm>
              <a:off x="5897880" y="1920240"/>
              <a:ext cx="1371600" cy="1097280"/>
            </a:xfrm>
            <a:prstGeom prst="roundRect">
              <a:avLst>
                <a:gd name="adj" fmla="val 5000"/>
              </a:avLst>
            </a:prstGeom>
            <a:solidFill>
              <a:srgbClr val="E8E9FF"/>
            </a:solidFill>
            <a:ln w="9525">
              <a:solidFill>
                <a:srgbClr val="1200FF"/>
              </a:solidFill>
              <a:prstDash val="solid"/>
            </a:ln>
          </p:spPr>
        </p:sp>
        <p:sp>
          <p:nvSpPr>
            <p:cNvPr id="1049033" name="Text 24"/>
            <p:cNvSpPr txBox="1"/>
            <p:nvPr/>
          </p:nvSpPr>
          <p:spPr>
            <a:xfrm>
              <a:off x="5897880" y="1920240"/>
              <a:ext cx="1371600" cy="109728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2600" lang="en-US">
                  <a:solidFill>
                    <a:srgbClr val="1200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782</a:t>
              </a:r>
              <a:endParaRPr dirty="0" sz="1400" lang="en-US"/>
            </a:p>
            <a:p>
              <a:pPr algn="ctr" indent="0" marL="0">
                <a:buNone/>
              </a:pPr>
              <a:r>
                <a:rPr dirty="0" sz="1100" lang="en-US">
                  <a:solidFill>
                    <a:srgbClr val="4A4A5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TN</a:t>
              </a:r>
              <a:endParaRPr dirty="0" sz="1400" lang="en-US"/>
            </a:p>
          </p:txBody>
        </p:sp>
        <p:sp>
          <p:nvSpPr>
            <p:cNvPr id="1049034" name="Shape 25"/>
            <p:cNvSpPr/>
            <p:nvPr/>
          </p:nvSpPr>
          <p:spPr>
            <a:xfrm>
              <a:off x="7315200" y="1920240"/>
              <a:ext cx="1371600" cy="1097280"/>
            </a:xfrm>
            <a:prstGeom prst="roundRect">
              <a:avLst>
                <a:gd name="adj" fmla="val 5000"/>
              </a:avLst>
            </a:prstGeom>
            <a:solidFill>
              <a:srgbClr val="FDECEC"/>
            </a:solidFill>
            <a:ln w="9525">
              <a:solidFill>
                <a:srgbClr val="D9534F"/>
              </a:solidFill>
              <a:prstDash val="solid"/>
            </a:ln>
          </p:spPr>
        </p:sp>
        <p:sp>
          <p:nvSpPr>
            <p:cNvPr id="1049035" name="Text 26"/>
            <p:cNvSpPr txBox="1"/>
            <p:nvPr/>
          </p:nvSpPr>
          <p:spPr>
            <a:xfrm>
              <a:off x="7315200" y="1920240"/>
              <a:ext cx="1371600" cy="109728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2600" lang="en-US">
                  <a:solidFill>
                    <a:srgbClr val="C0392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</a:t>
              </a:r>
              <a:endParaRPr dirty="0" sz="1400" lang="en-US"/>
            </a:p>
            <a:p>
              <a:pPr algn="ctr" indent="0" marL="0">
                <a:buNone/>
              </a:pPr>
              <a:r>
                <a:rPr dirty="0" sz="1100" lang="en-US">
                  <a:solidFill>
                    <a:srgbClr val="4A4A5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FP</a:t>
              </a:r>
              <a:endParaRPr dirty="0" sz="1400" lang="en-US"/>
            </a:p>
          </p:txBody>
        </p:sp>
        <p:sp>
          <p:nvSpPr>
            <p:cNvPr id="1049036" name="Text 27"/>
            <p:cNvSpPr txBox="1"/>
            <p:nvPr/>
          </p:nvSpPr>
          <p:spPr>
            <a:xfrm>
              <a:off x="5029200" y="3108960"/>
              <a:ext cx="822960" cy="1097280"/>
            </a:xfrm>
            <a:prstGeom prst="rect"/>
            <a:noFill/>
          </p:spPr>
          <p:txBody>
            <a:bodyPr anchor="ctr" bIns="0" lIns="0" rIns="0" rtlCol="0" tIns="0" wrap="square"/>
            <a:p>
              <a:pPr indent="0" marL="0">
                <a:buNone/>
              </a:pPr>
              <a:r>
                <a:rPr b="1" dirty="0" sz="1000" lang="en-US">
                  <a:solidFill>
                    <a:srgbClr val="4A4A5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Actual</a:t>
              </a:r>
              <a:endParaRPr dirty="0" sz="1000" lang="en-US"/>
            </a:p>
            <a:p>
              <a:pPr indent="0" marL="0">
                <a:buNone/>
              </a:pPr>
              <a:r>
                <a:rPr b="1" dirty="0" sz="1000" lang="en-US">
                  <a:solidFill>
                    <a:srgbClr val="4A4A5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Pneumonia</a:t>
              </a:r>
              <a:endParaRPr dirty="0" sz="1000" lang="en-US"/>
            </a:p>
          </p:txBody>
        </p:sp>
        <p:sp>
          <p:nvSpPr>
            <p:cNvPr id="1049037" name="Shape 28"/>
            <p:cNvSpPr/>
            <p:nvPr/>
          </p:nvSpPr>
          <p:spPr>
            <a:xfrm>
              <a:off x="5897880" y="3108960"/>
              <a:ext cx="1371600" cy="1097280"/>
            </a:xfrm>
            <a:prstGeom prst="roundRect">
              <a:avLst>
                <a:gd name="adj" fmla="val 5000"/>
              </a:avLst>
            </a:prstGeom>
            <a:solidFill>
              <a:srgbClr val="FDECEC"/>
            </a:solidFill>
            <a:ln w="9525">
              <a:solidFill>
                <a:srgbClr val="D9534F"/>
              </a:solidFill>
              <a:prstDash val="solid"/>
            </a:ln>
          </p:spPr>
        </p:sp>
        <p:sp>
          <p:nvSpPr>
            <p:cNvPr id="1049038" name="Text 29"/>
            <p:cNvSpPr txBox="1"/>
            <p:nvPr/>
          </p:nvSpPr>
          <p:spPr>
            <a:xfrm>
              <a:off x="5897880" y="3108960"/>
              <a:ext cx="1371600" cy="109728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2600" lang="en-US">
                  <a:solidFill>
                    <a:srgbClr val="C0392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20</a:t>
              </a:r>
              <a:endParaRPr dirty="0" sz="1400" lang="en-US"/>
            </a:p>
            <a:p>
              <a:pPr algn="ctr" indent="0" marL="0">
                <a:buNone/>
              </a:pPr>
              <a:r>
                <a:rPr dirty="0" sz="1100" lang="en-US">
                  <a:solidFill>
                    <a:srgbClr val="4A4A5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FN</a:t>
              </a:r>
              <a:endParaRPr dirty="0" sz="1400" lang="en-US"/>
            </a:p>
          </p:txBody>
        </p:sp>
        <p:sp>
          <p:nvSpPr>
            <p:cNvPr id="1049039" name="Shape 30"/>
            <p:cNvSpPr/>
            <p:nvPr/>
          </p:nvSpPr>
          <p:spPr>
            <a:xfrm>
              <a:off x="7315200" y="3108960"/>
              <a:ext cx="1371600" cy="1097280"/>
            </a:xfrm>
            <a:prstGeom prst="roundRect">
              <a:avLst>
                <a:gd name="adj" fmla="val 5000"/>
              </a:avLst>
            </a:prstGeom>
            <a:solidFill>
              <a:srgbClr val="E8E9FF"/>
            </a:solidFill>
            <a:ln w="9525">
              <a:solidFill>
                <a:srgbClr val="1200FF"/>
              </a:solidFill>
              <a:prstDash val="solid"/>
            </a:ln>
          </p:spPr>
        </p:sp>
        <p:sp>
          <p:nvSpPr>
            <p:cNvPr id="1049040" name="Text 31"/>
            <p:cNvSpPr txBox="1"/>
            <p:nvPr/>
          </p:nvSpPr>
          <p:spPr>
            <a:xfrm>
              <a:off x="7315200" y="3108960"/>
              <a:ext cx="1371600" cy="1097280"/>
            </a:xfrm>
            <a:prstGeom prst="rect"/>
            <a:noFill/>
          </p:spPr>
          <p:txBody>
            <a:bodyPr anchor="ctr" bIns="0" lIns="0" rIns="0" rtlCol="0" tIns="0" wrap="square"/>
            <a:p>
              <a:pPr algn="ctr" indent="0" marL="0">
                <a:buNone/>
              </a:pPr>
              <a:r>
                <a:rPr b="1" dirty="0" sz="2600" lang="en-US">
                  <a:solidFill>
                    <a:srgbClr val="1200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603</a:t>
              </a:r>
              <a:endParaRPr dirty="0" sz="1400" lang="en-US"/>
            </a:p>
            <a:p>
              <a:pPr algn="ctr" indent="0" marL="0">
                <a:buNone/>
              </a:pPr>
              <a:r>
                <a:rPr dirty="0" sz="1100" lang="en-US">
                  <a:solidFill>
                    <a:srgbClr val="4A4A5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TP</a:t>
              </a:r>
              <a:endParaRPr dirty="0" sz="1400" 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4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RESULTS &amp; ANALYSIS</a:t>
            </a:r>
            <a:endParaRPr dirty="0" sz="1000" lang="en-US"/>
          </a:p>
        </p:txBody>
      </p:sp>
      <p:sp>
        <p:nvSpPr>
          <p:cNvPr id="1049045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Analysis</a:t>
            </a:r>
            <a:endParaRPr dirty="0" sz="2800" lang="en-US"/>
          </a:p>
        </p:txBody>
      </p:sp>
      <p:pic>
        <p:nvPicPr>
          <p:cNvPr id="2097172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9046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9047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25</a:t>
            </a:r>
            <a:endParaRPr dirty="0" sz="1000" lang="en-US"/>
          </a:p>
        </p:txBody>
      </p:sp>
      <p:graphicFrame>
        <p:nvGraphicFramePr>
          <p:cNvPr id="4194306" name="Chart 0"/>
          <p:cNvGraphicFramePr>
            <a:graphicFrameLocks/>
          </p:cNvGraphicFramePr>
          <p:nvPr/>
        </p:nvGraphicFramePr>
        <p:xfrm>
          <a:off x="457200" y="1188720"/>
          <a:ext cx="8229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1" name="Text 0"/>
          <p:cNvSpPr txBox="1"/>
          <p:nvPr/>
        </p:nvSpPr>
        <p:spPr>
          <a:xfrm>
            <a:off x="457200" y="339090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COMPARISON &amp; DISCUSSION</a:t>
            </a:r>
            <a:endParaRPr dirty="0" sz="1000" lang="en-US"/>
          </a:p>
        </p:txBody>
      </p:sp>
      <p:sp>
        <p:nvSpPr>
          <p:cNvPr id="1049052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Models Compare</a:t>
            </a:r>
            <a:endParaRPr dirty="0" sz="2800" lang="en-US"/>
          </a:p>
        </p:txBody>
      </p:sp>
      <p:pic>
        <p:nvPicPr>
          <p:cNvPr id="2097173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9053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9054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25</a:t>
            </a:r>
            <a:endParaRPr dirty="0" sz="1000" lang="en-US"/>
          </a:p>
        </p:txBody>
      </p:sp>
      <p:graphicFrame>
        <p:nvGraphicFramePr>
          <p:cNvPr id="4194307" name="Table 6"/>
          <p:cNvGraphicFramePr>
            <a:graphicFrameLocks noGrp="1"/>
          </p:cNvGraphicFramePr>
          <p:nvPr/>
        </p:nvGraphicFramePr>
        <p:xfrm>
          <a:off x="457200" y="925454"/>
          <a:ext cx="8645478" cy="3716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5310"/>
                <a:gridCol w="1224139"/>
                <a:gridCol w="1114103"/>
                <a:gridCol w="1072840"/>
                <a:gridCol w="1059086"/>
              </a:tblGrid>
              <a:tr h="625065">
                <a:tc>
                  <a:txBody>
                    <a:bodyPr/>
                    <a:p>
                      <a:r>
                        <a:rPr dirty="0" lang="en-US"/>
                        <a:t>Method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Accuracy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 err="1"/>
                        <a:t>Precsion</a:t>
                      </a:r>
                      <a:endParaRPr dirty="0" lang="en-US"/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Recall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F1-Scorse</a:t>
                      </a:r>
                    </a:p>
                  </a:txBody>
                </a:tc>
              </a:tr>
              <a:tr h="357180">
                <a:tc>
                  <a:txBody>
                    <a:bodyPr/>
                    <a:p>
                      <a:r>
                        <a:rPr dirty="0" lang="en-US"/>
                        <a:t>CNN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97.45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97.72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96.47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97.09</a:t>
                      </a:r>
                    </a:p>
                  </a:txBody>
                </a:tc>
              </a:tr>
              <a:tr h="357180">
                <a:tc>
                  <a:txBody>
                    <a:bodyPr/>
                    <a:p>
                      <a:r>
                        <a:rPr dirty="0" lang="en-US"/>
                        <a:t>DeseNet121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96.25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98.31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93.10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95.63</a:t>
                      </a:r>
                    </a:p>
                  </a:txBody>
                </a:tc>
              </a:tr>
              <a:tr h="357180">
                <a:tc>
                  <a:txBody>
                    <a:bodyPr/>
                    <a:p>
                      <a:r>
                        <a:rPr dirty="0" lang="en-US"/>
                        <a:t>ResNet50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97.17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97.40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96.15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96.77</a:t>
                      </a:r>
                    </a:p>
                  </a:txBody>
                </a:tc>
              </a:tr>
              <a:tr h="357180">
                <a:tc>
                  <a:txBody>
                    <a:bodyPr/>
                    <a:p>
                      <a:r>
                        <a:rPr dirty="0" lang="en-US"/>
                        <a:t>VGG16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96.32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38.80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92.78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95.70</a:t>
                      </a:r>
                    </a:p>
                  </a:txBody>
                </a:tc>
              </a:tr>
              <a:tr h="357180">
                <a:tc>
                  <a:txBody>
                    <a:bodyPr/>
                    <a:p>
                      <a:r>
                        <a:rPr dirty="0" lang="en-US"/>
                        <a:t>EfficirntNetB4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97.10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98.18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95.18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96.66</a:t>
                      </a:r>
                    </a:p>
                  </a:txBody>
                </a:tc>
              </a:tr>
              <a:tr h="494677">
                <a:tc>
                  <a:txBody>
                    <a:bodyPr/>
                    <a:p>
                      <a:r>
                        <a:rPr dirty="0" lang="en-US"/>
                        <a:t>Ensemble A(DeseNet121+EfficientNetB4)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97.17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99.32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94.22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96.71</a:t>
                      </a:r>
                    </a:p>
                  </a:txBody>
                </a:tc>
              </a:tr>
              <a:tr h="753327">
                <a:tc>
                  <a:txBody>
                    <a:bodyPr/>
                    <a:p>
                      <a:r>
                        <a:rPr dirty="0" lang="en-US"/>
                        <a:t>Ensemble B(CNN+ResNet50+DeseNet121+VGG16)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r>
                        <a:rPr dirty="0" lang="en-US"/>
                        <a:t>98.09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r>
                        <a:rPr dirty="0" lang="en-US"/>
                        <a:t>98.98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r>
                        <a:rPr dirty="0" lang="en-US"/>
                        <a:t>96.79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r>
                        <a:rPr dirty="0" lang="en-US"/>
                        <a:t>97.81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8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— CONCLUSION &amp; FUTURE WORK</a:t>
            </a:r>
            <a:endParaRPr dirty="0" sz="1000" lang="en-US"/>
          </a:p>
        </p:txBody>
      </p:sp>
      <p:sp>
        <p:nvSpPr>
          <p:cNvPr id="1049059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dirty="0" sz="2800" lang="en-US"/>
          </a:p>
        </p:txBody>
      </p:sp>
      <p:pic>
        <p:nvPicPr>
          <p:cNvPr id="2097174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9060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9061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25</a:t>
            </a:r>
            <a:endParaRPr dirty="0" sz="1000" lang="en-US"/>
          </a:p>
        </p:txBody>
      </p:sp>
      <p:sp>
        <p:nvSpPr>
          <p:cNvPr id="1049062" name="Shape 4"/>
          <p:cNvSpPr/>
          <p:nvPr/>
        </p:nvSpPr>
        <p:spPr>
          <a:xfrm>
            <a:off x="457200" y="1280160"/>
            <a:ext cx="4023360" cy="3017520"/>
          </a:xfrm>
          <a:prstGeom prst="roundRect">
            <a:avLst>
              <a:gd name="adj" fmla="val 1818"/>
            </a:avLst>
          </a:prstGeom>
          <a:noFill/>
          <a:ln w="9525">
            <a:noFill/>
            <a:prstDash val="solid"/>
          </a:ln>
        </p:spPr>
      </p:sp>
      <p:sp>
        <p:nvSpPr>
          <p:cNvPr id="1049063" name="Text 5"/>
          <p:cNvSpPr txBox="1"/>
          <p:nvPr/>
        </p:nvSpPr>
        <p:spPr>
          <a:xfrm>
            <a:off x="685800" y="1463040"/>
            <a:ext cx="356616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dirty="0" sz="1000" lang="en-US"/>
          </a:p>
        </p:txBody>
      </p:sp>
      <p:sp>
        <p:nvSpPr>
          <p:cNvPr id="1049064" name="Text 6"/>
          <p:cNvSpPr txBox="1"/>
          <p:nvPr/>
        </p:nvSpPr>
        <p:spPr>
          <a:xfrm>
            <a:off x="685800" y="1828800"/>
            <a:ext cx="3566160" cy="2377440"/>
          </a:xfrm>
          <a:prstGeom prst="rect"/>
          <a:noFill/>
        </p:spPr>
        <p:txBody>
          <a:bodyPr anchor="t" bIns="0" lIns="0" rIns="0" rtlCol="0" tIns="0" wrap="square"/>
          <a:p>
            <a:pPr indent="-342900" marL="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dirty="0" sz="15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models reached 96.25% to 97.45% test accuracy.</a:t>
            </a:r>
            <a:endParaRPr dirty="0" sz="1500" lang="en-US"/>
          </a:p>
          <a:p>
            <a:pPr indent="-342900" marL="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dirty="0" sz="15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weighted ensemble reached 98.09% accuracy and 0.9981 AUC.</a:t>
            </a:r>
            <a:endParaRPr dirty="0" sz="1500" lang="en-US"/>
          </a:p>
          <a:p>
            <a:pPr indent="-342900" marL="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dirty="0" sz="15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missed 20 pneumonia cases and made 7 false alarms in 1,412 images.</a:t>
            </a:r>
            <a:endParaRPr dirty="0" sz="1500" lang="en-US"/>
          </a:p>
        </p:txBody>
      </p:sp>
      <p:sp>
        <p:nvSpPr>
          <p:cNvPr id="1049065" name="Shape 7"/>
          <p:cNvSpPr/>
          <p:nvPr/>
        </p:nvSpPr>
        <p:spPr>
          <a:xfrm>
            <a:off x="4663440" y="1280160"/>
            <a:ext cx="4023360" cy="3017520"/>
          </a:xfrm>
          <a:prstGeom prst="roundRect">
            <a:avLst>
              <a:gd name="adj" fmla="val 1818"/>
            </a:avLst>
          </a:prstGeom>
          <a:noFill/>
          <a:ln w="9525">
            <a:noFill/>
            <a:prstDash val="solid"/>
          </a:ln>
        </p:spPr>
      </p:sp>
      <p:sp>
        <p:nvSpPr>
          <p:cNvPr id="1049066" name="Text 8"/>
          <p:cNvSpPr txBox="1"/>
          <p:nvPr/>
        </p:nvSpPr>
        <p:spPr>
          <a:xfrm>
            <a:off x="4892040" y="1463040"/>
            <a:ext cx="356616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dirty="0" sz="1000" lang="en-US"/>
          </a:p>
        </p:txBody>
      </p:sp>
      <p:sp>
        <p:nvSpPr>
          <p:cNvPr id="1049067" name="Text 9"/>
          <p:cNvSpPr txBox="1"/>
          <p:nvPr/>
        </p:nvSpPr>
        <p:spPr>
          <a:xfrm>
            <a:off x="4892040" y="1828800"/>
            <a:ext cx="3566160" cy="2377440"/>
          </a:xfrm>
          <a:prstGeom prst="rect"/>
          <a:noFill/>
        </p:spPr>
        <p:txBody>
          <a:bodyPr anchor="t" bIns="0" lIns="0" rIns="0" rtlCol="0" tIns="0" wrap="square"/>
          <a:p>
            <a:pPr indent="-342900" marL="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dirty="0" sz="15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external hospital data.</a:t>
            </a:r>
            <a:endParaRPr dirty="0" sz="1500" lang="en-US"/>
          </a:p>
          <a:p>
            <a:pPr indent="-342900" marL="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dirty="0" sz="15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recall so fewer pneumonia cases are missed.</a:t>
            </a:r>
            <a:endParaRPr dirty="0" sz="1500" lang="en-US"/>
          </a:p>
          <a:p>
            <a:pPr indent="-342900" marL="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dirty="0" sz="15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heat-map explanations and try Vision Transformers.</a:t>
            </a:r>
            <a:endParaRPr dirty="0" sz="1500" lang="en-US"/>
          </a:p>
          <a:p>
            <a:pPr indent="-342900" marL="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dirty="0" sz="15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as a web or mobile screening tool.</a:t>
            </a:r>
            <a:endParaRPr dirty="0" sz="1500"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1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— REFERENCES</a:t>
            </a:r>
            <a:endParaRPr dirty="0" sz="1000" lang="en-US"/>
          </a:p>
        </p:txBody>
      </p:sp>
      <p:sp>
        <p:nvSpPr>
          <p:cNvPr id="1049072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dirty="0" sz="2800" lang="en-US"/>
          </a:p>
        </p:txBody>
      </p:sp>
      <p:pic>
        <p:nvPicPr>
          <p:cNvPr id="2097175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9073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9074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25</a:t>
            </a:r>
            <a:endParaRPr dirty="0" sz="1000" lang="en-US"/>
          </a:p>
        </p:txBody>
      </p:sp>
      <p:sp>
        <p:nvSpPr>
          <p:cNvPr id="1049075" name="TextBox 8"/>
          <p:cNvSpPr txBox="1"/>
          <p:nvPr/>
        </p:nvSpPr>
        <p:spPr>
          <a:xfrm>
            <a:off x="376517" y="1060166"/>
            <a:ext cx="8686800" cy="3583930"/>
          </a:xfrm>
          <a:prstGeom prst="rect"/>
          <a:noFill/>
        </p:spPr>
        <p:txBody>
          <a:bodyPr wrap="square">
            <a:spAutoFit/>
          </a:bodyPr>
          <a:p>
            <a:pPr indent="-342900" marL="342900">
              <a:buFont typeface="+mj-lt"/>
              <a:buAutoNum type="arabicPeriod"/>
            </a:pPr>
            <a:r>
              <a:rPr b="1" dirty="0" sz="12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Kermany</a:t>
            </a:r>
            <a:r>
              <a:rPr b="1"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et al., 2020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sz="12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Kermany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D. S., Zhang, K., &amp; </a:t>
            </a:r>
            <a:r>
              <a:rPr dirty="0" sz="12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Goldbaum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M. (2020). </a:t>
            </a:r>
            <a:r>
              <a:rPr dirty="0" sz="1200" i="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Labeled Optical Coherence Tomography (OCT) and Chest X-Ray Images for Classification.</a:t>
            </a:r>
          </a:p>
          <a:p>
            <a:pPr indent="-342900" marL="342900">
              <a:buFont typeface="+mj-lt"/>
              <a:buAutoNum type="arabicPeriod"/>
            </a:pPr>
            <a:r>
              <a:rPr b="1"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RSNA Pneumonia Dataset, 2021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Radiological Society of North America (RSNA). </a:t>
            </a:r>
            <a:r>
              <a:rPr dirty="0" sz="1200" i="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RSNA Pneumonia Detection Challenge Dataset.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Available on Kaggle.</a:t>
            </a:r>
          </a:p>
          <a:p>
            <a:pPr indent="-342900" marL="342900">
              <a:buFont typeface="+mj-lt"/>
              <a:buAutoNum type="arabicPeriod"/>
            </a:pPr>
            <a:r>
              <a:rPr b="1"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Kaggle Chest X-ray Pneumonia Dataset, 2020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Mooney, </a:t>
            </a:r>
            <a:r>
              <a:rPr dirty="0" sz="12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P.</a:t>
            </a:r>
            <a:r>
              <a:rPr dirty="0" sz="1200" i="1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Chest</a:t>
            </a:r>
            <a:r>
              <a:rPr dirty="0" sz="1200" i="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X-Ray Images (Pneumonia). 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Dataset.</a:t>
            </a:r>
          </a:p>
          <a:p>
            <a:pPr indent="-342900" marL="342900">
              <a:buFont typeface="+mj-lt"/>
              <a:buAutoNum type="arabicPeriod"/>
            </a:pPr>
            <a:r>
              <a:rPr b="1" dirty="0" sz="12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b="1"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-based Lightweight Model, 2021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Howard, A. G., et al. </a:t>
            </a:r>
            <a:r>
              <a:rPr dirty="0" sz="1200" i="1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MobileNets</a:t>
            </a:r>
            <a:r>
              <a:rPr dirty="0" sz="1200" i="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Efficient Convolutional Neural Networks for Mobile Vision Applications.</a:t>
            </a:r>
            <a:endParaRPr dirty="0" sz="1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Font typeface="+mj-lt"/>
              <a:buAutoNum type="arabicPeriod"/>
            </a:pPr>
            <a:r>
              <a:rPr b="1"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Guangzhou Women and Children’s Medical Center Dataset, 2022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sz="12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Kermany</a:t>
            </a:r>
            <a:r>
              <a:rPr dirty="0" sz="1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D. S., et al. </a:t>
            </a:r>
            <a:r>
              <a:rPr dirty="0" sz="1200" i="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Medical Diagnoses and Treatable Diseases by Image-Based Deep Learning.</a:t>
            </a:r>
          </a:p>
          <a:p>
            <a:pPr indent="-342900" marL="342900">
              <a:buFont typeface="+mj-lt"/>
              <a:buAutoNum type="arabicPeriod"/>
            </a:pPr>
            <a:r>
              <a:rPr b="1" dirty="0" sz="1200" i="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Wang, X. et al. </a:t>
            </a:r>
            <a:r>
              <a:rPr dirty="0" sz="1200" i="1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(2017). ChestX-ray8: Large-scale chest X-ray dataset for multi-disease classification. CVPR 2017.</a:t>
            </a:r>
          </a:p>
          <a:p>
            <a:pPr indent="-342900" marL="342900">
              <a:buFont typeface="+mj-lt"/>
              <a:buAutoNum type="arabicPeriod"/>
            </a:pPr>
            <a:endParaRPr dirty="0" sz="1200" i="1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-342900" lvl="0" marL="342900" marR="0">
              <a:lnSpc>
                <a:spcPct val="109000"/>
              </a:lnSpc>
              <a:spcBef>
                <a:spcPts val="0"/>
              </a:spcBef>
              <a:spcAft>
                <a:spcPts val="870"/>
              </a:spcAft>
              <a:buFont typeface="+mj-lt"/>
              <a:buAutoNum type="arabicPeriod"/>
              <a:tabLst>
                <a:tab algn="l" pos="457200"/>
              </a:tabLst>
            </a:pPr>
            <a:r>
              <a:rPr b="1" dirty="0" sz="1200" lang="en-US" err="1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Vosowiec</a:t>
            </a:r>
            <a:r>
              <a:rPr b="1" dirty="0" sz="1200" lang="en-US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J.</a:t>
            </a:r>
            <a:r>
              <a:rPr dirty="0" sz="1200" lang="en-US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(2023). Comparative analysis of deep learning cooperation in pneumonia detection with class activation mapping (CAM) for disease localization without manual annotations. </a:t>
            </a:r>
            <a:r>
              <a:rPr dirty="0" sz="1200" i="1" lang="en-US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ResearchGate</a:t>
            </a:r>
            <a:r>
              <a:rPr dirty="0" sz="1200" lang="en-US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algn="just" indent="-342900" lvl="0" marL="342900" marR="0">
              <a:lnSpc>
                <a:spcPct val="109000"/>
              </a:lnSpc>
              <a:spcBef>
                <a:spcPts val="0"/>
              </a:spcBef>
              <a:spcAft>
                <a:spcPts val="870"/>
              </a:spcAft>
              <a:buFont typeface="+mj-lt"/>
              <a:buAutoNum type="arabicPeriod"/>
              <a:tabLst>
                <a:tab algn="l" pos="457200"/>
              </a:tabLst>
            </a:pPr>
            <a:r>
              <a:rPr b="1" dirty="0" sz="1200" lang="en-US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Liang, G., &amp; Zheng, L.</a:t>
            </a:r>
            <a:r>
              <a:rPr dirty="0" sz="1200" lang="en-US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(2019). A transfer learning method with deep convolutional neural network for pneumonia diagnosis. </a:t>
            </a:r>
            <a:r>
              <a:rPr dirty="0" sz="1200" i="1" lang="en-US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IEEE Access</a:t>
            </a:r>
            <a:r>
              <a:rPr dirty="0" sz="1200" lang="en-US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dirty="0" sz="1200" lang="en-US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9" name="Text 0"/>
          <p:cNvSpPr txBox="1"/>
          <p:nvPr/>
        </p:nvSpPr>
        <p:spPr>
          <a:xfrm>
            <a:off x="457200" y="292608"/>
            <a:ext cx="82296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20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— ACKNOWLEDGEMENT</a:t>
            </a:r>
            <a:endParaRPr dirty="0" sz="1000" lang="en-US"/>
          </a:p>
        </p:txBody>
      </p:sp>
      <p:sp>
        <p:nvSpPr>
          <p:cNvPr id="1049080" name="Text 1"/>
          <p:cNvSpPr txBox="1"/>
          <p:nvPr/>
        </p:nvSpPr>
        <p:spPr>
          <a:xfrm>
            <a:off x="457200" y="502920"/>
            <a:ext cx="8229600" cy="502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</a:t>
            </a:r>
            <a:endParaRPr dirty="0" sz="2800" lang="en-US"/>
          </a:p>
        </p:txBody>
      </p:sp>
      <p:pic>
        <p:nvPicPr>
          <p:cNvPr id="2097176" name="Image 0" descr="logo_blu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4754880"/>
            <a:ext cx="559064" cy="274320"/>
          </a:xfrm>
          <a:prstGeom prst="rect"/>
        </p:spPr>
      </p:pic>
      <p:sp>
        <p:nvSpPr>
          <p:cNvPr id="1049081" name="Text 2"/>
          <p:cNvSpPr txBox="1"/>
          <p:nvPr/>
        </p:nvSpPr>
        <p:spPr>
          <a:xfrm>
            <a:off x="1234440" y="4818888"/>
            <a:ext cx="4572000" cy="1828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dirty="0" sz="1000" lang="en-US"/>
          </a:p>
        </p:txBody>
      </p:sp>
      <p:sp>
        <p:nvSpPr>
          <p:cNvPr id="1049082" name="Text 3"/>
          <p:cNvSpPr txBox="1"/>
          <p:nvPr/>
        </p:nvSpPr>
        <p:spPr>
          <a:xfrm>
            <a:off x="7772400" y="4818888"/>
            <a:ext cx="914400" cy="18288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000" lang="en-US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25</a:t>
            </a:r>
            <a:endParaRPr dirty="0" sz="1000" lang="en-US"/>
          </a:p>
        </p:txBody>
      </p:sp>
      <p:sp>
        <p:nvSpPr>
          <p:cNvPr id="1049083" name="Shape 4"/>
          <p:cNvSpPr/>
          <p:nvPr/>
        </p:nvSpPr>
        <p:spPr>
          <a:xfrm>
            <a:off x="457200" y="1371600"/>
            <a:ext cx="8229600" cy="237744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9525">
            <a:noFill/>
            <a:prstDash val="solid"/>
          </a:ln>
        </p:spPr>
      </p:sp>
      <p:sp>
        <p:nvSpPr>
          <p:cNvPr id="1049084" name="Text 5"/>
          <p:cNvSpPr txBox="1"/>
          <p:nvPr/>
        </p:nvSpPr>
        <p:spPr>
          <a:xfrm>
            <a:off x="914400" y="1371600"/>
            <a:ext cx="7315200" cy="23774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600" lang="en-US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sincerely thank our supervisor for guidance and support throughout this thesis. We also thank the Department of Computer Science &amp; Engineering, Uttara University, and our families and friends for their encouragement.</a:t>
            </a:r>
            <a:endParaRPr dirty="0" sz="1600"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00FF"/>
        </a:solidFill>
        <a:effectLst/>
      </p:bgPr>
    </p:bg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7" name="Image 0" descr="logo_whit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365760"/>
            <a:ext cx="1304483" cy="640080"/>
          </a:xfrm>
          <a:prstGeom prst="rect"/>
        </p:spPr>
      </p:pic>
      <p:sp>
        <p:nvSpPr>
          <p:cNvPr id="1049088" name="Text 0"/>
          <p:cNvSpPr txBox="1"/>
          <p:nvPr/>
        </p:nvSpPr>
        <p:spPr>
          <a:xfrm>
            <a:off x="457200" y="1828800"/>
            <a:ext cx="8229600" cy="9144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48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dirty="0" sz="4800" lang="en-US"/>
          </a:p>
        </p:txBody>
      </p:sp>
      <p:sp>
        <p:nvSpPr>
          <p:cNvPr id="1049089" name="Text 1"/>
          <p:cNvSpPr txBox="1"/>
          <p:nvPr/>
        </p:nvSpPr>
        <p:spPr>
          <a:xfrm>
            <a:off x="457200" y="2834640"/>
            <a:ext cx="822960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800" lang="en-US">
                <a:solidFill>
                  <a:srgbClr val="E1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dirty="0" sz="1800" lang="en-US"/>
          </a:p>
        </p:txBody>
      </p:sp>
      <p:sp>
        <p:nvSpPr>
          <p:cNvPr id="1049090" name="Text 2"/>
          <p:cNvSpPr txBox="1"/>
          <p:nvPr/>
        </p:nvSpPr>
        <p:spPr>
          <a:xfrm>
            <a:off x="457200" y="4206240"/>
            <a:ext cx="822960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Humaira Akter Mim · Sumaiya Akter</a:t>
            </a:r>
            <a:endParaRPr dirty="0" sz="12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Pneumonia Detection - Thesis Defense</dc:title>
  <dc:creator>PptxGenJS</dc:creator>
  <cp:lastModifiedBy>Student</cp:lastModifiedBy>
  <dcterms:created xsi:type="dcterms:W3CDTF">2026-10-25T03:56:13Z</dcterms:created>
  <dcterms:modified xsi:type="dcterms:W3CDTF">2026-10-27T08:26:32Z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3136a84877924ca8bd420bcd17c5c985_23</vt:lpwstr>
  </property>
</Properties>
</file>