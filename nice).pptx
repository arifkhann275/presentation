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otham Bold" charset="1" panose="00000000000000000000"/>
      <p:regular r:id="rId16"/>
    </p:embeddedFont>
    <p:embeddedFont>
      <p:font typeface="Poppins" charset="1" panose="00000500000000000000"/>
      <p:regular r:id="rId17"/>
    </p:embeddedFont>
    <p:embeddedFont>
      <p:font typeface="Poppins Bold" charset="1" panose="00000800000000000000"/>
      <p:regular r:id="rId18"/>
    </p:embeddedFont>
    <p:embeddedFont>
      <p:font typeface="Arimo" charset="1" panose="020B0604020202020204"/>
      <p:regular r:id="rId19"/>
    </p:embeddedFont>
    <p:embeddedFont>
      <p:font typeface="Open Sans 1" charset="1" panose="020B0606030504020204"/>
      <p:regular r:id="rId20"/>
    </p:embeddedFont>
    <p:embeddedFont>
      <p:font typeface="Ekush" charset="1" panose="02000500000000000000"/>
      <p:regular r:id="rId21"/>
    </p:embeddedFont>
    <p:embeddedFont>
      <p:font typeface="Nunito" charset="1" panose="00000000000000000000"/>
      <p:regular r:id="rId22"/>
    </p:embeddedFont>
    <p:embeddedFont>
      <p:font typeface="Gotham" charset="1" panose="00000000000000000000"/>
      <p:regular r:id="rId23"/>
    </p:embeddedFont>
    <p:embeddedFont>
      <p:font typeface="Open Sans 2" charset="1" panose="00000000000000000000"/>
      <p:regular r:id="rId24"/>
    </p:embeddedFont>
    <p:embeddedFont>
      <p:font typeface="Telegraf Bold" charset="1" panose="000008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1.pn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11" Target="../media/image26.png" Type="http://schemas.openxmlformats.org/officeDocument/2006/relationships/image"/><Relationship Id="rId12" Target="../media/image27.svg" Type="http://schemas.openxmlformats.org/officeDocument/2006/relationships/image"/><Relationship Id="rId13" Target="../media/image28.png" Type="http://schemas.openxmlformats.org/officeDocument/2006/relationships/image"/><Relationship Id="rId14" Target="../media/image29.svg" Type="http://schemas.openxmlformats.org/officeDocument/2006/relationships/image"/><Relationship Id="rId15" Target="../media/image30.png" Type="http://schemas.openxmlformats.org/officeDocument/2006/relationships/image"/><Relationship Id="rId16" Target="../media/image31.svg" Type="http://schemas.openxmlformats.org/officeDocument/2006/relationships/image"/><Relationship Id="rId17" Target="../media/image2.png" Type="http://schemas.openxmlformats.org/officeDocument/2006/relationships/image"/><Relationship Id="rId18" Target="../media/image3.svg" Type="http://schemas.openxmlformats.org/officeDocument/2006/relationships/image"/><Relationship Id="rId19" Target="../media/image1.png" Type="http://schemas.openxmlformats.org/officeDocument/2006/relationships/image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svg" Type="http://schemas.openxmlformats.org/officeDocument/2006/relationships/image"/><Relationship Id="rId12" Target="../media/image42.png" Type="http://schemas.openxmlformats.org/officeDocument/2006/relationships/image"/><Relationship Id="rId13" Target="../media/image43.svg" Type="http://schemas.openxmlformats.org/officeDocument/2006/relationships/image"/><Relationship Id="rId14" Target="../media/image2.png" Type="http://schemas.openxmlformats.org/officeDocument/2006/relationships/image"/><Relationship Id="rId15" Target="../media/image3.svg" Type="http://schemas.openxmlformats.org/officeDocument/2006/relationships/image"/><Relationship Id="rId16" Target="../media/image1.png" Type="http://schemas.openxmlformats.org/officeDocument/2006/relationships/image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Relationship Id="rId8" Target="../media/image38.png" Type="http://schemas.openxmlformats.org/officeDocument/2006/relationships/image"/><Relationship Id="rId9" Target="../media/image3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svg" Type="http://schemas.openxmlformats.org/officeDocument/2006/relationships/image"/><Relationship Id="rId11" Target="../media/image52.png" Type="http://schemas.openxmlformats.org/officeDocument/2006/relationships/image"/><Relationship Id="rId12" Target="../media/image53.svg" Type="http://schemas.openxmlformats.org/officeDocument/2006/relationships/image"/><Relationship Id="rId13" Target="../media/image2.png" Type="http://schemas.openxmlformats.org/officeDocument/2006/relationships/image"/><Relationship Id="rId14" Target="../media/image3.svg" Type="http://schemas.openxmlformats.org/officeDocument/2006/relationships/image"/><Relationship Id="rId15" Target="../media/image54.png" Type="http://schemas.openxmlformats.org/officeDocument/2006/relationships/image"/><Relationship Id="rId16" Target="../media/image55.svg" Type="http://schemas.openxmlformats.org/officeDocument/2006/relationships/image"/><Relationship Id="rId17" Target="../media/image56.png" Type="http://schemas.openxmlformats.org/officeDocument/2006/relationships/image"/><Relationship Id="rId18" Target="../media/image57.svg" Type="http://schemas.openxmlformats.org/officeDocument/2006/relationships/image"/><Relationship Id="rId19" Target="../media/image58.png" Type="http://schemas.openxmlformats.org/officeDocument/2006/relationships/image"/><Relationship Id="rId2" Target="../media/image44.png" Type="http://schemas.openxmlformats.org/officeDocument/2006/relationships/image"/><Relationship Id="rId20" Target="../media/image59.svg" Type="http://schemas.openxmlformats.org/officeDocument/2006/relationships/image"/><Relationship Id="rId21" Target="../media/image60.png" Type="http://schemas.openxmlformats.org/officeDocument/2006/relationships/image"/><Relationship Id="rId22" Target="../media/image61.svg" Type="http://schemas.openxmlformats.org/officeDocument/2006/relationships/image"/><Relationship Id="rId23" Target="../media/image62.png" Type="http://schemas.openxmlformats.org/officeDocument/2006/relationships/image"/><Relationship Id="rId24" Target="../media/image63.svg" Type="http://schemas.openxmlformats.org/officeDocument/2006/relationships/image"/><Relationship Id="rId25" Target="../media/image1.png" Type="http://schemas.openxmlformats.org/officeDocument/2006/relationships/image"/><Relationship Id="rId3" Target="../media/image45.sv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Relationship Id="rId6" Target="../media/image17.pn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svg" Type="http://schemas.openxmlformats.org/officeDocument/2006/relationships/image"/><Relationship Id="rId11" Target="../media/image72.png" Type="http://schemas.openxmlformats.org/officeDocument/2006/relationships/image"/><Relationship Id="rId12" Target="../media/image73.svg" Type="http://schemas.openxmlformats.org/officeDocument/2006/relationships/image"/><Relationship Id="rId13" Target="../media/image74.png" Type="http://schemas.openxmlformats.org/officeDocument/2006/relationships/image"/><Relationship Id="rId14" Target="../media/image75.svg" Type="http://schemas.openxmlformats.org/officeDocument/2006/relationships/image"/><Relationship Id="rId15" Target="../media/image15.png" Type="http://schemas.openxmlformats.org/officeDocument/2006/relationships/image"/><Relationship Id="rId16" Target="../media/image16.svg" Type="http://schemas.openxmlformats.org/officeDocument/2006/relationships/image"/><Relationship Id="rId17" Target="../media/image76.png" Type="http://schemas.openxmlformats.org/officeDocument/2006/relationships/image"/><Relationship Id="rId18" Target="../media/image77.svg" Type="http://schemas.openxmlformats.org/officeDocument/2006/relationships/image"/><Relationship Id="rId19" Target="../media/image78.png" Type="http://schemas.openxmlformats.org/officeDocument/2006/relationships/image"/><Relationship Id="rId2" Target="../media/image17.png" Type="http://schemas.openxmlformats.org/officeDocument/2006/relationships/image"/><Relationship Id="rId20" Target="../media/image79.svg" Type="http://schemas.openxmlformats.org/officeDocument/2006/relationships/image"/><Relationship Id="rId21" Target="../media/image80.png" Type="http://schemas.openxmlformats.org/officeDocument/2006/relationships/image"/><Relationship Id="rId22" Target="../media/image81.svg" Type="http://schemas.openxmlformats.org/officeDocument/2006/relationships/image"/><Relationship Id="rId23" Target="../media/image2.png" Type="http://schemas.openxmlformats.org/officeDocument/2006/relationships/image"/><Relationship Id="rId24" Target="../media/image3.svg" Type="http://schemas.openxmlformats.org/officeDocument/2006/relationships/image"/><Relationship Id="rId25" Target="../media/image1.png" Type="http://schemas.openxmlformats.org/officeDocument/2006/relationships/image"/><Relationship Id="rId3" Target="../media/image64.png" Type="http://schemas.openxmlformats.org/officeDocument/2006/relationships/image"/><Relationship Id="rId4" Target="../media/image65.svg" Type="http://schemas.openxmlformats.org/officeDocument/2006/relationships/image"/><Relationship Id="rId5" Target="../media/image66.png" Type="http://schemas.openxmlformats.org/officeDocument/2006/relationships/image"/><Relationship Id="rId6" Target="../media/image67.svg" Type="http://schemas.openxmlformats.org/officeDocument/2006/relationships/image"/><Relationship Id="rId7" Target="../media/image68.png" Type="http://schemas.openxmlformats.org/officeDocument/2006/relationships/image"/><Relationship Id="rId8" Target="../media/image69.svg" Type="http://schemas.openxmlformats.org/officeDocument/2006/relationships/image"/><Relationship Id="rId9" Target="../media/image7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0.png" Type="http://schemas.openxmlformats.org/officeDocument/2006/relationships/image"/><Relationship Id="rId11" Target="../media/image91.svg" Type="http://schemas.openxmlformats.org/officeDocument/2006/relationships/image"/><Relationship Id="rId12" Target="../media/image92.png" Type="http://schemas.openxmlformats.org/officeDocument/2006/relationships/image"/><Relationship Id="rId13" Target="../media/image93.svg" Type="http://schemas.openxmlformats.org/officeDocument/2006/relationships/image"/><Relationship Id="rId14" Target="../media/image94.png" Type="http://schemas.openxmlformats.org/officeDocument/2006/relationships/image"/><Relationship Id="rId15" Target="../media/image95.svg" Type="http://schemas.openxmlformats.org/officeDocument/2006/relationships/image"/><Relationship Id="rId16" Target="../media/image96.png" Type="http://schemas.openxmlformats.org/officeDocument/2006/relationships/image"/><Relationship Id="rId17" Target="../media/image97.svg" Type="http://schemas.openxmlformats.org/officeDocument/2006/relationships/image"/><Relationship Id="rId18" Target="../media/image2.png" Type="http://schemas.openxmlformats.org/officeDocument/2006/relationships/image"/><Relationship Id="rId19" Target="../media/image3.svg" Type="http://schemas.openxmlformats.org/officeDocument/2006/relationships/image"/><Relationship Id="rId2" Target="../media/image82.png" Type="http://schemas.openxmlformats.org/officeDocument/2006/relationships/image"/><Relationship Id="rId20" Target="../media/image1.png" Type="http://schemas.openxmlformats.org/officeDocument/2006/relationships/image"/><Relationship Id="rId3" Target="../media/image83.svg" Type="http://schemas.openxmlformats.org/officeDocument/2006/relationships/image"/><Relationship Id="rId4" Target="../media/image84.png" Type="http://schemas.openxmlformats.org/officeDocument/2006/relationships/image"/><Relationship Id="rId5" Target="../media/image85.svg" Type="http://schemas.openxmlformats.org/officeDocument/2006/relationships/image"/><Relationship Id="rId6" Target="../media/image86.png" Type="http://schemas.openxmlformats.org/officeDocument/2006/relationships/image"/><Relationship Id="rId7" Target="../media/image87.svg" Type="http://schemas.openxmlformats.org/officeDocument/2006/relationships/image"/><Relationship Id="rId8" Target="../media/image88.png" Type="http://schemas.openxmlformats.org/officeDocument/2006/relationships/image"/><Relationship Id="rId9" Target="../media/image8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Relationship Id="rId5" Target="../media/image98.png" Type="http://schemas.openxmlformats.org/officeDocument/2006/relationships/image"/><Relationship Id="rId6" Target="../media/image9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58712" y="0"/>
            <a:ext cx="3929288" cy="1951633"/>
          </a:xfrm>
          <a:custGeom>
            <a:avLst/>
            <a:gdLst/>
            <a:ahLst/>
            <a:cxnLst/>
            <a:rect r="r" b="b" t="t" l="l"/>
            <a:pathLst>
              <a:path h="1951633" w="3929288">
                <a:moveTo>
                  <a:pt x="0" y="0"/>
                </a:moveTo>
                <a:lnTo>
                  <a:pt x="3929288" y="0"/>
                </a:lnTo>
                <a:lnTo>
                  <a:pt x="3929288" y="1951633"/>
                </a:lnTo>
                <a:lnTo>
                  <a:pt x="0" y="1951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56738" y="2457900"/>
            <a:ext cx="15355524" cy="2037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4"/>
              </a:lnSpc>
            </a:pPr>
            <a:r>
              <a:rPr lang="en-US" b="true" sz="5100">
                <a:solidFill>
                  <a:srgbClr val="00BF63"/>
                </a:solidFill>
                <a:latin typeface="Gotham Bold"/>
                <a:ea typeface="Gotham Bold"/>
                <a:cs typeface="Gotham Bold"/>
                <a:sym typeface="Gotham Bold"/>
              </a:rPr>
              <a:t>AUTONOMOUS BORDER SURVEILLANCE</a:t>
            </a:r>
          </a:p>
          <a:p>
            <a:pPr algn="l">
              <a:lnSpc>
                <a:spcPts val="5304"/>
              </a:lnSpc>
            </a:pPr>
            <a:r>
              <a:rPr lang="en-US" b="true" sz="5100">
                <a:solidFill>
                  <a:srgbClr val="00BF63"/>
                </a:solidFill>
                <a:latin typeface="Gotham Bold"/>
                <a:ea typeface="Gotham Bold"/>
                <a:cs typeface="Gotham Bold"/>
                <a:sym typeface="Gotham Bold"/>
              </a:rPr>
              <a:t>                         SYSTEM</a:t>
            </a:r>
          </a:p>
          <a:p>
            <a:pPr algn="l">
              <a:lnSpc>
                <a:spcPts val="5304"/>
              </a:lnSpc>
            </a:pPr>
          </a:p>
        </p:txBody>
      </p:sp>
      <p:sp>
        <p:nvSpPr>
          <p:cNvPr name="AutoShape 4" id="4"/>
          <p:cNvSpPr/>
          <p:nvPr/>
        </p:nvSpPr>
        <p:spPr>
          <a:xfrm>
            <a:off x="0" y="2172150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0" y="78758"/>
            <a:ext cx="12755695" cy="68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4"/>
              </a:lnSpc>
            </a:pPr>
            <a:r>
              <a:rPr lang="en-US" sz="38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 of Computer Science and Engineering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246328" y="890092"/>
            <a:ext cx="4246828" cy="56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Uttara University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5918" y="6474579"/>
            <a:ext cx="6000750" cy="617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4"/>
              </a:lnSpc>
            </a:pPr>
            <a:r>
              <a:rPr lang="en-US" sz="34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Student 2 ID: </a:t>
            </a:r>
            <a:r>
              <a:rPr lang="en-US" sz="345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2223081071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26995" y="7120290"/>
            <a:ext cx="6520361" cy="617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4"/>
              </a:lnSpc>
            </a:pPr>
            <a:r>
              <a:rPr lang="en-US" sz="34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Student 2 Name: </a:t>
            </a:r>
            <a:r>
              <a:rPr lang="en-US" sz="345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Arif Khan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3764" y="4966503"/>
            <a:ext cx="6317769" cy="617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4"/>
              </a:lnSpc>
            </a:pPr>
            <a:r>
              <a:rPr lang="en-US" sz="34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Student 1 ID: </a:t>
            </a:r>
            <a:r>
              <a:rPr lang="en-US" sz="345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2223081070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2820" y="5614896"/>
            <a:ext cx="10302080" cy="617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4"/>
              </a:lnSpc>
            </a:pPr>
            <a:r>
              <a:rPr lang="en-US" sz="34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Student 1 Name: </a:t>
            </a:r>
            <a:r>
              <a:rPr lang="en-US" sz="345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Mahmudul Hasan Khan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755695" y="5139385"/>
            <a:ext cx="3021266" cy="604057"/>
            <a:chOff x="0" y="0"/>
            <a:chExt cx="2032660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32660" cy="406400"/>
            </a:xfrm>
            <a:custGeom>
              <a:avLst/>
              <a:gdLst/>
              <a:ahLst/>
              <a:cxnLst/>
              <a:rect r="r" b="b" t="t" l="l"/>
              <a:pathLst>
                <a:path h="406400" w="2032660">
                  <a:moveTo>
                    <a:pt x="1829460" y="0"/>
                  </a:moveTo>
                  <a:cubicBezTo>
                    <a:pt x="1941684" y="0"/>
                    <a:pt x="2032660" y="90976"/>
                    <a:pt x="2032660" y="203200"/>
                  </a:cubicBezTo>
                  <a:cubicBezTo>
                    <a:pt x="2032660" y="315424"/>
                    <a:pt x="1941684" y="406400"/>
                    <a:pt x="182946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E945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03266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755695" y="5082449"/>
            <a:ext cx="3021266" cy="122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4"/>
              </a:lnSpc>
            </a:pPr>
            <a:r>
              <a:rPr lang="en-US" b="true" sz="3453">
                <a:solidFill>
                  <a:srgbClr val="231F20"/>
                </a:solidFill>
                <a:latin typeface="Poppins Bold"/>
                <a:ea typeface="Poppins Bold"/>
                <a:cs typeface="Poppins Bold"/>
                <a:sym typeface="Poppins Bold"/>
              </a:rPr>
              <a:t>Supervisor</a:t>
            </a:r>
          </a:p>
          <a:p>
            <a:pPr algn="ctr">
              <a:lnSpc>
                <a:spcPts val="4834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2827783" y="6566834"/>
            <a:ext cx="2793217" cy="1240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331">
                <a:solidFill>
                  <a:srgbClr val="004731"/>
                </a:solidFill>
                <a:latin typeface="Arimo"/>
                <a:ea typeface="Arimo"/>
                <a:cs typeface="Arimo"/>
                <a:sym typeface="Arimo"/>
              </a:rPr>
              <a:t>           Lecturer</a:t>
            </a:r>
          </a:p>
          <a:p>
            <a:pPr algn="l">
              <a:lnSpc>
                <a:spcPts val="3264"/>
              </a:lnSpc>
            </a:pPr>
            <a:r>
              <a:rPr lang="en-US" sz="2331">
                <a:solidFill>
                  <a:srgbClr val="004731"/>
                </a:solidFill>
                <a:latin typeface="Arimo"/>
                <a:ea typeface="Arimo"/>
                <a:cs typeface="Arimo"/>
                <a:sym typeface="Arimo"/>
              </a:rPr>
              <a:t>       Dept of CSE</a:t>
            </a:r>
          </a:p>
          <a:p>
            <a:pPr algn="l">
              <a:lnSpc>
                <a:spcPts val="3275"/>
              </a:lnSpc>
            </a:pPr>
            <a:r>
              <a:rPr lang="en-US" sz="2519">
                <a:solidFill>
                  <a:srgbClr val="004731"/>
                </a:solidFill>
                <a:latin typeface="Open Sans 1"/>
                <a:ea typeface="Open Sans 1"/>
                <a:cs typeface="Open Sans 1"/>
                <a:sym typeface="Open Sans 1"/>
              </a:rPr>
              <a:t>   </a:t>
            </a:r>
            <a:r>
              <a:rPr lang="en-US" sz="2519">
                <a:solidFill>
                  <a:srgbClr val="004731"/>
                </a:solidFill>
                <a:latin typeface="Open Sans 1"/>
                <a:ea typeface="Open Sans 1"/>
                <a:cs typeface="Open Sans 1"/>
                <a:sym typeface="Open Sans 1"/>
              </a:rPr>
              <a:t>Uttara University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54000" y="6066689"/>
            <a:ext cx="2818406" cy="503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3"/>
              </a:lnSpc>
            </a:pPr>
            <a:r>
              <a:rPr lang="en-US" sz="2658">
                <a:solidFill>
                  <a:srgbClr val="00BF63"/>
                </a:solidFill>
                <a:latin typeface="Ekush"/>
                <a:ea typeface="Ekush"/>
                <a:cs typeface="Ekush"/>
                <a:sym typeface="Ekush"/>
              </a:rPr>
              <a:t>SHEBIKA RANI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14633892" y="-1159293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58712" y="0"/>
            <a:ext cx="3929288" cy="1951633"/>
          </a:xfrm>
          <a:custGeom>
            <a:avLst/>
            <a:gdLst/>
            <a:ahLst/>
            <a:cxnLst/>
            <a:rect r="r" b="b" t="t" l="l"/>
            <a:pathLst>
              <a:path h="1951633" w="3929288">
                <a:moveTo>
                  <a:pt x="0" y="0"/>
                </a:moveTo>
                <a:lnTo>
                  <a:pt x="3929288" y="0"/>
                </a:lnTo>
                <a:lnTo>
                  <a:pt x="3929288" y="1951633"/>
                </a:lnTo>
                <a:lnTo>
                  <a:pt x="0" y="19516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0" y="2172150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1326251" y="3148988"/>
            <a:ext cx="6456660" cy="3989023"/>
          </a:xfrm>
          <a:custGeom>
            <a:avLst/>
            <a:gdLst/>
            <a:ahLst/>
            <a:cxnLst/>
            <a:rect r="r" b="b" t="t" l="l"/>
            <a:pathLst>
              <a:path h="3989023" w="6456660">
                <a:moveTo>
                  <a:pt x="0" y="0"/>
                </a:moveTo>
                <a:lnTo>
                  <a:pt x="6456660" y="0"/>
                </a:lnTo>
                <a:lnTo>
                  <a:pt x="6456660" y="3989024"/>
                </a:lnTo>
                <a:lnTo>
                  <a:pt x="0" y="39890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8256" t="-6838" r="0" b="-69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00100" y="2777524"/>
            <a:ext cx="6129564" cy="770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3"/>
              </a:lnSpc>
            </a:pPr>
            <a:r>
              <a:rPr lang="en-US" sz="5599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INTRODUCTION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0100" y="4096732"/>
            <a:ext cx="10131859" cy="1779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725">
                <a:solidFill>
                  <a:srgbClr val="021E47"/>
                </a:solidFill>
                <a:latin typeface="Nunito"/>
                <a:ea typeface="Nunito"/>
                <a:cs typeface="Nunito"/>
                <a:sym typeface="Nunito"/>
              </a:rPr>
              <a:t>Border surveillance is a critical requirement for national security and defense systems. Traditional border monitoring methods depend largely on human patrols and fixed surveillance infrastructure, which are costly, inefficient, and vulnerable to human error.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2943" y="6994114"/>
            <a:ext cx="10124004" cy="1426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sz="2725">
                <a:solidFill>
                  <a:srgbClr val="021E47"/>
                </a:solidFill>
                <a:latin typeface="Nunito"/>
                <a:ea typeface="Nunito"/>
                <a:cs typeface="Nunito"/>
                <a:sym typeface="Nunito"/>
              </a:rPr>
              <a:t> This research proposes an Autonomous Border Surveillance System that uses heuristic optimization and graph-based algorithms to enable intelligent, energy-efficient, and adaptive drone navigation in border areas.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78758"/>
            <a:ext cx="12755695" cy="68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4"/>
              </a:lnSpc>
            </a:pPr>
            <a:r>
              <a:rPr lang="en-US" sz="38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 of Computer Science and Engineering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246328" y="890092"/>
            <a:ext cx="4246828" cy="56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Uttara University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06658" y="7442812"/>
            <a:ext cx="129584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Figure 1 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16445" y="7958451"/>
            <a:ext cx="3431977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Source:  www.csm.tech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16299339" y="8162409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1269921" y="8162409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86000" y="5025423"/>
            <a:ext cx="1876329" cy="1793389"/>
          </a:xfrm>
          <a:custGeom>
            <a:avLst/>
            <a:gdLst/>
            <a:ahLst/>
            <a:cxnLst/>
            <a:rect r="r" b="b" t="t" l="l"/>
            <a:pathLst>
              <a:path h="1793389" w="1876329">
                <a:moveTo>
                  <a:pt x="0" y="0"/>
                </a:moveTo>
                <a:lnTo>
                  <a:pt x="1876329" y="0"/>
                </a:lnTo>
                <a:lnTo>
                  <a:pt x="1876329" y="1793389"/>
                </a:lnTo>
                <a:lnTo>
                  <a:pt x="0" y="17933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470624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335000" y="5093845"/>
            <a:ext cx="1804742" cy="1724967"/>
          </a:xfrm>
          <a:custGeom>
            <a:avLst/>
            <a:gdLst/>
            <a:ahLst/>
            <a:cxnLst/>
            <a:rect r="r" b="b" t="t" l="l"/>
            <a:pathLst>
              <a:path h="1724967" w="1804742">
                <a:moveTo>
                  <a:pt x="0" y="0"/>
                </a:moveTo>
                <a:lnTo>
                  <a:pt x="1804742" y="0"/>
                </a:lnTo>
                <a:lnTo>
                  <a:pt x="1804742" y="1724967"/>
                </a:lnTo>
                <a:lnTo>
                  <a:pt x="0" y="17249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470624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39190" y="5748989"/>
            <a:ext cx="1818949" cy="1738546"/>
          </a:xfrm>
          <a:custGeom>
            <a:avLst/>
            <a:gdLst/>
            <a:ahLst/>
            <a:cxnLst/>
            <a:rect r="r" b="b" t="t" l="l"/>
            <a:pathLst>
              <a:path h="1738546" w="1818949">
                <a:moveTo>
                  <a:pt x="0" y="0"/>
                </a:moveTo>
                <a:lnTo>
                  <a:pt x="1818949" y="0"/>
                </a:lnTo>
                <a:lnTo>
                  <a:pt x="1818949" y="1738546"/>
                </a:lnTo>
                <a:lnTo>
                  <a:pt x="0" y="17385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470624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33500" y="7239575"/>
            <a:ext cx="4246049" cy="783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Autonomous Drone-Based Border Surveillance Using Real-Time Object Detection with Yolo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07294" y="7693282"/>
            <a:ext cx="4503746" cy="526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Energy-aware Multi-UAV Coverage Mission Planning (Feb 2024)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64947" y="7110077"/>
            <a:ext cx="4456332" cy="783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Energy-Efficient Meta-Heuristic Path Planning (Applied Sciences 2024)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3500" y="8397919"/>
            <a:ext cx="3730975" cy="693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88618" indent="-194309" lvl="1">
              <a:lnSpc>
                <a:spcPts val="1871"/>
              </a:lnSpc>
              <a:buFont typeface="Arial"/>
              <a:buChar char="•"/>
            </a:pPr>
            <a:r>
              <a:rPr lang="en-US" sz="17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Predefined waypoints</a:t>
            </a:r>
          </a:p>
          <a:p>
            <a:pPr algn="ctr" marL="388618" indent="-194309" lvl="1">
              <a:lnSpc>
                <a:spcPts val="1871"/>
              </a:lnSpc>
              <a:buFont typeface="Arial"/>
              <a:buChar char="•"/>
            </a:pPr>
            <a:r>
              <a:rPr lang="en-US" sz="17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Fixed return path</a:t>
            </a:r>
          </a:p>
          <a:p>
            <a:pPr algn="ctr" marL="388618" indent="-194309" lvl="1">
              <a:lnSpc>
                <a:spcPts val="1871"/>
              </a:lnSpc>
              <a:buFont typeface="Arial"/>
              <a:buChar char="•"/>
            </a:pPr>
            <a:r>
              <a:rPr lang="en-US" sz="17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Real-time threat detection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86500" y="8553738"/>
            <a:ext cx="5113206" cy="115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88618" indent="-194309" lvl="1">
              <a:lnSpc>
                <a:spcPts val="1871"/>
              </a:lnSpc>
              <a:buFont typeface="Arial"/>
              <a:buChar char="•"/>
            </a:pPr>
            <a:r>
              <a:rPr lang="en-US" sz="17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Energy estimate matches 97% with real flight data</a:t>
            </a:r>
          </a:p>
          <a:p>
            <a:pPr algn="ctr" marL="388618" indent="-194309" lvl="1">
              <a:lnSpc>
                <a:spcPts val="1871"/>
              </a:lnSpc>
              <a:buFont typeface="Arial"/>
              <a:buChar char="•"/>
            </a:pPr>
            <a:r>
              <a:rPr lang="en-US" sz="17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Proposed method energy-wise competitive</a:t>
            </a:r>
          </a:p>
          <a:p>
            <a:pPr algn="ctr">
              <a:lnSpc>
                <a:spcPts val="1871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2169291" y="8336804"/>
            <a:ext cx="4136159" cy="693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88618" indent="-194309" lvl="1">
              <a:lnSpc>
                <a:spcPts val="1871"/>
              </a:lnSpc>
              <a:buFont typeface="Arial"/>
              <a:buChar char="•"/>
            </a:pPr>
            <a:r>
              <a:rPr lang="en-US" sz="17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Path optimality</a:t>
            </a:r>
          </a:p>
          <a:p>
            <a:pPr algn="ctr" marL="388618" indent="-194309" lvl="1">
              <a:lnSpc>
                <a:spcPts val="1871"/>
              </a:lnSpc>
              <a:buFont typeface="Arial"/>
              <a:buChar char="•"/>
            </a:pPr>
            <a:r>
              <a:rPr lang="en-US" sz="17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Energy consumption</a:t>
            </a:r>
          </a:p>
          <a:p>
            <a:pPr algn="ctr" marL="388618" indent="-194309" lvl="1">
              <a:lnSpc>
                <a:spcPts val="1871"/>
              </a:lnSpc>
              <a:buFont typeface="Arial"/>
              <a:buChar char="•"/>
            </a:pPr>
            <a:r>
              <a:rPr lang="en-US" sz="17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Convergence speed</a:t>
            </a:r>
          </a:p>
        </p:txBody>
      </p:sp>
      <p:sp>
        <p:nvSpPr>
          <p:cNvPr name="AutoShape 13" id="13"/>
          <p:cNvSpPr/>
          <p:nvPr/>
        </p:nvSpPr>
        <p:spPr>
          <a:xfrm>
            <a:off x="0" y="6693778"/>
            <a:ext cx="18288000" cy="1652158"/>
          </a:xfrm>
          <a:prstGeom prst="line">
            <a:avLst/>
          </a:prstGeom>
          <a:ln cap="flat" w="19050">
            <a:solidFill>
              <a:srgbClr val="021E47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2956891" y="5231089"/>
            <a:ext cx="606816" cy="606816"/>
          </a:xfrm>
          <a:custGeom>
            <a:avLst/>
            <a:gdLst/>
            <a:ahLst/>
            <a:cxnLst/>
            <a:rect r="r" b="b" t="t" l="l"/>
            <a:pathLst>
              <a:path h="606816" w="606816">
                <a:moveTo>
                  <a:pt x="0" y="0"/>
                </a:moveTo>
                <a:lnTo>
                  <a:pt x="606816" y="0"/>
                </a:lnTo>
                <a:lnTo>
                  <a:pt x="606816" y="606816"/>
                </a:lnTo>
                <a:lnTo>
                  <a:pt x="0" y="6068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007537" y="5347183"/>
            <a:ext cx="497676" cy="459106"/>
          </a:xfrm>
          <a:custGeom>
            <a:avLst/>
            <a:gdLst/>
            <a:ahLst/>
            <a:cxnLst/>
            <a:rect r="r" b="b" t="t" l="l"/>
            <a:pathLst>
              <a:path h="459106" w="497676">
                <a:moveTo>
                  <a:pt x="0" y="0"/>
                </a:moveTo>
                <a:lnTo>
                  <a:pt x="497676" y="0"/>
                </a:lnTo>
                <a:lnTo>
                  <a:pt x="497676" y="459105"/>
                </a:lnTo>
                <a:lnTo>
                  <a:pt x="0" y="45910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506741" y="5930845"/>
            <a:ext cx="471616" cy="486202"/>
          </a:xfrm>
          <a:custGeom>
            <a:avLst/>
            <a:gdLst/>
            <a:ahLst/>
            <a:cxnLst/>
            <a:rect r="r" b="b" t="t" l="l"/>
            <a:pathLst>
              <a:path h="486202" w="471616">
                <a:moveTo>
                  <a:pt x="0" y="0"/>
                </a:moveTo>
                <a:lnTo>
                  <a:pt x="471617" y="0"/>
                </a:lnTo>
                <a:lnTo>
                  <a:pt x="471617" y="486203"/>
                </a:lnTo>
                <a:lnTo>
                  <a:pt x="0" y="48620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953000" y="3075086"/>
            <a:ext cx="8382000" cy="770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4"/>
              </a:lnSpc>
            </a:pPr>
            <a:r>
              <a:rPr lang="en-US" b="true" sz="5600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BACKGROUND STUDY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4358712" y="11605"/>
            <a:ext cx="3929288" cy="1951633"/>
          </a:xfrm>
          <a:custGeom>
            <a:avLst/>
            <a:gdLst/>
            <a:ahLst/>
            <a:cxnLst/>
            <a:rect r="r" b="b" t="t" l="l"/>
            <a:pathLst>
              <a:path h="1951633" w="3929288">
                <a:moveTo>
                  <a:pt x="0" y="0"/>
                </a:moveTo>
                <a:lnTo>
                  <a:pt x="3929288" y="0"/>
                </a:lnTo>
                <a:lnTo>
                  <a:pt x="3929288" y="1951633"/>
                </a:lnTo>
                <a:lnTo>
                  <a:pt x="0" y="195163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>
            <a:off x="0" y="2183755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0" y="90363"/>
            <a:ext cx="12755695" cy="68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4"/>
              </a:lnSpc>
            </a:pPr>
            <a:r>
              <a:rPr lang="en-US" sz="38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 of Computer Science and Engineering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-246328" y="901697"/>
            <a:ext cx="4246828" cy="56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Uttara University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12381" y="8600350"/>
            <a:ext cx="2676251" cy="555322"/>
          </a:xfrm>
          <a:custGeom>
            <a:avLst/>
            <a:gdLst/>
            <a:ahLst/>
            <a:cxnLst/>
            <a:rect r="r" b="b" t="t" l="l"/>
            <a:pathLst>
              <a:path h="555322" w="2676251">
                <a:moveTo>
                  <a:pt x="0" y="0"/>
                </a:moveTo>
                <a:lnTo>
                  <a:pt x="2676252" y="0"/>
                </a:lnTo>
                <a:lnTo>
                  <a:pt x="2676252" y="555322"/>
                </a:lnTo>
                <a:lnTo>
                  <a:pt x="0" y="55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77086" y="8969678"/>
            <a:ext cx="2676251" cy="555322"/>
          </a:xfrm>
          <a:custGeom>
            <a:avLst/>
            <a:gdLst/>
            <a:ahLst/>
            <a:cxnLst/>
            <a:rect r="r" b="b" t="t" l="l"/>
            <a:pathLst>
              <a:path h="555322" w="2676251">
                <a:moveTo>
                  <a:pt x="0" y="0"/>
                </a:moveTo>
                <a:lnTo>
                  <a:pt x="2676251" y="0"/>
                </a:lnTo>
                <a:lnTo>
                  <a:pt x="2676251" y="555322"/>
                </a:lnTo>
                <a:lnTo>
                  <a:pt x="0" y="55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454664" y="6595299"/>
            <a:ext cx="2591686" cy="2282713"/>
            <a:chOff x="0" y="0"/>
            <a:chExt cx="691144" cy="6087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1144" cy="608748"/>
            </a:xfrm>
            <a:custGeom>
              <a:avLst/>
              <a:gdLst/>
              <a:ahLst/>
              <a:cxnLst/>
              <a:rect r="r" b="b" t="t" l="l"/>
              <a:pathLst>
                <a:path h="608748" w="691144">
                  <a:moveTo>
                    <a:pt x="59744" y="0"/>
                  </a:moveTo>
                  <a:lnTo>
                    <a:pt x="631400" y="0"/>
                  </a:lnTo>
                  <a:cubicBezTo>
                    <a:pt x="664395" y="0"/>
                    <a:pt x="691144" y="26748"/>
                    <a:pt x="691144" y="59744"/>
                  </a:cubicBezTo>
                  <a:lnTo>
                    <a:pt x="691144" y="549004"/>
                  </a:lnTo>
                  <a:cubicBezTo>
                    <a:pt x="691144" y="581999"/>
                    <a:pt x="664395" y="608748"/>
                    <a:pt x="631400" y="608748"/>
                  </a:cubicBezTo>
                  <a:lnTo>
                    <a:pt x="59744" y="608748"/>
                  </a:lnTo>
                  <a:cubicBezTo>
                    <a:pt x="26748" y="608748"/>
                    <a:pt x="0" y="581999"/>
                    <a:pt x="0" y="549004"/>
                  </a:cubicBezTo>
                  <a:lnTo>
                    <a:pt x="0" y="59744"/>
                  </a:lnTo>
                  <a:cubicBezTo>
                    <a:pt x="0" y="26748"/>
                    <a:pt x="26748" y="0"/>
                    <a:pt x="59744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691144" cy="58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919369" y="6964626"/>
            <a:ext cx="2591686" cy="2282713"/>
            <a:chOff x="0" y="0"/>
            <a:chExt cx="691144" cy="6087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1144" cy="608748"/>
            </a:xfrm>
            <a:custGeom>
              <a:avLst/>
              <a:gdLst/>
              <a:ahLst/>
              <a:cxnLst/>
              <a:rect r="r" b="b" t="t" l="l"/>
              <a:pathLst>
                <a:path h="608748" w="691144">
                  <a:moveTo>
                    <a:pt x="59744" y="0"/>
                  </a:moveTo>
                  <a:lnTo>
                    <a:pt x="631400" y="0"/>
                  </a:lnTo>
                  <a:cubicBezTo>
                    <a:pt x="664395" y="0"/>
                    <a:pt x="691144" y="26748"/>
                    <a:pt x="691144" y="59744"/>
                  </a:cubicBezTo>
                  <a:lnTo>
                    <a:pt x="691144" y="549004"/>
                  </a:lnTo>
                  <a:cubicBezTo>
                    <a:pt x="691144" y="581999"/>
                    <a:pt x="664395" y="608748"/>
                    <a:pt x="631400" y="608748"/>
                  </a:cubicBezTo>
                  <a:lnTo>
                    <a:pt x="59744" y="608748"/>
                  </a:lnTo>
                  <a:cubicBezTo>
                    <a:pt x="26748" y="608748"/>
                    <a:pt x="0" y="581999"/>
                    <a:pt x="0" y="549004"/>
                  </a:cubicBezTo>
                  <a:lnTo>
                    <a:pt x="0" y="59744"/>
                  </a:lnTo>
                  <a:cubicBezTo>
                    <a:pt x="0" y="26748"/>
                    <a:pt x="26748" y="0"/>
                    <a:pt x="59744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691144" cy="58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454664" y="4426696"/>
            <a:ext cx="3050101" cy="2424812"/>
          </a:xfrm>
          <a:custGeom>
            <a:avLst/>
            <a:gdLst/>
            <a:ahLst/>
            <a:cxnLst/>
            <a:rect r="r" b="b" t="t" l="l"/>
            <a:pathLst>
              <a:path h="2424812" w="3050101">
                <a:moveTo>
                  <a:pt x="0" y="0"/>
                </a:moveTo>
                <a:lnTo>
                  <a:pt x="3050101" y="0"/>
                </a:lnTo>
                <a:lnTo>
                  <a:pt x="3050101" y="2424811"/>
                </a:lnTo>
                <a:lnTo>
                  <a:pt x="0" y="24248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78" t="-174030" r="-482105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919369" y="4796023"/>
            <a:ext cx="3040954" cy="2417540"/>
          </a:xfrm>
          <a:custGeom>
            <a:avLst/>
            <a:gdLst/>
            <a:ahLst/>
            <a:cxnLst/>
            <a:rect r="r" b="b" t="t" l="l"/>
            <a:pathLst>
              <a:path h="2417540" w="3040954">
                <a:moveTo>
                  <a:pt x="0" y="0"/>
                </a:moveTo>
                <a:lnTo>
                  <a:pt x="3040954" y="0"/>
                </a:lnTo>
                <a:lnTo>
                  <a:pt x="3040954" y="2417540"/>
                </a:lnTo>
                <a:lnTo>
                  <a:pt x="0" y="24175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778" t="-174030" r="-482105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621967" y="8742241"/>
            <a:ext cx="2676251" cy="555322"/>
          </a:xfrm>
          <a:custGeom>
            <a:avLst/>
            <a:gdLst/>
            <a:ahLst/>
            <a:cxnLst/>
            <a:rect r="r" b="b" t="t" l="l"/>
            <a:pathLst>
              <a:path h="555322" w="2676251">
                <a:moveTo>
                  <a:pt x="0" y="0"/>
                </a:moveTo>
                <a:lnTo>
                  <a:pt x="2676252" y="0"/>
                </a:lnTo>
                <a:lnTo>
                  <a:pt x="2676252" y="555322"/>
                </a:lnTo>
                <a:lnTo>
                  <a:pt x="0" y="55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6664250" y="6737190"/>
            <a:ext cx="2591686" cy="2282713"/>
            <a:chOff x="0" y="0"/>
            <a:chExt cx="691144" cy="6087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1144" cy="608748"/>
            </a:xfrm>
            <a:custGeom>
              <a:avLst/>
              <a:gdLst/>
              <a:ahLst/>
              <a:cxnLst/>
              <a:rect r="r" b="b" t="t" l="l"/>
              <a:pathLst>
                <a:path h="608748" w="691144">
                  <a:moveTo>
                    <a:pt x="59744" y="0"/>
                  </a:moveTo>
                  <a:lnTo>
                    <a:pt x="631400" y="0"/>
                  </a:lnTo>
                  <a:cubicBezTo>
                    <a:pt x="664395" y="0"/>
                    <a:pt x="691144" y="26748"/>
                    <a:pt x="691144" y="59744"/>
                  </a:cubicBezTo>
                  <a:lnTo>
                    <a:pt x="691144" y="549004"/>
                  </a:lnTo>
                  <a:cubicBezTo>
                    <a:pt x="691144" y="581999"/>
                    <a:pt x="664395" y="608748"/>
                    <a:pt x="631400" y="608748"/>
                  </a:cubicBezTo>
                  <a:lnTo>
                    <a:pt x="59744" y="608748"/>
                  </a:lnTo>
                  <a:cubicBezTo>
                    <a:pt x="26748" y="608748"/>
                    <a:pt x="0" y="581999"/>
                    <a:pt x="0" y="549004"/>
                  </a:cubicBezTo>
                  <a:lnTo>
                    <a:pt x="0" y="59744"/>
                  </a:lnTo>
                  <a:cubicBezTo>
                    <a:pt x="0" y="26748"/>
                    <a:pt x="26748" y="0"/>
                    <a:pt x="59744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691144" cy="58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6664250" y="4568587"/>
            <a:ext cx="3040954" cy="2417540"/>
          </a:xfrm>
          <a:custGeom>
            <a:avLst/>
            <a:gdLst/>
            <a:ahLst/>
            <a:cxnLst/>
            <a:rect r="r" b="b" t="t" l="l"/>
            <a:pathLst>
              <a:path h="2417540" w="3040954">
                <a:moveTo>
                  <a:pt x="0" y="0"/>
                </a:moveTo>
                <a:lnTo>
                  <a:pt x="3040955" y="0"/>
                </a:lnTo>
                <a:lnTo>
                  <a:pt x="3040955" y="2417540"/>
                </a:lnTo>
                <a:lnTo>
                  <a:pt x="0" y="24175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778" t="-174030" r="-482105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835664" y="4862746"/>
            <a:ext cx="633885" cy="501561"/>
          </a:xfrm>
          <a:custGeom>
            <a:avLst/>
            <a:gdLst/>
            <a:ahLst/>
            <a:cxnLst/>
            <a:rect r="r" b="b" t="t" l="l"/>
            <a:pathLst>
              <a:path h="501561" w="633885">
                <a:moveTo>
                  <a:pt x="0" y="0"/>
                </a:moveTo>
                <a:lnTo>
                  <a:pt x="633885" y="0"/>
                </a:lnTo>
                <a:lnTo>
                  <a:pt x="633885" y="501561"/>
                </a:lnTo>
                <a:lnTo>
                  <a:pt x="0" y="501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300369" y="5177023"/>
            <a:ext cx="556612" cy="556612"/>
          </a:xfrm>
          <a:custGeom>
            <a:avLst/>
            <a:gdLst/>
            <a:ahLst/>
            <a:cxnLst/>
            <a:rect r="r" b="b" t="t" l="l"/>
            <a:pathLst>
              <a:path h="556612" w="556612">
                <a:moveTo>
                  <a:pt x="0" y="0"/>
                </a:moveTo>
                <a:lnTo>
                  <a:pt x="556611" y="0"/>
                </a:lnTo>
                <a:lnTo>
                  <a:pt x="556611" y="556612"/>
                </a:lnTo>
                <a:lnTo>
                  <a:pt x="0" y="55661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413727" y="5291683"/>
            <a:ext cx="155315" cy="154150"/>
          </a:xfrm>
          <a:custGeom>
            <a:avLst/>
            <a:gdLst/>
            <a:ahLst/>
            <a:cxnLst/>
            <a:rect r="r" b="b" t="t" l="l"/>
            <a:pathLst>
              <a:path h="154150" w="155315">
                <a:moveTo>
                  <a:pt x="0" y="0"/>
                </a:moveTo>
                <a:lnTo>
                  <a:pt x="155315" y="0"/>
                </a:lnTo>
                <a:lnTo>
                  <a:pt x="155315" y="154150"/>
                </a:lnTo>
                <a:lnTo>
                  <a:pt x="0" y="1541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002967" y="4949587"/>
            <a:ext cx="556612" cy="556612"/>
          </a:xfrm>
          <a:custGeom>
            <a:avLst/>
            <a:gdLst/>
            <a:ahLst/>
            <a:cxnLst/>
            <a:rect r="r" b="b" t="t" l="l"/>
            <a:pathLst>
              <a:path h="556612" w="556612">
                <a:moveTo>
                  <a:pt x="0" y="0"/>
                </a:moveTo>
                <a:lnTo>
                  <a:pt x="556612" y="0"/>
                </a:lnTo>
                <a:lnTo>
                  <a:pt x="556612" y="556611"/>
                </a:lnTo>
                <a:lnTo>
                  <a:pt x="0" y="55661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286250" y="2754872"/>
            <a:ext cx="9334500" cy="770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4"/>
              </a:lnSpc>
            </a:pPr>
            <a:r>
              <a:rPr lang="en-US" b="true" sz="5600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PROBLEM STATEMENTS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526972" y="5734791"/>
            <a:ext cx="3074819" cy="57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7"/>
              </a:lnSpc>
            </a:pPr>
            <a:r>
              <a:rPr lang="en-US" sz="2199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Limited Monitoring Capability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17580" y="6354971"/>
            <a:ext cx="2444532" cy="57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7"/>
              </a:lnSpc>
            </a:pPr>
            <a:r>
              <a:rPr lang="en-US" sz="2199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Lack of Adaptability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046848" y="6080935"/>
            <a:ext cx="1821039" cy="57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7"/>
              </a:lnSpc>
            </a:pPr>
            <a:r>
              <a:rPr lang="en-US" sz="2199" b="true">
                <a:solidFill>
                  <a:srgbClr val="FCFEFF"/>
                </a:solidFill>
                <a:latin typeface="Gotham Bold"/>
                <a:ea typeface="Gotham Bold"/>
                <a:cs typeface="Gotham Bold"/>
                <a:sym typeface="Gotham Bold"/>
              </a:rPr>
              <a:t>Energy Constraints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630249" y="7253549"/>
            <a:ext cx="2251357" cy="115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71"/>
              </a:lnSpc>
            </a:pPr>
            <a:r>
              <a:rPr lang="en-US" sz="17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Real-time visualization and mission monitoring tools are often insufficient.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19784" y="7498974"/>
            <a:ext cx="2351420" cy="115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71"/>
              </a:lnSpc>
            </a:pPr>
            <a:r>
              <a:rPr lang="en-US" sz="17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they cannot change their path when a new no-fly zone or threat appears suddenly.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830086" y="7241518"/>
            <a:ext cx="2318133" cy="1480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63"/>
              </a:lnSpc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Many systems fail to calculate the point of no return, causing drones to run out of battery before reaching the base station.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2700000">
            <a:off x="16295874" y="4716188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alphaModFix amt="13000"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2700000">
            <a:off x="-1224173" y="7526382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1" y="0"/>
                </a:lnTo>
                <a:lnTo>
                  <a:pt x="3258581" y="3258581"/>
                </a:lnTo>
                <a:lnTo>
                  <a:pt x="0" y="325858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alphaModFix amt="13000"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358712" y="0"/>
            <a:ext cx="3929288" cy="1951633"/>
          </a:xfrm>
          <a:custGeom>
            <a:avLst/>
            <a:gdLst/>
            <a:ahLst/>
            <a:cxnLst/>
            <a:rect r="r" b="b" t="t" l="l"/>
            <a:pathLst>
              <a:path h="1951633" w="3929288">
                <a:moveTo>
                  <a:pt x="0" y="0"/>
                </a:moveTo>
                <a:lnTo>
                  <a:pt x="3929288" y="0"/>
                </a:lnTo>
                <a:lnTo>
                  <a:pt x="3929288" y="1951633"/>
                </a:lnTo>
                <a:lnTo>
                  <a:pt x="0" y="195163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AutoShape 31" id="31"/>
          <p:cNvSpPr/>
          <p:nvPr/>
        </p:nvSpPr>
        <p:spPr>
          <a:xfrm>
            <a:off x="0" y="2172150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0" y="78758"/>
            <a:ext cx="12755695" cy="68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4"/>
              </a:lnSpc>
            </a:pPr>
            <a:r>
              <a:rPr lang="en-US" sz="38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 of Computer Science and Engineering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-246328" y="890092"/>
            <a:ext cx="4246828" cy="56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Uttara University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80541" y="5250725"/>
            <a:ext cx="4908918" cy="4804603"/>
          </a:xfrm>
          <a:custGeom>
            <a:avLst/>
            <a:gdLst/>
            <a:ahLst/>
            <a:cxnLst/>
            <a:rect r="r" b="b" t="t" l="l"/>
            <a:pathLst>
              <a:path h="4804603" w="4908918">
                <a:moveTo>
                  <a:pt x="0" y="0"/>
                </a:moveTo>
                <a:lnTo>
                  <a:pt x="4908918" y="0"/>
                </a:lnTo>
                <a:lnTo>
                  <a:pt x="4908918" y="4804603"/>
                </a:lnTo>
                <a:lnTo>
                  <a:pt x="0" y="48046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57898" y="6276672"/>
            <a:ext cx="2667000" cy="504118"/>
            <a:chOff x="0" y="0"/>
            <a:chExt cx="702420" cy="1327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02420" cy="132772"/>
            </a:xfrm>
            <a:custGeom>
              <a:avLst/>
              <a:gdLst/>
              <a:ahLst/>
              <a:cxnLst/>
              <a:rect r="r" b="b" t="t" l="l"/>
              <a:pathLst>
                <a:path h="132772" w="702420">
                  <a:moveTo>
                    <a:pt x="29029" y="0"/>
                  </a:moveTo>
                  <a:lnTo>
                    <a:pt x="673391" y="0"/>
                  </a:lnTo>
                  <a:cubicBezTo>
                    <a:pt x="689423" y="0"/>
                    <a:pt x="702420" y="12997"/>
                    <a:pt x="702420" y="29029"/>
                  </a:cubicBezTo>
                  <a:lnTo>
                    <a:pt x="702420" y="103743"/>
                  </a:lnTo>
                  <a:cubicBezTo>
                    <a:pt x="702420" y="119775"/>
                    <a:pt x="689423" y="132772"/>
                    <a:pt x="673391" y="132772"/>
                  </a:cubicBezTo>
                  <a:lnTo>
                    <a:pt x="29029" y="132772"/>
                  </a:lnTo>
                  <a:cubicBezTo>
                    <a:pt x="12997" y="132772"/>
                    <a:pt x="0" y="119775"/>
                    <a:pt x="0" y="103743"/>
                  </a:cubicBezTo>
                  <a:lnTo>
                    <a:pt x="0" y="29029"/>
                  </a:lnTo>
                  <a:cubicBezTo>
                    <a:pt x="0" y="12997"/>
                    <a:pt x="12997" y="0"/>
                    <a:pt x="29029" y="0"/>
                  </a:cubicBezTo>
                  <a:close/>
                </a:path>
              </a:pathLst>
            </a:custGeom>
            <a:solidFill>
              <a:srgbClr val="FC850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702420" cy="104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960530" y="9409517"/>
            <a:ext cx="2667000" cy="504118"/>
            <a:chOff x="0" y="0"/>
            <a:chExt cx="702420" cy="1327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2420" cy="132772"/>
            </a:xfrm>
            <a:custGeom>
              <a:avLst/>
              <a:gdLst/>
              <a:ahLst/>
              <a:cxnLst/>
              <a:rect r="r" b="b" t="t" l="l"/>
              <a:pathLst>
                <a:path h="132772" w="702420">
                  <a:moveTo>
                    <a:pt x="29029" y="0"/>
                  </a:moveTo>
                  <a:lnTo>
                    <a:pt x="673391" y="0"/>
                  </a:lnTo>
                  <a:cubicBezTo>
                    <a:pt x="689423" y="0"/>
                    <a:pt x="702420" y="12997"/>
                    <a:pt x="702420" y="29029"/>
                  </a:cubicBezTo>
                  <a:lnTo>
                    <a:pt x="702420" y="103743"/>
                  </a:lnTo>
                  <a:cubicBezTo>
                    <a:pt x="702420" y="119775"/>
                    <a:pt x="689423" y="132772"/>
                    <a:pt x="673391" y="132772"/>
                  </a:cubicBezTo>
                  <a:lnTo>
                    <a:pt x="29029" y="132772"/>
                  </a:lnTo>
                  <a:cubicBezTo>
                    <a:pt x="12997" y="132772"/>
                    <a:pt x="0" y="119775"/>
                    <a:pt x="0" y="103743"/>
                  </a:cubicBezTo>
                  <a:lnTo>
                    <a:pt x="0" y="29029"/>
                  </a:lnTo>
                  <a:cubicBezTo>
                    <a:pt x="0" y="12997"/>
                    <a:pt x="12997" y="0"/>
                    <a:pt x="29029" y="0"/>
                  </a:cubicBezTo>
                  <a:close/>
                </a:path>
              </a:pathLst>
            </a:custGeom>
            <a:solidFill>
              <a:srgbClr val="021E4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702420" cy="104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957898" y="7367810"/>
            <a:ext cx="2667000" cy="504118"/>
            <a:chOff x="0" y="0"/>
            <a:chExt cx="702420" cy="1327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2420" cy="132772"/>
            </a:xfrm>
            <a:custGeom>
              <a:avLst/>
              <a:gdLst/>
              <a:ahLst/>
              <a:cxnLst/>
              <a:rect r="r" b="b" t="t" l="l"/>
              <a:pathLst>
                <a:path h="132772" w="702420">
                  <a:moveTo>
                    <a:pt x="29029" y="0"/>
                  </a:moveTo>
                  <a:lnTo>
                    <a:pt x="673391" y="0"/>
                  </a:lnTo>
                  <a:cubicBezTo>
                    <a:pt x="689423" y="0"/>
                    <a:pt x="702420" y="12997"/>
                    <a:pt x="702420" y="29029"/>
                  </a:cubicBezTo>
                  <a:lnTo>
                    <a:pt x="702420" y="103743"/>
                  </a:lnTo>
                  <a:cubicBezTo>
                    <a:pt x="702420" y="119775"/>
                    <a:pt x="689423" y="132772"/>
                    <a:pt x="673391" y="132772"/>
                  </a:cubicBezTo>
                  <a:lnTo>
                    <a:pt x="29029" y="132772"/>
                  </a:lnTo>
                  <a:cubicBezTo>
                    <a:pt x="12997" y="132772"/>
                    <a:pt x="0" y="119775"/>
                    <a:pt x="0" y="103743"/>
                  </a:cubicBezTo>
                  <a:lnTo>
                    <a:pt x="0" y="29029"/>
                  </a:lnTo>
                  <a:cubicBezTo>
                    <a:pt x="0" y="12997"/>
                    <a:pt x="12997" y="0"/>
                    <a:pt x="29029" y="0"/>
                  </a:cubicBezTo>
                  <a:close/>
                </a:path>
              </a:pathLst>
            </a:custGeom>
            <a:solidFill>
              <a:srgbClr val="8ECAE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702420" cy="104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957898" y="8388664"/>
            <a:ext cx="2667000" cy="504118"/>
            <a:chOff x="0" y="0"/>
            <a:chExt cx="702420" cy="1327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2420" cy="132772"/>
            </a:xfrm>
            <a:custGeom>
              <a:avLst/>
              <a:gdLst/>
              <a:ahLst/>
              <a:cxnLst/>
              <a:rect r="r" b="b" t="t" l="l"/>
              <a:pathLst>
                <a:path h="132772" w="702420">
                  <a:moveTo>
                    <a:pt x="29029" y="0"/>
                  </a:moveTo>
                  <a:lnTo>
                    <a:pt x="673391" y="0"/>
                  </a:lnTo>
                  <a:cubicBezTo>
                    <a:pt x="689423" y="0"/>
                    <a:pt x="702420" y="12997"/>
                    <a:pt x="702420" y="29029"/>
                  </a:cubicBezTo>
                  <a:lnTo>
                    <a:pt x="702420" y="103743"/>
                  </a:lnTo>
                  <a:cubicBezTo>
                    <a:pt x="702420" y="119775"/>
                    <a:pt x="689423" y="132772"/>
                    <a:pt x="673391" y="132772"/>
                  </a:cubicBezTo>
                  <a:lnTo>
                    <a:pt x="29029" y="132772"/>
                  </a:lnTo>
                  <a:cubicBezTo>
                    <a:pt x="12997" y="132772"/>
                    <a:pt x="0" y="119775"/>
                    <a:pt x="0" y="103743"/>
                  </a:cubicBezTo>
                  <a:lnTo>
                    <a:pt x="0" y="29029"/>
                  </a:lnTo>
                  <a:cubicBezTo>
                    <a:pt x="0" y="12997"/>
                    <a:pt x="12997" y="0"/>
                    <a:pt x="29029" y="0"/>
                  </a:cubicBezTo>
                  <a:close/>
                </a:path>
              </a:pathLst>
            </a:custGeom>
            <a:solidFill>
              <a:srgbClr val="229E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702420" cy="104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2518322" y="5626577"/>
            <a:ext cx="668848" cy="612832"/>
          </a:xfrm>
          <a:custGeom>
            <a:avLst/>
            <a:gdLst/>
            <a:ahLst/>
            <a:cxnLst/>
            <a:rect r="r" b="b" t="t" l="l"/>
            <a:pathLst>
              <a:path h="612832" w="668848">
                <a:moveTo>
                  <a:pt x="0" y="0"/>
                </a:moveTo>
                <a:lnTo>
                  <a:pt x="668847" y="0"/>
                </a:lnTo>
                <a:lnTo>
                  <a:pt x="668847" y="612831"/>
                </a:lnTo>
                <a:lnTo>
                  <a:pt x="0" y="6128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371133" y="6239408"/>
            <a:ext cx="505515" cy="541382"/>
          </a:xfrm>
          <a:custGeom>
            <a:avLst/>
            <a:gdLst/>
            <a:ahLst/>
            <a:cxnLst/>
            <a:rect r="r" b="b" t="t" l="l"/>
            <a:pathLst>
              <a:path h="541382" w="505515">
                <a:moveTo>
                  <a:pt x="0" y="0"/>
                </a:moveTo>
                <a:lnTo>
                  <a:pt x="505515" y="0"/>
                </a:lnTo>
                <a:lnTo>
                  <a:pt x="505515" y="541382"/>
                </a:lnTo>
                <a:lnTo>
                  <a:pt x="0" y="5413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584407" y="8290727"/>
            <a:ext cx="584483" cy="511422"/>
          </a:xfrm>
          <a:custGeom>
            <a:avLst/>
            <a:gdLst/>
            <a:ahLst/>
            <a:cxnLst/>
            <a:rect r="r" b="b" t="t" l="l"/>
            <a:pathLst>
              <a:path h="511422" w="584483">
                <a:moveTo>
                  <a:pt x="0" y="0"/>
                </a:moveTo>
                <a:lnTo>
                  <a:pt x="584482" y="0"/>
                </a:lnTo>
                <a:lnTo>
                  <a:pt x="584482" y="511422"/>
                </a:lnTo>
                <a:lnTo>
                  <a:pt x="0" y="5114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294618" y="8997671"/>
            <a:ext cx="552515" cy="552515"/>
          </a:xfrm>
          <a:custGeom>
            <a:avLst/>
            <a:gdLst/>
            <a:ahLst/>
            <a:cxnLst/>
            <a:rect r="r" b="b" t="t" l="l"/>
            <a:pathLst>
              <a:path h="552515" w="552515">
                <a:moveTo>
                  <a:pt x="0" y="0"/>
                </a:moveTo>
                <a:lnTo>
                  <a:pt x="552515" y="0"/>
                </a:lnTo>
                <a:lnTo>
                  <a:pt x="552515" y="552515"/>
                </a:lnTo>
                <a:lnTo>
                  <a:pt x="0" y="5525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323133" y="7085960"/>
            <a:ext cx="563700" cy="563700"/>
          </a:xfrm>
          <a:custGeom>
            <a:avLst/>
            <a:gdLst/>
            <a:ahLst/>
            <a:cxnLst/>
            <a:rect r="r" b="b" t="t" l="l"/>
            <a:pathLst>
              <a:path h="563700" w="563700">
                <a:moveTo>
                  <a:pt x="0" y="0"/>
                </a:moveTo>
                <a:lnTo>
                  <a:pt x="563700" y="0"/>
                </a:lnTo>
                <a:lnTo>
                  <a:pt x="563700" y="563701"/>
                </a:lnTo>
                <a:lnTo>
                  <a:pt x="0" y="5637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088107" y="3127191"/>
            <a:ext cx="10662387" cy="770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4"/>
              </a:lnSpc>
            </a:pPr>
            <a:r>
              <a:rPr lang="en-US" b="true" sz="5600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AIM OF THE RESEARCH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088107" y="6408415"/>
            <a:ext cx="2406582" cy="26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 intelligently plan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088107" y="7499553"/>
            <a:ext cx="2406582" cy="26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Save energy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088107" y="9541260"/>
            <a:ext cx="2406582" cy="26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 b="true">
                <a:solidFill>
                  <a:srgbClr val="FCFEFF"/>
                </a:solidFill>
                <a:latin typeface="Gotham Bold"/>
                <a:ea typeface="Gotham Bold"/>
                <a:cs typeface="Gotham Bold"/>
                <a:sym typeface="Gotham Bold"/>
              </a:rPr>
              <a:t>Area coverage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2700000">
            <a:off x="16299339" y="-927898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13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2700000">
            <a:off x="-1269921" y="-927898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13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3088107" y="8517799"/>
            <a:ext cx="2406582" cy="26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S</a:t>
            </a:r>
            <a:r>
              <a:rPr lang="en-US" b="true" sz="200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afely complete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4358712" y="0"/>
            <a:ext cx="3929288" cy="1951633"/>
          </a:xfrm>
          <a:custGeom>
            <a:avLst/>
            <a:gdLst/>
            <a:ahLst/>
            <a:cxnLst/>
            <a:rect r="r" b="b" t="t" l="l"/>
            <a:pathLst>
              <a:path h="1951633" w="3929288">
                <a:moveTo>
                  <a:pt x="0" y="0"/>
                </a:moveTo>
                <a:lnTo>
                  <a:pt x="3929288" y="0"/>
                </a:lnTo>
                <a:lnTo>
                  <a:pt x="3929288" y="1951633"/>
                </a:lnTo>
                <a:lnTo>
                  <a:pt x="0" y="195163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AutoShape 28" id="28"/>
          <p:cNvSpPr/>
          <p:nvPr/>
        </p:nvSpPr>
        <p:spPr>
          <a:xfrm>
            <a:off x="0" y="2172150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0" y="78758"/>
            <a:ext cx="12755695" cy="68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4"/>
              </a:lnSpc>
            </a:pPr>
            <a:r>
              <a:rPr lang="en-US" sz="38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 of Computer Science and Engineering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-246328" y="890092"/>
            <a:ext cx="4246828" cy="56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Uttara University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43086" y="4086201"/>
            <a:ext cx="15580270" cy="526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2000">
                <a:solidFill>
                  <a:srgbClr val="021E47"/>
                </a:solidFill>
                <a:latin typeface="Open Sans 2"/>
                <a:ea typeface="Open Sans 2"/>
                <a:cs typeface="Open Sans 2"/>
                <a:sym typeface="Open Sans 2"/>
              </a:rPr>
              <a:t>The primary aim of this research is to design and simulate an autonomous drone-based border surveillance system that ensures efficient area coverage, energy-aware navigation, and mission safety using heuristic optimization techniques.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35106" y="4065511"/>
            <a:ext cx="1642725" cy="1014969"/>
          </a:xfrm>
          <a:custGeom>
            <a:avLst/>
            <a:gdLst/>
            <a:ahLst/>
            <a:cxnLst/>
            <a:rect r="r" b="b" t="t" l="l"/>
            <a:pathLst>
              <a:path h="1014969" w="1642725">
                <a:moveTo>
                  <a:pt x="0" y="0"/>
                </a:moveTo>
                <a:lnTo>
                  <a:pt x="1642725" y="0"/>
                </a:lnTo>
                <a:lnTo>
                  <a:pt x="1642725" y="1014969"/>
                </a:lnTo>
                <a:lnTo>
                  <a:pt x="0" y="1014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4877" t="-283791" r="-1042743" b="-22889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18794" y="5249578"/>
            <a:ext cx="1642725" cy="1014969"/>
          </a:xfrm>
          <a:custGeom>
            <a:avLst/>
            <a:gdLst/>
            <a:ahLst/>
            <a:cxnLst/>
            <a:rect r="r" b="b" t="t" l="l"/>
            <a:pathLst>
              <a:path h="1014969" w="1642725">
                <a:moveTo>
                  <a:pt x="0" y="0"/>
                </a:moveTo>
                <a:lnTo>
                  <a:pt x="1642724" y="0"/>
                </a:lnTo>
                <a:lnTo>
                  <a:pt x="1642724" y="1014969"/>
                </a:lnTo>
                <a:lnTo>
                  <a:pt x="0" y="10149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4877" t="-283791" r="-1042743" b="-228897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-3393253" y="8821554"/>
            <a:ext cx="10484403" cy="972315"/>
            <a:chOff x="0" y="0"/>
            <a:chExt cx="2068384" cy="1918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68384" cy="191820"/>
            </a:xfrm>
            <a:custGeom>
              <a:avLst/>
              <a:gdLst/>
              <a:ahLst/>
              <a:cxnLst/>
              <a:rect r="r" b="b" t="t" l="l"/>
              <a:pathLst>
                <a:path h="191820" w="2068384">
                  <a:moveTo>
                    <a:pt x="1865184" y="0"/>
                  </a:moveTo>
                  <a:lnTo>
                    <a:pt x="0" y="0"/>
                  </a:lnTo>
                  <a:lnTo>
                    <a:pt x="203200" y="191820"/>
                  </a:lnTo>
                  <a:lnTo>
                    <a:pt x="2068384" y="191820"/>
                  </a:lnTo>
                  <a:lnTo>
                    <a:pt x="1865184" y="0"/>
                  </a:lnTo>
                  <a:close/>
                </a:path>
              </a:pathLst>
            </a:custGeom>
            <a:solidFill>
              <a:srgbClr val="FC850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01600" y="28575"/>
              <a:ext cx="1865184" cy="163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-1500493" y="9296550"/>
            <a:ext cx="9066258" cy="972315"/>
            <a:chOff x="0" y="0"/>
            <a:chExt cx="1788610" cy="1918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88610" cy="191820"/>
            </a:xfrm>
            <a:custGeom>
              <a:avLst/>
              <a:gdLst/>
              <a:ahLst/>
              <a:cxnLst/>
              <a:rect r="r" b="b" t="t" l="l"/>
              <a:pathLst>
                <a:path h="191820" w="1788610">
                  <a:moveTo>
                    <a:pt x="1585410" y="0"/>
                  </a:moveTo>
                  <a:lnTo>
                    <a:pt x="0" y="0"/>
                  </a:lnTo>
                  <a:lnTo>
                    <a:pt x="203200" y="191820"/>
                  </a:lnTo>
                  <a:lnTo>
                    <a:pt x="1788610" y="191820"/>
                  </a:lnTo>
                  <a:lnTo>
                    <a:pt x="1585410" y="0"/>
                  </a:lnTo>
                  <a:close/>
                </a:path>
              </a:pathLst>
            </a:custGeom>
            <a:solidFill>
              <a:srgbClr val="FFB70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01600" y="28575"/>
              <a:ext cx="1585410" cy="163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5400000">
            <a:off x="2022021" y="4378596"/>
            <a:ext cx="1014969" cy="388799"/>
          </a:xfrm>
          <a:custGeom>
            <a:avLst/>
            <a:gdLst/>
            <a:ahLst/>
            <a:cxnLst/>
            <a:rect r="r" b="b" t="t" l="l"/>
            <a:pathLst>
              <a:path h="388799" w="1014969">
                <a:moveTo>
                  <a:pt x="0" y="0"/>
                </a:moveTo>
                <a:lnTo>
                  <a:pt x="1014969" y="0"/>
                </a:lnTo>
                <a:lnTo>
                  <a:pt x="1014969" y="388799"/>
                </a:lnTo>
                <a:lnTo>
                  <a:pt x="0" y="3887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</a:blip>
            <a:stretch>
              <a:fillRect l="-108011" t="-71408" r="-108424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3205709" y="5562663"/>
            <a:ext cx="1014969" cy="388799"/>
          </a:xfrm>
          <a:custGeom>
            <a:avLst/>
            <a:gdLst/>
            <a:ahLst/>
            <a:cxnLst/>
            <a:rect r="r" b="b" t="t" l="l"/>
            <a:pathLst>
              <a:path h="388799" w="1014969">
                <a:moveTo>
                  <a:pt x="0" y="0"/>
                </a:moveTo>
                <a:lnTo>
                  <a:pt x="1014969" y="0"/>
                </a:lnTo>
                <a:lnTo>
                  <a:pt x="1014969" y="388799"/>
                </a:lnTo>
                <a:lnTo>
                  <a:pt x="0" y="3887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</a:blip>
            <a:stretch>
              <a:fillRect l="-108011" t="-71408" r="-108424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702482" y="6433645"/>
            <a:ext cx="1642725" cy="1014969"/>
          </a:xfrm>
          <a:custGeom>
            <a:avLst/>
            <a:gdLst/>
            <a:ahLst/>
            <a:cxnLst/>
            <a:rect r="r" b="b" t="t" l="l"/>
            <a:pathLst>
              <a:path h="1014969" w="1642725">
                <a:moveTo>
                  <a:pt x="0" y="0"/>
                </a:moveTo>
                <a:lnTo>
                  <a:pt x="1642724" y="0"/>
                </a:lnTo>
                <a:lnTo>
                  <a:pt x="1642724" y="1014970"/>
                </a:lnTo>
                <a:lnTo>
                  <a:pt x="0" y="10149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44877" t="-283791" r="-1042743" b="-228897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-5400000">
            <a:off x="275229" y="9888583"/>
            <a:ext cx="7882191" cy="972315"/>
            <a:chOff x="0" y="0"/>
            <a:chExt cx="1555015" cy="1918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55015" cy="191820"/>
            </a:xfrm>
            <a:custGeom>
              <a:avLst/>
              <a:gdLst/>
              <a:ahLst/>
              <a:cxnLst/>
              <a:rect r="r" b="b" t="t" l="l"/>
              <a:pathLst>
                <a:path h="191820" w="1555015">
                  <a:moveTo>
                    <a:pt x="1351815" y="0"/>
                  </a:moveTo>
                  <a:lnTo>
                    <a:pt x="0" y="0"/>
                  </a:lnTo>
                  <a:lnTo>
                    <a:pt x="203200" y="191820"/>
                  </a:lnTo>
                  <a:lnTo>
                    <a:pt x="1555015" y="191820"/>
                  </a:lnTo>
                  <a:lnTo>
                    <a:pt x="1351815" y="0"/>
                  </a:lnTo>
                  <a:close/>
                </a:path>
              </a:pathLst>
            </a:custGeom>
            <a:solidFill>
              <a:srgbClr val="021E4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28575"/>
              <a:ext cx="1351815" cy="163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-5400000">
            <a:off x="4389397" y="6746731"/>
            <a:ext cx="1014969" cy="388799"/>
          </a:xfrm>
          <a:custGeom>
            <a:avLst/>
            <a:gdLst/>
            <a:ahLst/>
            <a:cxnLst/>
            <a:rect r="r" b="b" t="t" l="l"/>
            <a:pathLst>
              <a:path h="388799" w="1014969">
                <a:moveTo>
                  <a:pt x="0" y="0"/>
                </a:moveTo>
                <a:lnTo>
                  <a:pt x="1014969" y="0"/>
                </a:lnTo>
                <a:lnTo>
                  <a:pt x="1014969" y="388798"/>
                </a:lnTo>
                <a:lnTo>
                  <a:pt x="0" y="3887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</a:blip>
            <a:stretch>
              <a:fillRect l="-108011" t="-71408" r="-108424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954606" y="7680534"/>
            <a:ext cx="1642725" cy="1014969"/>
          </a:xfrm>
          <a:custGeom>
            <a:avLst/>
            <a:gdLst/>
            <a:ahLst/>
            <a:cxnLst/>
            <a:rect r="r" b="b" t="t" l="l"/>
            <a:pathLst>
              <a:path h="1014969" w="1642725">
                <a:moveTo>
                  <a:pt x="0" y="0"/>
                </a:moveTo>
                <a:lnTo>
                  <a:pt x="1642725" y="0"/>
                </a:lnTo>
                <a:lnTo>
                  <a:pt x="1642725" y="1014969"/>
                </a:lnTo>
                <a:lnTo>
                  <a:pt x="0" y="101496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44877" t="-283791" r="-1042743" b="-228897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-5400000">
            <a:off x="1527353" y="11135472"/>
            <a:ext cx="7882191" cy="972315"/>
            <a:chOff x="0" y="0"/>
            <a:chExt cx="1555015" cy="1918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55015" cy="191820"/>
            </a:xfrm>
            <a:custGeom>
              <a:avLst/>
              <a:gdLst/>
              <a:ahLst/>
              <a:cxnLst/>
              <a:rect r="r" b="b" t="t" l="l"/>
              <a:pathLst>
                <a:path h="191820" w="1555015">
                  <a:moveTo>
                    <a:pt x="1351815" y="0"/>
                  </a:moveTo>
                  <a:lnTo>
                    <a:pt x="0" y="0"/>
                  </a:lnTo>
                  <a:lnTo>
                    <a:pt x="203200" y="191820"/>
                  </a:lnTo>
                  <a:lnTo>
                    <a:pt x="1555015" y="191820"/>
                  </a:lnTo>
                  <a:lnTo>
                    <a:pt x="1351815" y="0"/>
                  </a:lnTo>
                  <a:close/>
                </a:path>
              </a:pathLst>
            </a:custGeom>
            <a:solidFill>
              <a:srgbClr val="229EBC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01600" y="28575"/>
              <a:ext cx="1351815" cy="163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5641521" y="7993619"/>
            <a:ext cx="1014969" cy="388799"/>
          </a:xfrm>
          <a:custGeom>
            <a:avLst/>
            <a:gdLst/>
            <a:ahLst/>
            <a:cxnLst/>
            <a:rect r="r" b="b" t="t" l="l"/>
            <a:pathLst>
              <a:path h="388799" w="1014969">
                <a:moveTo>
                  <a:pt x="0" y="0"/>
                </a:moveTo>
                <a:lnTo>
                  <a:pt x="1014969" y="0"/>
                </a:lnTo>
                <a:lnTo>
                  <a:pt x="1014969" y="388799"/>
                </a:lnTo>
                <a:lnTo>
                  <a:pt x="0" y="3887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</a:blip>
            <a:stretch>
              <a:fillRect l="-108011" t="-71408" r="-108424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011956" y="8995409"/>
            <a:ext cx="1642725" cy="1014969"/>
          </a:xfrm>
          <a:custGeom>
            <a:avLst/>
            <a:gdLst/>
            <a:ahLst/>
            <a:cxnLst/>
            <a:rect r="r" b="b" t="t" l="l"/>
            <a:pathLst>
              <a:path h="1014969" w="1642725">
                <a:moveTo>
                  <a:pt x="0" y="0"/>
                </a:moveTo>
                <a:lnTo>
                  <a:pt x="1642725" y="0"/>
                </a:lnTo>
                <a:lnTo>
                  <a:pt x="1642725" y="1014969"/>
                </a:lnTo>
                <a:lnTo>
                  <a:pt x="0" y="101496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44877" t="-283791" r="-1042743" b="-228897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-5400000">
            <a:off x="2640782" y="12450346"/>
            <a:ext cx="7882191" cy="972315"/>
            <a:chOff x="0" y="0"/>
            <a:chExt cx="1555015" cy="1918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55015" cy="191820"/>
            </a:xfrm>
            <a:custGeom>
              <a:avLst/>
              <a:gdLst/>
              <a:ahLst/>
              <a:cxnLst/>
              <a:rect r="r" b="b" t="t" l="l"/>
              <a:pathLst>
                <a:path h="191820" w="1555015">
                  <a:moveTo>
                    <a:pt x="1351815" y="0"/>
                  </a:moveTo>
                  <a:lnTo>
                    <a:pt x="0" y="0"/>
                  </a:lnTo>
                  <a:lnTo>
                    <a:pt x="203200" y="191820"/>
                  </a:lnTo>
                  <a:lnTo>
                    <a:pt x="1555015" y="191820"/>
                  </a:lnTo>
                  <a:lnTo>
                    <a:pt x="1351815" y="0"/>
                  </a:lnTo>
                  <a:close/>
                </a:path>
              </a:pathLst>
            </a:custGeom>
            <a:solidFill>
              <a:srgbClr val="8ECAE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01600" y="28575"/>
              <a:ext cx="1351815" cy="163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-5400000">
            <a:off x="6698871" y="9308494"/>
            <a:ext cx="1014969" cy="388799"/>
          </a:xfrm>
          <a:custGeom>
            <a:avLst/>
            <a:gdLst/>
            <a:ahLst/>
            <a:cxnLst/>
            <a:rect r="r" b="b" t="t" l="l"/>
            <a:pathLst>
              <a:path h="388799" w="1014969">
                <a:moveTo>
                  <a:pt x="0" y="0"/>
                </a:moveTo>
                <a:lnTo>
                  <a:pt x="1014969" y="0"/>
                </a:lnTo>
                <a:lnTo>
                  <a:pt x="1014969" y="388798"/>
                </a:lnTo>
                <a:lnTo>
                  <a:pt x="0" y="3887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</a:blip>
            <a:stretch>
              <a:fillRect l="-108011" t="-71408" r="-108424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2700000">
            <a:off x="15898038" y="7390902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3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845069" y="4375759"/>
            <a:ext cx="432299" cy="394473"/>
          </a:xfrm>
          <a:custGeom>
            <a:avLst/>
            <a:gdLst/>
            <a:ahLst/>
            <a:cxnLst/>
            <a:rect r="r" b="b" t="t" l="l"/>
            <a:pathLst>
              <a:path h="394473" w="432299">
                <a:moveTo>
                  <a:pt x="0" y="0"/>
                </a:moveTo>
                <a:lnTo>
                  <a:pt x="432299" y="0"/>
                </a:lnTo>
                <a:lnTo>
                  <a:pt x="432299" y="394473"/>
                </a:lnTo>
                <a:lnTo>
                  <a:pt x="0" y="39447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072324" y="5559826"/>
            <a:ext cx="345164" cy="394473"/>
          </a:xfrm>
          <a:custGeom>
            <a:avLst/>
            <a:gdLst/>
            <a:ahLst/>
            <a:cxnLst/>
            <a:rect r="r" b="b" t="t" l="l"/>
            <a:pathLst>
              <a:path h="394473" w="345164">
                <a:moveTo>
                  <a:pt x="0" y="0"/>
                </a:moveTo>
                <a:lnTo>
                  <a:pt x="345164" y="0"/>
                </a:lnTo>
                <a:lnTo>
                  <a:pt x="345164" y="394473"/>
                </a:lnTo>
                <a:lnTo>
                  <a:pt x="0" y="39447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5234785" y="6743894"/>
            <a:ext cx="394473" cy="394473"/>
          </a:xfrm>
          <a:custGeom>
            <a:avLst/>
            <a:gdLst/>
            <a:ahLst/>
            <a:cxnLst/>
            <a:rect r="r" b="b" t="t" l="l"/>
            <a:pathLst>
              <a:path h="394473" w="394473">
                <a:moveTo>
                  <a:pt x="0" y="0"/>
                </a:moveTo>
                <a:lnTo>
                  <a:pt x="394473" y="0"/>
                </a:lnTo>
                <a:lnTo>
                  <a:pt x="394473" y="394472"/>
                </a:lnTo>
                <a:lnTo>
                  <a:pt x="0" y="39447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411021" y="7906340"/>
            <a:ext cx="341712" cy="394473"/>
          </a:xfrm>
          <a:custGeom>
            <a:avLst/>
            <a:gdLst/>
            <a:ahLst/>
            <a:cxnLst/>
            <a:rect r="r" b="b" t="t" l="l"/>
            <a:pathLst>
              <a:path h="394473" w="341712">
                <a:moveTo>
                  <a:pt x="0" y="0"/>
                </a:moveTo>
                <a:lnTo>
                  <a:pt x="341712" y="0"/>
                </a:lnTo>
                <a:lnTo>
                  <a:pt x="341712" y="394473"/>
                </a:lnTo>
                <a:lnTo>
                  <a:pt x="0" y="39447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540832" y="9306626"/>
            <a:ext cx="394473" cy="394473"/>
          </a:xfrm>
          <a:custGeom>
            <a:avLst/>
            <a:gdLst/>
            <a:ahLst/>
            <a:cxnLst/>
            <a:rect r="r" b="b" t="t" l="l"/>
            <a:pathLst>
              <a:path h="394473" w="394473">
                <a:moveTo>
                  <a:pt x="0" y="0"/>
                </a:moveTo>
                <a:lnTo>
                  <a:pt x="394473" y="0"/>
                </a:lnTo>
                <a:lnTo>
                  <a:pt x="394473" y="394473"/>
                </a:lnTo>
                <a:lnTo>
                  <a:pt x="0" y="39447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4417488" y="4337611"/>
            <a:ext cx="7613303" cy="526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999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To model drone path planning as an energy optimization problem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581877" y="2048469"/>
            <a:ext cx="4910796" cy="770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824"/>
              </a:lnSpc>
            </a:pPr>
            <a:r>
              <a:rPr lang="en-US" b="true" sz="5600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OBJECTIVES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22700" y="3238553"/>
            <a:ext cx="8719183" cy="445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8"/>
              </a:lnSpc>
            </a:pPr>
            <a:r>
              <a:rPr lang="en-US" sz="3200" b="true">
                <a:solidFill>
                  <a:srgbClr val="00BF63"/>
                </a:solidFill>
                <a:latin typeface="Gotham Bold"/>
                <a:ea typeface="Gotham Bold"/>
                <a:cs typeface="Gotham Bold"/>
                <a:sym typeface="Gotham Bold"/>
              </a:rPr>
              <a:t>The main objectives of this research are: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581877" y="6722883"/>
            <a:ext cx="7613303" cy="526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999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To apply heuristic optimization algorithms for efficient path planning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523844" y="5489230"/>
            <a:ext cx="7613303" cy="26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999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To design an energy-aware cost function for navigation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873556" y="8010818"/>
            <a:ext cx="7613303" cy="526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999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To reduce battery consumption during surveillance missions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930906" y="9236030"/>
            <a:ext cx="7613303" cy="526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999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To compare the proposed method with traditional path planning approaches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4854710" y="0"/>
            <a:ext cx="3433290" cy="1705276"/>
          </a:xfrm>
          <a:custGeom>
            <a:avLst/>
            <a:gdLst/>
            <a:ahLst/>
            <a:cxnLst/>
            <a:rect r="r" b="b" t="t" l="l"/>
            <a:pathLst>
              <a:path h="1705276" w="3433290">
                <a:moveTo>
                  <a:pt x="0" y="0"/>
                </a:moveTo>
                <a:lnTo>
                  <a:pt x="3433290" y="0"/>
                </a:lnTo>
                <a:lnTo>
                  <a:pt x="3433290" y="1705276"/>
                </a:lnTo>
                <a:lnTo>
                  <a:pt x="0" y="1705276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AutoShape 41" id="41"/>
          <p:cNvSpPr/>
          <p:nvPr/>
        </p:nvSpPr>
        <p:spPr>
          <a:xfrm>
            <a:off x="0" y="1838773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2" id="42"/>
          <p:cNvSpPr txBox="true"/>
          <p:nvPr/>
        </p:nvSpPr>
        <p:spPr>
          <a:xfrm rot="0">
            <a:off x="0" y="78758"/>
            <a:ext cx="12755695" cy="68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4"/>
              </a:lnSpc>
            </a:pPr>
            <a:r>
              <a:rPr lang="en-US" sz="38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 of Computer Science and Engineering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-246328" y="890092"/>
            <a:ext cx="4246828" cy="56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Uttara University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56751" y="2777144"/>
            <a:ext cx="8382000" cy="770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4"/>
              </a:lnSpc>
            </a:pPr>
            <a:r>
              <a:rPr lang="en-US" b="true" sz="5600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REQUIREMENTS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7453" y="7533085"/>
            <a:ext cx="2878696" cy="597329"/>
          </a:xfrm>
          <a:custGeom>
            <a:avLst/>
            <a:gdLst/>
            <a:ahLst/>
            <a:cxnLst/>
            <a:rect r="r" b="b" t="t" l="l"/>
            <a:pathLst>
              <a:path h="597329" w="2878696">
                <a:moveTo>
                  <a:pt x="0" y="0"/>
                </a:moveTo>
                <a:lnTo>
                  <a:pt x="2878696" y="0"/>
                </a:lnTo>
                <a:lnTo>
                  <a:pt x="2878696" y="597330"/>
                </a:lnTo>
                <a:lnTo>
                  <a:pt x="0" y="597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57599" y="7096863"/>
            <a:ext cx="2878696" cy="597329"/>
          </a:xfrm>
          <a:custGeom>
            <a:avLst/>
            <a:gdLst/>
            <a:ahLst/>
            <a:cxnLst/>
            <a:rect r="r" b="b" t="t" l="l"/>
            <a:pathLst>
              <a:path h="597329" w="2878696">
                <a:moveTo>
                  <a:pt x="0" y="0"/>
                </a:moveTo>
                <a:lnTo>
                  <a:pt x="2878696" y="0"/>
                </a:lnTo>
                <a:lnTo>
                  <a:pt x="2878696" y="597329"/>
                </a:lnTo>
                <a:lnTo>
                  <a:pt x="0" y="5973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3751" y="6013908"/>
            <a:ext cx="18288000" cy="0"/>
          </a:xfrm>
          <a:prstGeom prst="line">
            <a:avLst/>
          </a:prstGeom>
          <a:ln cap="flat" w="28575">
            <a:solidFill>
              <a:srgbClr val="021E47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7453" y="5638469"/>
            <a:ext cx="2880776" cy="2370260"/>
            <a:chOff x="0" y="0"/>
            <a:chExt cx="758723" cy="6242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8723" cy="624266"/>
            </a:xfrm>
            <a:custGeom>
              <a:avLst/>
              <a:gdLst/>
              <a:ahLst/>
              <a:cxnLst/>
              <a:rect r="r" b="b" t="t" l="l"/>
              <a:pathLst>
                <a:path h="624266" w="758723">
                  <a:moveTo>
                    <a:pt x="94060" y="0"/>
                  </a:moveTo>
                  <a:lnTo>
                    <a:pt x="664662" y="0"/>
                  </a:lnTo>
                  <a:cubicBezTo>
                    <a:pt x="689609" y="0"/>
                    <a:pt x="713533" y="9910"/>
                    <a:pt x="731173" y="27550"/>
                  </a:cubicBezTo>
                  <a:cubicBezTo>
                    <a:pt x="748813" y="45189"/>
                    <a:pt x="758723" y="69114"/>
                    <a:pt x="758723" y="94060"/>
                  </a:cubicBezTo>
                  <a:lnTo>
                    <a:pt x="758723" y="530205"/>
                  </a:lnTo>
                  <a:cubicBezTo>
                    <a:pt x="758723" y="582154"/>
                    <a:pt x="716611" y="624266"/>
                    <a:pt x="664662" y="624266"/>
                  </a:cubicBezTo>
                  <a:lnTo>
                    <a:pt x="94060" y="624266"/>
                  </a:lnTo>
                  <a:cubicBezTo>
                    <a:pt x="69114" y="624266"/>
                    <a:pt x="45189" y="614356"/>
                    <a:pt x="27550" y="596716"/>
                  </a:cubicBezTo>
                  <a:cubicBezTo>
                    <a:pt x="9910" y="579076"/>
                    <a:pt x="0" y="555152"/>
                    <a:pt x="0" y="530205"/>
                  </a:cubicBezTo>
                  <a:lnTo>
                    <a:pt x="0" y="94060"/>
                  </a:lnTo>
                  <a:cubicBezTo>
                    <a:pt x="0" y="69114"/>
                    <a:pt x="9910" y="45189"/>
                    <a:pt x="27550" y="27550"/>
                  </a:cubicBezTo>
                  <a:cubicBezTo>
                    <a:pt x="45189" y="9910"/>
                    <a:pt x="69114" y="0"/>
                    <a:pt x="94060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758723" cy="595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157599" y="5202247"/>
            <a:ext cx="2878696" cy="2193281"/>
            <a:chOff x="0" y="0"/>
            <a:chExt cx="758175" cy="5776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58175" cy="577654"/>
            </a:xfrm>
            <a:custGeom>
              <a:avLst/>
              <a:gdLst/>
              <a:ahLst/>
              <a:cxnLst/>
              <a:rect r="r" b="b" t="t" l="l"/>
              <a:pathLst>
                <a:path h="577654" w="758175">
                  <a:moveTo>
                    <a:pt x="94128" y="0"/>
                  </a:moveTo>
                  <a:lnTo>
                    <a:pt x="664047" y="0"/>
                  </a:lnTo>
                  <a:cubicBezTo>
                    <a:pt x="689011" y="0"/>
                    <a:pt x="712953" y="9917"/>
                    <a:pt x="730606" y="27570"/>
                  </a:cubicBezTo>
                  <a:cubicBezTo>
                    <a:pt x="748258" y="45222"/>
                    <a:pt x="758175" y="69164"/>
                    <a:pt x="758175" y="94128"/>
                  </a:cubicBezTo>
                  <a:lnTo>
                    <a:pt x="758175" y="483526"/>
                  </a:lnTo>
                  <a:cubicBezTo>
                    <a:pt x="758175" y="535511"/>
                    <a:pt x="716032" y="577654"/>
                    <a:pt x="664047" y="577654"/>
                  </a:cubicBezTo>
                  <a:lnTo>
                    <a:pt x="94128" y="577654"/>
                  </a:lnTo>
                  <a:cubicBezTo>
                    <a:pt x="69164" y="577654"/>
                    <a:pt x="45222" y="567737"/>
                    <a:pt x="27570" y="550085"/>
                  </a:cubicBezTo>
                  <a:cubicBezTo>
                    <a:pt x="9917" y="532432"/>
                    <a:pt x="0" y="508490"/>
                    <a:pt x="0" y="483526"/>
                  </a:cubicBezTo>
                  <a:lnTo>
                    <a:pt x="0" y="94128"/>
                  </a:lnTo>
                  <a:cubicBezTo>
                    <a:pt x="0" y="69164"/>
                    <a:pt x="9917" y="45222"/>
                    <a:pt x="27570" y="27570"/>
                  </a:cubicBezTo>
                  <a:cubicBezTo>
                    <a:pt x="45222" y="9917"/>
                    <a:pt x="69164" y="0"/>
                    <a:pt x="94128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758175" cy="549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269055" y="6798198"/>
            <a:ext cx="2878696" cy="597329"/>
          </a:xfrm>
          <a:custGeom>
            <a:avLst/>
            <a:gdLst/>
            <a:ahLst/>
            <a:cxnLst/>
            <a:rect r="r" b="b" t="t" l="l"/>
            <a:pathLst>
              <a:path h="597329" w="2878696">
                <a:moveTo>
                  <a:pt x="0" y="0"/>
                </a:moveTo>
                <a:lnTo>
                  <a:pt x="2878696" y="0"/>
                </a:lnTo>
                <a:lnTo>
                  <a:pt x="2878696" y="597329"/>
                </a:lnTo>
                <a:lnTo>
                  <a:pt x="0" y="5973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325869" y="6862945"/>
            <a:ext cx="2878696" cy="597329"/>
          </a:xfrm>
          <a:custGeom>
            <a:avLst/>
            <a:gdLst/>
            <a:ahLst/>
            <a:cxnLst/>
            <a:rect r="r" b="b" t="t" l="l"/>
            <a:pathLst>
              <a:path h="597329" w="2878696">
                <a:moveTo>
                  <a:pt x="0" y="0"/>
                </a:moveTo>
                <a:lnTo>
                  <a:pt x="2878696" y="0"/>
                </a:lnTo>
                <a:lnTo>
                  <a:pt x="2878696" y="597329"/>
                </a:lnTo>
                <a:lnTo>
                  <a:pt x="0" y="5973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075804" y="7460766"/>
            <a:ext cx="2878696" cy="597329"/>
          </a:xfrm>
          <a:custGeom>
            <a:avLst/>
            <a:gdLst/>
            <a:ahLst/>
            <a:cxnLst/>
            <a:rect r="r" b="b" t="t" l="l"/>
            <a:pathLst>
              <a:path h="597329" w="2878696">
                <a:moveTo>
                  <a:pt x="0" y="0"/>
                </a:moveTo>
                <a:lnTo>
                  <a:pt x="2878696" y="0"/>
                </a:lnTo>
                <a:lnTo>
                  <a:pt x="2878696" y="597329"/>
                </a:lnTo>
                <a:lnTo>
                  <a:pt x="0" y="5973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6269055" y="4903582"/>
            <a:ext cx="2878696" cy="2193281"/>
            <a:chOff x="0" y="0"/>
            <a:chExt cx="758175" cy="5776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58175" cy="577654"/>
            </a:xfrm>
            <a:custGeom>
              <a:avLst/>
              <a:gdLst/>
              <a:ahLst/>
              <a:cxnLst/>
              <a:rect r="r" b="b" t="t" l="l"/>
              <a:pathLst>
                <a:path h="577654" w="758175">
                  <a:moveTo>
                    <a:pt x="94128" y="0"/>
                  </a:moveTo>
                  <a:lnTo>
                    <a:pt x="664047" y="0"/>
                  </a:lnTo>
                  <a:cubicBezTo>
                    <a:pt x="689011" y="0"/>
                    <a:pt x="712953" y="9917"/>
                    <a:pt x="730606" y="27570"/>
                  </a:cubicBezTo>
                  <a:cubicBezTo>
                    <a:pt x="748258" y="45222"/>
                    <a:pt x="758175" y="69164"/>
                    <a:pt x="758175" y="94128"/>
                  </a:cubicBezTo>
                  <a:lnTo>
                    <a:pt x="758175" y="483526"/>
                  </a:lnTo>
                  <a:cubicBezTo>
                    <a:pt x="758175" y="535511"/>
                    <a:pt x="716032" y="577654"/>
                    <a:pt x="664047" y="577654"/>
                  </a:cubicBezTo>
                  <a:lnTo>
                    <a:pt x="94128" y="577654"/>
                  </a:lnTo>
                  <a:cubicBezTo>
                    <a:pt x="69164" y="577654"/>
                    <a:pt x="45222" y="567737"/>
                    <a:pt x="27570" y="550085"/>
                  </a:cubicBezTo>
                  <a:cubicBezTo>
                    <a:pt x="9917" y="532432"/>
                    <a:pt x="0" y="508490"/>
                    <a:pt x="0" y="483526"/>
                  </a:cubicBezTo>
                  <a:lnTo>
                    <a:pt x="0" y="94128"/>
                  </a:lnTo>
                  <a:cubicBezTo>
                    <a:pt x="0" y="69164"/>
                    <a:pt x="9917" y="45222"/>
                    <a:pt x="27570" y="27570"/>
                  </a:cubicBezTo>
                  <a:cubicBezTo>
                    <a:pt x="45222" y="9917"/>
                    <a:pt x="69164" y="0"/>
                    <a:pt x="94128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758175" cy="549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325869" y="4968329"/>
            <a:ext cx="2878696" cy="2491945"/>
            <a:chOff x="0" y="0"/>
            <a:chExt cx="758175" cy="65631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58175" cy="656315"/>
            </a:xfrm>
            <a:custGeom>
              <a:avLst/>
              <a:gdLst/>
              <a:ahLst/>
              <a:cxnLst/>
              <a:rect r="r" b="b" t="t" l="l"/>
              <a:pathLst>
                <a:path h="656315" w="758175">
                  <a:moveTo>
                    <a:pt x="94128" y="0"/>
                  </a:moveTo>
                  <a:lnTo>
                    <a:pt x="664047" y="0"/>
                  </a:lnTo>
                  <a:cubicBezTo>
                    <a:pt x="689011" y="0"/>
                    <a:pt x="712953" y="9917"/>
                    <a:pt x="730606" y="27570"/>
                  </a:cubicBezTo>
                  <a:cubicBezTo>
                    <a:pt x="748258" y="45222"/>
                    <a:pt x="758175" y="69164"/>
                    <a:pt x="758175" y="94128"/>
                  </a:cubicBezTo>
                  <a:lnTo>
                    <a:pt x="758175" y="562186"/>
                  </a:lnTo>
                  <a:cubicBezTo>
                    <a:pt x="758175" y="614172"/>
                    <a:pt x="716032" y="656315"/>
                    <a:pt x="664047" y="656315"/>
                  </a:cubicBezTo>
                  <a:lnTo>
                    <a:pt x="94128" y="656315"/>
                  </a:lnTo>
                  <a:cubicBezTo>
                    <a:pt x="69164" y="656315"/>
                    <a:pt x="45222" y="646398"/>
                    <a:pt x="27570" y="628745"/>
                  </a:cubicBezTo>
                  <a:cubicBezTo>
                    <a:pt x="9917" y="611093"/>
                    <a:pt x="0" y="587151"/>
                    <a:pt x="0" y="562186"/>
                  </a:cubicBezTo>
                  <a:lnTo>
                    <a:pt x="0" y="94128"/>
                  </a:lnTo>
                  <a:cubicBezTo>
                    <a:pt x="0" y="69164"/>
                    <a:pt x="9917" y="45222"/>
                    <a:pt x="27570" y="27570"/>
                  </a:cubicBezTo>
                  <a:cubicBezTo>
                    <a:pt x="45222" y="9917"/>
                    <a:pt x="69164" y="0"/>
                    <a:pt x="94128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28575"/>
              <a:ext cx="758175" cy="627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075804" y="5443684"/>
            <a:ext cx="2878696" cy="2193281"/>
            <a:chOff x="0" y="0"/>
            <a:chExt cx="758175" cy="57765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58175" cy="577654"/>
            </a:xfrm>
            <a:custGeom>
              <a:avLst/>
              <a:gdLst/>
              <a:ahLst/>
              <a:cxnLst/>
              <a:rect r="r" b="b" t="t" l="l"/>
              <a:pathLst>
                <a:path h="577654" w="758175">
                  <a:moveTo>
                    <a:pt x="94128" y="0"/>
                  </a:moveTo>
                  <a:lnTo>
                    <a:pt x="664047" y="0"/>
                  </a:lnTo>
                  <a:cubicBezTo>
                    <a:pt x="689011" y="0"/>
                    <a:pt x="712953" y="9917"/>
                    <a:pt x="730606" y="27570"/>
                  </a:cubicBezTo>
                  <a:cubicBezTo>
                    <a:pt x="748258" y="45222"/>
                    <a:pt x="758175" y="69164"/>
                    <a:pt x="758175" y="94128"/>
                  </a:cubicBezTo>
                  <a:lnTo>
                    <a:pt x="758175" y="483526"/>
                  </a:lnTo>
                  <a:cubicBezTo>
                    <a:pt x="758175" y="535511"/>
                    <a:pt x="716032" y="577654"/>
                    <a:pt x="664047" y="577654"/>
                  </a:cubicBezTo>
                  <a:lnTo>
                    <a:pt x="94128" y="577654"/>
                  </a:lnTo>
                  <a:cubicBezTo>
                    <a:pt x="69164" y="577654"/>
                    <a:pt x="45222" y="567737"/>
                    <a:pt x="27570" y="550085"/>
                  </a:cubicBezTo>
                  <a:cubicBezTo>
                    <a:pt x="9917" y="532432"/>
                    <a:pt x="0" y="508490"/>
                    <a:pt x="0" y="483526"/>
                  </a:cubicBezTo>
                  <a:lnTo>
                    <a:pt x="0" y="94128"/>
                  </a:lnTo>
                  <a:cubicBezTo>
                    <a:pt x="0" y="69164"/>
                    <a:pt x="9917" y="45222"/>
                    <a:pt x="27570" y="27570"/>
                  </a:cubicBezTo>
                  <a:cubicBezTo>
                    <a:pt x="45222" y="9917"/>
                    <a:pt x="69164" y="0"/>
                    <a:pt x="94128" y="0"/>
                  </a:cubicBezTo>
                  <a:close/>
                </a:path>
              </a:pathLst>
            </a:custGeom>
            <a:solidFill>
              <a:srgbClr val="FCFE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28575"/>
              <a:ext cx="758175" cy="549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07453" y="5273615"/>
            <a:ext cx="2878696" cy="729708"/>
          </a:xfrm>
          <a:custGeom>
            <a:avLst/>
            <a:gdLst/>
            <a:ahLst/>
            <a:cxnLst/>
            <a:rect r="r" b="b" t="t" l="l"/>
            <a:pathLst>
              <a:path h="729708" w="2878696">
                <a:moveTo>
                  <a:pt x="0" y="0"/>
                </a:moveTo>
                <a:lnTo>
                  <a:pt x="2878696" y="0"/>
                </a:lnTo>
                <a:lnTo>
                  <a:pt x="2878696" y="729709"/>
                </a:lnTo>
                <a:lnTo>
                  <a:pt x="0" y="7297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313854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3157599" y="4837393"/>
            <a:ext cx="2878696" cy="729708"/>
          </a:xfrm>
          <a:custGeom>
            <a:avLst/>
            <a:gdLst/>
            <a:ahLst/>
            <a:cxnLst/>
            <a:rect r="r" b="b" t="t" l="l"/>
            <a:pathLst>
              <a:path h="729708" w="2878696">
                <a:moveTo>
                  <a:pt x="0" y="0"/>
                </a:moveTo>
                <a:lnTo>
                  <a:pt x="2878696" y="0"/>
                </a:lnTo>
                <a:lnTo>
                  <a:pt x="2878696" y="729708"/>
                </a:lnTo>
                <a:lnTo>
                  <a:pt x="0" y="7297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-313854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269055" y="4538728"/>
            <a:ext cx="2878696" cy="729708"/>
          </a:xfrm>
          <a:custGeom>
            <a:avLst/>
            <a:gdLst/>
            <a:ahLst/>
            <a:cxnLst/>
            <a:rect r="r" b="b" t="t" l="l"/>
            <a:pathLst>
              <a:path h="729708" w="2878696">
                <a:moveTo>
                  <a:pt x="0" y="0"/>
                </a:moveTo>
                <a:lnTo>
                  <a:pt x="2878696" y="0"/>
                </a:lnTo>
                <a:lnTo>
                  <a:pt x="2878696" y="729708"/>
                </a:lnTo>
                <a:lnTo>
                  <a:pt x="0" y="7297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-313854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325869" y="4603474"/>
            <a:ext cx="2878696" cy="729708"/>
          </a:xfrm>
          <a:custGeom>
            <a:avLst/>
            <a:gdLst/>
            <a:ahLst/>
            <a:cxnLst/>
            <a:rect r="r" b="b" t="t" l="l"/>
            <a:pathLst>
              <a:path h="729708" w="2878696">
                <a:moveTo>
                  <a:pt x="0" y="0"/>
                </a:moveTo>
                <a:lnTo>
                  <a:pt x="2878696" y="0"/>
                </a:lnTo>
                <a:lnTo>
                  <a:pt x="2878696" y="729709"/>
                </a:lnTo>
                <a:lnTo>
                  <a:pt x="0" y="7297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-313854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4075804" y="5078830"/>
            <a:ext cx="2878696" cy="729708"/>
          </a:xfrm>
          <a:custGeom>
            <a:avLst/>
            <a:gdLst/>
            <a:ahLst/>
            <a:cxnLst/>
            <a:rect r="r" b="b" t="t" l="l"/>
            <a:pathLst>
              <a:path h="729708" w="2878696">
                <a:moveTo>
                  <a:pt x="0" y="0"/>
                </a:moveTo>
                <a:lnTo>
                  <a:pt x="2878696" y="0"/>
                </a:lnTo>
                <a:lnTo>
                  <a:pt x="2878696" y="729709"/>
                </a:lnTo>
                <a:lnTo>
                  <a:pt x="0" y="72970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-313854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306058" y="5436471"/>
            <a:ext cx="353498" cy="403998"/>
          </a:xfrm>
          <a:custGeom>
            <a:avLst/>
            <a:gdLst/>
            <a:ahLst/>
            <a:cxnLst/>
            <a:rect r="r" b="b" t="t" l="l"/>
            <a:pathLst>
              <a:path h="403998" w="353498">
                <a:moveTo>
                  <a:pt x="0" y="0"/>
                </a:moveTo>
                <a:lnTo>
                  <a:pt x="353498" y="0"/>
                </a:lnTo>
                <a:lnTo>
                  <a:pt x="353498" y="403997"/>
                </a:lnTo>
                <a:lnTo>
                  <a:pt x="0" y="40399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3336875" y="4990723"/>
            <a:ext cx="391878" cy="403998"/>
          </a:xfrm>
          <a:custGeom>
            <a:avLst/>
            <a:gdLst/>
            <a:ahLst/>
            <a:cxnLst/>
            <a:rect r="r" b="b" t="t" l="l"/>
            <a:pathLst>
              <a:path h="403998" w="391878">
                <a:moveTo>
                  <a:pt x="0" y="0"/>
                </a:moveTo>
                <a:lnTo>
                  <a:pt x="391877" y="0"/>
                </a:lnTo>
                <a:lnTo>
                  <a:pt x="391877" y="403998"/>
                </a:lnTo>
                <a:lnTo>
                  <a:pt x="0" y="40399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436211" y="4701583"/>
            <a:ext cx="403998" cy="403998"/>
          </a:xfrm>
          <a:custGeom>
            <a:avLst/>
            <a:gdLst/>
            <a:ahLst/>
            <a:cxnLst/>
            <a:rect r="r" b="b" t="t" l="l"/>
            <a:pathLst>
              <a:path h="403998" w="403998">
                <a:moveTo>
                  <a:pt x="0" y="0"/>
                </a:moveTo>
                <a:lnTo>
                  <a:pt x="403997" y="0"/>
                </a:lnTo>
                <a:lnTo>
                  <a:pt x="403997" y="403998"/>
                </a:lnTo>
                <a:lnTo>
                  <a:pt x="0" y="40399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0481672" y="4766330"/>
            <a:ext cx="432299" cy="394473"/>
          </a:xfrm>
          <a:custGeom>
            <a:avLst/>
            <a:gdLst/>
            <a:ahLst/>
            <a:cxnLst/>
            <a:rect r="r" b="b" t="t" l="l"/>
            <a:pathLst>
              <a:path h="394473" w="432299">
                <a:moveTo>
                  <a:pt x="0" y="0"/>
                </a:moveTo>
                <a:lnTo>
                  <a:pt x="432299" y="0"/>
                </a:lnTo>
                <a:lnTo>
                  <a:pt x="432299" y="394472"/>
                </a:lnTo>
                <a:lnTo>
                  <a:pt x="0" y="39447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4254699" y="5241686"/>
            <a:ext cx="386323" cy="403998"/>
          </a:xfrm>
          <a:custGeom>
            <a:avLst/>
            <a:gdLst/>
            <a:ahLst/>
            <a:cxnLst/>
            <a:rect r="r" b="b" t="t" l="l"/>
            <a:pathLst>
              <a:path h="403998" w="386323">
                <a:moveTo>
                  <a:pt x="0" y="0"/>
                </a:moveTo>
                <a:lnTo>
                  <a:pt x="386323" y="0"/>
                </a:lnTo>
                <a:lnTo>
                  <a:pt x="386323" y="403997"/>
                </a:lnTo>
                <a:lnTo>
                  <a:pt x="0" y="40399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132717" y="5420289"/>
            <a:ext cx="1855511" cy="465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8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Data Requirements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205002" y="4945138"/>
            <a:ext cx="1766697" cy="465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8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Hardware Requirements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247171" y="6151156"/>
            <a:ext cx="2789124" cy="85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663"/>
              </a:lnSpc>
              <a:buFont typeface="Arial"/>
              <a:buChar char="•"/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Personal computer or laptop</a:t>
            </a:r>
          </a:p>
          <a:p>
            <a:pPr algn="l" marL="345439" indent="-172720" lvl="1">
              <a:lnSpc>
                <a:spcPts val="1663"/>
              </a:lnSpc>
              <a:buFont typeface="Arial"/>
              <a:buChar char="•"/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Mobile device for simulation visualization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245845" y="5508634"/>
            <a:ext cx="2901906" cy="1689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663"/>
              </a:lnSpc>
              <a:buFont typeface="Arial"/>
              <a:buChar char="•"/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Programming Language: Python / Java</a:t>
            </a:r>
          </a:p>
          <a:p>
            <a:pPr algn="l" marL="345439" indent="-172720" lvl="1">
              <a:lnSpc>
                <a:spcPts val="1663"/>
              </a:lnSpc>
              <a:buFont typeface="Arial"/>
              <a:buChar char="•"/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Google Maps API or equivalent mapping tools</a:t>
            </a:r>
          </a:p>
          <a:p>
            <a:pPr algn="l" marL="345439" indent="-172720" lvl="1">
              <a:lnSpc>
                <a:spcPts val="1663"/>
              </a:lnSpc>
              <a:buFont typeface="Arial"/>
              <a:buChar char="•"/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Simulation and visualization libraries</a:t>
            </a:r>
          </a:p>
          <a:p>
            <a:pPr algn="l">
              <a:lnSpc>
                <a:spcPts val="1663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7316458" y="4632049"/>
            <a:ext cx="2071497" cy="922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800" b="true">
                <a:solidFill>
                  <a:srgbClr val="FCFEFF"/>
                </a:solidFill>
                <a:latin typeface="Gotham Bold"/>
                <a:ea typeface="Gotham Bold"/>
                <a:cs typeface="Gotham Bold"/>
                <a:sym typeface="Gotham Bold"/>
              </a:rPr>
              <a:t>Software Requirements</a:t>
            </a:r>
          </a:p>
          <a:p>
            <a:pPr algn="l">
              <a:lnSpc>
                <a:spcPts val="1872"/>
              </a:lnSpc>
            </a:pPr>
          </a:p>
          <a:p>
            <a:pPr algn="l">
              <a:lnSpc>
                <a:spcPts val="1872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11330399" y="4740557"/>
            <a:ext cx="1764617" cy="465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800" b="true">
                <a:solidFill>
                  <a:srgbClr val="FCFEFF"/>
                </a:solidFill>
                <a:latin typeface="Gotham Bold"/>
                <a:ea typeface="Gotham Bold"/>
                <a:cs typeface="Gotham Bold"/>
                <a:sym typeface="Gotham Bold"/>
              </a:rPr>
              <a:t>Functional Requirements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060122" y="5111171"/>
            <a:ext cx="1764617" cy="69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8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Non-Functional Requirements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259194" y="5505937"/>
            <a:ext cx="2903986" cy="1899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663"/>
              </a:lnSpc>
              <a:buFont typeface="Arial"/>
              <a:buChar char="•"/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Autonomous coverage path planning</a:t>
            </a:r>
          </a:p>
          <a:p>
            <a:pPr algn="l" marL="345439" indent="-172720" lvl="1">
              <a:lnSpc>
                <a:spcPts val="1663"/>
              </a:lnSpc>
              <a:buFont typeface="Arial"/>
              <a:buChar char="•"/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Dynamic obstacle and threat avoidance</a:t>
            </a:r>
          </a:p>
          <a:p>
            <a:pPr algn="l" marL="345439" indent="-172720" lvl="1">
              <a:lnSpc>
                <a:spcPts val="1663"/>
              </a:lnSpc>
              <a:buFont typeface="Arial"/>
              <a:buChar char="•"/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Battery monitoring and safe return mechanism</a:t>
            </a:r>
          </a:p>
          <a:p>
            <a:pPr algn="l" marL="345439" indent="-172720" lvl="1">
              <a:lnSpc>
                <a:spcPts val="1663"/>
              </a:lnSpc>
              <a:buFont typeface="Arial"/>
              <a:buChar char="•"/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Real-time visualization of drone movement and telemetry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266304" y="5964104"/>
            <a:ext cx="2187283" cy="1480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663"/>
              </a:lnSpc>
              <a:buFont typeface="Arial"/>
              <a:buChar char="•"/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Energy efficiency</a:t>
            </a:r>
          </a:p>
          <a:p>
            <a:pPr algn="l" marL="345439" indent="-172720" lvl="1">
              <a:lnSpc>
                <a:spcPts val="1663"/>
              </a:lnSpc>
              <a:buFont typeface="Arial"/>
              <a:buChar char="•"/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High reliability and safety</a:t>
            </a:r>
          </a:p>
          <a:p>
            <a:pPr algn="l" marL="345439" indent="-172720" lvl="1">
              <a:lnSpc>
                <a:spcPts val="1663"/>
              </a:lnSpc>
              <a:buFont typeface="Arial"/>
              <a:buChar char="•"/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Scalability and flexibility</a:t>
            </a:r>
          </a:p>
          <a:p>
            <a:pPr algn="l" marL="345439" indent="-172720" lvl="1">
              <a:lnSpc>
                <a:spcPts val="1663"/>
              </a:lnSpc>
              <a:buFont typeface="Arial"/>
              <a:buChar char="•"/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Real-time performance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2700000">
            <a:off x="4934241" y="9037043"/>
            <a:ext cx="5205423" cy="5205423"/>
          </a:xfrm>
          <a:custGeom>
            <a:avLst/>
            <a:gdLst/>
            <a:ahLst/>
            <a:cxnLst/>
            <a:rect r="r" b="b" t="t" l="l"/>
            <a:pathLst>
              <a:path h="5205423" w="5205423">
                <a:moveTo>
                  <a:pt x="0" y="0"/>
                </a:moveTo>
                <a:lnTo>
                  <a:pt x="5205423" y="0"/>
                </a:lnTo>
                <a:lnTo>
                  <a:pt x="5205423" y="5205423"/>
                </a:lnTo>
                <a:lnTo>
                  <a:pt x="0" y="520542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13000"/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152239" y="6400272"/>
            <a:ext cx="2789124" cy="1061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663"/>
              </a:lnSpc>
              <a:buFont typeface="Arial"/>
              <a:buChar char="•"/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Simulated border maps</a:t>
            </a:r>
          </a:p>
          <a:p>
            <a:pPr algn="l" marL="345439" indent="-172720" lvl="1">
              <a:lnSpc>
                <a:spcPts val="1663"/>
              </a:lnSpc>
              <a:buFont typeface="Arial"/>
              <a:buChar char="•"/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Obstacle and no-fly zone data</a:t>
            </a:r>
          </a:p>
          <a:p>
            <a:pPr algn="l" marL="345439" indent="-172720" lvl="1">
              <a:lnSpc>
                <a:spcPts val="1663"/>
              </a:lnSpc>
              <a:buFont typeface="Arial"/>
              <a:buChar char="•"/>
            </a:pPr>
            <a:r>
              <a:rPr lang="en-US" sz="1599">
                <a:solidFill>
                  <a:srgbClr val="021E47"/>
                </a:solidFill>
                <a:latin typeface="Gotham"/>
                <a:ea typeface="Gotham"/>
                <a:cs typeface="Gotham"/>
                <a:sym typeface="Gotham"/>
              </a:rPr>
              <a:t>Battery consumption parameters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4358712" y="0"/>
            <a:ext cx="3929288" cy="1951633"/>
          </a:xfrm>
          <a:custGeom>
            <a:avLst/>
            <a:gdLst/>
            <a:ahLst/>
            <a:cxnLst/>
            <a:rect r="r" b="b" t="t" l="l"/>
            <a:pathLst>
              <a:path h="1951633" w="3929288">
                <a:moveTo>
                  <a:pt x="0" y="0"/>
                </a:moveTo>
                <a:lnTo>
                  <a:pt x="3929288" y="0"/>
                </a:lnTo>
                <a:lnTo>
                  <a:pt x="3929288" y="1951633"/>
                </a:lnTo>
                <a:lnTo>
                  <a:pt x="0" y="1951633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AutoShape 46" id="46"/>
          <p:cNvSpPr/>
          <p:nvPr/>
        </p:nvSpPr>
        <p:spPr>
          <a:xfrm>
            <a:off x="0" y="2172150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7" id="47"/>
          <p:cNvSpPr txBox="true"/>
          <p:nvPr/>
        </p:nvSpPr>
        <p:spPr>
          <a:xfrm rot="0">
            <a:off x="0" y="78758"/>
            <a:ext cx="12755695" cy="68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4"/>
              </a:lnSpc>
            </a:pPr>
            <a:r>
              <a:rPr lang="en-US" sz="38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 of Computer Science and Engineering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-246328" y="890092"/>
            <a:ext cx="4246828" cy="56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Uttara University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7747" y="3374247"/>
            <a:ext cx="9450506" cy="770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4"/>
              </a:lnSpc>
            </a:pPr>
            <a:r>
              <a:rPr lang="en-US" sz="56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SCOPE OF THE PROJECT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-354408" y="4721501"/>
            <a:ext cx="13058742" cy="2135729"/>
          </a:xfrm>
          <a:prstGeom prst="line">
            <a:avLst/>
          </a:prstGeom>
          <a:ln cap="flat" w="28575">
            <a:solidFill>
              <a:srgbClr val="021E47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2707334" y="3951273"/>
            <a:ext cx="7664781" cy="756558"/>
          </a:xfrm>
          <a:prstGeom prst="line">
            <a:avLst/>
          </a:prstGeom>
          <a:ln cap="flat" w="28575">
            <a:solidFill>
              <a:srgbClr val="021E47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true" flipV="false" rot="0">
            <a:off x="1056059" y="7233017"/>
            <a:ext cx="2746443" cy="1158151"/>
          </a:xfrm>
          <a:custGeom>
            <a:avLst/>
            <a:gdLst/>
            <a:ahLst/>
            <a:cxnLst/>
            <a:rect r="r" b="b" t="t" l="l"/>
            <a:pathLst>
              <a:path h="1158151" w="2746443">
                <a:moveTo>
                  <a:pt x="2746443" y="0"/>
                </a:moveTo>
                <a:lnTo>
                  <a:pt x="0" y="0"/>
                </a:lnTo>
                <a:lnTo>
                  <a:pt x="0" y="1158151"/>
                </a:lnTo>
                <a:lnTo>
                  <a:pt x="2746443" y="1158151"/>
                </a:lnTo>
                <a:lnTo>
                  <a:pt x="2746443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43885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9957890" y="5271099"/>
            <a:ext cx="2746443" cy="1158151"/>
          </a:xfrm>
          <a:custGeom>
            <a:avLst/>
            <a:gdLst/>
            <a:ahLst/>
            <a:cxnLst/>
            <a:rect r="r" b="b" t="t" l="l"/>
            <a:pathLst>
              <a:path h="1158151" w="2746443">
                <a:moveTo>
                  <a:pt x="2746443" y="0"/>
                </a:moveTo>
                <a:lnTo>
                  <a:pt x="0" y="0"/>
                </a:lnTo>
                <a:lnTo>
                  <a:pt x="0" y="1158151"/>
                </a:lnTo>
                <a:lnTo>
                  <a:pt x="2746443" y="1158151"/>
                </a:lnTo>
                <a:lnTo>
                  <a:pt x="2746443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43885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5628440" y="6899473"/>
            <a:ext cx="2746443" cy="1158151"/>
          </a:xfrm>
          <a:custGeom>
            <a:avLst/>
            <a:gdLst/>
            <a:ahLst/>
            <a:cxnLst/>
            <a:rect r="r" b="b" t="t" l="l"/>
            <a:pathLst>
              <a:path h="1158151" w="2746443">
                <a:moveTo>
                  <a:pt x="2746443" y="0"/>
                </a:moveTo>
                <a:lnTo>
                  <a:pt x="0" y="0"/>
                </a:lnTo>
                <a:lnTo>
                  <a:pt x="0" y="1158151"/>
                </a:lnTo>
                <a:lnTo>
                  <a:pt x="2746443" y="1158151"/>
                </a:lnTo>
                <a:lnTo>
                  <a:pt x="2746443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43885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3676403" y="3298047"/>
            <a:ext cx="2746443" cy="1158151"/>
          </a:xfrm>
          <a:custGeom>
            <a:avLst/>
            <a:gdLst/>
            <a:ahLst/>
            <a:cxnLst/>
            <a:rect r="r" b="b" t="t" l="l"/>
            <a:pathLst>
              <a:path h="1158151" w="2746443">
                <a:moveTo>
                  <a:pt x="2746443" y="0"/>
                </a:moveTo>
                <a:lnTo>
                  <a:pt x="0" y="0"/>
                </a:lnTo>
                <a:lnTo>
                  <a:pt x="0" y="1158151"/>
                </a:lnTo>
                <a:lnTo>
                  <a:pt x="2746443" y="1158151"/>
                </a:lnTo>
                <a:lnTo>
                  <a:pt x="2746443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43885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979859" y="7136194"/>
            <a:ext cx="2746443" cy="1158151"/>
          </a:xfrm>
          <a:custGeom>
            <a:avLst/>
            <a:gdLst/>
            <a:ahLst/>
            <a:cxnLst/>
            <a:rect r="r" b="b" t="t" l="l"/>
            <a:pathLst>
              <a:path h="1158151" w="2746443">
                <a:moveTo>
                  <a:pt x="2746443" y="0"/>
                </a:moveTo>
                <a:lnTo>
                  <a:pt x="0" y="0"/>
                </a:lnTo>
                <a:lnTo>
                  <a:pt x="0" y="1158152"/>
                </a:lnTo>
                <a:lnTo>
                  <a:pt x="2746443" y="1158152"/>
                </a:lnTo>
                <a:lnTo>
                  <a:pt x="274644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343885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9881690" y="5174277"/>
            <a:ext cx="2746443" cy="1158151"/>
          </a:xfrm>
          <a:custGeom>
            <a:avLst/>
            <a:gdLst/>
            <a:ahLst/>
            <a:cxnLst/>
            <a:rect r="r" b="b" t="t" l="l"/>
            <a:pathLst>
              <a:path h="1158151" w="2746443">
                <a:moveTo>
                  <a:pt x="2746443" y="0"/>
                </a:moveTo>
                <a:lnTo>
                  <a:pt x="0" y="0"/>
                </a:lnTo>
                <a:lnTo>
                  <a:pt x="0" y="1158151"/>
                </a:lnTo>
                <a:lnTo>
                  <a:pt x="2746443" y="1158151"/>
                </a:lnTo>
                <a:lnTo>
                  <a:pt x="27464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343885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5552240" y="6802651"/>
            <a:ext cx="2746443" cy="1158151"/>
          </a:xfrm>
          <a:custGeom>
            <a:avLst/>
            <a:gdLst/>
            <a:ahLst/>
            <a:cxnLst/>
            <a:rect r="r" b="b" t="t" l="l"/>
            <a:pathLst>
              <a:path h="1158151" w="2746443">
                <a:moveTo>
                  <a:pt x="2746443" y="0"/>
                </a:moveTo>
                <a:lnTo>
                  <a:pt x="0" y="0"/>
                </a:lnTo>
                <a:lnTo>
                  <a:pt x="0" y="1158151"/>
                </a:lnTo>
                <a:lnTo>
                  <a:pt x="2746443" y="1158151"/>
                </a:lnTo>
                <a:lnTo>
                  <a:pt x="274644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43885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3600203" y="3201225"/>
            <a:ext cx="2746443" cy="1158151"/>
          </a:xfrm>
          <a:custGeom>
            <a:avLst/>
            <a:gdLst/>
            <a:ahLst/>
            <a:cxnLst/>
            <a:rect r="r" b="b" t="t" l="l"/>
            <a:pathLst>
              <a:path h="1158151" w="2746443">
                <a:moveTo>
                  <a:pt x="2746443" y="0"/>
                </a:moveTo>
                <a:lnTo>
                  <a:pt x="0" y="0"/>
                </a:lnTo>
                <a:lnTo>
                  <a:pt x="0" y="1158151"/>
                </a:lnTo>
                <a:lnTo>
                  <a:pt x="2746443" y="1158151"/>
                </a:lnTo>
                <a:lnTo>
                  <a:pt x="274644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343885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60947" y="7543868"/>
            <a:ext cx="342804" cy="342804"/>
          </a:xfrm>
          <a:custGeom>
            <a:avLst/>
            <a:gdLst/>
            <a:ahLst/>
            <a:cxnLst/>
            <a:rect r="r" b="b" t="t" l="l"/>
            <a:pathLst>
              <a:path h="342804" w="342804">
                <a:moveTo>
                  <a:pt x="0" y="0"/>
                </a:moveTo>
                <a:lnTo>
                  <a:pt x="342804" y="0"/>
                </a:lnTo>
                <a:lnTo>
                  <a:pt x="342804" y="342804"/>
                </a:lnTo>
                <a:lnTo>
                  <a:pt x="0" y="3428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053999" y="5581950"/>
            <a:ext cx="342804" cy="342804"/>
          </a:xfrm>
          <a:custGeom>
            <a:avLst/>
            <a:gdLst/>
            <a:ahLst/>
            <a:cxnLst/>
            <a:rect r="r" b="b" t="t" l="l"/>
            <a:pathLst>
              <a:path h="342804" w="342804">
                <a:moveTo>
                  <a:pt x="0" y="0"/>
                </a:moveTo>
                <a:lnTo>
                  <a:pt x="342804" y="0"/>
                </a:lnTo>
                <a:lnTo>
                  <a:pt x="342804" y="342804"/>
                </a:lnTo>
                <a:lnTo>
                  <a:pt x="0" y="3428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717196" y="7210325"/>
            <a:ext cx="342804" cy="342804"/>
          </a:xfrm>
          <a:custGeom>
            <a:avLst/>
            <a:gdLst/>
            <a:ahLst/>
            <a:cxnLst/>
            <a:rect r="r" b="b" t="t" l="l"/>
            <a:pathLst>
              <a:path h="342804" w="342804">
                <a:moveTo>
                  <a:pt x="0" y="0"/>
                </a:moveTo>
                <a:lnTo>
                  <a:pt x="342804" y="0"/>
                </a:lnTo>
                <a:lnTo>
                  <a:pt x="342804" y="342804"/>
                </a:lnTo>
                <a:lnTo>
                  <a:pt x="0" y="34280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776180" y="3608899"/>
            <a:ext cx="332091" cy="342804"/>
          </a:xfrm>
          <a:custGeom>
            <a:avLst/>
            <a:gdLst/>
            <a:ahLst/>
            <a:cxnLst/>
            <a:rect r="r" b="b" t="t" l="l"/>
            <a:pathLst>
              <a:path h="342804" w="332091">
                <a:moveTo>
                  <a:pt x="0" y="0"/>
                </a:moveTo>
                <a:lnTo>
                  <a:pt x="332091" y="0"/>
                </a:lnTo>
                <a:lnTo>
                  <a:pt x="332091" y="342803"/>
                </a:lnTo>
                <a:lnTo>
                  <a:pt x="0" y="34280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002277" y="7458713"/>
            <a:ext cx="1454082" cy="526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Data Availability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14069" y="5655547"/>
            <a:ext cx="1612725" cy="26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Technology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464208" y="7283922"/>
            <a:ext cx="1834475" cy="26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 b="true">
                <a:solidFill>
                  <a:srgbClr val="FCFEFF"/>
                </a:solidFill>
                <a:latin typeface="Gotham Bold"/>
                <a:ea typeface="Gotham Bold"/>
                <a:cs typeface="Gotham Bold"/>
                <a:sym typeface="Gotham Bold"/>
              </a:rPr>
              <a:t>Functionality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795798" y="3658985"/>
            <a:ext cx="1362529" cy="280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4"/>
              </a:lnSpc>
            </a:pPr>
            <a:r>
              <a:rPr lang="en-US" sz="2100" b="true">
                <a:solidFill>
                  <a:srgbClr val="FCFEFF"/>
                </a:solidFill>
                <a:latin typeface="Gotham Bold"/>
                <a:ea typeface="Gotham Bold"/>
                <a:cs typeface="Gotham Bold"/>
                <a:sym typeface="Gotham Bold"/>
              </a:rPr>
              <a:t>Boundary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2700000">
            <a:off x="14275077" y="7859096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13000"/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358712" y="0"/>
            <a:ext cx="3929288" cy="1951633"/>
          </a:xfrm>
          <a:custGeom>
            <a:avLst/>
            <a:gdLst/>
            <a:ahLst/>
            <a:cxnLst/>
            <a:rect r="r" b="b" t="t" l="l"/>
            <a:pathLst>
              <a:path h="1951633" w="3929288">
                <a:moveTo>
                  <a:pt x="0" y="0"/>
                </a:moveTo>
                <a:lnTo>
                  <a:pt x="3929288" y="0"/>
                </a:lnTo>
                <a:lnTo>
                  <a:pt x="3929288" y="1951633"/>
                </a:lnTo>
                <a:lnTo>
                  <a:pt x="0" y="1951633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AutoShape 23" id="23"/>
          <p:cNvSpPr/>
          <p:nvPr/>
        </p:nvSpPr>
        <p:spPr>
          <a:xfrm>
            <a:off x="0" y="2040670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0" y="78758"/>
            <a:ext cx="12755695" cy="68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4"/>
              </a:lnSpc>
            </a:pPr>
            <a:r>
              <a:rPr lang="en-US" sz="38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 of Computer Science and Engineering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-246328" y="890092"/>
            <a:ext cx="4246828" cy="56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Uttara University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1075" y="8629293"/>
            <a:ext cx="3971925" cy="526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>
                <a:solidFill>
                  <a:srgbClr val="021E47"/>
                </a:solidFill>
                <a:latin typeface="Open Sans 2"/>
                <a:ea typeface="Open Sans 2"/>
                <a:cs typeface="Open Sans 2"/>
                <a:sym typeface="Open Sans 2"/>
              </a:rPr>
              <a:t>User-defined and simulated border environments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724364" y="8372151"/>
            <a:ext cx="3229136" cy="783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2000">
                <a:solidFill>
                  <a:srgbClr val="021E47"/>
                </a:solidFill>
                <a:latin typeface="Open Sans 2"/>
                <a:ea typeface="Open Sans 2"/>
                <a:cs typeface="Open Sans 2"/>
                <a:sym typeface="Open Sans 2"/>
              </a:rPr>
              <a:t>Autonomous surveillance, dynamic routing, energy-aware navigation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006087" y="6720080"/>
            <a:ext cx="3670316" cy="833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184"/>
              </a:lnSpc>
              <a:buFont typeface="Arial"/>
              <a:buChar char="•"/>
            </a:pPr>
            <a:r>
              <a:rPr lang="en-US" sz="2100">
                <a:solidFill>
                  <a:srgbClr val="021E47"/>
                </a:solidFill>
                <a:latin typeface="Open Sans 2"/>
                <a:ea typeface="Open Sans 2"/>
                <a:cs typeface="Open Sans 2"/>
                <a:sym typeface="Open Sans 2"/>
              </a:rPr>
              <a:t>Heuristic optimization</a:t>
            </a:r>
          </a:p>
          <a:p>
            <a:pPr algn="l" marL="453390" indent="-226695" lvl="1">
              <a:lnSpc>
                <a:spcPts val="2184"/>
              </a:lnSpc>
              <a:buFont typeface="Arial"/>
              <a:buChar char="•"/>
            </a:pPr>
            <a:r>
              <a:rPr lang="en-US" sz="2100">
                <a:solidFill>
                  <a:srgbClr val="021E47"/>
                </a:solidFill>
                <a:latin typeface="Open Sans 2"/>
                <a:ea typeface="Open Sans 2"/>
                <a:cs typeface="Open Sans 2"/>
                <a:sym typeface="Open Sans 2"/>
              </a:rPr>
              <a:t>graph-based algorithms</a:t>
            </a:r>
          </a:p>
          <a:p>
            <a:pPr algn="l" marL="453390" indent="-226695" lvl="1">
              <a:lnSpc>
                <a:spcPts val="2184"/>
              </a:lnSpc>
              <a:buFont typeface="Arial"/>
              <a:buChar char="•"/>
            </a:pPr>
            <a:r>
              <a:rPr lang="en-US" sz="2100">
                <a:solidFill>
                  <a:srgbClr val="021E47"/>
                </a:solidFill>
                <a:latin typeface="Open Sans 2"/>
                <a:ea typeface="Open Sans 2"/>
                <a:cs typeface="Open Sans 2"/>
                <a:sym typeface="Open Sans 2"/>
              </a:rPr>
              <a:t>map visualization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941421" y="4666656"/>
            <a:ext cx="4121158" cy="110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4"/>
              </a:lnSpc>
            </a:pPr>
            <a:r>
              <a:rPr lang="en-US" sz="2100">
                <a:solidFill>
                  <a:srgbClr val="021E47"/>
                </a:solidFill>
                <a:latin typeface="Open Sans 2"/>
                <a:ea typeface="Open Sans 2"/>
                <a:cs typeface="Open Sans 2"/>
                <a:sym typeface="Open Sans 2"/>
              </a:rPr>
              <a:t>The research is limited to simulation-based implementation and does not include real drone deployment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ED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746115" y="6822500"/>
            <a:ext cx="11824173" cy="11044"/>
          </a:xfrm>
          <a:prstGeom prst="line">
            <a:avLst/>
          </a:prstGeom>
          <a:ln cap="flat" w="9525">
            <a:solidFill>
              <a:srgbClr val="8B9C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4746115" y="5886739"/>
            <a:ext cx="11824173" cy="27223"/>
          </a:xfrm>
          <a:prstGeom prst="line">
            <a:avLst/>
          </a:prstGeom>
          <a:ln cap="flat" w="9525">
            <a:solidFill>
              <a:srgbClr val="8B9C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4746115" y="4835099"/>
            <a:ext cx="11824173" cy="33614"/>
          </a:xfrm>
          <a:prstGeom prst="line">
            <a:avLst/>
          </a:prstGeom>
          <a:ln cap="flat" w="9525">
            <a:solidFill>
              <a:srgbClr val="8B9C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4746115" y="8809901"/>
            <a:ext cx="11824173" cy="99698"/>
          </a:xfrm>
          <a:prstGeom prst="line">
            <a:avLst/>
          </a:prstGeom>
          <a:ln cap="flat" w="9525">
            <a:solidFill>
              <a:srgbClr val="8B9C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4746115" y="3841398"/>
            <a:ext cx="11824173" cy="109538"/>
          </a:xfrm>
          <a:prstGeom prst="line">
            <a:avLst/>
          </a:prstGeom>
          <a:ln cap="flat" w="9525">
            <a:solidFill>
              <a:srgbClr val="8B9C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4746115" y="7816200"/>
            <a:ext cx="11824173" cy="42994"/>
          </a:xfrm>
          <a:prstGeom prst="line">
            <a:avLst/>
          </a:prstGeom>
          <a:ln cap="flat" w="9525">
            <a:solidFill>
              <a:srgbClr val="8B9C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4700475" y="2183644"/>
            <a:ext cx="11824173" cy="43988"/>
          </a:xfrm>
          <a:prstGeom prst="line">
            <a:avLst/>
          </a:prstGeom>
          <a:ln cap="flat" w="9525">
            <a:solidFill>
              <a:srgbClr val="8B9C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731679" y="2885327"/>
            <a:ext cx="3058928" cy="820243"/>
            <a:chOff x="0" y="0"/>
            <a:chExt cx="716932" cy="1922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6932" cy="192243"/>
            </a:xfrm>
            <a:custGeom>
              <a:avLst/>
              <a:gdLst/>
              <a:ahLst/>
              <a:cxnLst/>
              <a:rect r="r" b="b" t="t" l="l"/>
              <a:pathLst>
                <a:path h="192243" w="716932">
                  <a:moveTo>
                    <a:pt x="96122" y="0"/>
                  </a:moveTo>
                  <a:lnTo>
                    <a:pt x="620811" y="0"/>
                  </a:lnTo>
                  <a:cubicBezTo>
                    <a:pt x="646304" y="0"/>
                    <a:pt x="670752" y="10127"/>
                    <a:pt x="688779" y="28153"/>
                  </a:cubicBezTo>
                  <a:cubicBezTo>
                    <a:pt x="706805" y="46180"/>
                    <a:pt x="716932" y="70629"/>
                    <a:pt x="716932" y="96122"/>
                  </a:cubicBezTo>
                  <a:lnTo>
                    <a:pt x="716932" y="96122"/>
                  </a:lnTo>
                  <a:cubicBezTo>
                    <a:pt x="716932" y="149208"/>
                    <a:pt x="673897" y="192243"/>
                    <a:pt x="620811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716932" cy="19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494032" y="2953344"/>
            <a:ext cx="1643599" cy="776049"/>
            <a:chOff x="0" y="0"/>
            <a:chExt cx="407153" cy="1922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7153" cy="192243"/>
            </a:xfrm>
            <a:custGeom>
              <a:avLst/>
              <a:gdLst/>
              <a:ahLst/>
              <a:cxnLst/>
              <a:rect r="r" b="b" t="t" l="l"/>
              <a:pathLst>
                <a:path h="192243" w="407153">
                  <a:moveTo>
                    <a:pt x="96122" y="0"/>
                  </a:moveTo>
                  <a:lnTo>
                    <a:pt x="311031" y="0"/>
                  </a:lnTo>
                  <a:cubicBezTo>
                    <a:pt x="364118" y="0"/>
                    <a:pt x="407153" y="43035"/>
                    <a:pt x="407153" y="96122"/>
                  </a:cubicBezTo>
                  <a:lnTo>
                    <a:pt x="407153" y="96122"/>
                  </a:lnTo>
                  <a:cubicBezTo>
                    <a:pt x="407153" y="121615"/>
                    <a:pt x="397026" y="146064"/>
                    <a:pt x="379000" y="164090"/>
                  </a:cubicBezTo>
                  <a:cubicBezTo>
                    <a:pt x="360973" y="182116"/>
                    <a:pt x="336524" y="192243"/>
                    <a:pt x="311031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51CFB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407153" cy="19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794540" y="3950936"/>
            <a:ext cx="1999216" cy="776049"/>
            <a:chOff x="0" y="0"/>
            <a:chExt cx="495246" cy="1922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5247" cy="192243"/>
            </a:xfrm>
            <a:custGeom>
              <a:avLst/>
              <a:gdLst/>
              <a:ahLst/>
              <a:cxnLst/>
              <a:rect r="r" b="b" t="t" l="l"/>
              <a:pathLst>
                <a:path h="192243" w="495247">
                  <a:moveTo>
                    <a:pt x="96122" y="0"/>
                  </a:moveTo>
                  <a:lnTo>
                    <a:pt x="399125" y="0"/>
                  </a:lnTo>
                  <a:cubicBezTo>
                    <a:pt x="452211" y="0"/>
                    <a:pt x="495247" y="43035"/>
                    <a:pt x="495247" y="96122"/>
                  </a:cubicBezTo>
                  <a:lnTo>
                    <a:pt x="495247" y="96122"/>
                  </a:lnTo>
                  <a:cubicBezTo>
                    <a:pt x="495247" y="121615"/>
                    <a:pt x="485119" y="146064"/>
                    <a:pt x="467093" y="164090"/>
                  </a:cubicBezTo>
                  <a:cubicBezTo>
                    <a:pt x="449067" y="182116"/>
                    <a:pt x="424618" y="192243"/>
                    <a:pt x="399125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FF768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495246" cy="19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31679" y="5100744"/>
            <a:ext cx="3174176" cy="820243"/>
            <a:chOff x="0" y="0"/>
            <a:chExt cx="743943" cy="19224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43943" cy="192243"/>
            </a:xfrm>
            <a:custGeom>
              <a:avLst/>
              <a:gdLst/>
              <a:ahLst/>
              <a:cxnLst/>
              <a:rect r="r" b="b" t="t" l="l"/>
              <a:pathLst>
                <a:path h="192243" w="743943">
                  <a:moveTo>
                    <a:pt x="96122" y="0"/>
                  </a:moveTo>
                  <a:lnTo>
                    <a:pt x="647822" y="0"/>
                  </a:lnTo>
                  <a:cubicBezTo>
                    <a:pt x="700908" y="0"/>
                    <a:pt x="743943" y="43035"/>
                    <a:pt x="743943" y="96122"/>
                  </a:cubicBezTo>
                  <a:lnTo>
                    <a:pt x="743943" y="96122"/>
                  </a:lnTo>
                  <a:cubicBezTo>
                    <a:pt x="743943" y="121615"/>
                    <a:pt x="733816" y="146064"/>
                    <a:pt x="715790" y="164090"/>
                  </a:cubicBezTo>
                  <a:cubicBezTo>
                    <a:pt x="697763" y="182116"/>
                    <a:pt x="673315" y="192243"/>
                    <a:pt x="647822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743943" cy="19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31679" y="8257648"/>
            <a:ext cx="3174176" cy="820243"/>
            <a:chOff x="0" y="0"/>
            <a:chExt cx="743943" cy="19224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43943" cy="192243"/>
            </a:xfrm>
            <a:custGeom>
              <a:avLst/>
              <a:gdLst/>
              <a:ahLst/>
              <a:cxnLst/>
              <a:rect r="r" b="b" t="t" l="l"/>
              <a:pathLst>
                <a:path h="192243" w="743943">
                  <a:moveTo>
                    <a:pt x="96122" y="0"/>
                  </a:moveTo>
                  <a:lnTo>
                    <a:pt x="647822" y="0"/>
                  </a:lnTo>
                  <a:cubicBezTo>
                    <a:pt x="700908" y="0"/>
                    <a:pt x="743943" y="43035"/>
                    <a:pt x="743943" y="96122"/>
                  </a:cubicBezTo>
                  <a:lnTo>
                    <a:pt x="743943" y="96122"/>
                  </a:lnTo>
                  <a:cubicBezTo>
                    <a:pt x="743943" y="121615"/>
                    <a:pt x="733816" y="146064"/>
                    <a:pt x="715790" y="164090"/>
                  </a:cubicBezTo>
                  <a:cubicBezTo>
                    <a:pt x="697763" y="182116"/>
                    <a:pt x="673315" y="192243"/>
                    <a:pt x="647822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743943" cy="19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31679" y="4048470"/>
            <a:ext cx="3071461" cy="820243"/>
            <a:chOff x="0" y="0"/>
            <a:chExt cx="719869" cy="19224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19869" cy="192243"/>
            </a:xfrm>
            <a:custGeom>
              <a:avLst/>
              <a:gdLst/>
              <a:ahLst/>
              <a:cxnLst/>
              <a:rect r="r" b="b" t="t" l="l"/>
              <a:pathLst>
                <a:path h="192243" w="719869">
                  <a:moveTo>
                    <a:pt x="96122" y="0"/>
                  </a:moveTo>
                  <a:lnTo>
                    <a:pt x="623748" y="0"/>
                  </a:lnTo>
                  <a:cubicBezTo>
                    <a:pt x="649241" y="0"/>
                    <a:pt x="673690" y="10127"/>
                    <a:pt x="691716" y="28153"/>
                  </a:cubicBezTo>
                  <a:cubicBezTo>
                    <a:pt x="709742" y="46180"/>
                    <a:pt x="719869" y="70629"/>
                    <a:pt x="719869" y="96122"/>
                  </a:cubicBezTo>
                  <a:lnTo>
                    <a:pt x="719869" y="96122"/>
                  </a:lnTo>
                  <a:cubicBezTo>
                    <a:pt x="719869" y="121615"/>
                    <a:pt x="709742" y="146064"/>
                    <a:pt x="691716" y="164090"/>
                  </a:cubicBezTo>
                  <a:cubicBezTo>
                    <a:pt x="673690" y="182116"/>
                    <a:pt x="649241" y="192243"/>
                    <a:pt x="623748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719869" cy="19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31679" y="7205374"/>
            <a:ext cx="3174176" cy="820243"/>
            <a:chOff x="0" y="0"/>
            <a:chExt cx="743943" cy="19224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43943" cy="192243"/>
            </a:xfrm>
            <a:custGeom>
              <a:avLst/>
              <a:gdLst/>
              <a:ahLst/>
              <a:cxnLst/>
              <a:rect r="r" b="b" t="t" l="l"/>
              <a:pathLst>
                <a:path h="192243" w="743943">
                  <a:moveTo>
                    <a:pt x="96122" y="0"/>
                  </a:moveTo>
                  <a:lnTo>
                    <a:pt x="647822" y="0"/>
                  </a:lnTo>
                  <a:cubicBezTo>
                    <a:pt x="700908" y="0"/>
                    <a:pt x="743943" y="43035"/>
                    <a:pt x="743943" y="96122"/>
                  </a:cubicBezTo>
                  <a:lnTo>
                    <a:pt x="743943" y="96122"/>
                  </a:lnTo>
                  <a:cubicBezTo>
                    <a:pt x="743943" y="121615"/>
                    <a:pt x="733816" y="146064"/>
                    <a:pt x="715790" y="164090"/>
                  </a:cubicBezTo>
                  <a:cubicBezTo>
                    <a:pt x="697763" y="182116"/>
                    <a:pt x="673315" y="192243"/>
                    <a:pt x="647822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743943" cy="19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31679" y="6153100"/>
            <a:ext cx="3174176" cy="820243"/>
            <a:chOff x="0" y="0"/>
            <a:chExt cx="743943" cy="19224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43943" cy="192243"/>
            </a:xfrm>
            <a:custGeom>
              <a:avLst/>
              <a:gdLst/>
              <a:ahLst/>
              <a:cxnLst/>
              <a:rect r="r" b="b" t="t" l="l"/>
              <a:pathLst>
                <a:path h="192243" w="743943">
                  <a:moveTo>
                    <a:pt x="96122" y="0"/>
                  </a:moveTo>
                  <a:lnTo>
                    <a:pt x="647822" y="0"/>
                  </a:lnTo>
                  <a:cubicBezTo>
                    <a:pt x="700908" y="0"/>
                    <a:pt x="743943" y="43035"/>
                    <a:pt x="743943" y="96122"/>
                  </a:cubicBezTo>
                  <a:lnTo>
                    <a:pt x="743943" y="96122"/>
                  </a:lnTo>
                  <a:cubicBezTo>
                    <a:pt x="743943" y="121615"/>
                    <a:pt x="733816" y="146064"/>
                    <a:pt x="715790" y="164090"/>
                  </a:cubicBezTo>
                  <a:cubicBezTo>
                    <a:pt x="697763" y="182116"/>
                    <a:pt x="673315" y="192243"/>
                    <a:pt x="647822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743943" cy="19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783748" y="4944636"/>
            <a:ext cx="3836752" cy="776049"/>
            <a:chOff x="0" y="0"/>
            <a:chExt cx="950442" cy="19224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50442" cy="192243"/>
            </a:xfrm>
            <a:custGeom>
              <a:avLst/>
              <a:gdLst/>
              <a:ahLst/>
              <a:cxnLst/>
              <a:rect r="r" b="b" t="t" l="l"/>
              <a:pathLst>
                <a:path h="192243" w="950442">
                  <a:moveTo>
                    <a:pt x="96122" y="0"/>
                  </a:moveTo>
                  <a:lnTo>
                    <a:pt x="854320" y="0"/>
                  </a:lnTo>
                  <a:cubicBezTo>
                    <a:pt x="879813" y="0"/>
                    <a:pt x="904262" y="10127"/>
                    <a:pt x="922288" y="28153"/>
                  </a:cubicBezTo>
                  <a:cubicBezTo>
                    <a:pt x="940315" y="46180"/>
                    <a:pt x="950442" y="70629"/>
                    <a:pt x="950442" y="96122"/>
                  </a:cubicBezTo>
                  <a:lnTo>
                    <a:pt x="950442" y="96122"/>
                  </a:lnTo>
                  <a:cubicBezTo>
                    <a:pt x="950442" y="149208"/>
                    <a:pt x="907407" y="192243"/>
                    <a:pt x="854320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46C0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950442" cy="19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557066" y="5936913"/>
            <a:ext cx="1879874" cy="776049"/>
            <a:chOff x="0" y="0"/>
            <a:chExt cx="465683" cy="19224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65683" cy="192243"/>
            </a:xfrm>
            <a:custGeom>
              <a:avLst/>
              <a:gdLst/>
              <a:ahLst/>
              <a:cxnLst/>
              <a:rect r="r" b="b" t="t" l="l"/>
              <a:pathLst>
                <a:path h="192243" w="465683">
                  <a:moveTo>
                    <a:pt x="96122" y="0"/>
                  </a:moveTo>
                  <a:lnTo>
                    <a:pt x="369561" y="0"/>
                  </a:lnTo>
                  <a:cubicBezTo>
                    <a:pt x="395054" y="0"/>
                    <a:pt x="419503" y="10127"/>
                    <a:pt x="437530" y="28153"/>
                  </a:cubicBezTo>
                  <a:cubicBezTo>
                    <a:pt x="455556" y="46180"/>
                    <a:pt x="465683" y="70629"/>
                    <a:pt x="465683" y="96122"/>
                  </a:cubicBezTo>
                  <a:lnTo>
                    <a:pt x="465683" y="96122"/>
                  </a:lnTo>
                  <a:cubicBezTo>
                    <a:pt x="465683" y="149208"/>
                    <a:pt x="422648" y="192243"/>
                    <a:pt x="369561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FFBC55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465683" cy="19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5018341" y="7921107"/>
            <a:ext cx="1689495" cy="776049"/>
            <a:chOff x="0" y="0"/>
            <a:chExt cx="418522" cy="19224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18522" cy="192243"/>
            </a:xfrm>
            <a:custGeom>
              <a:avLst/>
              <a:gdLst/>
              <a:ahLst/>
              <a:cxnLst/>
              <a:rect r="r" b="b" t="t" l="l"/>
              <a:pathLst>
                <a:path h="192243" w="418522">
                  <a:moveTo>
                    <a:pt x="96122" y="0"/>
                  </a:moveTo>
                  <a:lnTo>
                    <a:pt x="322401" y="0"/>
                  </a:lnTo>
                  <a:cubicBezTo>
                    <a:pt x="375487" y="0"/>
                    <a:pt x="418522" y="43035"/>
                    <a:pt x="418522" y="96122"/>
                  </a:cubicBezTo>
                  <a:lnTo>
                    <a:pt x="418522" y="96122"/>
                  </a:lnTo>
                  <a:cubicBezTo>
                    <a:pt x="418522" y="121615"/>
                    <a:pt x="408395" y="146064"/>
                    <a:pt x="390369" y="164090"/>
                  </a:cubicBezTo>
                  <a:cubicBezTo>
                    <a:pt x="372343" y="182116"/>
                    <a:pt x="347894" y="192243"/>
                    <a:pt x="322401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FFF576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418522" cy="19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064322" y="6978239"/>
            <a:ext cx="1954019" cy="776049"/>
            <a:chOff x="0" y="0"/>
            <a:chExt cx="484050" cy="19224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84050" cy="192243"/>
            </a:xfrm>
            <a:custGeom>
              <a:avLst/>
              <a:gdLst/>
              <a:ahLst/>
              <a:cxnLst/>
              <a:rect r="r" b="b" t="t" l="l"/>
              <a:pathLst>
                <a:path h="192243" w="484050">
                  <a:moveTo>
                    <a:pt x="96122" y="0"/>
                  </a:moveTo>
                  <a:lnTo>
                    <a:pt x="387929" y="0"/>
                  </a:lnTo>
                  <a:cubicBezTo>
                    <a:pt x="413422" y="0"/>
                    <a:pt x="437871" y="10127"/>
                    <a:pt x="455897" y="28153"/>
                  </a:cubicBezTo>
                  <a:cubicBezTo>
                    <a:pt x="473923" y="46180"/>
                    <a:pt x="484050" y="70629"/>
                    <a:pt x="484050" y="96122"/>
                  </a:cubicBezTo>
                  <a:lnTo>
                    <a:pt x="484050" y="96122"/>
                  </a:lnTo>
                  <a:cubicBezTo>
                    <a:pt x="484050" y="121615"/>
                    <a:pt x="473923" y="146064"/>
                    <a:pt x="455897" y="164090"/>
                  </a:cubicBezTo>
                  <a:cubicBezTo>
                    <a:pt x="437871" y="182116"/>
                    <a:pt x="413422" y="192243"/>
                    <a:pt x="387929" y="192243"/>
                  </a:cubicBezTo>
                  <a:lnTo>
                    <a:pt x="96122" y="192243"/>
                  </a:lnTo>
                  <a:cubicBezTo>
                    <a:pt x="70629" y="192243"/>
                    <a:pt x="46180" y="182116"/>
                    <a:pt x="28153" y="164090"/>
                  </a:cubicBezTo>
                  <a:cubicBezTo>
                    <a:pt x="10127" y="146064"/>
                    <a:pt x="0" y="121615"/>
                    <a:pt x="0" y="96122"/>
                  </a:cubicBezTo>
                  <a:lnTo>
                    <a:pt x="0" y="96122"/>
                  </a:lnTo>
                  <a:cubicBezTo>
                    <a:pt x="0" y="70629"/>
                    <a:pt x="10127" y="46180"/>
                    <a:pt x="28153" y="28153"/>
                  </a:cubicBezTo>
                  <a:cubicBezTo>
                    <a:pt x="46180" y="10127"/>
                    <a:pt x="70629" y="0"/>
                    <a:pt x="96122" y="0"/>
                  </a:cubicBezTo>
                  <a:close/>
                </a:path>
              </a:pathLst>
            </a:custGeom>
            <a:solidFill>
              <a:srgbClr val="CD78C7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484050" cy="19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008295" y="3025574"/>
            <a:ext cx="2723036" cy="53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  <a:spcBef>
                <a:spcPct val="0"/>
              </a:spcBef>
            </a:pPr>
            <a:r>
              <a:rPr lang="en-US" b="true" sz="1896" spc="-47">
                <a:solidFill>
                  <a:srgbClr val="51CFBD"/>
                </a:solidFill>
                <a:latin typeface="Telegraf Bold"/>
                <a:ea typeface="Telegraf Bold"/>
                <a:cs typeface="Telegraf Bold"/>
                <a:sym typeface="Telegraf Bold"/>
              </a:rPr>
              <a:t>Literature Review and Problem Analysis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72410" y="4239848"/>
            <a:ext cx="2809073" cy="53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  <a:spcBef>
                <a:spcPct val="0"/>
              </a:spcBef>
            </a:pPr>
            <a:r>
              <a:rPr lang="en-US" b="true" sz="1896" spc="-47">
                <a:solidFill>
                  <a:srgbClr val="FF7685"/>
                </a:solidFill>
                <a:latin typeface="Telegraf Bold"/>
                <a:ea typeface="Telegraf Bold"/>
                <a:cs typeface="Telegraf Bold"/>
                <a:sym typeface="Telegraf Bold"/>
              </a:rPr>
              <a:t>System Design and Architecture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00960" y="5245128"/>
            <a:ext cx="2537706" cy="53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  <a:spcBef>
                <a:spcPct val="0"/>
              </a:spcBef>
            </a:pPr>
            <a:r>
              <a:rPr lang="en-US" b="true" sz="1896" spc="-47">
                <a:solidFill>
                  <a:srgbClr val="46C0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Algorithm Implementation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37001" y="7327637"/>
            <a:ext cx="2763532" cy="53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  <a:spcBef>
                <a:spcPct val="0"/>
              </a:spcBef>
            </a:pPr>
            <a:r>
              <a:rPr lang="en-US" b="true" sz="1896" spc="-47">
                <a:solidFill>
                  <a:srgbClr val="717EF2"/>
                </a:solidFill>
                <a:latin typeface="Telegraf Bold"/>
                <a:ea typeface="Telegraf Bold"/>
                <a:cs typeface="Telegraf Bold"/>
                <a:sym typeface="Telegraf Bold"/>
              </a:rPr>
              <a:t>Testing and Performance Evaluation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00960" y="8378042"/>
            <a:ext cx="2497087" cy="53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  <a:spcBef>
                <a:spcPct val="0"/>
              </a:spcBef>
            </a:pPr>
            <a:r>
              <a:rPr lang="en-US" b="true" sz="1896" spc="-47">
                <a:solidFill>
                  <a:srgbClr val="CFC658"/>
                </a:solidFill>
                <a:latin typeface="Telegraf Bold"/>
                <a:ea typeface="Telegraf Bold"/>
                <a:cs typeface="Telegraf Bold"/>
                <a:sym typeface="Telegraf Bold"/>
              </a:rPr>
              <a:t>Documentation and Thesis Writing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19464" y="6301986"/>
            <a:ext cx="3107501" cy="53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  <a:spcBef>
                <a:spcPct val="0"/>
              </a:spcBef>
            </a:pPr>
            <a:r>
              <a:rPr lang="en-US" b="true" sz="1896" spc="-47">
                <a:solidFill>
                  <a:srgbClr val="46C0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Simulation and Visualization Development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100960" y="2009027"/>
            <a:ext cx="2311074" cy="551796"/>
            <a:chOff x="0" y="0"/>
            <a:chExt cx="572500" cy="13669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72500" cy="136691"/>
            </a:xfrm>
            <a:custGeom>
              <a:avLst/>
              <a:gdLst/>
              <a:ahLst/>
              <a:cxnLst/>
              <a:rect r="r" b="b" t="t" l="l"/>
              <a:pathLst>
                <a:path h="136691" w="572500">
                  <a:moveTo>
                    <a:pt x="68346" y="0"/>
                  </a:moveTo>
                  <a:lnTo>
                    <a:pt x="504155" y="0"/>
                  </a:lnTo>
                  <a:cubicBezTo>
                    <a:pt x="522281" y="0"/>
                    <a:pt x="539665" y="7201"/>
                    <a:pt x="552482" y="20018"/>
                  </a:cubicBezTo>
                  <a:cubicBezTo>
                    <a:pt x="565299" y="32835"/>
                    <a:pt x="572500" y="50219"/>
                    <a:pt x="572500" y="68346"/>
                  </a:cubicBezTo>
                  <a:lnTo>
                    <a:pt x="572500" y="68346"/>
                  </a:lnTo>
                  <a:cubicBezTo>
                    <a:pt x="572500" y="106092"/>
                    <a:pt x="541901" y="136691"/>
                    <a:pt x="504155" y="136691"/>
                  </a:cubicBezTo>
                  <a:lnTo>
                    <a:pt x="68346" y="136691"/>
                  </a:lnTo>
                  <a:cubicBezTo>
                    <a:pt x="50219" y="136691"/>
                    <a:pt x="32835" y="129490"/>
                    <a:pt x="20018" y="116673"/>
                  </a:cubicBezTo>
                  <a:cubicBezTo>
                    <a:pt x="7201" y="103856"/>
                    <a:pt x="0" y="86472"/>
                    <a:pt x="0" y="68346"/>
                  </a:cubicBezTo>
                  <a:lnTo>
                    <a:pt x="0" y="68346"/>
                  </a:lnTo>
                  <a:cubicBezTo>
                    <a:pt x="0" y="50219"/>
                    <a:pt x="7201" y="32835"/>
                    <a:pt x="20018" y="20018"/>
                  </a:cubicBezTo>
                  <a:cubicBezTo>
                    <a:pt x="32835" y="7201"/>
                    <a:pt x="50219" y="0"/>
                    <a:pt x="68346" y="0"/>
                  </a:cubicBezTo>
                  <a:close/>
                </a:path>
              </a:pathLst>
            </a:custGeom>
            <a:solidFill>
              <a:srgbClr val="51CFBD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572500" cy="136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651476" y="2106021"/>
            <a:ext cx="1210042" cy="379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6"/>
              </a:lnSpc>
              <a:spcBef>
                <a:spcPct val="0"/>
              </a:spcBef>
            </a:pPr>
            <a:r>
              <a:rPr lang="en-US" b="true" sz="2596" spc="-64">
                <a:solidFill>
                  <a:srgbClr val="231F20"/>
                </a:solidFill>
                <a:latin typeface="Telegraf Bold"/>
                <a:ea typeface="Telegraf Bold"/>
                <a:cs typeface="Telegraf Bold"/>
                <a:sym typeface="Telegraf Bold"/>
              </a:rPr>
              <a:t>TASKS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4271435" y="2009027"/>
            <a:ext cx="12436401" cy="551796"/>
            <a:chOff x="0" y="0"/>
            <a:chExt cx="3080750" cy="13669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080750" cy="136691"/>
            </a:xfrm>
            <a:custGeom>
              <a:avLst/>
              <a:gdLst/>
              <a:ahLst/>
              <a:cxnLst/>
              <a:rect r="r" b="b" t="t" l="l"/>
              <a:pathLst>
                <a:path h="136691" w="3080750">
                  <a:moveTo>
                    <a:pt x="62252" y="0"/>
                  </a:moveTo>
                  <a:lnTo>
                    <a:pt x="3018498" y="0"/>
                  </a:lnTo>
                  <a:cubicBezTo>
                    <a:pt x="3052879" y="0"/>
                    <a:pt x="3080750" y="27871"/>
                    <a:pt x="3080750" y="62252"/>
                  </a:cubicBezTo>
                  <a:lnTo>
                    <a:pt x="3080750" y="74439"/>
                  </a:lnTo>
                  <a:cubicBezTo>
                    <a:pt x="3080750" y="108820"/>
                    <a:pt x="3052879" y="136691"/>
                    <a:pt x="3018498" y="136691"/>
                  </a:cubicBezTo>
                  <a:lnTo>
                    <a:pt x="62252" y="136691"/>
                  </a:lnTo>
                  <a:cubicBezTo>
                    <a:pt x="27871" y="136691"/>
                    <a:pt x="0" y="108820"/>
                    <a:pt x="0" y="74439"/>
                  </a:cubicBezTo>
                  <a:lnTo>
                    <a:pt x="0" y="62252"/>
                  </a:lnTo>
                  <a:cubicBezTo>
                    <a:pt x="0" y="27871"/>
                    <a:pt x="27871" y="0"/>
                    <a:pt x="62252" y="0"/>
                  </a:cubicBezTo>
                  <a:close/>
                </a:path>
              </a:pathLst>
            </a:custGeom>
            <a:solidFill>
              <a:srgbClr val="51CFBD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3080750" cy="136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74"/>
                </a:lnSpc>
              </a:pP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4528696" y="2141403"/>
            <a:ext cx="1507256" cy="318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4"/>
              </a:lnSpc>
              <a:spcBef>
                <a:spcPct val="0"/>
              </a:spcBef>
            </a:pPr>
            <a:r>
              <a:rPr lang="en-US" b="true" sz="2242" spc="-56">
                <a:solidFill>
                  <a:srgbClr val="004AAD"/>
                </a:solidFill>
                <a:latin typeface="Telegraf Bold"/>
                <a:ea typeface="Telegraf Bold"/>
                <a:cs typeface="Telegraf Bold"/>
                <a:sym typeface="Telegraf Bold"/>
              </a:rPr>
              <a:t>MONTH -1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285552" y="2141403"/>
            <a:ext cx="1507256" cy="318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4"/>
              </a:lnSpc>
              <a:spcBef>
                <a:spcPct val="0"/>
              </a:spcBef>
            </a:pPr>
            <a:r>
              <a:rPr lang="en-US" b="true" sz="2242" spc="-56">
                <a:solidFill>
                  <a:srgbClr val="004AAD"/>
                </a:solidFill>
                <a:latin typeface="Telegraf Bold"/>
                <a:ea typeface="Telegraf Bold"/>
                <a:cs typeface="Telegraf Bold"/>
                <a:sym typeface="Telegraf Bold"/>
              </a:rPr>
              <a:t>MONTH -2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8042407" y="2141403"/>
            <a:ext cx="1507256" cy="318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4"/>
              </a:lnSpc>
              <a:spcBef>
                <a:spcPct val="0"/>
              </a:spcBef>
            </a:pPr>
            <a:r>
              <a:rPr lang="en-US" b="true" sz="2242" spc="-56">
                <a:solidFill>
                  <a:srgbClr val="004AAD"/>
                </a:solidFill>
                <a:latin typeface="Telegraf Bold"/>
                <a:ea typeface="Telegraf Bold"/>
                <a:cs typeface="Telegraf Bold"/>
                <a:sym typeface="Telegraf Bold"/>
              </a:rPr>
              <a:t>MONTH -3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799262" y="2141403"/>
            <a:ext cx="1507256" cy="318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4"/>
              </a:lnSpc>
              <a:spcBef>
                <a:spcPct val="0"/>
              </a:spcBef>
            </a:pPr>
            <a:r>
              <a:rPr lang="en-US" b="true" sz="2242" spc="-56">
                <a:solidFill>
                  <a:srgbClr val="004AAD"/>
                </a:solidFill>
                <a:latin typeface="Telegraf Bold"/>
                <a:ea typeface="Telegraf Bold"/>
                <a:cs typeface="Telegraf Bold"/>
                <a:sym typeface="Telegraf Bold"/>
              </a:rPr>
              <a:t>MONTH -4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556118" y="2141403"/>
            <a:ext cx="1507256" cy="318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4"/>
              </a:lnSpc>
              <a:spcBef>
                <a:spcPct val="0"/>
              </a:spcBef>
            </a:pPr>
            <a:r>
              <a:rPr lang="en-US" b="true" sz="2242" spc="-56">
                <a:solidFill>
                  <a:srgbClr val="004AAD"/>
                </a:solidFill>
                <a:latin typeface="Telegraf Bold"/>
                <a:ea typeface="Telegraf Bold"/>
                <a:cs typeface="Telegraf Bold"/>
                <a:sym typeface="Telegraf Bold"/>
              </a:rPr>
              <a:t>MONTH -5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3312973" y="2141403"/>
            <a:ext cx="1507256" cy="318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4"/>
              </a:lnSpc>
              <a:spcBef>
                <a:spcPct val="0"/>
              </a:spcBef>
            </a:pPr>
            <a:r>
              <a:rPr lang="en-US" b="true" sz="2242" spc="-56">
                <a:solidFill>
                  <a:srgbClr val="004AAD"/>
                </a:solidFill>
                <a:latin typeface="Telegraf Bold"/>
                <a:ea typeface="Telegraf Bold"/>
                <a:cs typeface="Telegraf Bold"/>
                <a:sym typeface="Telegraf Bold"/>
              </a:rPr>
              <a:t>MONTH -6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5017392" y="2141403"/>
            <a:ext cx="1507256" cy="318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4"/>
              </a:lnSpc>
              <a:spcBef>
                <a:spcPct val="0"/>
              </a:spcBef>
            </a:pPr>
            <a:r>
              <a:rPr lang="en-US" b="true" sz="2242" spc="-56">
                <a:solidFill>
                  <a:srgbClr val="004AAD"/>
                </a:solidFill>
                <a:latin typeface="Telegraf Bold"/>
                <a:ea typeface="Telegraf Bold"/>
                <a:cs typeface="Telegraf Bold"/>
                <a:sym typeface="Telegraf Bold"/>
              </a:rPr>
              <a:t>MONTH -7</a:t>
            </a:r>
          </a:p>
        </p:txBody>
      </p:sp>
      <p:sp>
        <p:nvSpPr>
          <p:cNvPr name="AutoShape 65" id="65"/>
          <p:cNvSpPr/>
          <p:nvPr/>
        </p:nvSpPr>
        <p:spPr>
          <a:xfrm>
            <a:off x="4700519" y="2819994"/>
            <a:ext cx="11824173" cy="109538"/>
          </a:xfrm>
          <a:prstGeom prst="line">
            <a:avLst/>
          </a:prstGeom>
          <a:ln cap="flat" w="9525">
            <a:solidFill>
              <a:srgbClr val="8B9C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6" id="66"/>
          <p:cNvSpPr txBox="true"/>
          <p:nvPr/>
        </p:nvSpPr>
        <p:spPr>
          <a:xfrm rot="0">
            <a:off x="5054940" y="190293"/>
            <a:ext cx="8382000" cy="770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4"/>
              </a:lnSpc>
            </a:pPr>
            <a:r>
              <a:rPr lang="en-US" b="true" sz="5600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GANTT CHART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4930973" y="1066800"/>
            <a:ext cx="8382000" cy="41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3000" b="true">
                <a:solidFill>
                  <a:srgbClr val="021E47"/>
                </a:solidFill>
                <a:latin typeface="Gotham Bold"/>
                <a:ea typeface="Gotham Bold"/>
                <a:cs typeface="Gotham Bold"/>
                <a:sym typeface="Gotham Bold"/>
              </a:rPr>
              <a:t>Time line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16299339" y="8162409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1269921" y="8162409"/>
            <a:ext cx="3258582" cy="3258582"/>
          </a:xfrm>
          <a:custGeom>
            <a:avLst/>
            <a:gdLst/>
            <a:ahLst/>
            <a:cxnLst/>
            <a:rect r="r" b="b" t="t" l="l"/>
            <a:pathLst>
              <a:path h="3258582" w="3258582">
                <a:moveTo>
                  <a:pt x="0" y="0"/>
                </a:moveTo>
                <a:lnTo>
                  <a:pt x="3258582" y="0"/>
                </a:lnTo>
                <a:lnTo>
                  <a:pt x="3258582" y="3258582"/>
                </a:lnTo>
                <a:lnTo>
                  <a:pt x="0" y="3258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58712" y="0"/>
            <a:ext cx="3929288" cy="1951633"/>
          </a:xfrm>
          <a:custGeom>
            <a:avLst/>
            <a:gdLst/>
            <a:ahLst/>
            <a:cxnLst/>
            <a:rect r="r" b="b" t="t" l="l"/>
            <a:pathLst>
              <a:path h="1951633" w="3929288">
                <a:moveTo>
                  <a:pt x="0" y="0"/>
                </a:moveTo>
                <a:lnTo>
                  <a:pt x="3929288" y="0"/>
                </a:lnTo>
                <a:lnTo>
                  <a:pt x="3929288" y="1951633"/>
                </a:lnTo>
                <a:lnTo>
                  <a:pt x="0" y="19516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0" y="2040670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392404" y="4494452"/>
            <a:ext cx="2443162" cy="4114800"/>
          </a:xfrm>
          <a:custGeom>
            <a:avLst/>
            <a:gdLst/>
            <a:ahLst/>
            <a:cxnLst/>
            <a:rect r="r" b="b" t="t" l="l"/>
            <a:pathLst>
              <a:path h="4114800" w="2443162">
                <a:moveTo>
                  <a:pt x="0" y="0"/>
                </a:moveTo>
                <a:lnTo>
                  <a:pt x="2443163" y="0"/>
                </a:lnTo>
                <a:lnTo>
                  <a:pt x="24431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71500" y="4059539"/>
            <a:ext cx="8382000" cy="150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4"/>
              </a:lnSpc>
            </a:pPr>
            <a:r>
              <a:rPr lang="en-US" sz="5600" b="true">
                <a:solidFill>
                  <a:srgbClr val="00BF63"/>
                </a:solidFill>
                <a:latin typeface="Gotham Bold"/>
                <a:ea typeface="Gotham Bold"/>
                <a:cs typeface="Gotham Bold"/>
                <a:sym typeface="Gotham Bold"/>
              </a:rPr>
              <a:t>Do you have </a:t>
            </a:r>
            <a:r>
              <a:rPr lang="en-US" sz="5600" b="true">
                <a:solidFill>
                  <a:srgbClr val="46C0FF"/>
                </a:solidFill>
                <a:latin typeface="Gotham Bold"/>
                <a:ea typeface="Gotham Bold"/>
                <a:cs typeface="Gotham Bold"/>
                <a:sym typeface="Gotham Bold"/>
              </a:rPr>
              <a:t>Any Questions 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78758"/>
            <a:ext cx="12755695" cy="68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4"/>
              </a:lnSpc>
            </a:pPr>
            <a:r>
              <a:rPr lang="en-US" sz="38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 of Computer Science and Engineering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246328" y="890092"/>
            <a:ext cx="4246828" cy="56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Uttara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DAG9bsWWnNs</dc:identifier>
  <dcterms:modified xsi:type="dcterms:W3CDTF">2011-08-01T06:04:30Z</dcterms:modified>
  <cp:revision>1</cp:revision>
  <dc:title>Blue and Yellow Geometric Product Development Flow Presentation</dc:title>
</cp:coreProperties>
</file>